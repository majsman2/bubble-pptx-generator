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jmXxc4g9NfpJai4EZVW4Ri859V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A74AF9-74D6-43BA-9877-64FBA191D48E}">
  <a:tblStyle styleId="{83A74AF9-74D6-43BA-9877-64FBA191D48E}"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fr-FR" sz="1200" u="none" strike="noStrike">
                <a:solidFill>
                  <a:schemeClr val="dk1"/>
                </a:solidFill>
                <a:latin typeface="IBM Plex Sans"/>
                <a:ea typeface="IBM Plex Sans"/>
                <a:cs typeface="IBM Plex Sans"/>
                <a:sym typeface="IBM Plex Sans"/>
              </a:rPr>
              <a:t>Ajouté: colonne sur le suivi</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{{Insert_CO2e_intensity}}</a:t>
            </a:r>
            <a:endParaRPr b="0"/>
          </a:p>
        </p:txBody>
      </p:sp>
      <p:sp>
        <p:nvSpPr>
          <p:cNvPr id="98" name="Google Shape;9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{{uploaded_documents_B4}}</a:t>
            </a:r>
            <a:endParaRPr b="0"/>
          </a:p>
        </p:txBody>
      </p:sp>
      <p:sp>
        <p:nvSpPr>
          <p:cNvPr id="109" name="Google Shape;1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fr-FR"/>
            </a:br>
            <a:endParaRPr/>
          </a:p>
        </p:txBody>
      </p:sp>
      <p:sp>
        <p:nvSpPr>
          <p:cNvPr id="122" name="Google Shape;1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{{omsatningsrate}}</a:t>
            </a:r>
            <a:endParaRPr b="0"/>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fr-FR"/>
              <a:t>Supprimé: </a:t>
            </a:r>
            <a:r>
              <a:rPr b="0" i="0" lang="fr-FR"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fr-FR"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fr-FR"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60" name="Google Shape;1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Ajouté depuis B8: </a:t>
            </a:r>
            <a:r>
              <a:rPr b="0" i="0" lang="fr-FR" sz="1200" u="none" strike="noStrike">
                <a:solidFill>
                  <a:schemeClr val="dk1"/>
                </a:solidFill>
                <a:latin typeface="IBM Plex Sans"/>
                <a:ea typeface="IBM Plex Sans"/>
                <a:cs typeface="IBM Plex Sans"/>
                <a:sym typeface="IBM Plex Sans"/>
              </a:rPr>
              <a:t>{{omsatningsrate}}</a:t>
            </a:r>
            <a:endParaRPr b="0"/>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EU benchmark exclusion</a:t>
            </a:r>
            <a:endParaRPr/>
          </a:p>
          <a:p>
            <a:pPr indent="0" lvl="0" marL="0" rtl="0" algn="l">
              <a:spcBef>
                <a:spcPts val="0"/>
              </a:spcBef>
              <a:spcAft>
                <a:spcPts val="0"/>
              </a:spcAft>
              <a:buNone/>
            </a:pPr>
            <a:r>
              <a:rPr lang="fr-FR"/>
              <a:t>Supprimé: </a:t>
            </a:r>
            <a:endParaRPr/>
          </a:p>
        </p:txBody>
      </p:sp>
      <p:sp>
        <p:nvSpPr>
          <p:cNvPr id="298" name="Google Shape;2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p:nvPr/>
        </p:nvSpPr>
        <p:spPr>
          <a:xfrm>
            <a:off x="3422854" y="2136228"/>
            <a:ext cx="1394622" cy="2068689"/>
          </a:xfrm>
          <a:prstGeom prst="rect">
            <a:avLst/>
          </a:prstGeom>
          <a:noFill/>
          <a:ln>
            <a:noFill/>
          </a:ln>
        </p:spPr>
      </p:sp>
      <p:sp>
        <p:nvSpPr>
          <p:cNvPr id="17" name="Google Shape;17;p27"/>
          <p:cNvSpPr/>
          <p:nvPr/>
        </p:nvSpPr>
        <p:spPr>
          <a:xfrm>
            <a:off x="7013220" y="2085593"/>
            <a:ext cx="1781124" cy="2156098"/>
          </a:xfrm>
          <a:prstGeom prst="rect">
            <a:avLst/>
          </a:prstGeom>
          <a:noFill/>
          <a:ln>
            <a:noFill/>
          </a:ln>
        </p:spPr>
      </p:sp>
      <p:sp>
        <p:nvSpPr>
          <p:cNvPr id="18" name="Google Shape;18;p27"/>
          <p:cNvSpPr/>
          <p:nvPr/>
        </p:nvSpPr>
        <p:spPr>
          <a:xfrm>
            <a:off x="5103319" y="2085593"/>
            <a:ext cx="1658004" cy="2210671"/>
          </a:xfrm>
          <a:prstGeom prst="rect">
            <a:avLst/>
          </a:prstGeom>
          <a:noFill/>
          <a:ln>
            <a:noFill/>
          </a:ln>
        </p:spPr>
      </p:sp>
      <p:sp>
        <p:nvSpPr>
          <p:cNvPr id="19" name="Google Shape;19;p27"/>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type="title"/>
          </p:nvPr>
        </p:nvSpPr>
        <p:spPr>
          <a:xfrm>
            <a:off x="1079500" y="4619652"/>
            <a:ext cx="10033000" cy="182736"/>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11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1" name="Shape 21"/>
        <p:cNvGrpSpPr/>
        <p:nvPr/>
      </p:nvGrpSpPr>
      <p:grpSpPr>
        <a:xfrm>
          <a:off x="0" y="0"/>
          <a:ext cx="0" cy="0"/>
          <a:chOff x="0" y="0"/>
          <a:chExt cx="0" cy="0"/>
        </a:xfrm>
      </p:grpSpPr>
      <p:sp>
        <p:nvSpPr>
          <p:cNvPr id="22" name="Google Shape;22;p28"/>
          <p:cNvSpPr txBox="1"/>
          <p:nvPr>
            <p:ph idx="1" type="body"/>
          </p:nvPr>
        </p:nvSpPr>
        <p:spPr>
          <a:xfrm>
            <a:off x="518599" y="985520"/>
            <a:ext cx="4558013" cy="536448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8"/>
          <p:cNvSpPr txBox="1"/>
          <p:nvPr>
            <p:ph idx="2" type="body"/>
          </p:nvPr>
        </p:nvSpPr>
        <p:spPr>
          <a:xfrm>
            <a:off x="6472011" y="979593"/>
            <a:ext cx="4558013" cy="5364479"/>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26" name="Google Shape;26;p2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2" name="Shape 32"/>
        <p:cNvGrpSpPr/>
        <p:nvPr/>
      </p:nvGrpSpPr>
      <p:grpSpPr>
        <a:xfrm>
          <a:off x="0" y="0"/>
          <a:ext cx="0" cy="0"/>
          <a:chOff x="0" y="0"/>
          <a:chExt cx="0" cy="0"/>
        </a:xfrm>
      </p:grpSpPr>
      <p:sp>
        <p:nvSpPr>
          <p:cNvPr id="33" name="Google Shape;33;p30"/>
          <p:cNvSpPr txBox="1"/>
          <p:nvPr>
            <p:ph idx="1" type="body"/>
          </p:nvPr>
        </p:nvSpPr>
        <p:spPr>
          <a:xfrm>
            <a:off x="1079500" y="1587501"/>
            <a:ext cx="10033000" cy="1460499"/>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200"/>
              </a:spcBef>
              <a:spcAft>
                <a:spcPts val="0"/>
              </a:spcAft>
              <a:buClr>
                <a:schemeClr val="lt1"/>
              </a:buClr>
              <a:buSzPts val="1100"/>
              <a:buFont typeface="IBM Plex Sans"/>
              <a:buNone/>
              <a:defRPr sz="1100">
                <a:solidFill>
                  <a:schemeClr val="lt1"/>
                </a:solidFill>
              </a:defRPr>
            </a:lvl1pPr>
            <a:lvl2pPr indent="-228600" lvl="1" marL="914400" algn="l">
              <a:lnSpc>
                <a:spcPct val="106000"/>
              </a:lnSpc>
              <a:spcBef>
                <a:spcPts val="0"/>
              </a:spcBef>
              <a:spcAft>
                <a:spcPts val="0"/>
              </a:spcAft>
              <a:buClr>
                <a:schemeClr val="lt1"/>
              </a:buClr>
              <a:buSzPts val="1100"/>
              <a:buFont typeface="IBM Plex Sans"/>
              <a:buNone/>
              <a:defRPr sz="1100">
                <a:solidFill>
                  <a:schemeClr val="lt1"/>
                </a:solidFill>
              </a:defRPr>
            </a:lvl2pPr>
            <a:lvl3pPr indent="-298450" lvl="2" marL="1371600" algn="l">
              <a:lnSpc>
                <a:spcPct val="106000"/>
              </a:lnSpc>
              <a:spcBef>
                <a:spcPts val="0"/>
              </a:spcBef>
              <a:spcAft>
                <a:spcPts val="0"/>
              </a:spcAft>
              <a:buClr>
                <a:schemeClr val="lt1"/>
              </a:buClr>
              <a:buSzPts val="1100"/>
              <a:buChar char="•"/>
              <a:defRPr sz="1100">
                <a:solidFill>
                  <a:schemeClr val="lt1"/>
                </a:solidFill>
              </a:defRPr>
            </a:lvl3pPr>
            <a:lvl4pPr indent="-298450" lvl="3" marL="1828800" algn="l">
              <a:lnSpc>
                <a:spcPct val="106000"/>
              </a:lnSpc>
              <a:spcBef>
                <a:spcPts val="0"/>
              </a:spcBef>
              <a:spcAft>
                <a:spcPts val="0"/>
              </a:spcAft>
              <a:buClr>
                <a:schemeClr val="lt1"/>
              </a:buClr>
              <a:buSzPts val="1100"/>
              <a:buChar char="•"/>
              <a:defRPr sz="1100">
                <a:solidFill>
                  <a:schemeClr val="lt1"/>
                </a:solidFill>
              </a:defRPr>
            </a:lvl4pPr>
            <a:lvl5pPr indent="-298450" lvl="4" marL="2286000" algn="l">
              <a:lnSpc>
                <a:spcPct val="106000"/>
              </a:lnSpc>
              <a:spcBef>
                <a:spcPts val="0"/>
              </a:spcBef>
              <a:spcAft>
                <a:spcPts val="0"/>
              </a:spcAft>
              <a:buClr>
                <a:schemeClr val="lt1"/>
              </a:buClr>
              <a:buSzPts val="1100"/>
              <a:buChar char="•"/>
              <a:defRPr sz="11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sz="1000">
                <a:solidFill>
                  <a:schemeClr val="lt1"/>
                </a:solidFill>
                <a:latin typeface="IBM Plex Sans"/>
                <a:ea typeface="IBM Plex Sans"/>
                <a:cs typeface="IBM Plex Sans"/>
                <a:sym typeface="IBM Plex Sans"/>
              </a:defRPr>
            </a:lvl1pPr>
            <a:lvl2pPr indent="0" lvl="1" marL="0" algn="r">
              <a:spcBef>
                <a:spcPts val="0"/>
              </a:spcBef>
              <a:buNone/>
              <a:defRPr sz="1000">
                <a:solidFill>
                  <a:schemeClr val="lt1"/>
                </a:solidFill>
                <a:latin typeface="IBM Plex Sans"/>
                <a:ea typeface="IBM Plex Sans"/>
                <a:cs typeface="IBM Plex Sans"/>
                <a:sym typeface="IBM Plex Sans"/>
              </a:defRPr>
            </a:lvl2pPr>
            <a:lvl3pPr indent="0" lvl="2" marL="0" algn="r">
              <a:spcBef>
                <a:spcPts val="0"/>
              </a:spcBef>
              <a:buNone/>
              <a:defRPr sz="1000">
                <a:solidFill>
                  <a:schemeClr val="lt1"/>
                </a:solidFill>
                <a:latin typeface="IBM Plex Sans"/>
                <a:ea typeface="IBM Plex Sans"/>
                <a:cs typeface="IBM Plex Sans"/>
                <a:sym typeface="IBM Plex Sans"/>
              </a:defRPr>
            </a:lvl3pPr>
            <a:lvl4pPr indent="0" lvl="3" marL="0" algn="r">
              <a:spcBef>
                <a:spcPts val="0"/>
              </a:spcBef>
              <a:buNone/>
              <a:defRPr sz="1000">
                <a:solidFill>
                  <a:schemeClr val="lt1"/>
                </a:solidFill>
                <a:latin typeface="IBM Plex Sans"/>
                <a:ea typeface="IBM Plex Sans"/>
                <a:cs typeface="IBM Plex Sans"/>
                <a:sym typeface="IBM Plex Sans"/>
              </a:defRPr>
            </a:lvl4pPr>
            <a:lvl5pPr indent="0" lvl="4" marL="0" algn="r">
              <a:spcBef>
                <a:spcPts val="0"/>
              </a:spcBef>
              <a:buNone/>
              <a:defRPr sz="1000">
                <a:solidFill>
                  <a:schemeClr val="lt1"/>
                </a:solidFill>
                <a:latin typeface="IBM Plex Sans"/>
                <a:ea typeface="IBM Plex Sans"/>
                <a:cs typeface="IBM Plex Sans"/>
                <a:sym typeface="IBM Plex Sans"/>
              </a:defRPr>
            </a:lvl5pPr>
            <a:lvl6pPr indent="0" lvl="5" marL="0" algn="r">
              <a:spcBef>
                <a:spcPts val="0"/>
              </a:spcBef>
              <a:buNone/>
              <a:defRPr sz="1000">
                <a:solidFill>
                  <a:schemeClr val="lt1"/>
                </a:solidFill>
                <a:latin typeface="IBM Plex Sans"/>
                <a:ea typeface="IBM Plex Sans"/>
                <a:cs typeface="IBM Plex Sans"/>
                <a:sym typeface="IBM Plex Sans"/>
              </a:defRPr>
            </a:lvl6pPr>
            <a:lvl7pPr indent="0" lvl="6" marL="0" algn="r">
              <a:spcBef>
                <a:spcPts val="0"/>
              </a:spcBef>
              <a:buNone/>
              <a:defRPr sz="1000">
                <a:solidFill>
                  <a:schemeClr val="lt1"/>
                </a:solidFill>
                <a:latin typeface="IBM Plex Sans"/>
                <a:ea typeface="IBM Plex Sans"/>
                <a:cs typeface="IBM Plex Sans"/>
                <a:sym typeface="IBM Plex Sans"/>
              </a:defRPr>
            </a:lvl7pPr>
            <a:lvl8pPr indent="0" lvl="7" marL="0" algn="r">
              <a:spcBef>
                <a:spcPts val="0"/>
              </a:spcBef>
              <a:buNone/>
              <a:defRPr sz="1000">
                <a:solidFill>
                  <a:schemeClr val="lt1"/>
                </a:solidFill>
                <a:latin typeface="IBM Plex Sans"/>
                <a:ea typeface="IBM Plex Sans"/>
                <a:cs typeface="IBM Plex Sans"/>
                <a:sym typeface="IBM Plex Sans"/>
              </a:defRPr>
            </a:lvl8pPr>
            <a:lvl9pPr indent="0" lvl="8" marL="0" algn="r">
              <a:spcBef>
                <a:spcPts val="0"/>
              </a:spcBef>
              <a:buNone/>
              <a:defRPr sz="1000">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7" name="Shape 37"/>
        <p:cNvGrpSpPr/>
        <p:nvPr/>
      </p:nvGrpSpPr>
      <p:grpSpPr>
        <a:xfrm>
          <a:off x="0" y="0"/>
          <a:ext cx="0" cy="0"/>
          <a:chOff x="0" y="0"/>
          <a:chExt cx="0" cy="0"/>
        </a:xfrm>
      </p:grpSpPr>
      <p:sp>
        <p:nvSpPr>
          <p:cNvPr id="38" name="Google Shape;38;p31"/>
          <p:cNvSpPr txBox="1"/>
          <p:nvPr>
            <p:ph idx="1" type="body"/>
          </p:nvPr>
        </p:nvSpPr>
        <p:spPr>
          <a:xfrm>
            <a:off x="508000" y="1015788"/>
            <a:ext cx="3513138" cy="5328285"/>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1"/>
          <p:cNvSpPr txBox="1"/>
          <p:nvPr>
            <p:ph idx="2" type="body"/>
          </p:nvPr>
        </p:nvSpPr>
        <p:spPr>
          <a:xfrm>
            <a:off x="4338638" y="1015789"/>
            <a:ext cx="3513137" cy="5328284"/>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518599" y="1015999"/>
            <a:ext cx="11165399" cy="5328073"/>
          </a:xfrm>
          <a:prstGeom prst="rect">
            <a:avLst/>
          </a:prstGeom>
          <a:noFill/>
          <a:ln>
            <a:noFill/>
          </a:ln>
        </p:spPr>
        <p:txBody>
          <a:bodyPr anchorCtr="0" anchor="t" bIns="0" lIns="0" spcFirstLastPara="1" rIns="0" wrap="square" tIns="0">
            <a:noAutofit/>
          </a:bodyPr>
          <a:lstStyle>
            <a:lvl1pPr indent="-285750" lvl="0" marL="4572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1pPr>
            <a:lvl2pPr indent="-285750" lvl="1" marL="9144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2pPr>
            <a:lvl3pPr indent="-285750" lvl="2" marL="13716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3pPr>
            <a:lvl4pPr indent="-285750" lvl="3" marL="18288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4pPr>
            <a:lvl5pPr indent="-285750" lvl="4" marL="22860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1000"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1000"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1000"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1000"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1000"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1000"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1000"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fr-FR"/>
              <a:t>‹#›</a:t>
            </a:fld>
            <a:endParaRPr/>
          </a:p>
        </p:txBody>
      </p:sp>
      <p:sp>
        <p:nvSpPr>
          <p:cNvPr id="14" name="Google Shape;14;p2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800"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1079500" y="4619652"/>
            <a:ext cx="10033000" cy="152349"/>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fr-FR"/>
              <a:t>RAPPORT ESG {{insert_year}}</a:t>
            </a:r>
            <a:endParaRPr/>
          </a:p>
        </p:txBody>
      </p:sp>
      <p:sp>
        <p:nvSpPr>
          <p:cNvPr id="47" name="Google Shape;47;p1"/>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fr-FR"/>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518600" y="513927"/>
            <a:ext cx="11165400"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Rapport ESG</a:t>
            </a:r>
            <a:r>
              <a:rPr b="0" lang="fr-FR">
                <a:solidFill>
                  <a:schemeClr val="accent2"/>
                </a:solidFill>
              </a:rPr>
              <a:t> </a:t>
            </a:r>
            <a:br>
              <a:rPr b="0" lang="fr-FR">
                <a:solidFill>
                  <a:schemeClr val="accent2"/>
                </a:solidFill>
              </a:rPr>
            </a:br>
            <a:endParaRPr b="0">
              <a:solidFill>
                <a:schemeClr val="accent2"/>
              </a:solidFill>
            </a:endParaRPr>
          </a:p>
        </p:txBody>
      </p:sp>
      <p:sp>
        <p:nvSpPr>
          <p:cNvPr id="54" name="Google Shape;54;p2"/>
          <p:cNvSpPr txBox="1"/>
          <p:nvPr>
            <p:ph idx="1" type="body"/>
          </p:nvPr>
        </p:nvSpPr>
        <p:spPr>
          <a:xfrm>
            <a:off x="518597" y="985520"/>
            <a:ext cx="7845473" cy="536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Informations générales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solidFill>
                  <a:schemeClr val="dk2"/>
                </a:solidFill>
                <a:latin typeface="IBM Plex Sans"/>
                <a:ea typeface="IBM Plex Sans"/>
                <a:cs typeface="IBM Plex Sans"/>
                <a:sym typeface="IBM Plex Sans"/>
              </a:rPr>
              <a:t>Pratiques, politiques et initiatives pour une économie plus durable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Consommation d’énergie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Émissions de CO₂e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Pollution de l’air, de l’eau et des sols</a:t>
            </a:r>
            <a:r>
              <a:rPr lang="fr-FR"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Biodiversité</a:t>
            </a:r>
            <a:r>
              <a:rPr lang="fr-FR"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Eau	</a:t>
            </a:r>
            <a:r>
              <a:rPr lang="fr-FR"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Utilisation des ressources, économie circulaire et gestion des déchets</a:t>
            </a:r>
            <a:r>
              <a:rPr lang="fr-FR"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Personnel : caractéristiques générales</a:t>
            </a:r>
            <a:r>
              <a:rPr lang="fr-FR"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Personnel : santé et sécurité</a:t>
            </a:r>
            <a:r>
              <a:rPr lang="fr-FR"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Personnel : rémunération, négociation collective et formation</a:t>
            </a:r>
            <a:r>
              <a:rPr lang="fr-FR"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fr-FR" sz="1200">
                <a:latin typeface="IBM Plex Sans"/>
                <a:ea typeface="IBM Plex Sans"/>
                <a:cs typeface="IBM Plex Sans"/>
                <a:sym typeface="IBM Plex Sans"/>
              </a:rPr>
              <a:t>Conduite des affaires</a:t>
            </a:r>
            <a:r>
              <a:rPr lang="fr-FR"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p:txBody>
      </p:sp>
      <p:sp>
        <p:nvSpPr>
          <p:cNvPr id="55" name="Google Shape;55;p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a:p>
        </p:txBody>
      </p:sp>
      <p:sp>
        <p:nvSpPr>
          <p:cNvPr id="56" name="Google Shape;56;p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Base de préparation (B1) </a:t>
            </a:r>
            <a:endParaRPr/>
          </a:p>
        </p:txBody>
      </p:sp>
      <p:sp>
        <p:nvSpPr>
          <p:cNvPr id="63" name="Google Shape;63;p3"/>
          <p:cNvSpPr txBox="1"/>
          <p:nvPr/>
        </p:nvSpPr>
        <p:spPr>
          <a:xfrm>
            <a:off x="508000" y="2965249"/>
            <a:ext cx="3513138" cy="171795"/>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900" u="none" cap="none" strike="noStrike">
              <a:solidFill>
                <a:schemeClr val="accent2"/>
              </a:solidFill>
              <a:latin typeface="IBM Plex Sans"/>
              <a:ea typeface="IBM Plex Sans"/>
              <a:cs typeface="IBM Plex Sans"/>
              <a:sym typeface="IBM Plex Sans"/>
            </a:endParaRPr>
          </a:p>
        </p:txBody>
      </p:sp>
      <p:graphicFrame>
        <p:nvGraphicFramePr>
          <p:cNvPr id="64" name="Google Shape;64;p3"/>
          <p:cNvGraphicFramePr/>
          <p:nvPr/>
        </p:nvGraphicFramePr>
        <p:xfrm>
          <a:off x="518599" y="5090156"/>
          <a:ext cx="3000000" cy="3000000"/>
        </p:xfrm>
        <a:graphic>
          <a:graphicData uri="http://schemas.openxmlformats.org/drawingml/2006/table">
            <a:tbl>
              <a:tblPr firstRow="1">
                <a:noFill/>
                <a:tableStyleId>{83A74AF9-74D6-43BA-9877-64FBA191D48E}</a:tableStyleId>
              </a:tblPr>
              <a:tblGrid>
                <a:gridCol w="3400875"/>
                <a:gridCol w="3953500"/>
              </a:tblGrid>
              <a:tr h="306950">
                <a:tc gridSpan="2">
                  <a:txBody>
                    <a:bodyPr/>
                    <a:lstStyle/>
                    <a:p>
                      <a:pPr indent="0" lvl="0" marL="0" marR="0" rtl="0" algn="l">
                        <a:spcBef>
                          <a:spcPts val="0"/>
                        </a:spcBef>
                        <a:spcAft>
                          <a:spcPts val="0"/>
                        </a:spcAft>
                        <a:buNone/>
                      </a:pPr>
                      <a:r>
                        <a:rPr b="1" lang="fr-FR" sz="1200" u="none" cap="none" strike="noStrike">
                          <a:solidFill>
                            <a:schemeClr val="dk2"/>
                          </a:solidFill>
                          <a:latin typeface="IBM Plex Sans"/>
                          <a:ea typeface="IBM Plex Sans"/>
                          <a:cs typeface="IBM Plex Sans"/>
                          <a:sym typeface="IBM Plex Sans"/>
                        </a:rPr>
                        <a:t>Liste des filiales faisant l’objet du présent rapport ESG </a:t>
                      </a:r>
                      <a:r>
                        <a:rPr b="0" lang="fr-FR" sz="1200" u="none" cap="none" strike="noStrike">
                          <a:solidFill>
                            <a:schemeClr val="dk2"/>
                          </a:solidFill>
                          <a:latin typeface="IBM Plex Sans"/>
                          <a:ea typeface="IBM Plex Sans"/>
                          <a:cs typeface="IBM Plex Sans"/>
                          <a:sym typeface="IBM Plex Sans"/>
                        </a:rPr>
                        <a:t>(par. 27d)</a:t>
                      </a:r>
                      <a:endParaRPr b="0" i="1" sz="12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177075">
                <a:tc>
                  <a:txBody>
                    <a:bodyPr/>
                    <a:lstStyle/>
                    <a:p>
                      <a:pPr indent="0" lvl="0" marL="0" marR="0" rtl="0" algn="l">
                        <a:spcBef>
                          <a:spcPts val="0"/>
                        </a:spcBef>
                        <a:spcAft>
                          <a:spcPts val="0"/>
                        </a:spcAft>
                        <a:buNone/>
                      </a:pPr>
                      <a:r>
                        <a:rPr b="1" lang="fr-FR" sz="1200" u="none" cap="none" strike="noStrike">
                          <a:solidFill>
                            <a:schemeClr val="dk2"/>
                          </a:solidFill>
                          <a:latin typeface="IBM Plex Sans"/>
                          <a:ea typeface="IBM Plex Sans"/>
                          <a:cs typeface="IBM Plex Sans"/>
                          <a:sym typeface="IBM Plex Sans"/>
                        </a:rPr>
                        <a:t>Nom de la filiale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200" u="none" cap="none" strike="noStrike">
                          <a:solidFill>
                            <a:schemeClr val="dk2"/>
                          </a:solidFill>
                          <a:latin typeface="IBM Plex Sans"/>
                          <a:ea typeface="IBM Plex Sans"/>
                          <a:cs typeface="IBM Plex Sans"/>
                          <a:sym typeface="IBM Plex Sans"/>
                        </a:rPr>
                        <a:t>Adresse de la filiale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5275">
                <a:tc>
                  <a:txBody>
                    <a:bodyPr/>
                    <a:lstStyle/>
                    <a:p>
                      <a:pPr indent="0" lvl="0" marL="0" marR="0" rtl="0" algn="l">
                        <a:spcBef>
                          <a:spcPts val="0"/>
                        </a:spcBef>
                        <a:spcAft>
                          <a:spcPts val="0"/>
                        </a:spcAft>
                        <a:buClr>
                          <a:srgbClr val="2D55FF"/>
                        </a:buClr>
                        <a:buSzPts val="1200"/>
                        <a:buFont typeface="Inter"/>
                        <a:buNone/>
                      </a:pPr>
                      <a:r>
                        <a:rPr b="0" i="0" lang="fr-FR" sz="1200" u="none" cap="none" strike="noStrike">
                          <a:solidFill>
                            <a:srgbClr val="2D55FF"/>
                          </a:solidFill>
                          <a:latin typeface="Inter"/>
                          <a:ea typeface="Inter"/>
                          <a:cs typeface="Inter"/>
                          <a:sym typeface="Inter"/>
                        </a:rPr>
                        <a:t>{{subsidiary}}</a:t>
                      </a:r>
                      <a:endParaRPr sz="1200" u="none" cap="none" strike="noStrike"/>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cap="none" strike="noStrike">
                          <a:solidFill>
                            <a:srgbClr val="2D55FF"/>
                          </a:solidFill>
                          <a:latin typeface="Inter"/>
                          <a:ea typeface="Inter"/>
                          <a:cs typeface="Inter"/>
                          <a:sym typeface="Inter"/>
                        </a:rPr>
                        <a:t>{{subsidiary_address}}</a:t>
                      </a:r>
                      <a:endParaRPr sz="1200" u="none" cap="none" strike="noStrike"/>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5" name="Google Shape;65;p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6" name="Google Shape;66;p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67" name="Google Shape;67;p3"/>
          <p:cNvGraphicFramePr/>
          <p:nvPr/>
        </p:nvGraphicFramePr>
        <p:xfrm>
          <a:off x="518599" y="3862384"/>
          <a:ext cx="3000000" cy="3000000"/>
        </p:xfrm>
        <a:graphic>
          <a:graphicData uri="http://schemas.openxmlformats.org/drawingml/2006/table">
            <a:tbl>
              <a:tblPr firstRow="1">
                <a:noFill/>
                <a:tableStyleId>{83A74AF9-74D6-43BA-9877-64FBA191D48E}</a:tableStyleId>
              </a:tblPr>
              <a:tblGrid>
                <a:gridCol w="6194425"/>
                <a:gridCol w="1159950"/>
              </a:tblGrid>
              <a:tr h="205700">
                <a:tc gridSpan="2">
                  <a:txBody>
                    <a:bodyPr/>
                    <a:lstStyle/>
                    <a:p>
                      <a:pPr indent="0" lvl="0" marL="0" marR="0" rtl="0" algn="l">
                        <a:spcBef>
                          <a:spcPts val="0"/>
                        </a:spcBef>
                        <a:spcAft>
                          <a:spcPts val="0"/>
                        </a:spcAft>
                        <a:buNone/>
                      </a:pPr>
                      <a:r>
                        <a:rPr b="1" lang="fr-FR" sz="1200" u="none" cap="none" strike="noStrike">
                          <a:solidFill>
                            <a:schemeClr val="dk2"/>
                          </a:solidFill>
                        </a:rPr>
                        <a:t>Rapport individuel ou consolidé</a:t>
                      </a:r>
                      <a:r>
                        <a:rPr b="0" lang="fr-FR" sz="1200" u="none" cap="none" strike="noStrike">
                          <a:solidFill>
                            <a:schemeClr val="dk2"/>
                          </a:solidFill>
                        </a:rPr>
                        <a:t> (par. 27c)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94275">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Le rapport a été établi sur une </a:t>
                      </a:r>
                      <a:r>
                        <a:rPr b="1" lang="fr-FR" sz="1200">
                          <a:solidFill>
                            <a:schemeClr val="dk2"/>
                          </a:solidFill>
                          <a:latin typeface="IBM Plex Sans"/>
                          <a:ea typeface="IBM Plex Sans"/>
                          <a:cs typeface="IBM Plex Sans"/>
                          <a:sym typeface="IBM Plex Sans"/>
                        </a:rPr>
                        <a:t>base individuelle </a:t>
                      </a:r>
                      <a:r>
                        <a:rPr b="0" lang="fr-FR" sz="1200">
                          <a:solidFill>
                            <a:schemeClr val="dk2"/>
                          </a:solidFill>
                          <a:latin typeface="IBM Plex Sans"/>
                          <a:ea typeface="IBM Plex Sans"/>
                          <a:cs typeface="IBM Plex Sans"/>
                          <a:sym typeface="IBM Plex Sans"/>
                        </a:rPr>
                        <a:t>(c’est-à-dire qu’il ne couvre aucune filiale)</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{{yes_subsidiary?}}</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4275">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Le rapport a été établi sur une </a:t>
                      </a:r>
                      <a:r>
                        <a:rPr b="1" lang="fr-FR" sz="1200">
                          <a:solidFill>
                            <a:schemeClr val="dk2"/>
                          </a:solidFill>
                          <a:latin typeface="IBM Plex Sans"/>
                          <a:ea typeface="IBM Plex Sans"/>
                          <a:cs typeface="IBM Plex Sans"/>
                          <a:sym typeface="IBM Plex Sans"/>
                        </a:rPr>
                        <a:t>base consolidée </a:t>
                      </a:r>
                      <a:r>
                        <a:rPr b="0" lang="fr-FR" sz="1200">
                          <a:solidFill>
                            <a:schemeClr val="dk2"/>
                          </a:solidFill>
                          <a:latin typeface="IBM Plex Sans"/>
                          <a:ea typeface="IBM Plex Sans"/>
                          <a:cs typeface="IBM Plex Sans"/>
                          <a:sym typeface="IBM Plex Sans"/>
                        </a:rPr>
                        <a:t>(c’est-à-dire qu’il comprend les filiales de l’entreprise)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{{no_subsidiary?}}</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8" name="Google Shape;68;p3"/>
          <p:cNvGraphicFramePr/>
          <p:nvPr/>
        </p:nvGraphicFramePr>
        <p:xfrm>
          <a:off x="518600" y="2284438"/>
          <a:ext cx="3000000" cy="3000000"/>
        </p:xfrm>
        <a:graphic>
          <a:graphicData uri="http://schemas.openxmlformats.org/drawingml/2006/table">
            <a:tbl>
              <a:tblPr firstRow="1">
                <a:noFill/>
                <a:tableStyleId>{83A74AF9-74D6-43BA-9877-64FBA191D48E}</a:tableStyleId>
              </a:tblPr>
              <a:tblGrid>
                <a:gridCol w="6205575"/>
                <a:gridCol w="1148800"/>
              </a:tblGrid>
              <a:tr h="391200">
                <a:tc grid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Module de base, ou module de base +</a:t>
                      </a:r>
                      <a:r>
                        <a:rPr b="0" lang="fr-FR" sz="1200">
                          <a:solidFill>
                            <a:schemeClr val="dk2"/>
                          </a:solidFill>
                          <a:latin typeface="IBM Plex Sans"/>
                          <a:ea typeface="IBM Plex Sans"/>
                          <a:cs typeface="IBM Plex Sans"/>
                          <a:sym typeface="IBM Plex Sans"/>
                        </a:rPr>
                        <a:t> </a:t>
                      </a:r>
                      <a:r>
                        <a:rPr b="1" lang="fr-FR" sz="1200">
                          <a:solidFill>
                            <a:schemeClr val="dk2"/>
                          </a:solidFill>
                          <a:latin typeface="IBM Plex Sans"/>
                          <a:ea typeface="IBM Plex Sans"/>
                          <a:cs typeface="IBM Plex Sans"/>
                          <a:sym typeface="IBM Plex Sans"/>
                        </a:rPr>
                        <a:t>module complet </a:t>
                      </a:r>
                      <a:r>
                        <a:rPr b="0" lang="fr-FR" sz="1200">
                          <a:solidFill>
                            <a:schemeClr val="dk2"/>
                          </a:solidFill>
                          <a:latin typeface="IBM Plex Sans"/>
                          <a:ea typeface="IBM Plex Sans"/>
                          <a:cs typeface="IBM Plex Sans"/>
                          <a:sym typeface="IBM Plex Sans"/>
                        </a:rPr>
                        <a:t>(par. 27a)</a:t>
                      </a:r>
                      <a:r>
                        <a:rPr b="1" lang="fr-FR" sz="1200">
                          <a:solidFill>
                            <a:schemeClr val="dk2"/>
                          </a:solidFill>
                          <a:latin typeface="IBM Plex Sans"/>
                          <a:ea typeface="IBM Plex Sans"/>
                          <a:cs typeface="IBM Plex Sans"/>
                          <a:sym typeface="IBM Plex Sans"/>
                        </a:rPr>
                        <a:t>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08850">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Le rapport est fondé sur le </a:t>
                      </a:r>
                      <a:r>
                        <a:rPr b="1" lang="fr-FR" sz="1200">
                          <a:solidFill>
                            <a:schemeClr val="dk2"/>
                          </a:solidFill>
                          <a:latin typeface="IBM Plex Sans"/>
                          <a:ea typeface="IBM Plex Sans"/>
                          <a:cs typeface="IBM Plex Sans"/>
                          <a:sym typeface="IBM Plex Sans"/>
                        </a:rPr>
                        <a:t>module de base</a:t>
                      </a:r>
                      <a:r>
                        <a:rPr b="0" lang="fr-FR" sz="1200">
                          <a:solidFill>
                            <a:schemeClr val="dk2"/>
                          </a:solidFill>
                          <a:latin typeface="IBM Plex Sans"/>
                          <a:ea typeface="IBM Plex Sans"/>
                          <a:cs typeface="IBM Plex Sans"/>
                          <a:sym typeface="IBM Plex Sans"/>
                        </a:rPr>
                        <a:t> de la norme volontaire pour les PME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{{basic_module?}}</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531300">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Le rapport est fondé sur le </a:t>
                      </a:r>
                      <a:r>
                        <a:rPr b="1" lang="fr-FR" sz="1200">
                          <a:solidFill>
                            <a:schemeClr val="dk2"/>
                          </a:solidFill>
                          <a:latin typeface="IBM Plex Sans"/>
                          <a:ea typeface="IBM Plex Sans"/>
                          <a:cs typeface="IBM Plex Sans"/>
                          <a:sym typeface="IBM Plex Sans"/>
                        </a:rPr>
                        <a:t>module de base</a:t>
                      </a:r>
                      <a:r>
                        <a:rPr b="0" lang="fr-FR" sz="1200">
                          <a:solidFill>
                            <a:schemeClr val="dk2"/>
                          </a:solidFill>
                          <a:latin typeface="IBM Plex Sans"/>
                          <a:ea typeface="IBM Plex Sans"/>
                          <a:cs typeface="IBM Plex Sans"/>
                          <a:sym typeface="IBM Plex Sans"/>
                        </a:rPr>
                        <a:t> et le </a:t>
                      </a:r>
                      <a:r>
                        <a:rPr b="1" lang="fr-FR" sz="1200">
                          <a:solidFill>
                            <a:schemeClr val="dk2"/>
                          </a:solidFill>
                          <a:latin typeface="IBM Plex Sans"/>
                          <a:ea typeface="IBM Plex Sans"/>
                          <a:cs typeface="IBM Plex Sans"/>
                          <a:sym typeface="IBM Plex Sans"/>
                        </a:rPr>
                        <a:t>module complet </a:t>
                      </a:r>
                      <a:r>
                        <a:rPr b="0" lang="fr-FR" sz="1200">
                          <a:solidFill>
                            <a:schemeClr val="dk2"/>
                          </a:solidFill>
                          <a:latin typeface="IBM Plex Sans"/>
                          <a:ea typeface="IBM Plex Sans"/>
                          <a:cs typeface="IBM Plex Sans"/>
                          <a:sym typeface="IBM Plex Sans"/>
                        </a:rPr>
                        <a:t>de la norme volontaire pour les PME</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{{comprehensive?}}</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9" name="Google Shape;69;p3"/>
          <p:cNvSpPr txBox="1"/>
          <p:nvPr/>
        </p:nvSpPr>
        <p:spPr>
          <a:xfrm>
            <a:off x="508000" y="1016000"/>
            <a:ext cx="111654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cap="none" strike="noStrike">
                <a:solidFill>
                  <a:schemeClr val="dk2"/>
                </a:solidFill>
                <a:latin typeface="Inter"/>
                <a:ea typeface="Inter"/>
                <a:cs typeface="Inter"/>
                <a:sym typeface="Inter"/>
              </a:rPr>
              <a:t>L’entreprise a établi son rapport de durabilité selon la norme VSME, qui suit une approche structurée afin de garantir que les informations requises sont communiquées de manière standardisée et transparente. Le rapport reflète les modules de durabilité retenus et couverts par l’entreprise. Il est en outre précisé si le rapport de durabilité est établi sur une base individuelle (données propres à l’entreprise uniquement) ou sur une base consolidée. Cette section contient des informations de base sur l’entreprise, par exemple sa forme juridique, ses codes NACE, le total du bilan et le chiffre d’affaires, le nombre de salariés, ainsi que le pays où sont exercées ses activités principales et la localisation d’autres actifs significatifs.</a:t>
            </a:r>
            <a:endParaRPr b="0" i="0" sz="1200" u="none" cap="none" strike="noStrike">
              <a:solidFill>
                <a:schemeClr val="dk2"/>
              </a:solidFill>
              <a:latin typeface="IBM Plex Sans"/>
              <a:ea typeface="IBM Plex Sans"/>
              <a:cs typeface="IBM Plex Sans"/>
              <a:sym typeface="IBM Plex Sans"/>
            </a:endParaRPr>
          </a:p>
        </p:txBody>
      </p:sp>
      <p:graphicFrame>
        <p:nvGraphicFramePr>
          <p:cNvPr id="70" name="Google Shape;70;p3"/>
          <p:cNvGraphicFramePr/>
          <p:nvPr/>
        </p:nvGraphicFramePr>
        <p:xfrm>
          <a:off x="8169275" y="3862384"/>
          <a:ext cx="3000000" cy="3000000"/>
        </p:xfrm>
        <a:graphic>
          <a:graphicData uri="http://schemas.openxmlformats.org/drawingml/2006/table">
            <a:tbl>
              <a:tblPr firstRow="1">
                <a:noFill/>
                <a:tableStyleId>{83A74AF9-74D6-43BA-9877-64FBA191D48E}</a:tableStyleId>
              </a:tblPr>
              <a:tblGrid>
                <a:gridCol w="1620400"/>
                <a:gridCol w="1883725"/>
              </a:tblGrid>
              <a:tr h="247925">
                <a:tc grid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Informations de base sur l’entreprise</a:t>
                      </a:r>
                      <a:r>
                        <a:rPr b="0" lang="fr-FR" sz="1200">
                          <a:solidFill>
                            <a:schemeClr val="dk2"/>
                          </a:solidFill>
                          <a:latin typeface="IBM Plex Sans"/>
                          <a:ea typeface="IBM Plex Sans"/>
                          <a:cs typeface="IBM Plex Sans"/>
                          <a:sym typeface="IBM Plex Sans"/>
                        </a:rPr>
                        <a:t> (par. 27e, i-v)</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7029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Forme juridique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{{branchekode}}</a:t>
                      </a:r>
                      <a:endParaRPr b="0"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3132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Code(s) NACE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{{NACE}}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580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Total du bilan (EUR)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{{balance}}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58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Chiffre d’affaires (EUR)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9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Nb de salariés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{{total_employees}}</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1" name="Google Shape;71;p3"/>
          <p:cNvGraphicFramePr/>
          <p:nvPr/>
        </p:nvGraphicFramePr>
        <p:xfrm>
          <a:off x="8169275" y="2286881"/>
          <a:ext cx="3000000" cy="3000000"/>
        </p:xfrm>
        <a:graphic>
          <a:graphicData uri="http://schemas.openxmlformats.org/drawingml/2006/table">
            <a:tbl>
              <a:tblPr firstRow="1">
                <a:noFill/>
                <a:tableStyleId>{83A74AF9-74D6-43BA-9877-64FBA191D48E}</a:tableStyleId>
              </a:tblPr>
              <a:tblGrid>
                <a:gridCol w="1620400"/>
                <a:gridCol w="1883725"/>
              </a:tblGrid>
              <a:tr h="498650">
                <a:tc grid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Le rapport ESG comporte des omissions pour cause d’informations commerciales sensibles </a:t>
                      </a:r>
                      <a:r>
                        <a:rPr b="0" lang="fr-FR" sz="1200">
                          <a:solidFill>
                            <a:schemeClr val="dk2"/>
                          </a:solidFill>
                          <a:latin typeface="IBM Plex Sans"/>
                          <a:ea typeface="IBM Plex Sans"/>
                          <a:cs typeface="IBM Plex Sans"/>
                          <a:sym typeface="IBM Plex Sans"/>
                        </a:rPr>
                        <a:t>(par. 27b)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8326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Les informations suivantes ont été omises</a:t>
                      </a:r>
                      <a:endParaRPr/>
                    </a:p>
                    <a:p>
                      <a:pPr indent="0" lvl="0" marL="0" marR="0" rtl="0" algn="l">
                        <a:spcBef>
                          <a:spcPts val="0"/>
                        </a:spcBef>
                        <a:spcAft>
                          <a:spcPts val="0"/>
                        </a:spcAft>
                        <a:buNone/>
                      </a:pPr>
                      <a:r>
                        <a:t/>
                      </a:r>
                      <a:endParaRPr b="1" sz="9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lang="fr-FR" sz="1200">
                          <a:solidFill>
                            <a:schemeClr val="accent2"/>
                          </a:solidFill>
                          <a:latin typeface="IBM Plex Sans"/>
                          <a:ea typeface="IBM Plex Sans"/>
                          <a:cs typeface="IBM Plex Sans"/>
                          <a:sym typeface="IBM Plex Sans"/>
                        </a:rPr>
                        <a:t>{{confidentiality_info}}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Base de préparation (B1) - suite</a:t>
            </a:r>
            <a:endParaRPr/>
          </a:p>
        </p:txBody>
      </p:sp>
      <p:sp>
        <p:nvSpPr>
          <p:cNvPr id="78" name="Google Shape;78;p4"/>
          <p:cNvSpPr/>
          <p:nvPr/>
        </p:nvSpPr>
        <p:spPr>
          <a:xfrm>
            <a:off x="638979" y="1108695"/>
            <a:ext cx="207455" cy="232601"/>
          </a:xfrm>
          <a:prstGeom prst="rect">
            <a:avLst/>
          </a:prstGeom>
          <a:noFill/>
          <a:ln>
            <a:noFill/>
          </a:ln>
        </p:spPr>
      </p:sp>
      <p:sp>
        <p:nvSpPr>
          <p:cNvPr id="79" name="Google Shape;79;p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0" name="Google Shape;80;p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81" name="Google Shape;81;p4"/>
          <p:cNvGraphicFramePr/>
          <p:nvPr/>
        </p:nvGraphicFramePr>
        <p:xfrm>
          <a:off x="515952" y="5116019"/>
          <a:ext cx="3000000" cy="3000000"/>
        </p:xfrm>
        <a:graphic>
          <a:graphicData uri="http://schemas.openxmlformats.org/drawingml/2006/table">
            <a:tbl>
              <a:tblPr firstRow="1">
                <a:noFill/>
                <a:tableStyleId>{83A74AF9-74D6-43BA-9877-64FBA191D48E}</a:tableStyleId>
              </a:tblPr>
              <a:tblGrid>
                <a:gridCol w="3849500"/>
                <a:gridCol w="3694650"/>
                <a:gridCol w="1948875"/>
                <a:gridCol w="1704650"/>
              </a:tblGrid>
              <a:tr h="2520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Nom du certificat ESG/label environnemental </a:t>
                      </a:r>
                      <a:r>
                        <a:rPr b="0" lang="fr-FR" sz="1200">
                          <a:solidFill>
                            <a:schemeClr val="dk2"/>
                          </a:solidFill>
                          <a:latin typeface="IBM Plex Sans"/>
                          <a:ea typeface="IBM Plex Sans"/>
                          <a:cs typeface="IBM Plex Sans"/>
                          <a:sym typeface="IBM Plex Sans"/>
                        </a:rPr>
                        <a:t>(par. 28)</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Brève description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Date de délivrance/</a:t>
                      </a:r>
                      <a:endParaRPr/>
                    </a:p>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validité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Notation éventuelle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2000">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{{certificate_or_ecolabel}}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{{description_certificate}}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{{date_certicate}}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{{certiciate_possible_rating}}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2" name="Google Shape;82;p4"/>
          <p:cNvGraphicFramePr/>
          <p:nvPr/>
        </p:nvGraphicFramePr>
        <p:xfrm>
          <a:off x="534502" y="1788146"/>
          <a:ext cx="3000000" cy="3000000"/>
        </p:xfrm>
        <a:graphic>
          <a:graphicData uri="http://schemas.openxmlformats.org/drawingml/2006/table">
            <a:tbl>
              <a:tblPr firstRow="1">
                <a:noFill/>
                <a:tableStyleId>{83A74AF9-74D6-43BA-9877-64FBA191D48E}</a:tableStyleId>
              </a:tblPr>
              <a:tblGrid>
                <a:gridCol w="2030575"/>
                <a:gridCol w="2156275"/>
                <a:gridCol w="1647600"/>
                <a:gridCol w="1610150"/>
                <a:gridCol w="1784900"/>
                <a:gridCol w="1912000"/>
              </a:tblGrid>
              <a:tr h="324000">
                <a:tc gridSpan="6">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Adresses et géolocalisation des </a:t>
                      </a:r>
                      <a:r>
                        <a:rPr b="1" lang="fr-FR" sz="1200" u="none">
                          <a:solidFill>
                            <a:schemeClr val="dk2"/>
                          </a:solidFill>
                          <a:latin typeface="IBM Plex Sans"/>
                          <a:ea typeface="IBM Plex Sans"/>
                          <a:cs typeface="IBM Plex Sans"/>
                          <a:sym typeface="IBM Plex Sans"/>
                        </a:rPr>
                        <a:t>actifs</a:t>
                      </a:r>
                      <a:r>
                        <a:rPr b="1" lang="fr-FR" sz="1200">
                          <a:solidFill>
                            <a:schemeClr val="dk2"/>
                          </a:solidFill>
                          <a:latin typeface="IBM Plex Sans"/>
                          <a:ea typeface="IBM Plex Sans"/>
                          <a:cs typeface="IBM Plex Sans"/>
                          <a:sym typeface="IBM Plex Sans"/>
                        </a:rPr>
                        <a:t> et sites significatifs que l’entreprise</a:t>
                      </a:r>
                      <a:r>
                        <a:rPr b="0" lang="fr-FR" sz="1200">
                          <a:solidFill>
                            <a:schemeClr val="dk2"/>
                          </a:solidFill>
                          <a:latin typeface="IBM Plex Sans"/>
                          <a:ea typeface="IBM Plex Sans"/>
                          <a:cs typeface="IBM Plex Sans"/>
                          <a:sym typeface="IBM Plex Sans"/>
                        </a:rPr>
                        <a:t> </a:t>
                      </a:r>
                      <a:r>
                        <a:rPr b="1" lang="fr-FR" sz="1200">
                          <a:solidFill>
                            <a:schemeClr val="dk2"/>
                          </a:solidFill>
                          <a:latin typeface="IBM Plex Sans"/>
                          <a:ea typeface="IBM Plex Sans"/>
                          <a:cs typeface="IBM Plex Sans"/>
                          <a:sym typeface="IBM Plex Sans"/>
                        </a:rPr>
                        <a:t>détient, loue ou gère </a:t>
                      </a:r>
                      <a:r>
                        <a:rPr b="0" lang="fr-FR" sz="1200">
                          <a:solidFill>
                            <a:schemeClr val="dk2"/>
                          </a:solidFill>
                          <a:latin typeface="IBM Plex Sans"/>
                          <a:ea typeface="IBM Plex Sans"/>
                          <a:cs typeface="IBM Plex Sans"/>
                          <a:sym typeface="IBM Plex Sans"/>
                        </a:rPr>
                        <a:t>(par. 27e, vi, vii)</a:t>
                      </a:r>
                      <a:endParaRPr/>
                    </a:p>
                    <a:p>
                      <a:pPr indent="0" lvl="0" marL="0" marR="0" rtl="0" algn="l">
                        <a:lnSpc>
                          <a:spcPct val="100000"/>
                        </a:lnSpc>
                        <a:spcBef>
                          <a:spcPts val="0"/>
                        </a:spcBef>
                        <a:spcAft>
                          <a:spcPts val="0"/>
                        </a:spcAft>
                        <a:buClr>
                          <a:schemeClr val="dk1"/>
                        </a:buClr>
                        <a:buSzPts val="1200"/>
                        <a:buFont typeface="IBM Plex Sans"/>
                        <a:buNone/>
                      </a:pPr>
                      <a:r>
                        <a:t/>
                      </a:r>
                      <a:endParaRPr b="1" sz="1200">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3240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Site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Adresse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Code postal</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Ville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Pays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Géolocalisation (coordonnées)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24000">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{{geolocation}}</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{{geolocation_adress}}</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{{geolocation_postcode}}</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{{geolocation_city}}</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{{geolocation_country}}</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{{geolocation_coordinates}}</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515952" y="1016000"/>
            <a:ext cx="1116804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200" u="none" cap="none" strike="noStrike">
                <a:solidFill>
                  <a:schemeClr val="dk2"/>
                </a:solidFill>
                <a:latin typeface="Inter"/>
                <a:ea typeface="Inter"/>
                <a:cs typeface="Inter"/>
                <a:sym typeface="Inter"/>
              </a:rPr>
              <a:t>Ci-dessous figure une description des géolocalisations de l’entreprise et des lieux où elle opère. Ces informations peuvent servir pour les zones de risque climatique et renseignent sur les installations, sites et/ou le siège de l’entreprise. Les certifications ou labels de durabilité pertinents sont également indiqués, y compris l’organisme émetteur, la date et la notation éventuelle.</a:t>
            </a:r>
            <a:endParaRPr b="0" i="0" sz="1200" u="none" cap="none" strike="noStrike">
              <a:solidFill>
                <a:schemeClr val="dk2"/>
              </a:solidFill>
              <a:latin typeface="Inter"/>
              <a:ea typeface="Inter"/>
              <a:cs typeface="Inter"/>
              <a:sym typeface="Inter"/>
            </a:endParaRPr>
          </a:p>
        </p:txBody>
      </p:sp>
      <p:sp>
        <p:nvSpPr>
          <p:cNvPr id="84" name="Google Shape;84;p4"/>
          <p:cNvSpPr txBox="1"/>
          <p:nvPr/>
        </p:nvSpPr>
        <p:spPr>
          <a:xfrm>
            <a:off x="515952" y="4768057"/>
            <a:ext cx="818057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200" u="none" cap="none" strike="noStrike">
                <a:solidFill>
                  <a:srgbClr val="487477"/>
                </a:solidFill>
                <a:latin typeface="Inter"/>
                <a:ea typeface="Inter"/>
                <a:cs typeface="Inter"/>
                <a:sym typeface="Inter"/>
              </a:rPr>
              <a:t>Les certificats et labels environnementaux de l’entreprise sont énumérés ci-dessous.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Pratiques, politiques et initiatives futures en vue de la transition vers une économie plus durable (B2)</a:t>
            </a:r>
            <a:endParaRPr/>
          </a:p>
        </p:txBody>
      </p:sp>
      <p:sp>
        <p:nvSpPr>
          <p:cNvPr id="91" name="Google Shape;91;p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92" name="Google Shape;92;p5"/>
          <p:cNvGraphicFramePr/>
          <p:nvPr/>
        </p:nvGraphicFramePr>
        <p:xfrm>
          <a:off x="518600" y="1711777"/>
          <a:ext cx="3000000" cy="3000000"/>
        </p:xfrm>
        <a:graphic>
          <a:graphicData uri="http://schemas.openxmlformats.org/drawingml/2006/table">
            <a:tbl>
              <a:tblPr firstRow="1">
                <a:noFill/>
                <a:tableStyleId>{83A74AF9-74D6-43BA-9877-64FBA191D48E}</a:tableStyleId>
              </a:tblPr>
              <a:tblGrid>
                <a:gridCol w="1996000"/>
                <a:gridCol w="2108200"/>
                <a:gridCol w="1651000"/>
                <a:gridCol w="2311400"/>
                <a:gridCol w="3098800"/>
              </a:tblGrid>
              <a:tr h="4762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Domaine</a:t>
                      </a:r>
                      <a:endParaRPr/>
                    </a:p>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29a-d)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Pratique ou politique concrète en place dans ce domaine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La politique est-elle accessible au public?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L’entreprise a des initiatives et plans futurs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Cibles concrètes de suivi de la mise en œuvre des pratiques et politiques?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45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Changement climatique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{{climate_change_concrete}}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{{climate_change_publicly}}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{{climate_change_future}}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{{climate_change_plan}}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889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Pollution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{{pollution_concrete}}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{{pollution_publicly}}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{{pollution_future}}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{{pollution_plan}}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Ressources hydriques et marines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{{water_concrete}}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{{water_publicly}}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{{water_future}}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{{water_plan}}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Biodiversité et écosystèmes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{{biodiversity_concrete}}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{{biodiversity_publicly}}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{{biodiversity_future}}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{{biodiversity_plan}}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Économie circulaire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{{circular_concrete}}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{{circular_publicly}}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{{circular_future}}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{{circular_plan}}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Personnel de l’entreprise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{{workforce_concrete}}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{{workforce_publicly}}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{{workforce_future}}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{{workforce_plan}}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Travailleurs de la chaîne de valeur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{{workers_concrete}}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{{workers_publicly}}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{{workers_future}}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{{workers_plan}}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Communautés affectées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{{communities_concrete}}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{{communities_publicly}}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{{communities_future}}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{{communities_plan}}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Consommateurs et utilisateurs finaux</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{{consumers_concrete}}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{{consumers_publicly}}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{{consumers_future}}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{{consumers_plan}}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Conduite des affaires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{{governance_concrete}}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{{governance_publicly}}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{{governance_future}}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fr-FR" sz="1200" u="none" strike="noStrike">
                          <a:solidFill>
                            <a:schemeClr val="accent2"/>
                          </a:solidFill>
                          <a:latin typeface="Inter"/>
                          <a:ea typeface="Inter"/>
                          <a:cs typeface="Inter"/>
                          <a:sym typeface="Inter"/>
                        </a:rPr>
                        <a:t>{{governance_plan}}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3" name="Google Shape;93;p5"/>
          <p:cNvSpPr txBox="1"/>
          <p:nvPr/>
        </p:nvSpPr>
        <p:spPr>
          <a:xfrm>
            <a:off x="518600" y="1016000"/>
            <a:ext cx="11154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Cette section présente les pratiques, politiques et initiatives futures que l’entreprise a mises en place pour soutenir une économie durable. Elle précise notamment quelles mesures concrètes l’entreprise a prises pour réduire ses impacts négatifs sur l’environnement et améliorer les conditions de travail et l’égalité de traitement (OUI/NON).</a:t>
            </a:r>
            <a:br>
              <a:rPr lang="fr-FR" sz="1200">
                <a:solidFill>
                  <a:schemeClr val="dk2"/>
                </a:solidFill>
                <a:latin typeface="IBM Plex Sans"/>
                <a:ea typeface="IBM Plex Sans"/>
                <a:cs typeface="IBM Plex Sans"/>
                <a:sym typeface="IBM Plex Sans"/>
              </a:rPr>
            </a:br>
            <a:endParaRPr sz="1200">
              <a:solidFill>
                <a:schemeClr val="dk2"/>
              </a:solidFill>
              <a:latin typeface="IBM Plex Sans"/>
              <a:ea typeface="IBM Plex Sans"/>
              <a:cs typeface="IBM Plex Sans"/>
              <a:sym typeface="IBM Plex Sans"/>
            </a:endParaRPr>
          </a:p>
        </p:txBody>
      </p:sp>
      <p:sp>
        <p:nvSpPr>
          <p:cNvPr id="94" name="Google Shape;94;p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Consommation d’énergie (B3)</a:t>
            </a:r>
            <a:endParaRPr/>
          </a:p>
        </p:txBody>
      </p:sp>
      <p:graphicFrame>
        <p:nvGraphicFramePr>
          <p:cNvPr id="101" name="Google Shape;101;p6"/>
          <p:cNvGraphicFramePr/>
          <p:nvPr/>
        </p:nvGraphicFramePr>
        <p:xfrm>
          <a:off x="505570" y="1550345"/>
          <a:ext cx="3000000" cy="3000000"/>
        </p:xfrm>
        <a:graphic>
          <a:graphicData uri="http://schemas.openxmlformats.org/drawingml/2006/table">
            <a:tbl>
              <a:tblPr firstRow="1">
                <a:noFill/>
                <a:tableStyleId>{83A74AF9-74D6-43BA-9877-64FBA191D48E}</a:tableStyleId>
              </a:tblPr>
              <a:tblGrid>
                <a:gridCol w="3033800"/>
                <a:gridCol w="2816100"/>
                <a:gridCol w="2969800"/>
                <a:gridCol w="2358725"/>
              </a:tblGrid>
              <a:tr h="249275">
                <a:tc gridSpan="4">
                  <a:txBody>
                    <a:bodyPr/>
                    <a:lstStyle/>
                    <a:p>
                      <a:pPr indent="0" lvl="0" marL="0" marR="0" rtl="0" algn="ctr">
                        <a:lnSpc>
                          <a:spcPct val="106000"/>
                        </a:lnSpc>
                        <a:spcBef>
                          <a:spcPts val="0"/>
                        </a:spcBef>
                        <a:spcAft>
                          <a:spcPts val="0"/>
                        </a:spcAft>
                        <a:buClr>
                          <a:schemeClr val="dk2"/>
                        </a:buClr>
                        <a:buSzPts val="1200"/>
                        <a:buFont typeface="IBM Plex Sans"/>
                        <a:buNone/>
                      </a:pPr>
                      <a:r>
                        <a:rPr b="1" lang="fr-FR" sz="1200">
                          <a:solidFill>
                            <a:schemeClr val="dk2"/>
                          </a:solidFill>
                        </a:rPr>
                        <a:t>Consommation d’énergie en MWh </a:t>
                      </a:r>
                      <a:r>
                        <a:rPr b="0" lang="fr-FR" sz="1200">
                          <a:solidFill>
                            <a:schemeClr val="dk2"/>
                          </a:solidFill>
                        </a:rPr>
                        <a:t>(par. 32)</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96325">
                <a:tc>
                  <a:txBody>
                    <a:bodyPr/>
                    <a:lstStyle/>
                    <a:p>
                      <a:pPr indent="0" lvl="0" marL="0" marR="0" rtl="0" algn="l">
                        <a:lnSpc>
                          <a:spcPct val="106000"/>
                        </a:lnSpc>
                        <a:spcBef>
                          <a:spcPts val="0"/>
                        </a:spcBef>
                        <a:spcAft>
                          <a:spcPts val="0"/>
                        </a:spcAft>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fr-FR" sz="1200">
                          <a:solidFill>
                            <a:schemeClr val="dk2"/>
                          </a:solidFill>
                        </a:rPr>
                        <a:t>Consommation renouvelable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fr-FR" sz="1200">
                          <a:solidFill>
                            <a:schemeClr val="dk2"/>
                          </a:solidFill>
                        </a:rPr>
                        <a:t>Consommation non renouvelable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200">
                          <a:solidFill>
                            <a:schemeClr val="dk2"/>
                          </a:solidFill>
                        </a:rPr>
                        <a:t>Consommation totale (MWh)</a:t>
                      </a:r>
                      <a:endParaRPr/>
                    </a:p>
                    <a:p>
                      <a:pPr indent="0" lvl="0" marL="0" marR="0" rtl="0" algn="ctr">
                        <a:lnSpc>
                          <a:spcPct val="106000"/>
                        </a:lnSpc>
                        <a:spcBef>
                          <a:spcPts val="0"/>
                        </a:spcBef>
                        <a:spcAft>
                          <a:spcPts val="0"/>
                        </a:spcAft>
                        <a:buClr>
                          <a:schemeClr val="accent2"/>
                        </a:buClr>
                        <a:buSzPts val="1200"/>
                        <a:buFont typeface="IBM Plex Sans"/>
                        <a:buNone/>
                      </a:pPr>
                      <a:r>
                        <a:rPr b="1" lang="fr-FR"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96325">
                <a:tc>
                  <a:txBody>
                    <a:bodyPr/>
                    <a:lstStyle/>
                    <a:p>
                      <a:pPr indent="0" lvl="0" marL="0" marR="0" rtl="0" algn="l">
                        <a:lnSpc>
                          <a:spcPct val="106000"/>
                        </a:lnSpc>
                        <a:spcBef>
                          <a:spcPts val="0"/>
                        </a:spcBef>
                        <a:spcAft>
                          <a:spcPts val="0"/>
                        </a:spcAft>
                        <a:buNone/>
                      </a:pPr>
                      <a:r>
                        <a:rPr b="1" lang="fr-FR" sz="1200">
                          <a:solidFill>
                            <a:schemeClr val="dk2"/>
                          </a:solidFill>
                        </a:rPr>
                        <a:t>Électricité </a:t>
                      </a:r>
                      <a:r>
                        <a:rPr b="0" lang="fr-FR" sz="1200">
                          <a:solidFill>
                            <a:schemeClr val="dk2"/>
                          </a:solidFill>
                        </a:rPr>
                        <a:t>(telle qu’indiquée sur les factures de consommation)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{{electricity_renewable}}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{{electricity_non_rewenable}}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{{total_electricity}}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fr-FR" sz="1200">
                          <a:solidFill>
                            <a:schemeClr val="dk2"/>
                          </a:solidFill>
                        </a:rPr>
                        <a:t>Combustibles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{{fuel_renewable}}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{{fuel_non_rewenable}}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{{total_fuel}}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fr-FR" sz="1200">
                          <a:solidFill>
                            <a:schemeClr val="dk2"/>
                          </a:solidFill>
                        </a:rPr>
                        <a:t>Autre (p. ex. réseau de chaleur)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{{district_heating_rewenable}}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{{district_heating_non_rewenable}}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{{total_district_heating}}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fr-FR" sz="1200">
                          <a:solidFill>
                            <a:schemeClr val="dk2"/>
                          </a:solidFill>
                        </a:rPr>
                        <a:t>Total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{{renewable_energy_total}}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{{non_rewenable_energy_total}}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{{total_energy_consumption}}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2" name="Google Shape;102;p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03" name="Google Shape;103;p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04" name="Google Shape;104;p6"/>
          <p:cNvSpPr txBox="1"/>
          <p:nvPr/>
        </p:nvSpPr>
        <p:spPr>
          <a:xfrm>
            <a:off x="505570" y="1024229"/>
            <a:ext cx="11178430" cy="41242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200" u="none" strike="noStrike">
                <a:solidFill>
                  <a:schemeClr val="dk2"/>
                </a:solidFill>
                <a:latin typeface="Inter"/>
                <a:ea typeface="Inter"/>
                <a:cs typeface="Inter"/>
                <a:sym typeface="Inter"/>
              </a:rPr>
              <a:t>Cette section indique les émissions de CO2 liées à la consommation d’énergie, en distinguant consommation renouvelable et non renouvelable. </a:t>
            </a:r>
            <a:r>
              <a:rPr lang="fr-FR" sz="1200">
                <a:solidFill>
                  <a:schemeClr val="dk2"/>
                </a:solidFill>
                <a:latin typeface="Inter"/>
                <a:ea typeface="Inter"/>
                <a:cs typeface="Inter"/>
                <a:sym typeface="Inter"/>
              </a:rPr>
              <a:t>Les émissions sont publiées selon </a:t>
            </a:r>
            <a:r>
              <a:rPr b="0" i="0" lang="fr-FR" sz="1200" u="none" strike="noStrike">
                <a:solidFill>
                  <a:schemeClr val="dk2"/>
                </a:solidFill>
                <a:latin typeface="Inter"/>
                <a:ea typeface="Inter"/>
                <a:cs typeface="Inter"/>
                <a:sym typeface="Inter"/>
              </a:rPr>
              <a:t>les définitions du protocole des GES des émissions directes et indirectes. </a:t>
            </a:r>
            <a:br>
              <a:rPr b="0" i="0" lang="fr-FR" sz="1200" u="none" strike="noStrike">
                <a:solidFill>
                  <a:schemeClr val="dk1"/>
                </a:solidFill>
                <a:latin typeface="Inter"/>
                <a:ea typeface="Inter"/>
                <a:cs typeface="Inter"/>
                <a:sym typeface="Inter"/>
              </a:rPr>
            </a:br>
            <a:br>
              <a:rPr lang="fr-FR" sz="1200">
                <a:solidFill>
                  <a:schemeClr val="dk1"/>
                </a:solidFill>
                <a:latin typeface="Inter"/>
                <a:ea typeface="Inter"/>
                <a:cs typeface="Inter"/>
                <a:sym typeface="Inter"/>
              </a:rPr>
            </a:br>
            <a:r>
              <a:rPr b="0" i="0" lang="fr-FR" sz="800" u="none" strike="noStrike">
                <a:solidFill>
                  <a:schemeClr val="dk2"/>
                </a:solidFill>
                <a:latin typeface="Inter"/>
                <a:ea typeface="Inter"/>
                <a:cs typeface="Inter"/>
                <a:sym typeface="Inter"/>
              </a:rPr>
              <a:t> </a:t>
            </a:r>
            <a:endParaRPr b="0" i="0" sz="120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8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600">
              <a:solidFill>
                <a:schemeClr val="dk2"/>
              </a:solidFill>
              <a:latin typeface="Inter"/>
              <a:ea typeface="Inter"/>
              <a:cs typeface="Inter"/>
              <a:sym typeface="Inter"/>
            </a:endParaRPr>
          </a:p>
          <a:p>
            <a:pPr indent="0" lvl="0" marL="0" marR="0" rtl="0" algn="l">
              <a:spcBef>
                <a:spcPts val="0"/>
              </a:spcBef>
              <a:spcAft>
                <a:spcPts val="0"/>
              </a:spcAft>
              <a:buNone/>
            </a:pPr>
            <a:r>
              <a:t/>
            </a:r>
            <a:endParaRPr b="1" sz="16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fr-FR" sz="1800">
                <a:solidFill>
                  <a:schemeClr val="dk1"/>
                </a:solidFill>
                <a:latin typeface="IBM Plex Sans"/>
                <a:ea typeface="IBM Plex Sans"/>
                <a:cs typeface="IBM Plex Sans"/>
                <a:sym typeface="IBM Plex Sans"/>
              </a:rPr>
            </a:br>
            <a:r>
              <a:rPr b="1" i="0" lang="fr-FR" sz="1800" u="none" strike="noStrike">
                <a:solidFill>
                  <a:schemeClr val="dk2"/>
                </a:solidFill>
                <a:latin typeface="IBM Plex Sans"/>
                <a:ea typeface="IBM Plex Sans"/>
                <a:cs typeface="IBM Plex Sans"/>
                <a:sym typeface="IBM Plex Sans"/>
              </a:rPr>
              <a:t>Émissions de CO₂e (B3)</a:t>
            </a:r>
            <a:endParaRPr sz="1800">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fr-FR" sz="800">
                <a:solidFill>
                  <a:schemeClr val="dk1"/>
                </a:solidFill>
                <a:latin typeface="Inter"/>
                <a:ea typeface="Inter"/>
                <a:cs typeface="Inter"/>
                <a:sym typeface="Inter"/>
              </a:rPr>
              <a:t> </a:t>
            </a:r>
            <a:br>
              <a:rPr lang="fr-FR" sz="1200">
                <a:solidFill>
                  <a:schemeClr val="dk2"/>
                </a:solidFill>
                <a:latin typeface="Inter"/>
                <a:ea typeface="Inter"/>
                <a:cs typeface="Inter"/>
                <a:sym typeface="Inter"/>
              </a:rPr>
            </a:br>
            <a:r>
              <a:rPr b="0" i="0" lang="fr-FR" sz="1200" u="none" strike="noStrike">
                <a:solidFill>
                  <a:schemeClr val="dk2"/>
                </a:solidFill>
                <a:latin typeface="Inter"/>
                <a:ea typeface="Inter"/>
                <a:cs typeface="Inter"/>
                <a:sym typeface="Inter"/>
              </a:rPr>
              <a:t>Le par. 33 contient des informations sur les émissions de GES de l’entreprise, sur la base des émissions des scopes 1 et 2. Le scope 1 désigne les émissions directes de GES provenant de sources détenues ou directement contrôlées par l’entreprise, par exemple la combustion de carburant dans les véhicules de société, le chauffage des bâtiments au gaz naturel, ainsi que les émissions des procédés industriels et les fuites dans des systèmes tels que le froid.</a:t>
            </a:r>
            <a:r>
              <a:rPr lang="fr-FR" sz="1200">
                <a:solidFill>
                  <a:schemeClr val="dk2"/>
                </a:solidFill>
                <a:latin typeface="Inter"/>
                <a:ea typeface="Inter"/>
                <a:cs typeface="Inter"/>
                <a:sym typeface="Inter"/>
              </a:rPr>
              <a:t> </a:t>
            </a:r>
            <a:r>
              <a:rPr b="0" i="0" lang="fr-FR" sz="1200" u="none" strike="noStrike">
                <a:solidFill>
                  <a:schemeClr val="dk2"/>
                </a:solidFill>
                <a:latin typeface="Inter"/>
                <a:ea typeface="Inter"/>
                <a:cs typeface="Inter"/>
                <a:sym typeface="Inter"/>
              </a:rPr>
              <a:t>Le scope 2</a:t>
            </a:r>
            <a:r>
              <a:rPr lang="fr-FR" sz="1200">
                <a:solidFill>
                  <a:schemeClr val="dk2"/>
                </a:solidFill>
                <a:latin typeface="Inter"/>
                <a:ea typeface="Inter"/>
                <a:cs typeface="Inter"/>
                <a:sym typeface="Inter"/>
              </a:rPr>
              <a:t> désigne les émissions i</a:t>
            </a:r>
            <a:r>
              <a:rPr b="0" i="0" lang="fr-FR" sz="1200" u="none" strike="noStrike">
                <a:solidFill>
                  <a:schemeClr val="dk2"/>
                </a:solidFill>
                <a:latin typeface="Inter"/>
                <a:ea typeface="Inter"/>
                <a:cs typeface="Inter"/>
                <a:sym typeface="Inter"/>
              </a:rPr>
              <a:t>ndirectes liées à l’électricité achetée : émissions résultant de la production de l’électricité, de la vapeur, de la chaleur ou du froid achetés et utilisés par l’entreprise. Bien qu’elles proviennent des producteurs d’énergie, elles sont attribuées à l’entreprise, car c’est elle qui consomme l’énergie.</a:t>
            </a:r>
            <a:endParaRPr b="0" sz="1200">
              <a:solidFill>
                <a:schemeClr val="dk2"/>
              </a:solidFill>
              <a:latin typeface="Inter"/>
              <a:ea typeface="Inter"/>
              <a:cs typeface="Inter"/>
              <a:sym typeface="Inter"/>
            </a:endParaRPr>
          </a:p>
        </p:txBody>
      </p:sp>
      <p:graphicFrame>
        <p:nvGraphicFramePr>
          <p:cNvPr id="105" name="Google Shape;105;p6"/>
          <p:cNvGraphicFramePr/>
          <p:nvPr/>
        </p:nvGraphicFramePr>
        <p:xfrm>
          <a:off x="507990" y="5218755"/>
          <a:ext cx="3000000" cy="3000000"/>
        </p:xfrm>
        <a:graphic>
          <a:graphicData uri="http://schemas.openxmlformats.org/drawingml/2006/table">
            <a:tbl>
              <a:tblPr firstRow="1">
                <a:noFill/>
                <a:tableStyleId>{83A74AF9-74D6-43BA-9877-64FBA191D48E}</a:tableStyleId>
              </a:tblPr>
              <a:tblGrid>
                <a:gridCol w="8848450"/>
                <a:gridCol w="2327550"/>
              </a:tblGrid>
              <a:tr h="271950">
                <a:tc>
                  <a:txBody>
                    <a:bodyPr/>
                    <a:lstStyle/>
                    <a:p>
                      <a:pPr indent="0" lvl="0" marL="0" marR="0" rtl="0" algn="l">
                        <a:lnSpc>
                          <a:spcPct val="106000"/>
                        </a:lnSpc>
                        <a:spcBef>
                          <a:spcPts val="0"/>
                        </a:spcBef>
                        <a:spcAft>
                          <a:spcPts val="0"/>
                        </a:spcAft>
                        <a:buNone/>
                      </a:pPr>
                      <a:r>
                        <a:rPr b="1" lang="fr-FR" sz="1200">
                          <a:solidFill>
                            <a:schemeClr val="dk2"/>
                          </a:solidFill>
                        </a:rPr>
                        <a:t>Émissions de gaz à effet de serre </a:t>
                      </a:r>
                      <a:r>
                        <a:rPr b="0" lang="fr-FR" sz="1200">
                          <a:solidFill>
                            <a:schemeClr val="dk2"/>
                          </a:solidFill>
                        </a:rPr>
                        <a:t>(par. 33)</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200">
                          <a:solidFill>
                            <a:schemeClr val="dk2"/>
                          </a:solidFill>
                        </a:rPr>
                        <a:t>Année </a:t>
                      </a:r>
                      <a:r>
                        <a:rPr b="1" lang="fr-FR" sz="1200">
                          <a:solidFill>
                            <a:schemeClr val="accent2"/>
                          </a:solidFill>
                          <a:latin typeface="Calibri"/>
                          <a:ea typeface="Calibri"/>
                          <a:cs typeface="Calibri"/>
                          <a:sym typeface="Calibri"/>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0800">
                <a:tc>
                  <a:txBody>
                    <a:bodyPr/>
                    <a:lstStyle/>
                    <a:p>
                      <a:pPr indent="0" lvl="0" marL="0" marR="0" rtl="0" algn="l">
                        <a:lnSpc>
                          <a:spcPct val="106000"/>
                        </a:lnSpc>
                        <a:spcBef>
                          <a:spcPts val="0"/>
                        </a:spcBef>
                        <a:spcAft>
                          <a:spcPts val="0"/>
                        </a:spcAft>
                        <a:buNone/>
                      </a:pPr>
                      <a:r>
                        <a:rPr b="1" lang="fr-FR" sz="1200">
                          <a:solidFill>
                            <a:schemeClr val="dk2"/>
                          </a:solidFill>
                        </a:rPr>
                        <a:t>Émissions de CO₂e du scope 1</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{{scope1}}</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0800">
                <a:tc>
                  <a:txBody>
                    <a:bodyPr/>
                    <a:lstStyle/>
                    <a:p>
                      <a:pPr indent="0" lvl="0" marL="0" marR="0" rtl="0" algn="l">
                        <a:lnSpc>
                          <a:spcPct val="106000"/>
                        </a:lnSpc>
                        <a:spcBef>
                          <a:spcPts val="0"/>
                        </a:spcBef>
                        <a:spcAft>
                          <a:spcPts val="0"/>
                        </a:spcAft>
                        <a:buNone/>
                      </a:pPr>
                      <a:r>
                        <a:rPr b="1" lang="fr-FR" sz="1200">
                          <a:solidFill>
                            <a:schemeClr val="dk2"/>
                          </a:solidFill>
                        </a:rPr>
                        <a:t>Émissions de CO₂e du scope 2 (basées sur la localisation)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{{scope2}}</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0800">
                <a:tc>
                  <a:txBody>
                    <a:bodyPr/>
                    <a:lstStyle/>
                    <a:p>
                      <a:pPr indent="0" lvl="0" marL="0" marR="0" rtl="0" algn="l">
                        <a:lnSpc>
                          <a:spcPct val="106000"/>
                        </a:lnSpc>
                        <a:spcBef>
                          <a:spcPts val="0"/>
                        </a:spcBef>
                        <a:spcAft>
                          <a:spcPts val="0"/>
                        </a:spcAft>
                        <a:buNone/>
                      </a:pPr>
                      <a:r>
                        <a:rPr b="1" lang="fr-FR" sz="1200">
                          <a:solidFill>
                            <a:schemeClr val="dk2"/>
                          </a:solidFill>
                        </a:rPr>
                        <a:t>Émissions totales de CO₂e des scopes 1 et 2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{{total_scope}}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Pollution de l’air, de l’eau et des sols (B4)</a:t>
            </a:r>
            <a:endParaRPr/>
          </a:p>
        </p:txBody>
      </p:sp>
      <p:graphicFrame>
        <p:nvGraphicFramePr>
          <p:cNvPr id="112" name="Google Shape;112;p7"/>
          <p:cNvGraphicFramePr/>
          <p:nvPr/>
        </p:nvGraphicFramePr>
        <p:xfrm>
          <a:off x="507998" y="1663288"/>
          <a:ext cx="3000000" cy="3000000"/>
        </p:xfrm>
        <a:graphic>
          <a:graphicData uri="http://schemas.openxmlformats.org/drawingml/2006/table">
            <a:tbl>
              <a:tblPr firstRow="1">
                <a:noFill/>
                <a:tableStyleId>{83A74AF9-74D6-43BA-9877-64FBA191D48E}</a:tableStyleId>
              </a:tblPr>
              <a:tblGrid>
                <a:gridCol w="3534725"/>
                <a:gridCol w="3408100"/>
                <a:gridCol w="4214425"/>
              </a:tblGrid>
              <a:tr h="279425">
                <a:tc gridSpan="3">
                  <a:txBody>
                    <a:bodyPr/>
                    <a:lstStyle/>
                    <a:p>
                      <a:pPr indent="0" lvl="0" marL="0" marR="0" rtl="0" algn="l">
                        <a:lnSpc>
                          <a:spcPct val="106000"/>
                        </a:lnSpc>
                        <a:spcBef>
                          <a:spcPts val="0"/>
                        </a:spcBef>
                        <a:spcAft>
                          <a:spcPts val="0"/>
                        </a:spcAft>
                        <a:buNone/>
                      </a:pPr>
                      <a:r>
                        <a:rPr b="1" lang="fr-FR" sz="1200">
                          <a:solidFill>
                            <a:schemeClr val="dk2"/>
                          </a:solidFill>
                        </a:rPr>
                        <a:t>Pollution de l’air, de l’eau et des sols </a:t>
                      </a:r>
                      <a:r>
                        <a:rPr b="0" lang="fr-FR" sz="1200">
                          <a:solidFill>
                            <a:schemeClr val="dk2"/>
                          </a:solidFill>
                        </a:rPr>
                        <a:t>(par. 34)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79425">
                <a:tc>
                  <a:txBody>
                    <a:bodyPr/>
                    <a:lstStyle/>
                    <a:p>
                      <a:pPr indent="0" lvl="0" marL="0" marR="0" rtl="0" algn="l">
                        <a:lnSpc>
                          <a:spcPct val="106000"/>
                        </a:lnSpc>
                        <a:spcBef>
                          <a:spcPts val="0"/>
                        </a:spcBef>
                        <a:spcAft>
                          <a:spcPts val="0"/>
                        </a:spcAft>
                        <a:buClr>
                          <a:schemeClr val="dk2"/>
                        </a:buClr>
                        <a:buSzPts val="1200"/>
                        <a:buFont typeface="IBM Plex Sans"/>
                        <a:buNone/>
                      </a:pPr>
                      <a:r>
                        <a:rPr b="1" lang="fr-FR" sz="1200">
                          <a:solidFill>
                            <a:schemeClr val="dk2"/>
                          </a:solidFill>
                        </a:rPr>
                        <a:t>Type de pollution </a:t>
                      </a:r>
                      <a:r>
                        <a:rPr b="0" lang="fr-FR" sz="1200">
                          <a:solidFill>
                            <a:schemeClr val="dk2"/>
                          </a:solidFill>
                        </a:rPr>
                        <a:t>(p. ex. substance)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fr-FR" sz="1200">
                          <a:solidFill>
                            <a:schemeClr val="dk2"/>
                          </a:solidFill>
                        </a:rPr>
                        <a:t>Où? </a:t>
                      </a:r>
                      <a:r>
                        <a:rPr b="0" lang="fr-FR" sz="1200">
                          <a:solidFill>
                            <a:schemeClr val="dk2"/>
                          </a:solidFill>
                        </a:rPr>
                        <a:t>(air, eau, sol)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fr-FR" sz="1200">
                          <a:solidFill>
                            <a:schemeClr val="dk2"/>
                          </a:solidFill>
                        </a:rPr>
                        <a:t>Quantité</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41125">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{{type_of_pollution}}</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{{scope_pollution}}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{{pollution_medium}}</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3" name="Google Shape;113;p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14" name="Google Shape;114;p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15" name="Google Shape;115;p7"/>
          <p:cNvSpPr txBox="1"/>
          <p:nvPr/>
        </p:nvSpPr>
        <p:spPr>
          <a:xfrm>
            <a:off x="526778" y="1016000"/>
            <a:ext cx="111572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déclare la quantité totale de polluants rejetés par ses installations. Les polluants spécifiques et leurs quantités rejetées dans l’air, l’eau et le sol</a:t>
            </a:r>
            <a:r>
              <a:rPr lang="fr-FR" sz="1200">
                <a:solidFill>
                  <a:schemeClr val="dk2"/>
                </a:solidFill>
                <a:latin typeface="Inter"/>
                <a:ea typeface="Inter"/>
                <a:cs typeface="Inter"/>
                <a:sym typeface="Inter"/>
              </a:rPr>
              <a:t> sont indiqués ci-dessous.</a:t>
            </a:r>
            <a:endParaRPr/>
          </a:p>
        </p:txBody>
      </p:sp>
      <p:sp>
        <p:nvSpPr>
          <p:cNvPr id="116" name="Google Shape;116;p7"/>
          <p:cNvSpPr txBox="1"/>
          <p:nvPr/>
        </p:nvSpPr>
        <p:spPr>
          <a:xfrm>
            <a:off x="518600" y="3359149"/>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800">
                <a:solidFill>
                  <a:schemeClr val="dk2"/>
                </a:solidFill>
                <a:latin typeface="IBM Plex Sans"/>
                <a:ea typeface="IBM Plex Sans"/>
                <a:cs typeface="IBM Plex Sans"/>
                <a:sym typeface="IBM Plex Sans"/>
              </a:rPr>
              <a:t>Biodiversité (B5) </a:t>
            </a:r>
            <a:endParaRPr/>
          </a:p>
        </p:txBody>
      </p:sp>
      <p:graphicFrame>
        <p:nvGraphicFramePr>
          <p:cNvPr id="117" name="Google Shape;117;p7"/>
          <p:cNvGraphicFramePr/>
          <p:nvPr/>
        </p:nvGraphicFramePr>
        <p:xfrm>
          <a:off x="518599" y="4675630"/>
          <a:ext cx="3000000" cy="3000000"/>
        </p:xfrm>
        <a:graphic>
          <a:graphicData uri="http://schemas.openxmlformats.org/drawingml/2006/table">
            <a:tbl>
              <a:tblPr firstRow="1">
                <a:noFill/>
                <a:tableStyleId>{83A74AF9-74D6-43BA-9877-64FBA191D48E}</a:tableStyleId>
              </a:tblPr>
              <a:tblGrid>
                <a:gridCol w="2027925"/>
                <a:gridCol w="3045825"/>
                <a:gridCol w="3045825"/>
                <a:gridCol w="3045825"/>
              </a:tblGrid>
              <a:tr h="230875">
                <a:tc gridSpan="4">
                  <a:txBody>
                    <a:bodyPr/>
                    <a:lstStyle/>
                    <a:p>
                      <a:pPr indent="0" lvl="0" marL="0" marR="0" rtl="0" algn="l">
                        <a:spcBef>
                          <a:spcPts val="0"/>
                        </a:spcBef>
                        <a:spcAft>
                          <a:spcPts val="0"/>
                        </a:spcAft>
                        <a:buNone/>
                      </a:pPr>
                      <a:r>
                        <a:rPr b="1" lang="fr-FR" sz="1200">
                          <a:solidFill>
                            <a:schemeClr val="dk2"/>
                          </a:solidFill>
                        </a:rPr>
                        <a:t>Sites situés dans ou à proximité de « zones sensibles sur le plan de la biodiversité » que l’entreprise détient, loue ou gère </a:t>
                      </a:r>
                      <a:r>
                        <a:rPr b="0" lang="fr-FR" sz="1200">
                          <a:solidFill>
                            <a:schemeClr val="dk2"/>
                          </a:solidFill>
                        </a:rPr>
                        <a:t>(par. 35)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5225">
                <a:tc>
                  <a:txBody>
                    <a:bodyPr/>
                    <a:lstStyle/>
                    <a:p>
                      <a:pPr indent="0" lvl="0" marL="0" marR="0" rtl="0" algn="l">
                        <a:spcBef>
                          <a:spcPts val="0"/>
                        </a:spcBef>
                        <a:spcAft>
                          <a:spcPts val="0"/>
                        </a:spcAft>
                        <a:buNone/>
                      </a:pPr>
                      <a:r>
                        <a:rPr b="1" lang="fr-FR" sz="1200">
                          <a:solidFill>
                            <a:schemeClr val="dk2"/>
                          </a:solidFill>
                        </a:rPr>
                        <a:t>Localisation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Superficie en hectares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Zone sensible pour la biodiversité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Précision : dans ou à proximité d’une zone sensible pour la biodiversité</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1625">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{{country_location}}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 {{area_hect}}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{{area_name}}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{{biosensitive_area}}</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8" name="Google Shape;118;p7"/>
          <p:cNvSpPr txBox="1"/>
          <p:nvPr/>
        </p:nvSpPr>
        <p:spPr>
          <a:xfrm>
            <a:off x="507999" y="3753340"/>
            <a:ext cx="1116539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Les informations de l’entreprise concernent les sites où elle opère qui se situent dans ou à proximité de zones sensibles sur le plan de la biodiversité. Ces zones sont définies comme telles par des dispositions particulières de protection de la nature au niveau européen ou international. Il s’agit notamment des zones Natura 2000, des sites de l’UNESCO et des zones clés pour la biodiversité (KBA), ainsi que d’autres aires protégées.</a:t>
            </a:r>
            <a:endParaRPr sz="12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Eau (B6)</a:t>
            </a:r>
            <a:endParaRPr/>
          </a:p>
        </p:txBody>
      </p:sp>
      <p:graphicFrame>
        <p:nvGraphicFramePr>
          <p:cNvPr id="125" name="Google Shape;125;p8"/>
          <p:cNvGraphicFramePr/>
          <p:nvPr/>
        </p:nvGraphicFramePr>
        <p:xfrm>
          <a:off x="518600" y="1716227"/>
          <a:ext cx="3000000" cy="3000000"/>
        </p:xfrm>
        <a:graphic>
          <a:graphicData uri="http://schemas.openxmlformats.org/drawingml/2006/table">
            <a:tbl>
              <a:tblPr firstRow="1">
                <a:noFill/>
                <a:tableStyleId>{83A74AF9-74D6-43BA-9877-64FBA191D48E}</a:tableStyleId>
              </a:tblPr>
              <a:tblGrid>
                <a:gridCol w="3087250"/>
                <a:gridCol w="1725275"/>
              </a:tblGrid>
              <a:tr h="49665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Prélèvements d’eau </a:t>
                      </a:r>
                      <a:r>
                        <a:rPr b="0" lang="fr-FR" sz="1200">
                          <a:solidFill>
                            <a:schemeClr val="dk2"/>
                          </a:solidFill>
                        </a:rPr>
                        <a:t>(par. 36)</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200">
                          <a:solidFill>
                            <a:schemeClr val="dk2"/>
                          </a:solidFill>
                        </a:rPr>
                        <a:t>Année </a:t>
                      </a:r>
                      <a:r>
                        <a:rPr b="1" lang="fr-FR"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83200">
                <a:tc>
                  <a:txBody>
                    <a:bodyPr/>
                    <a:lstStyle/>
                    <a:p>
                      <a:pPr indent="0" lvl="0" marL="0" marR="0" rtl="0" algn="l">
                        <a:spcBef>
                          <a:spcPts val="0"/>
                        </a:spcBef>
                        <a:spcAft>
                          <a:spcPts val="0"/>
                        </a:spcAft>
                        <a:buNone/>
                      </a:pPr>
                      <a:r>
                        <a:rPr b="0" lang="fr-FR" sz="1200">
                          <a:solidFill>
                            <a:schemeClr val="dk2"/>
                          </a:solidFill>
                        </a:rPr>
                        <a:t>Total pour tous les sites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BM Plex Sans"/>
                        <a:buNone/>
                      </a:pPr>
                      <a:r>
                        <a:rPr b="0" i="0" lang="fr-FR" sz="1200" u="none" cap="none" strike="noStrike">
                          <a:solidFill>
                            <a:srgbClr val="2D55FF"/>
                          </a:solidFill>
                          <a:latin typeface="IBM Plex Sans"/>
                          <a:ea typeface="IBM Plex Sans"/>
                          <a:cs typeface="IBM Plex Sans"/>
                          <a:sym typeface="IBM Plex Sans"/>
                        </a:rPr>
                        <a:t>{{total_withdrawal}}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6" name="Google Shape;126;p8"/>
          <p:cNvGraphicFramePr/>
          <p:nvPr/>
        </p:nvGraphicFramePr>
        <p:xfrm>
          <a:off x="5538158" y="1716227"/>
          <a:ext cx="3000000" cy="3000000"/>
        </p:xfrm>
        <a:graphic>
          <a:graphicData uri="http://schemas.openxmlformats.org/drawingml/2006/table">
            <a:tbl>
              <a:tblPr firstRow="1">
                <a:noFill/>
                <a:tableStyleId>{83A74AF9-74D6-43BA-9877-64FBA191D48E}</a:tableStyleId>
              </a:tblPr>
              <a:tblGrid>
                <a:gridCol w="4631750"/>
                <a:gridCol w="1514100"/>
              </a:tblGrid>
              <a:tr h="28800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Consommation d’eau </a:t>
                      </a:r>
                      <a:r>
                        <a:rPr b="0" lang="fr-FR" sz="1200">
                          <a:solidFill>
                            <a:schemeClr val="dk2"/>
                          </a:solidFill>
                        </a:rPr>
                        <a:t>(par. 37)</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200">
                          <a:solidFill>
                            <a:schemeClr val="dk2"/>
                          </a:solidFill>
                        </a:rPr>
                        <a:t>Année </a:t>
                      </a:r>
                      <a:r>
                        <a:rPr b="1" lang="fr-FR"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fr-FR" sz="1200">
                          <a:solidFill>
                            <a:schemeClr val="dk2"/>
                          </a:solidFill>
                        </a:rPr>
                        <a:t>Total pour tous les sites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{{consumption_total}}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rPr>
                        <a:t>Sites situés dans des zones de pénurie d’eau (stress hydrique élevé)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{{consumption_waterstress}}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7" name="Google Shape;127;p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28" name="Google Shape;128;p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29" name="Google Shape;129;p8"/>
          <p:cNvSpPr txBox="1"/>
          <p:nvPr/>
        </p:nvSpPr>
        <p:spPr>
          <a:xfrm>
            <a:off x="508000" y="1028466"/>
            <a:ext cx="1117599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 prélèvement d’eau est la quantité d’eau utilisée par l’entreprise, dont </a:t>
            </a:r>
            <a:r>
              <a:rPr lang="fr-FR" sz="1200">
                <a:solidFill>
                  <a:schemeClr val="dk2"/>
                </a:solidFill>
                <a:latin typeface="Inter"/>
                <a:ea typeface="Inter"/>
                <a:cs typeface="Inter"/>
                <a:sym typeface="Inter"/>
              </a:rPr>
              <a:t>la consommation désigne l’eau qui </a:t>
            </a:r>
            <a:r>
              <a:rPr b="0" i="0" lang="fr-FR" sz="1200" u="none" strike="noStrike">
                <a:solidFill>
                  <a:schemeClr val="dk2"/>
                </a:solidFill>
                <a:latin typeface="Inter"/>
                <a:ea typeface="Inter"/>
                <a:cs typeface="Inter"/>
                <a:sym typeface="Inter"/>
              </a:rPr>
              <a:t>n’est pas rejetée, ni destinée à l’être, dans le milieu aquatique ou vers un tiers. Cette section indique le total des prélèvements d’eau. La consommation d’eau</a:t>
            </a:r>
            <a:r>
              <a:rPr lang="fr-FR" sz="1200">
                <a:solidFill>
                  <a:schemeClr val="dk2"/>
                </a:solidFill>
                <a:latin typeface="Inter"/>
                <a:ea typeface="Inter"/>
                <a:cs typeface="Inter"/>
                <a:sym typeface="Inter"/>
              </a:rPr>
              <a:t> </a:t>
            </a:r>
            <a:r>
              <a:rPr b="0" i="0" lang="fr-FR" sz="1200" u="none" strike="noStrike">
                <a:solidFill>
                  <a:schemeClr val="dk2"/>
                </a:solidFill>
                <a:latin typeface="Inter"/>
                <a:ea typeface="Inter"/>
                <a:cs typeface="Inter"/>
                <a:sym typeface="Inter"/>
              </a:rPr>
              <a:t>et les rejets d’eau provenant de zones à stress hydrique élevé sont indiqués ci-dessous.</a:t>
            </a:r>
            <a:endParaRPr b="0" sz="1200">
              <a:solidFill>
                <a:schemeClr val="dk2"/>
              </a:solidFill>
              <a:latin typeface="Inter"/>
              <a:ea typeface="Inter"/>
              <a:cs typeface="Inter"/>
              <a:sym typeface="Inter"/>
            </a:endParaRPr>
          </a:p>
        </p:txBody>
      </p:sp>
      <p:sp>
        <p:nvSpPr>
          <p:cNvPr id="130" name="Google Shape;130;p8"/>
          <p:cNvSpPr txBox="1"/>
          <p:nvPr/>
        </p:nvSpPr>
        <p:spPr>
          <a:xfrm>
            <a:off x="518600" y="3093502"/>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800">
                <a:solidFill>
                  <a:schemeClr val="dk2"/>
                </a:solidFill>
                <a:latin typeface="IBM Plex Sans"/>
                <a:ea typeface="IBM Plex Sans"/>
                <a:cs typeface="IBM Plex Sans"/>
                <a:sym typeface="IBM Plex Sans"/>
              </a:rPr>
              <a:t>Utilisation des ressources, économie circulaire et gestion des déchets (B7) </a:t>
            </a:r>
            <a:endParaRPr/>
          </a:p>
        </p:txBody>
      </p:sp>
      <p:graphicFrame>
        <p:nvGraphicFramePr>
          <p:cNvPr id="131" name="Google Shape;131;p8"/>
          <p:cNvGraphicFramePr/>
          <p:nvPr/>
        </p:nvGraphicFramePr>
        <p:xfrm>
          <a:off x="5538158" y="3566941"/>
          <a:ext cx="3000000" cy="3000000"/>
        </p:xfrm>
        <a:graphic>
          <a:graphicData uri="http://schemas.openxmlformats.org/drawingml/2006/table">
            <a:tbl>
              <a:tblPr firstRow="1">
                <a:noFill/>
                <a:tableStyleId>{83A74AF9-74D6-43BA-9877-64FBA191D48E}</a:tableStyleId>
              </a:tblPr>
              <a:tblGrid>
                <a:gridCol w="2427150"/>
                <a:gridCol w="1886075"/>
                <a:gridCol w="1822025"/>
              </a:tblGrid>
              <a:tr h="269500">
                <a:tc gridSpan="3">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Application des principes de l’économie circulaire </a:t>
                      </a:r>
                      <a:r>
                        <a:rPr b="0" lang="fr-FR" sz="1200">
                          <a:solidFill>
                            <a:schemeClr val="dk2"/>
                          </a:solidFill>
                        </a:rPr>
                        <a:t>(par. 38)</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69225">
                <a:tc rowSpan="2">
                  <a:txBody>
                    <a:bodyPr/>
                    <a:lstStyle/>
                    <a:p>
                      <a:pPr indent="0" lvl="0" marL="0" marR="0" rtl="0" algn="l">
                        <a:spcBef>
                          <a:spcPts val="0"/>
                        </a:spcBef>
                        <a:spcAft>
                          <a:spcPts val="0"/>
                        </a:spcAft>
                        <a:buNone/>
                      </a:pPr>
                      <a:r>
                        <a:rPr b="0" lang="fr-FR" sz="1200">
                          <a:solidFill>
                            <a:schemeClr val="dk2"/>
                          </a:solidFill>
                        </a:rPr>
                        <a:t>Mon entreprise applique les principes de l’économie circulaire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200">
                          <a:solidFill>
                            <a:schemeClr val="dk2"/>
                          </a:solidFill>
                        </a:rPr>
                        <a:t>Oui</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200">
                          <a:solidFill>
                            <a:schemeClr val="dk2"/>
                          </a:solidFill>
                        </a:rPr>
                        <a:t>Non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3100">
                <a:tc vMerge="1"/>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{{circular_economy_princples_yes}}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{{circular_economy_princples_no?}}</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2" name="Google Shape;132;p8"/>
          <p:cNvGraphicFramePr/>
          <p:nvPr/>
        </p:nvGraphicFramePr>
        <p:xfrm>
          <a:off x="507998" y="4612469"/>
          <a:ext cx="3000000" cy="3000000"/>
        </p:xfrm>
        <a:graphic>
          <a:graphicData uri="http://schemas.openxmlformats.org/drawingml/2006/table">
            <a:tbl>
              <a:tblPr firstRow="1">
                <a:noFill/>
                <a:tableStyleId>{83A74AF9-74D6-43BA-9877-64FBA191D48E}</a:tableStyleId>
              </a:tblPr>
              <a:tblGrid>
                <a:gridCol w="11165400"/>
              </a:tblGrid>
              <a:tr h="292675">
                <a:tc>
                  <a:txBody>
                    <a:bodyPr/>
                    <a:lstStyle/>
                    <a:p>
                      <a:pPr indent="0" lvl="0" marL="0" marR="0" rtl="0" algn="l">
                        <a:spcBef>
                          <a:spcPts val="0"/>
                        </a:spcBef>
                        <a:spcAft>
                          <a:spcPts val="0"/>
                        </a:spcAft>
                        <a:buNone/>
                      </a:pPr>
                      <a:r>
                        <a:rPr b="1" lang="fr-FR" sz="1200">
                          <a:solidFill>
                            <a:schemeClr val="dk2"/>
                          </a:solidFill>
                        </a:rPr>
                        <a:t>Description de la manière dont l’entreprise applique les principes de l’économie circulaire </a:t>
                      </a:r>
                      <a:r>
                        <a:rPr b="0" lang="fr-FR" sz="1200">
                          <a:solidFill>
                            <a:schemeClr val="dk2"/>
                          </a:solidFill>
                        </a:rPr>
                        <a:t>(par. 38 suite)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474650">
                <a:tc>
                  <a:txBody>
                    <a:bodyPr/>
                    <a:lstStyle/>
                    <a:p>
                      <a:pPr indent="0" lvl="0" marL="0" marR="0" rtl="0" algn="l">
                        <a:spcBef>
                          <a:spcPts val="0"/>
                        </a:spcBef>
                        <a:spcAft>
                          <a:spcPts val="0"/>
                        </a:spcAft>
                        <a:buNone/>
                      </a:pPr>
                      <a:r>
                        <a:rPr b="0" lang="fr-FR" sz="1200">
                          <a:solidFill>
                            <a:schemeClr val="accent2"/>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3" name="Google Shape;133;p8"/>
          <p:cNvSpPr txBox="1"/>
          <p:nvPr/>
        </p:nvSpPr>
        <p:spPr>
          <a:xfrm>
            <a:off x="508302" y="3555852"/>
            <a:ext cx="484341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Cette exigence de publication indique si l’entreprise</a:t>
            </a:r>
            <a:r>
              <a:rPr lang="fr-FR" sz="1200">
                <a:solidFill>
                  <a:schemeClr val="dk2"/>
                </a:solidFill>
                <a:latin typeface="Inter"/>
                <a:ea typeface="Inter"/>
                <a:cs typeface="Inter"/>
                <a:sym typeface="Inter"/>
              </a:rPr>
              <a:t> applique les principes de l’économie circulaire, notamment des principes de réduction des déchets et de la pollution ainsi qu’une attention portée aux produits et matières circulaires.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Utilisation des ressources, économie circulaire et gestion des déchets (B7) – suite</a:t>
            </a:r>
            <a:endParaRPr/>
          </a:p>
        </p:txBody>
      </p:sp>
      <p:graphicFrame>
        <p:nvGraphicFramePr>
          <p:cNvPr id="140" name="Google Shape;140;p9"/>
          <p:cNvGraphicFramePr/>
          <p:nvPr/>
        </p:nvGraphicFramePr>
        <p:xfrm>
          <a:off x="507999" y="1645437"/>
          <a:ext cx="3000000" cy="3000000"/>
        </p:xfrm>
        <a:graphic>
          <a:graphicData uri="http://schemas.openxmlformats.org/drawingml/2006/table">
            <a:tbl>
              <a:tblPr firstRow="1">
                <a:noFill/>
                <a:tableStyleId>{83A74AF9-74D6-43BA-9877-64FBA191D48E}</a:tableStyleId>
              </a:tblPr>
              <a:tblGrid>
                <a:gridCol w="2276000"/>
                <a:gridCol w="2543225"/>
                <a:gridCol w="2524550"/>
              </a:tblGrid>
              <a:tr h="328600">
                <a:tc gridSpan="3">
                  <a:txBody>
                    <a:bodyPr/>
                    <a:lstStyle/>
                    <a:p>
                      <a:pPr indent="0" lvl="0" marL="0" marR="0" rtl="0" algn="ctr">
                        <a:spcBef>
                          <a:spcPts val="0"/>
                        </a:spcBef>
                        <a:spcAft>
                          <a:spcPts val="0"/>
                        </a:spcAft>
                        <a:buNone/>
                      </a:pPr>
                      <a:r>
                        <a:rPr b="1" lang="fr-FR" sz="1200">
                          <a:solidFill>
                            <a:schemeClr val="dk2"/>
                          </a:solidFill>
                        </a:rPr>
                        <a:t>Quantité annuelle totale de déchets</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43625">
                <a:tc>
                  <a:txBody>
                    <a:bodyPr/>
                    <a:lstStyle/>
                    <a:p>
                      <a:pPr indent="0" lvl="0" marL="0" marR="0" rtl="0" algn="l">
                        <a:spcBef>
                          <a:spcPts val="0"/>
                        </a:spcBef>
                        <a:spcAft>
                          <a:spcPts val="0"/>
                        </a:spcAft>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Quantité totale de déchets </a:t>
                      </a:r>
                      <a:r>
                        <a:rPr b="0" lang="fr-FR" sz="1200">
                          <a:solidFill>
                            <a:schemeClr val="dk2"/>
                          </a:solidFill>
                        </a:rPr>
                        <a:t>(par. 39a)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Déchets destinés au recyclage ou à la préparation en vue du réemploi </a:t>
                      </a:r>
                      <a:r>
                        <a:rPr b="0" lang="fr-FR" sz="1200">
                          <a:solidFill>
                            <a:schemeClr val="dk2"/>
                          </a:solidFill>
                        </a:rPr>
                        <a:t>(par. 39b)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362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Déchets non dangereux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3675">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{{Type_af_affald}}</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{{kg_tons_total}}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{{genbrug_kg_tons}}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43625">
                <a:tc>
                  <a:txBody>
                    <a:bodyPr/>
                    <a:lstStyle/>
                    <a:p>
                      <a:pPr indent="0" lvl="0" marL="0" marR="0" rtl="0" algn="l">
                        <a:spcBef>
                          <a:spcPts val="0"/>
                        </a:spcBef>
                        <a:spcAft>
                          <a:spcPts val="0"/>
                        </a:spcAft>
                        <a:buNone/>
                      </a:pPr>
                      <a:r>
                        <a:rPr b="1" lang="fr-FR" sz="1200">
                          <a:solidFill>
                            <a:schemeClr val="dk2"/>
                          </a:solidFill>
                        </a:rPr>
                        <a:t>Déchets dangereux</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3675">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{{Type_af_affald_farlig}}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{{farlig_kg_tons}}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{{farlig_genbrug_kg_tons}}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1" name="Google Shape;141;p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42" name="Google Shape;142;p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43" name="Google Shape;143;p9"/>
          <p:cNvSpPr txBox="1"/>
          <p:nvPr/>
        </p:nvSpPr>
        <p:spPr>
          <a:xfrm>
            <a:off x="518600" y="1016000"/>
            <a:ext cx="11165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La section suivante fournit des informations sur l’utilisation des matières et la gestion des déchets. Ces informations relèvent de l’économie circulaire et présentent la ventilation de la production annuelle totale de déchets de l’entreprise (dangereux/non dangereux) ainsi que les quantités de matières importantes. </a:t>
            </a:r>
            <a:endParaRPr sz="1200">
              <a:solidFill>
                <a:schemeClr val="dk2"/>
              </a:solidFill>
              <a:latin typeface="Inter"/>
              <a:ea typeface="Inter"/>
              <a:cs typeface="Inter"/>
              <a:sym typeface="Inter"/>
            </a:endParaRPr>
          </a:p>
        </p:txBody>
      </p:sp>
      <p:graphicFrame>
        <p:nvGraphicFramePr>
          <p:cNvPr id="144" name="Google Shape;144;p9"/>
          <p:cNvGraphicFramePr/>
          <p:nvPr/>
        </p:nvGraphicFramePr>
        <p:xfrm>
          <a:off x="8160963" y="1680195"/>
          <a:ext cx="3000000" cy="3000000"/>
        </p:xfrm>
        <a:graphic>
          <a:graphicData uri="http://schemas.openxmlformats.org/drawingml/2006/table">
            <a:tbl>
              <a:tblPr firstRow="1">
                <a:noFill/>
                <a:tableStyleId>{83A74AF9-74D6-43BA-9877-64FBA191D48E}</a:tableStyleId>
              </a:tblPr>
              <a:tblGrid>
                <a:gridCol w="2253575"/>
                <a:gridCol w="1258875"/>
              </a:tblGrid>
              <a:tr h="901850">
                <a:tc>
                  <a:txBody>
                    <a:bodyPr/>
                    <a:lstStyle/>
                    <a:p>
                      <a:pPr indent="0" lvl="0" marL="0" marR="0" rtl="0" algn="l">
                        <a:spcBef>
                          <a:spcPts val="0"/>
                        </a:spcBef>
                        <a:spcAft>
                          <a:spcPts val="0"/>
                        </a:spcAft>
                        <a:buNone/>
                      </a:pPr>
                      <a:r>
                        <a:rPr b="1" lang="fr-FR" sz="1200">
                          <a:solidFill>
                            <a:schemeClr val="dk2"/>
                          </a:solidFill>
                        </a:rPr>
                        <a:t>Matières importantes </a:t>
                      </a:r>
                      <a:r>
                        <a:rPr b="0" lang="fr-FR" sz="1200">
                          <a:solidFill>
                            <a:schemeClr val="dk2"/>
                          </a:solidFill>
                        </a:rPr>
                        <a:t>(par. 39c)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Flux massique annuel </a:t>
                      </a:r>
                      <a:r>
                        <a:rPr b="1" lang="fr-FR" sz="1200">
                          <a:solidFill>
                            <a:schemeClr val="accent2"/>
                          </a:solidFill>
                        </a:rPr>
                        <a:t>{{insert_year}}</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08050">
                <a:tc>
                  <a:txBody>
                    <a:bodyPr/>
                    <a:lstStyle/>
                    <a:p>
                      <a:pPr indent="0" lvl="0" marL="0" marR="0" rtl="0" algn="l">
                        <a:spcBef>
                          <a:spcPts val="0"/>
                        </a:spcBef>
                        <a:spcAft>
                          <a:spcPts val="0"/>
                        </a:spcAft>
                        <a:buNone/>
                      </a:pPr>
                      <a:r>
                        <a:rPr b="0" i="0" lang="fr-FR" sz="1200" u="none" strike="noStrike">
                          <a:solidFill>
                            <a:srgbClr val="2D55FF"/>
                          </a:solidFill>
                          <a:latin typeface="Inter"/>
                          <a:ea typeface="Inter"/>
                          <a:cs typeface="Inter"/>
                          <a:sym typeface="Inter"/>
                        </a:rPr>
                        <a:t>{{significant_material}}</a:t>
                      </a:r>
                      <a:endParaRPr b="0" sz="1200">
                        <a:solidFill>
                          <a:schemeClr val="accent2"/>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{{significant_material_unit}}</a:t>
                      </a:r>
                      <a:endParaRPr b="0" i="0" sz="1200" u="none" strike="noStrike">
                        <a:solidFill>
                          <a:srgbClr val="000000"/>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Personnel de l’entreprise : caractéristiques générales (B8) </a:t>
            </a:r>
            <a:endParaRPr/>
          </a:p>
        </p:txBody>
      </p:sp>
      <p:graphicFrame>
        <p:nvGraphicFramePr>
          <p:cNvPr id="151" name="Google Shape;151;p10"/>
          <p:cNvGraphicFramePr/>
          <p:nvPr/>
        </p:nvGraphicFramePr>
        <p:xfrm>
          <a:off x="507992" y="1733785"/>
          <a:ext cx="3000000" cy="3000000"/>
        </p:xfrm>
        <a:graphic>
          <a:graphicData uri="http://schemas.openxmlformats.org/drawingml/2006/table">
            <a:tbl>
              <a:tblPr firstRow="1">
                <a:noFill/>
                <a:tableStyleId>{83A74AF9-74D6-43BA-9877-64FBA191D48E}</a:tableStyleId>
              </a:tblPr>
              <a:tblGrid>
                <a:gridCol w="2489200"/>
                <a:gridCol w="2489200"/>
              </a:tblGrid>
              <a:tr h="462250">
                <a:tc>
                  <a:txBody>
                    <a:bodyPr/>
                    <a:lstStyle/>
                    <a:p>
                      <a:pPr indent="0" lvl="0" marL="0" marR="0" rtl="0" algn="l">
                        <a:spcBef>
                          <a:spcPts val="0"/>
                        </a:spcBef>
                        <a:spcAft>
                          <a:spcPts val="0"/>
                        </a:spcAft>
                        <a:buNone/>
                      </a:pPr>
                      <a:r>
                        <a:rPr b="1" lang="fr-FR" sz="1200">
                          <a:solidFill>
                            <a:schemeClr val="dk2"/>
                          </a:solidFill>
                        </a:rPr>
                        <a:t>Type de contrat </a:t>
                      </a:r>
                      <a:r>
                        <a:rPr b="0" lang="fr-FR" sz="1200">
                          <a:solidFill>
                            <a:schemeClr val="dk2"/>
                          </a:solidFill>
                        </a:rPr>
                        <a:t>(par. 40a)</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Nombre de salariés (effectifs ou équivalents temps plein)</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2250">
                <a:tc>
                  <a:txBody>
                    <a:bodyPr/>
                    <a:lstStyle/>
                    <a:p>
                      <a:pPr indent="0" lvl="0" marL="0" marR="0" rtl="0" algn="l">
                        <a:spcBef>
                          <a:spcPts val="0"/>
                        </a:spcBef>
                        <a:spcAft>
                          <a:spcPts val="0"/>
                        </a:spcAft>
                        <a:buNone/>
                      </a:pPr>
                      <a:r>
                        <a:rPr b="0" lang="fr-FR" sz="1200">
                          <a:solidFill>
                            <a:schemeClr val="dk2"/>
                          </a:solidFill>
                        </a:rPr>
                        <a:t>Emploi temporaire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{{temporary}}</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2250">
                <a:tc>
                  <a:txBody>
                    <a:bodyPr/>
                    <a:lstStyle/>
                    <a:p>
                      <a:pPr indent="0" lvl="0" marL="0" marR="0" rtl="0" algn="l">
                        <a:spcBef>
                          <a:spcPts val="0"/>
                        </a:spcBef>
                        <a:spcAft>
                          <a:spcPts val="0"/>
                        </a:spcAft>
                        <a:buNone/>
                      </a:pPr>
                      <a:r>
                        <a:rPr b="0" lang="fr-FR" sz="1200">
                          <a:solidFill>
                            <a:schemeClr val="dk2"/>
                          </a:solidFill>
                        </a:rPr>
                        <a:t>Emploi permanent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{{fulltime}}</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2250">
                <a:tc>
                  <a:txBody>
                    <a:bodyPr/>
                    <a:lstStyle/>
                    <a:p>
                      <a:pPr indent="0" lvl="0" marL="0" marR="0" rtl="0" algn="l">
                        <a:spcBef>
                          <a:spcPts val="0"/>
                        </a:spcBef>
                        <a:spcAft>
                          <a:spcPts val="0"/>
                        </a:spcAft>
                        <a:buNone/>
                      </a:pPr>
                      <a:r>
                        <a:rPr b="0" lang="fr-FR" sz="1200">
                          <a:solidFill>
                            <a:schemeClr val="dk2"/>
                          </a:solidFill>
                        </a:rPr>
                        <a:t>Nombre total de salariés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{{total_employees}}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2" name="Google Shape;152;p10"/>
          <p:cNvGraphicFramePr/>
          <p:nvPr/>
        </p:nvGraphicFramePr>
        <p:xfrm>
          <a:off x="5710687" y="1733787"/>
          <a:ext cx="3000000" cy="3000000"/>
        </p:xfrm>
        <a:graphic>
          <a:graphicData uri="http://schemas.openxmlformats.org/drawingml/2006/table">
            <a:tbl>
              <a:tblPr firstRow="1">
                <a:noFill/>
                <a:tableStyleId>{83A74AF9-74D6-43BA-9877-64FBA191D48E}</a:tableStyleId>
              </a:tblPr>
              <a:tblGrid>
                <a:gridCol w="2986650"/>
                <a:gridCol w="2986650"/>
              </a:tblGrid>
              <a:tr h="2880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Genre</a:t>
                      </a:r>
                      <a:r>
                        <a:rPr b="0" lang="fr-FR" sz="1200">
                          <a:solidFill>
                            <a:schemeClr val="dk2"/>
                          </a:solidFill>
                          <a:latin typeface="IBM Plex Sans"/>
                          <a:ea typeface="IBM Plex Sans"/>
                          <a:cs typeface="IBM Plex Sans"/>
                          <a:sym typeface="IBM Plex Sans"/>
                        </a:rPr>
                        <a:t> (par. 40b)</a:t>
                      </a:r>
                      <a:endParaRPr b="0" sz="12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Nombre de salariés (effectifs ou équivalents temps plein)</a:t>
                      </a:r>
                      <a:endParaRPr b="1" sz="12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Homme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{{men}}</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Femme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{{women}}</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Autre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{{others}}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Non renseigné</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{{not_registeret}}</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Nombre total de salariés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{{total_employees}}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3" name="Google Shape;153;p1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54" name="Google Shape;154;p1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55" name="Google Shape;155;p10"/>
          <p:cNvSpPr txBox="1"/>
          <p:nvPr/>
        </p:nvSpPr>
        <p:spPr>
          <a:xfrm>
            <a:off x="518600" y="1041410"/>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5595D"/>
              </a:buClr>
              <a:buSzPts val="1200"/>
              <a:buFont typeface="Inter"/>
              <a:buNone/>
            </a:pPr>
            <a:r>
              <a:rPr b="0" i="0" lang="fr-FR" sz="1200" u="none" strike="noStrike">
                <a:solidFill>
                  <a:srgbClr val="25595D"/>
                </a:solidFill>
                <a:latin typeface="Inter"/>
                <a:ea typeface="Inter"/>
                <a:cs typeface="Inter"/>
                <a:sym typeface="Inter"/>
              </a:rPr>
              <a:t>L’entreprise a indiqué le nombre de salariés selon les ventilations suivantes : le type de contrat de travail, les salariés étant répartis entre contrats temporaires et permanents; le genre, qui renseigne sur la répartition par genre des salariés; et le pays du contrat de travail, pertinent si l’entreprise exerce ses activités dans plusieurs pays.</a:t>
            </a:r>
            <a:endParaRPr b="0" sz="120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200"/>
              <a:buFont typeface="Inter"/>
              <a:buNone/>
            </a:pPr>
            <a:br>
              <a:rPr lang="fr-FR" sz="1200">
                <a:solidFill>
                  <a:schemeClr val="dk1"/>
                </a:solidFill>
                <a:latin typeface="Inter"/>
                <a:ea typeface="Inter"/>
                <a:cs typeface="Inter"/>
                <a:sym typeface="Inter"/>
              </a:rPr>
            </a:br>
            <a:endParaRPr sz="1200">
              <a:solidFill>
                <a:schemeClr val="dk1"/>
              </a:solidFill>
              <a:latin typeface="Inter"/>
              <a:ea typeface="Inter"/>
              <a:cs typeface="Inter"/>
              <a:sym typeface="Inter"/>
            </a:endParaRPr>
          </a:p>
        </p:txBody>
      </p:sp>
      <p:graphicFrame>
        <p:nvGraphicFramePr>
          <p:cNvPr id="156" name="Google Shape;156;p10"/>
          <p:cNvGraphicFramePr/>
          <p:nvPr/>
        </p:nvGraphicFramePr>
        <p:xfrm>
          <a:off x="509736" y="3930137"/>
          <a:ext cx="3000000" cy="3000000"/>
        </p:xfrm>
        <a:graphic>
          <a:graphicData uri="http://schemas.openxmlformats.org/drawingml/2006/table">
            <a:tbl>
              <a:tblPr firstRow="1">
                <a:noFill/>
                <a:tableStyleId>{83A74AF9-74D6-43BA-9877-64FBA191D48E}</a:tableStyleId>
              </a:tblPr>
              <a:tblGrid>
                <a:gridCol w="5967825"/>
                <a:gridCol w="5195825"/>
              </a:tblGrid>
              <a:tr h="288000">
                <a:tc>
                  <a:txBody>
                    <a:bodyPr/>
                    <a:lstStyle/>
                    <a:p>
                      <a:pPr indent="0" lvl="0" marL="0" marR="0" rtl="0" algn="l">
                        <a:spcBef>
                          <a:spcPts val="0"/>
                        </a:spcBef>
                        <a:spcAft>
                          <a:spcPts val="0"/>
                        </a:spcAft>
                        <a:buNone/>
                      </a:pPr>
                      <a:r>
                        <a:rPr b="1" lang="fr-FR" sz="1200">
                          <a:solidFill>
                            <a:schemeClr val="dk2"/>
                          </a:solidFill>
                        </a:rPr>
                        <a:t>Pays (où le contrat de travail a été conclu) </a:t>
                      </a:r>
                      <a:r>
                        <a:rPr b="0" lang="fr-FR" sz="1200">
                          <a:solidFill>
                            <a:schemeClr val="dk2"/>
                          </a:solidFill>
                        </a:rPr>
                        <a:t>(par. 40c)</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Nombre de salariés (effectifs ou équivalents temps plein)</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fr-FR" sz="1200">
                          <a:solidFill>
                            <a:schemeClr val="dk2"/>
                          </a:solidFill>
                        </a:rPr>
                        <a:t>Danemark</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{{Denmark}}</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{{Land_b}}</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FTE_eller_antal_personer_land_b</a:t>
                      </a:r>
                      <a:r>
                        <a:rPr b="0" i="0" lang="fr-FR" sz="1200" u="none" strike="noStrike">
                          <a:solidFill>
                            <a:srgbClr val="2D55FF"/>
                          </a:solidFill>
                          <a:latin typeface="Inter"/>
                          <a:ea typeface="Inter"/>
                          <a:cs typeface="Inter"/>
                          <a:sym typeface="Inter"/>
                        </a:rPr>
                        <a:t>}}</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fr-FR" sz="1200">
                          <a:solidFill>
                            <a:schemeClr val="dk2"/>
                          </a:solidFill>
                        </a:rPr>
                        <a:t>Nombre total de salariés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{{Total_out_of_countries}}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Personnel : santé et sécurité (B9)</a:t>
            </a:r>
            <a:endParaRPr/>
          </a:p>
        </p:txBody>
      </p:sp>
      <p:graphicFrame>
        <p:nvGraphicFramePr>
          <p:cNvPr id="163" name="Google Shape;163;p11"/>
          <p:cNvGraphicFramePr/>
          <p:nvPr/>
        </p:nvGraphicFramePr>
        <p:xfrm>
          <a:off x="508000" y="1720951"/>
          <a:ext cx="3000000" cy="3000000"/>
        </p:xfrm>
        <a:graphic>
          <a:graphicData uri="http://schemas.openxmlformats.org/drawingml/2006/table">
            <a:tbl>
              <a:tblPr firstRow="1">
                <a:noFill/>
                <a:tableStyleId>{83A74AF9-74D6-43BA-9877-64FBA191D48E}</a:tableStyleId>
              </a:tblPr>
              <a:tblGrid>
                <a:gridCol w="3028825"/>
                <a:gridCol w="2440650"/>
              </a:tblGrid>
              <a:tr h="33792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Accidents du travail comptabilisables </a:t>
                      </a:r>
                      <a:r>
                        <a:rPr b="0" lang="fr-FR" sz="1200">
                          <a:solidFill>
                            <a:schemeClr val="dk2"/>
                          </a:solidFill>
                        </a:rPr>
                        <a:t>(par. 41a)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Année</a:t>
                      </a:r>
                      <a:r>
                        <a:rPr b="1" lang="fr-FR"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7925">
                <a:tc>
                  <a:txBody>
                    <a:bodyPr/>
                    <a:lstStyle/>
                    <a:p>
                      <a:pPr indent="0" lvl="0" marL="0" marR="0" rtl="0" algn="l">
                        <a:spcBef>
                          <a:spcPts val="0"/>
                        </a:spcBef>
                        <a:spcAft>
                          <a:spcPts val="0"/>
                        </a:spcAft>
                        <a:buNone/>
                      </a:pPr>
                      <a:r>
                        <a:rPr b="0" lang="fr-FR" sz="1200">
                          <a:solidFill>
                            <a:schemeClr val="dk2"/>
                          </a:solidFill>
                        </a:rPr>
                        <a:t>Nombre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fr-FR" sz="1200" u="none" cap="none" strike="noStrike">
                          <a:solidFill>
                            <a:srgbClr val="2D55FF"/>
                          </a:solidFill>
                          <a:latin typeface="Inter"/>
                          <a:ea typeface="Inter"/>
                          <a:cs typeface="Inter"/>
                          <a:sym typeface="Inter"/>
                        </a:rPr>
                        <a:t>{{indsat_antal_accidents}}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7925">
                <a:tc>
                  <a:txBody>
                    <a:bodyPr/>
                    <a:lstStyle/>
                    <a:p>
                      <a:pPr indent="0" lvl="0" marL="0" marR="0" rtl="0" algn="l">
                        <a:spcBef>
                          <a:spcPts val="0"/>
                        </a:spcBef>
                        <a:spcAft>
                          <a:spcPts val="0"/>
                        </a:spcAft>
                        <a:buNone/>
                      </a:pPr>
                      <a:r>
                        <a:rPr b="0" lang="fr-FR" sz="1200">
                          <a:solidFill>
                            <a:schemeClr val="dk2"/>
                          </a:solidFill>
                        </a:rPr>
                        <a:t>Taux</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fr-FR" sz="1200" u="none" cap="none" strike="noStrike">
                          <a:solidFill>
                            <a:srgbClr val="2D55FF"/>
                          </a:solidFill>
                          <a:latin typeface="Inter"/>
                          <a:ea typeface="Inter"/>
                          <a:cs typeface="Inter"/>
                          <a:sym typeface="Inter"/>
                        </a:rPr>
                        <a:t>{{indsat_accidents_frequents}}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4" name="Google Shape;164;p11"/>
          <p:cNvGraphicFramePr/>
          <p:nvPr/>
        </p:nvGraphicFramePr>
        <p:xfrm>
          <a:off x="6203932" y="1720952"/>
          <a:ext cx="3000000" cy="3000000"/>
        </p:xfrm>
        <a:graphic>
          <a:graphicData uri="http://schemas.openxmlformats.org/drawingml/2006/table">
            <a:tbl>
              <a:tblPr firstRow="1">
                <a:noFill/>
                <a:tableStyleId>{83A74AF9-74D6-43BA-9877-64FBA191D48E}</a:tableStyleId>
              </a:tblPr>
              <a:tblGrid>
                <a:gridCol w="3778275"/>
                <a:gridCol w="1691200"/>
              </a:tblGrid>
              <a:tr h="33215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Décès liés au travail </a:t>
                      </a:r>
                      <a:r>
                        <a:rPr b="0" lang="fr-FR" sz="1200">
                          <a:solidFill>
                            <a:schemeClr val="dk2"/>
                          </a:solidFill>
                        </a:rPr>
                        <a:t>(par. 41b)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Année</a:t>
                      </a:r>
                      <a:r>
                        <a:rPr b="1" lang="fr-FR"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2150">
                <a:tc>
                  <a:txBody>
                    <a:bodyPr/>
                    <a:lstStyle/>
                    <a:p>
                      <a:pPr indent="0" lvl="0" marL="0" marR="0" rtl="0" algn="l">
                        <a:spcBef>
                          <a:spcPts val="0"/>
                        </a:spcBef>
                        <a:spcAft>
                          <a:spcPts val="0"/>
                        </a:spcAft>
                        <a:buNone/>
                      </a:pPr>
                      <a:r>
                        <a:rPr b="0" lang="fr-FR" sz="1200">
                          <a:solidFill>
                            <a:schemeClr val="dk2"/>
                          </a:solidFill>
                        </a:rPr>
                        <a:t>Dus à un accident du travail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fr-FR" sz="1200" u="none" cap="none" strike="noStrike">
                          <a:solidFill>
                            <a:srgbClr val="2D55FF"/>
                          </a:solidFill>
                          <a:latin typeface="Inter"/>
                          <a:ea typeface="Inter"/>
                          <a:cs typeface="Inter"/>
                          <a:sym typeface="Inter"/>
                        </a:rPr>
                        <a:t>{{deaths_by_accidents}}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2150">
                <a:tc>
                  <a:txBody>
                    <a:bodyPr/>
                    <a:lstStyle/>
                    <a:p>
                      <a:pPr indent="0" lvl="0" marL="0" marR="0" rtl="0" algn="l">
                        <a:spcBef>
                          <a:spcPts val="0"/>
                        </a:spcBef>
                        <a:spcAft>
                          <a:spcPts val="0"/>
                        </a:spcAft>
                        <a:buNone/>
                      </a:pPr>
                      <a:r>
                        <a:rPr b="0" lang="fr-FR" sz="1200">
                          <a:solidFill>
                            <a:schemeClr val="dk2"/>
                          </a:solidFill>
                        </a:rPr>
                        <a:t>Dus à un problème de santé lié au travail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fr-FR" sz="1200" u="none" cap="none" strike="noStrike">
                          <a:solidFill>
                            <a:srgbClr val="2D55FF"/>
                          </a:solidFill>
                          <a:latin typeface="Inter"/>
                          <a:ea typeface="Inter"/>
                          <a:cs typeface="Inter"/>
                          <a:sym typeface="Inter"/>
                        </a:rPr>
                        <a:t>{{deaths_by_health}}</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5" name="Google Shape;165;p11"/>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66" name="Google Shape;166;p1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67" name="Google Shape;167;p11"/>
          <p:cNvSpPr txBox="1"/>
          <p:nvPr/>
        </p:nvSpPr>
        <p:spPr>
          <a:xfrm>
            <a:off x="518600" y="995767"/>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communiqué des informations sur le nombre d’accidents du travail comptabilisables et de décès liés au travail selon les ventilations suivantes : nombre et taux. Elle précise en outre si les décès liés au travail sont dus à des accidents du travail ou à des problèmes de santé.</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
        <p:nvSpPr>
          <p:cNvPr id="168" name="Google Shape;168;p11"/>
          <p:cNvSpPr txBox="1"/>
          <p:nvPr/>
        </p:nvSpPr>
        <p:spPr>
          <a:xfrm>
            <a:off x="518600" y="3051599"/>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800">
                <a:solidFill>
                  <a:schemeClr val="dk2"/>
                </a:solidFill>
                <a:latin typeface="IBM Plex Sans"/>
                <a:ea typeface="IBM Plex Sans"/>
                <a:cs typeface="IBM Plex Sans"/>
                <a:sym typeface="IBM Plex Sans"/>
              </a:rPr>
              <a:t>Personnel : rémunération, négociation collective et formation (B10)</a:t>
            </a:r>
            <a:endParaRPr/>
          </a:p>
        </p:txBody>
      </p:sp>
      <p:graphicFrame>
        <p:nvGraphicFramePr>
          <p:cNvPr id="169" name="Google Shape;169;p11"/>
          <p:cNvGraphicFramePr/>
          <p:nvPr/>
        </p:nvGraphicFramePr>
        <p:xfrm>
          <a:off x="6214532" y="4181125"/>
          <a:ext cx="3000000" cy="3000000"/>
        </p:xfrm>
        <a:graphic>
          <a:graphicData uri="http://schemas.openxmlformats.org/drawingml/2006/table">
            <a:tbl>
              <a:tblPr firstRow="1">
                <a:noFill/>
                <a:tableStyleId>{83A74AF9-74D6-43BA-9877-64FBA191D48E}</a:tableStyleId>
              </a:tblPr>
              <a:tblGrid>
                <a:gridCol w="3805775"/>
                <a:gridCol w="1663700"/>
              </a:tblGrid>
              <a:tr h="335175">
                <a:tc rowSpan="2">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Écart de rémunération entre salariés masculins et féminins </a:t>
                      </a:r>
                      <a:r>
                        <a:rPr b="0" lang="fr-FR" sz="1200">
                          <a:solidFill>
                            <a:schemeClr val="dk2"/>
                          </a:solidFill>
                        </a:rPr>
                        <a:t>(par. 42b)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Année</a:t>
                      </a:r>
                      <a:r>
                        <a:rPr b="1" lang="fr-FR" sz="1200">
                          <a:solidFill>
                            <a:schemeClr val="accent2"/>
                          </a:solidFill>
                          <a:latin typeface="Calibri"/>
                          <a:ea typeface="Calibri"/>
                          <a:cs typeface="Calibri"/>
                          <a:sym typeface="Calibri"/>
                        </a:rPr>
                        <a:t> </a:t>
                      </a:r>
                      <a:r>
                        <a:rPr b="1" lang="fr-FR"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40350">
                <a:tc vMerge="1"/>
                <a:tc>
                  <a:txBody>
                    <a:bodyPr/>
                    <a:lstStyle/>
                    <a:p>
                      <a:pPr indent="0" lvl="0" marL="0" marR="0" rtl="0" algn="ctr">
                        <a:spcBef>
                          <a:spcPts val="0"/>
                        </a:spcBef>
                        <a:spcAft>
                          <a:spcPts val="0"/>
                        </a:spcAft>
                        <a:buNone/>
                      </a:pPr>
                      <a:r>
                        <a:rPr b="0" lang="fr-FR" sz="1200">
                          <a:solidFill>
                            <a:schemeClr val="accent2"/>
                          </a:solidFill>
                        </a:rPr>
                        <a:t>{{indsat_procentvise_lonforskel}}</a:t>
                      </a:r>
                      <a:endParaRPr/>
                    </a:p>
                  </a:txBody>
                  <a:tcPr marT="36000" marB="36000" marR="36000" marL="36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507995" y="4181127"/>
          <a:ext cx="3000000" cy="3000000"/>
        </p:xfrm>
        <a:graphic>
          <a:graphicData uri="http://schemas.openxmlformats.org/drawingml/2006/table">
            <a:tbl>
              <a:tblPr firstRow="1">
                <a:noFill/>
                <a:tableStyleId>{83A74AF9-74D6-43BA-9877-64FBA191D48E}</a:tableStyleId>
              </a:tblPr>
              <a:tblGrid>
                <a:gridCol w="3003025"/>
                <a:gridCol w="1267025"/>
                <a:gridCol w="1203675"/>
              </a:tblGrid>
              <a:tr h="206500">
                <a:tc>
                  <a:txBody>
                    <a:bodyPr/>
                    <a:lstStyle/>
                    <a:p>
                      <a:pPr indent="0" lvl="0" marL="0" marR="0" rtl="0" algn="l">
                        <a:spcBef>
                          <a:spcPts val="0"/>
                        </a:spcBef>
                        <a:spcAft>
                          <a:spcPts val="0"/>
                        </a:spcAft>
                        <a:buNone/>
                      </a:pPr>
                      <a:r>
                        <a:rPr b="1" lang="fr-FR" sz="1200">
                          <a:solidFill>
                            <a:schemeClr val="dk2"/>
                          </a:solidFill>
                        </a:rPr>
                        <a:t>Informations sur le salaire minimal </a:t>
                      </a:r>
                      <a:r>
                        <a:rPr b="0" lang="fr-FR" sz="1200">
                          <a:solidFill>
                            <a:schemeClr val="dk2"/>
                          </a:solidFill>
                        </a:rPr>
                        <a:t>(42a)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200">
                          <a:solidFill>
                            <a:schemeClr val="dk2"/>
                          </a:solidFill>
                        </a:rPr>
                        <a:t>Oui</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200">
                          <a:solidFill>
                            <a:schemeClr val="dk2"/>
                          </a:solidFill>
                        </a:rPr>
                        <a:t>Non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2825">
                <a:tc>
                  <a:txBody>
                    <a:bodyPr/>
                    <a:lstStyle/>
                    <a:p>
                      <a:pPr indent="0" lvl="0" marL="0" marR="0" rtl="0" algn="l">
                        <a:spcBef>
                          <a:spcPts val="0"/>
                        </a:spcBef>
                        <a:spcAft>
                          <a:spcPts val="0"/>
                        </a:spcAft>
                        <a:buNone/>
                      </a:pPr>
                      <a:r>
                        <a:rPr b="0" lang="fr-FR" sz="1200">
                          <a:solidFill>
                            <a:schemeClr val="dk2"/>
                          </a:solidFill>
                        </a:rPr>
                        <a:t>Dans l’entreprise, tous les salariés perçoivent au moins le salaire minimal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{{minumum_wage_yes?}}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{{minimum_wage_no?}}</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1" name="Google Shape;171;p11"/>
          <p:cNvGraphicFramePr/>
          <p:nvPr/>
        </p:nvGraphicFramePr>
        <p:xfrm>
          <a:off x="507998" y="5198328"/>
          <a:ext cx="3000000" cy="3000000"/>
        </p:xfrm>
        <a:graphic>
          <a:graphicData uri="http://schemas.openxmlformats.org/drawingml/2006/table">
            <a:tbl>
              <a:tblPr firstRow="1">
                <a:noFill/>
                <a:tableStyleId>{83A74AF9-74D6-43BA-9877-64FBA191D48E}</a:tableStyleId>
              </a:tblPr>
              <a:tblGrid>
                <a:gridCol w="3022600"/>
                <a:gridCol w="2446875"/>
              </a:tblGrid>
              <a:tr h="54507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rPr>
                        <a:t>Convention collective </a:t>
                      </a:r>
                      <a:r>
                        <a:rPr b="0" lang="fr-FR" sz="1200">
                          <a:solidFill>
                            <a:schemeClr val="dk2"/>
                          </a:solidFill>
                        </a:rPr>
                        <a:t>(par. 42c)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Année</a:t>
                      </a:r>
                      <a:r>
                        <a:rPr b="1" lang="fr-FR" sz="1200">
                          <a:solidFill>
                            <a:schemeClr val="accent2"/>
                          </a:solidFill>
                          <a:latin typeface="Calibri"/>
                          <a:ea typeface="Calibri"/>
                          <a:cs typeface="Calibri"/>
                          <a:sym typeface="Calibri"/>
                        </a:rPr>
                        <a:t> {{insert_year}}</a:t>
                      </a:r>
                      <a:endParaRPr b="1"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1475">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200">
                          <a:solidFill>
                            <a:schemeClr val="dk2"/>
                          </a:solidFill>
                        </a:rPr>
                        <a:t>Pourcentage de salariés couverts par une convention collective</a:t>
                      </a:r>
                      <a:endParaRPr b="0" i="0" sz="12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rgbClr val="2D55FF"/>
                        </a:buClr>
                        <a:buSzPts val="1200"/>
                        <a:buFont typeface="IBM Plex Sans"/>
                        <a:buNone/>
                      </a:pPr>
                      <a:r>
                        <a:rPr b="0" i="0" lang="fr-FR" sz="1200" u="none" cap="none" strike="noStrike">
                          <a:solidFill>
                            <a:srgbClr val="2D55FF"/>
                          </a:solidFill>
                          <a:latin typeface="IBM Plex Sans"/>
                          <a:ea typeface="IBM Plex Sans"/>
                          <a:cs typeface="IBM Plex Sans"/>
                          <a:sym typeface="IBM Plex Sans"/>
                        </a:rPr>
                        <a:t>{{indsat_procentvis_ansatte}}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2" name="Google Shape;172;p11"/>
          <p:cNvGraphicFramePr/>
          <p:nvPr/>
        </p:nvGraphicFramePr>
        <p:xfrm>
          <a:off x="6212426" y="5198327"/>
          <a:ext cx="3000000" cy="3000000"/>
        </p:xfrm>
        <a:graphic>
          <a:graphicData uri="http://schemas.openxmlformats.org/drawingml/2006/table">
            <a:tbl>
              <a:tblPr firstRow="1">
                <a:noFill/>
                <a:tableStyleId>{83A74AF9-74D6-43BA-9877-64FBA191D48E}</a:tableStyleId>
              </a:tblPr>
              <a:tblGrid>
                <a:gridCol w="3807875"/>
                <a:gridCol w="1661600"/>
              </a:tblGrid>
              <a:tr h="429825">
                <a:tc>
                  <a:txBody>
                    <a:bodyPr/>
                    <a:lstStyle/>
                    <a:p>
                      <a:pPr indent="0" lvl="0" marL="0" marR="0" rtl="0" algn="l">
                        <a:spcBef>
                          <a:spcPts val="0"/>
                        </a:spcBef>
                        <a:spcAft>
                          <a:spcPts val="0"/>
                        </a:spcAft>
                        <a:buNone/>
                      </a:pPr>
                      <a:r>
                        <a:rPr b="1" lang="fr-FR" sz="1200">
                          <a:solidFill>
                            <a:schemeClr val="dk2"/>
                          </a:solidFill>
                        </a:rPr>
                        <a:t>Heures de formation moyennes par salarié </a:t>
                      </a:r>
                      <a:r>
                        <a:rPr b="0" lang="fr-FR" sz="1200">
                          <a:solidFill>
                            <a:schemeClr val="dk2"/>
                          </a:solidFill>
                        </a:rPr>
                        <a:t>(par. 42d)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Année</a:t>
                      </a:r>
                      <a:r>
                        <a:rPr b="1" lang="fr-FR"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14050">
                <a:tc>
                  <a:txBody>
                    <a:bodyPr/>
                    <a:lstStyle/>
                    <a:p>
                      <a:pPr indent="0" lvl="0" marL="0" marR="0" rtl="0" algn="l">
                        <a:spcBef>
                          <a:spcPts val="0"/>
                        </a:spcBef>
                        <a:spcAft>
                          <a:spcPts val="0"/>
                        </a:spcAft>
                        <a:buNone/>
                      </a:pPr>
                      <a:r>
                        <a:rPr b="0" lang="fr-FR" sz="1200">
                          <a:solidFill>
                            <a:schemeClr val="dk2"/>
                          </a:solidFill>
                        </a:rPr>
                        <a:t>Heure(s) par salarié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{{gennemsnitstimer}}</a:t>
                      </a:r>
                      <a:endParaRPr b="0" sz="1200"/>
                    </a:p>
                  </a:txBody>
                  <a:tcPr marT="19050" marB="19050" marR="19050" marL="190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3" name="Google Shape;173;p11"/>
          <p:cNvSpPr txBox="1"/>
          <p:nvPr/>
        </p:nvSpPr>
        <p:spPr>
          <a:xfrm>
            <a:off x="531300" y="3446812"/>
            <a:ext cx="111654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communiqué des informations sur le salaire minimal ainsi que le pourcentage de salariés couverts par des conventions collectives et le nombre moyen d’heures de formation par salarié et par an, ventilé par genre. Si l’entreprise est déjà tenue, en vertu de la législation de l’UE 8 ou d’autres dispositions nationales, de déclarer l’écart de rémunération en pourcentage entre ses salariés féminins et masculins, elle l’indique.</a:t>
            </a:r>
            <a:endParaRPr/>
          </a:p>
          <a:p>
            <a:pPr indent="0" lvl="0" marL="0" marR="0" rtl="0" algn="l">
              <a:spcBef>
                <a:spcPts val="0"/>
              </a:spcBef>
              <a:spcAft>
                <a:spcPts val="0"/>
              </a:spcAft>
              <a:buClr>
                <a:schemeClr val="dk2"/>
              </a:buClr>
              <a:buSzPts val="1200"/>
              <a:buFont typeface="Inter"/>
              <a:buNone/>
            </a:pPr>
            <a:br>
              <a:rPr lang="fr-FR"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Conduite des affaires : condamnations et amendes pour corruption &amp; pots-de-vin (B11) </a:t>
            </a:r>
            <a:endParaRPr/>
          </a:p>
        </p:txBody>
      </p:sp>
      <p:graphicFrame>
        <p:nvGraphicFramePr>
          <p:cNvPr id="180" name="Google Shape;180;p12"/>
          <p:cNvGraphicFramePr/>
          <p:nvPr/>
        </p:nvGraphicFramePr>
        <p:xfrm>
          <a:off x="507998" y="1945690"/>
          <a:ext cx="3000000" cy="3000000"/>
        </p:xfrm>
        <a:graphic>
          <a:graphicData uri="http://schemas.openxmlformats.org/drawingml/2006/table">
            <a:tbl>
              <a:tblPr firstRow="1">
                <a:noFill/>
                <a:tableStyleId>{83A74AF9-74D6-43BA-9877-64FBA191D48E}</a:tableStyleId>
              </a:tblPr>
              <a:tblGrid>
                <a:gridCol w="3721800"/>
                <a:gridCol w="3721800"/>
                <a:gridCol w="3721800"/>
              </a:tblGrid>
              <a:tr h="306000">
                <a:tc rowSpan="2">
                  <a:txBody>
                    <a:bodyPr/>
                    <a:lstStyle/>
                    <a:p>
                      <a:pPr indent="0" lvl="0" marL="0" marR="0" rtl="0" algn="l">
                        <a:spcBef>
                          <a:spcPts val="0"/>
                        </a:spcBef>
                        <a:spcAft>
                          <a:spcPts val="0"/>
                        </a:spcAft>
                        <a:buNone/>
                      </a:pPr>
                      <a:r>
                        <a:rPr b="1" lang="fr-FR" sz="1200">
                          <a:solidFill>
                            <a:schemeClr val="dk2"/>
                          </a:solidFill>
                        </a:rPr>
                        <a:t>Corruption et pots-de-vin </a:t>
                      </a:r>
                      <a:r>
                        <a:rPr b="0" lang="fr-FR" sz="1200">
                          <a:solidFill>
                            <a:schemeClr val="dk2"/>
                          </a:solidFill>
                        </a:rPr>
                        <a:t>(par. 43)</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fr-FR" sz="1200">
                          <a:solidFill>
                            <a:schemeClr val="dk2"/>
                          </a:solidFill>
                        </a:rPr>
                        <a:t>Nombre de condamnations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200">
                          <a:solidFill>
                            <a:schemeClr val="dk2"/>
                          </a:solidFill>
                        </a:rPr>
                        <a:t>Montant total des amendes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000">
                <a:tc vMerge="1"/>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{{domme}}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{{samlet_bodestorrelse}}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81" name="Google Shape;181;p1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82" name="Google Shape;182;p1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sp>
        <p:nvSpPr>
          <p:cNvPr id="183" name="Google Shape;183;p12"/>
          <p:cNvSpPr txBox="1"/>
          <p:nvPr/>
        </p:nvSpPr>
        <p:spPr>
          <a:xfrm>
            <a:off x="518600" y="1016000"/>
            <a:ext cx="112543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indiqué les infractions à la législation sur la lutte contre la corruption au cours de la période de référence. Si l’entreprise a fait l’objet de condamnations ou d’amendes pour de telles infractions, les informations suivantes ont été publiées : le nombre de condamnations et le montant total des amendes infligées. Ces informations concernent l’éthique des affaires et la durabilité de l’entreprise, en particulier la gestion de la corruption, et sont indiquées ci-dessous.</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960628" y="2698750"/>
            <a:ext cx="10033000" cy="1460499"/>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IBM Plex Sans"/>
              <a:buNone/>
            </a:pPr>
            <a:r>
              <a:rPr b="1" lang="fr-FR" sz="4000"/>
              <a:t>Informations du module complet</a:t>
            </a:r>
            <a:endParaRPr/>
          </a:p>
        </p:txBody>
      </p:sp>
      <p:sp>
        <p:nvSpPr>
          <p:cNvPr id="190" name="Google Shape;190;p1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518600" y="513927"/>
            <a:ext cx="11165400" cy="256224"/>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800" u="none" strike="noStrike">
                <a:solidFill>
                  <a:srgbClr val="1B4528"/>
                </a:solidFill>
                <a:latin typeface="IBM Plex Sans"/>
                <a:ea typeface="IBM Plex Sans"/>
                <a:cs typeface="IBM Plex Sans"/>
                <a:sym typeface="IBM Plex Sans"/>
              </a:rPr>
              <a:t>Stratégie : modèle d’entreprise et initiatives liées à la durabilité (C1)</a:t>
            </a:r>
            <a:endParaRPr/>
          </a:p>
        </p:txBody>
      </p:sp>
      <p:sp>
        <p:nvSpPr>
          <p:cNvPr id="197" name="Google Shape;197;p14"/>
          <p:cNvSpPr/>
          <p:nvPr/>
        </p:nvSpPr>
        <p:spPr>
          <a:xfrm>
            <a:off x="612401" y="4709014"/>
            <a:ext cx="207455" cy="232601"/>
          </a:xfrm>
          <a:prstGeom prst="rect">
            <a:avLst/>
          </a:prstGeom>
          <a:noFill/>
          <a:ln>
            <a:noFill/>
          </a:ln>
        </p:spPr>
      </p:sp>
      <p:sp>
        <p:nvSpPr>
          <p:cNvPr id="198" name="Google Shape;198;p1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99" name="Google Shape;199;p1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00" name="Google Shape;200;p14"/>
          <p:cNvGraphicFramePr/>
          <p:nvPr/>
        </p:nvGraphicFramePr>
        <p:xfrm>
          <a:off x="529201" y="2372250"/>
          <a:ext cx="3000000" cy="3000000"/>
        </p:xfrm>
        <a:graphic>
          <a:graphicData uri="http://schemas.openxmlformats.org/drawingml/2006/table">
            <a:tbl>
              <a:tblPr firstRow="1">
                <a:noFill/>
                <a:tableStyleId>{83A74AF9-74D6-43BA-9877-64FBA191D48E}</a:tableStyleId>
              </a:tblPr>
              <a:tblGrid>
                <a:gridCol w="11165400"/>
              </a:tblGrid>
              <a:tr h="180000">
                <a:tc>
                  <a:txBody>
                    <a:bodyPr/>
                    <a:lstStyle/>
                    <a:p>
                      <a:pPr indent="0" lvl="0" marL="0" marR="0" rtl="0" algn="l">
                        <a:spcBef>
                          <a:spcPts val="0"/>
                        </a:spcBef>
                        <a:spcAft>
                          <a:spcPts val="0"/>
                        </a:spcAft>
                        <a:buNone/>
                      </a:pPr>
                      <a:r>
                        <a:rPr b="1" lang="fr-FR" sz="1200">
                          <a:solidFill>
                            <a:schemeClr val="dk2"/>
                          </a:solidFill>
                        </a:rPr>
                        <a:t>Description des grands groupes de produits et/ou services que </a:t>
                      </a:r>
                      <a:r>
                        <a:rPr b="1" lang="fr-FR" sz="1200">
                          <a:solidFill>
                            <a:schemeClr val="accent2"/>
                          </a:solidFill>
                          <a:latin typeface="IBM Plex Sans"/>
                          <a:ea typeface="IBM Plex Sans"/>
                          <a:cs typeface="IBM Plex Sans"/>
                          <a:sym typeface="IBM Plex Sans"/>
                        </a:rPr>
                        <a:t>{{company_name}} </a:t>
                      </a:r>
                      <a:r>
                        <a:rPr b="1" lang="fr-FR" sz="1200">
                          <a:solidFill>
                            <a:schemeClr val="dk2"/>
                          </a:solidFill>
                          <a:latin typeface="IBM Plex Sans"/>
                          <a:ea typeface="IBM Plex Sans"/>
                          <a:cs typeface="IBM Plex Sans"/>
                          <a:sym typeface="IBM Plex Sans"/>
                        </a:rPr>
                        <a:t>propose</a:t>
                      </a:r>
                      <a:r>
                        <a:rPr b="1" lang="fr-FR" sz="1200">
                          <a:solidFill>
                            <a:schemeClr val="dk2"/>
                          </a:solidFill>
                        </a:rPr>
                        <a:t> </a:t>
                      </a:r>
                      <a:r>
                        <a:rPr b="0" lang="fr-FR" sz="1200">
                          <a:solidFill>
                            <a:schemeClr val="dk2"/>
                          </a:solidFill>
                        </a:rPr>
                        <a:t>(par. 46a)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33725">
                <a:tc>
                  <a:txBody>
                    <a:bodyPr/>
                    <a:lstStyle/>
                    <a:p>
                      <a:pPr indent="0" lvl="0" marL="0" marR="0" rtl="0" algn="l">
                        <a:spcBef>
                          <a:spcPts val="0"/>
                        </a:spcBef>
                        <a:spcAft>
                          <a:spcPts val="0"/>
                        </a:spcAft>
                        <a:buNone/>
                      </a:pPr>
                      <a:r>
                        <a:rPr b="0" lang="fr-FR" sz="1200">
                          <a:solidFill>
                            <a:schemeClr val="accent2"/>
                          </a:solidFill>
                        </a:rPr>
                        <a:t>{{markets_description}}</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529201" y="3297015"/>
          <a:ext cx="3000000" cy="3000000"/>
        </p:xfrm>
        <a:graphic>
          <a:graphicData uri="http://schemas.openxmlformats.org/drawingml/2006/table">
            <a:tbl>
              <a:tblPr firstRow="1">
                <a:noFill/>
                <a:tableStyleId>{83A74AF9-74D6-43BA-9877-64FBA191D48E}</a:tableStyleId>
              </a:tblPr>
              <a:tblGrid>
                <a:gridCol w="11165400"/>
              </a:tblGrid>
              <a:tr h="194800">
                <a:tc>
                  <a:txBody>
                    <a:bodyPr/>
                    <a:lstStyle/>
                    <a:p>
                      <a:pPr indent="0" lvl="0" marL="0" marR="0" rtl="0" algn="l">
                        <a:spcBef>
                          <a:spcPts val="0"/>
                        </a:spcBef>
                        <a:spcAft>
                          <a:spcPts val="0"/>
                        </a:spcAft>
                        <a:buNone/>
                      </a:pPr>
                      <a:r>
                        <a:rPr b="1" lang="fr-FR" sz="1200">
                          <a:solidFill>
                            <a:schemeClr val="dk2"/>
                          </a:solidFill>
                        </a:rPr>
                        <a:t>Description des grands marchés sur lesquels </a:t>
                      </a:r>
                      <a:r>
                        <a:rPr b="1" lang="fr-FR" sz="1200">
                          <a:solidFill>
                            <a:schemeClr val="accent2"/>
                          </a:solidFill>
                          <a:latin typeface="IBM Plex Sans"/>
                          <a:ea typeface="IBM Plex Sans"/>
                          <a:cs typeface="IBM Plex Sans"/>
                          <a:sym typeface="IBM Plex Sans"/>
                        </a:rPr>
                        <a:t>{{company_name}} </a:t>
                      </a:r>
                      <a:r>
                        <a:rPr b="1" lang="fr-FR" sz="1200">
                          <a:solidFill>
                            <a:schemeClr val="dk2"/>
                          </a:solidFill>
                        </a:rPr>
                        <a:t>exerce ses activités </a:t>
                      </a:r>
                      <a:r>
                        <a:rPr b="0" lang="fr-FR" sz="1200">
                          <a:solidFill>
                            <a:schemeClr val="dk2"/>
                          </a:solidFill>
                        </a:rPr>
                        <a:t>(par. 46b)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73100">
                <a:tc>
                  <a:txBody>
                    <a:bodyPr/>
                    <a:lstStyle/>
                    <a:p>
                      <a:pPr indent="0" lvl="0" marL="0" marR="0" rtl="0" algn="l">
                        <a:spcBef>
                          <a:spcPts val="0"/>
                        </a:spcBef>
                        <a:spcAft>
                          <a:spcPts val="0"/>
                        </a:spcAft>
                        <a:buNone/>
                      </a:pPr>
                      <a:r>
                        <a:rPr b="0" lang="fr-FR" sz="1200">
                          <a:solidFill>
                            <a:schemeClr val="accent2"/>
                          </a:solidFill>
                        </a:rPr>
                        <a:t>{{business_relationships}}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529201" y="4436129"/>
          <a:ext cx="3000000" cy="3000000"/>
        </p:xfrm>
        <a:graphic>
          <a:graphicData uri="http://schemas.openxmlformats.org/drawingml/2006/table">
            <a:tbl>
              <a:tblPr firstRow="1">
                <a:noFill/>
                <a:tableStyleId>{83A74AF9-74D6-43BA-9877-64FBA191D48E}</a:tableStyleId>
              </a:tblPr>
              <a:tblGrid>
                <a:gridCol w="11165400"/>
              </a:tblGrid>
              <a:tr h="177875">
                <a:tc>
                  <a:txBody>
                    <a:bodyPr/>
                    <a:lstStyle/>
                    <a:p>
                      <a:pPr indent="0" lvl="0" marL="0" marR="0" rtl="0" algn="l">
                        <a:spcBef>
                          <a:spcPts val="0"/>
                        </a:spcBef>
                        <a:spcAft>
                          <a:spcPts val="0"/>
                        </a:spcAft>
                        <a:buNone/>
                      </a:pPr>
                      <a:r>
                        <a:rPr b="1" lang="fr-FR" sz="1200">
                          <a:solidFill>
                            <a:schemeClr val="dk2"/>
                          </a:solidFill>
                        </a:rPr>
                        <a:t>Description des principales relations d’affaires de </a:t>
                      </a:r>
                      <a:r>
                        <a:rPr b="1" lang="fr-FR" sz="1200">
                          <a:solidFill>
                            <a:schemeClr val="accent2"/>
                          </a:solidFill>
                          <a:latin typeface="IBM Plex Sans"/>
                          <a:ea typeface="IBM Plex Sans"/>
                          <a:cs typeface="IBM Plex Sans"/>
                          <a:sym typeface="IBM Plex Sans"/>
                        </a:rPr>
                        <a:t>{{company_name}} </a:t>
                      </a:r>
                      <a:r>
                        <a:rPr b="0" lang="fr-FR" sz="1200">
                          <a:solidFill>
                            <a:schemeClr val="dk2"/>
                          </a:solidFill>
                        </a:rPr>
                        <a:t>(par. 46c)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47800">
                <a:tc>
                  <a:txBody>
                    <a:bodyPr/>
                    <a:lstStyle/>
                    <a:p>
                      <a:pPr indent="0" lvl="0" marL="0" marR="0" rtl="0" algn="l">
                        <a:spcBef>
                          <a:spcPts val="0"/>
                        </a:spcBef>
                        <a:spcAft>
                          <a:spcPts val="0"/>
                        </a:spcAft>
                        <a:buNone/>
                      </a:pPr>
                      <a:r>
                        <a:rPr b="0" lang="fr-FR" sz="1200">
                          <a:solidFill>
                            <a:schemeClr val="accent2"/>
                          </a:solidFill>
                        </a:rPr>
                        <a:t>{{strategy}}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3" name="Google Shape;203;p14"/>
          <p:cNvGraphicFramePr/>
          <p:nvPr/>
        </p:nvGraphicFramePr>
        <p:xfrm>
          <a:off x="518600" y="1581713"/>
          <a:ext cx="3000000" cy="3000000"/>
        </p:xfrm>
        <a:graphic>
          <a:graphicData uri="http://schemas.openxmlformats.org/drawingml/2006/table">
            <a:tbl>
              <a:tblPr firstRow="1">
                <a:noFill/>
                <a:tableStyleId>{83A74AF9-74D6-43BA-9877-64FBA191D48E}</a:tableStyleId>
              </a:tblPr>
              <a:tblGrid>
                <a:gridCol w="11165400"/>
              </a:tblGrid>
              <a:tr h="186900">
                <a:tc>
                  <a:txBody>
                    <a:bodyPr/>
                    <a:lstStyle/>
                    <a:p>
                      <a:pPr indent="0" lvl="0" marL="0" marR="0" rtl="0" algn="l">
                        <a:spcBef>
                          <a:spcPts val="0"/>
                        </a:spcBef>
                        <a:spcAft>
                          <a:spcPts val="0"/>
                        </a:spcAft>
                        <a:buNone/>
                      </a:pPr>
                      <a:r>
                        <a:rPr b="1" lang="fr-FR" sz="1200">
                          <a:solidFill>
                            <a:schemeClr val="dk2"/>
                          </a:solidFill>
                        </a:rPr>
                        <a:t>Description du modèle d’entreprise et de la stratégie globaux </a:t>
                      </a:r>
                      <a:r>
                        <a:rPr b="0" lang="fr-FR" sz="1200">
                          <a:solidFill>
                            <a:schemeClr val="dk2"/>
                          </a:solidFill>
                        </a:rPr>
                        <a:t>(par. 46)</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2050">
                <a:tc>
                  <a:txBody>
                    <a:bodyPr/>
                    <a:lstStyle/>
                    <a:p>
                      <a:pPr indent="0" lvl="0" marL="0" marR="0" rtl="0" algn="l">
                        <a:spcBef>
                          <a:spcPts val="0"/>
                        </a:spcBef>
                        <a:spcAft>
                          <a:spcPts val="0"/>
                        </a:spcAft>
                        <a:buNone/>
                      </a:pPr>
                      <a:r>
                        <a:rPr b="0" lang="fr-FR" sz="1200">
                          <a:solidFill>
                            <a:schemeClr val="accent2"/>
                          </a:solidFill>
                        </a:rPr>
                        <a:t>{{products_description}}</a:t>
                      </a:r>
                      <a:endParaRPr/>
                    </a:p>
                    <a:p>
                      <a:pPr indent="0" lvl="0" marL="0" marR="0" rtl="0" algn="l">
                        <a:spcBef>
                          <a:spcPts val="0"/>
                        </a:spcBef>
                        <a:spcAft>
                          <a:spcPts val="0"/>
                        </a:spcAft>
                        <a:buNone/>
                      </a:pPr>
                      <a:r>
                        <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4" name="Google Shape;204;p14"/>
          <p:cNvGraphicFramePr/>
          <p:nvPr/>
        </p:nvGraphicFramePr>
        <p:xfrm>
          <a:off x="518598" y="5551393"/>
          <a:ext cx="3000000" cy="3000000"/>
        </p:xfrm>
        <a:graphic>
          <a:graphicData uri="http://schemas.openxmlformats.org/drawingml/2006/table">
            <a:tbl>
              <a:tblPr firstRow="1">
                <a:noFill/>
                <a:tableStyleId>{83A74AF9-74D6-43BA-9877-64FBA191D48E}</a:tableStyleId>
              </a:tblPr>
              <a:tblGrid>
                <a:gridCol w="11165400"/>
              </a:tblGrid>
              <a:tr h="151400">
                <a:tc>
                  <a:txBody>
                    <a:bodyPr/>
                    <a:lstStyle/>
                    <a:p>
                      <a:pPr indent="0" lvl="0" marL="0" marR="0" rtl="0" algn="l">
                        <a:spcBef>
                          <a:spcPts val="0"/>
                        </a:spcBef>
                        <a:spcAft>
                          <a:spcPts val="0"/>
                        </a:spcAft>
                        <a:buNone/>
                      </a:pPr>
                      <a:r>
                        <a:rPr b="1" lang="fr-FR" sz="1200">
                          <a:solidFill>
                            <a:schemeClr val="dk2"/>
                          </a:solidFill>
                        </a:rPr>
                        <a:t>Description des éléments de la stratégie et du modèle d’entreprise de </a:t>
                      </a:r>
                      <a:r>
                        <a:rPr b="1" lang="fr-FR" sz="1200">
                          <a:solidFill>
                            <a:schemeClr val="accent2"/>
                          </a:solidFill>
                          <a:latin typeface="IBM Plex Sans"/>
                          <a:ea typeface="IBM Plex Sans"/>
                          <a:cs typeface="IBM Plex Sans"/>
                          <a:sym typeface="IBM Plex Sans"/>
                        </a:rPr>
                        <a:t>{{company_name}}</a:t>
                      </a:r>
                      <a:r>
                        <a:rPr b="1" lang="fr-FR" sz="1200">
                          <a:solidFill>
                            <a:schemeClr val="accent1"/>
                          </a:solidFill>
                          <a:latin typeface="IBM Plex Sans"/>
                          <a:ea typeface="IBM Plex Sans"/>
                          <a:cs typeface="IBM Plex Sans"/>
                          <a:sym typeface="IBM Plex Sans"/>
                        </a:rPr>
                        <a:t> qui se rattachent à des enjeux de durabilité </a:t>
                      </a:r>
                      <a:r>
                        <a:rPr b="0" lang="fr-FR" sz="1200">
                          <a:solidFill>
                            <a:schemeClr val="dk2"/>
                          </a:solidFill>
                        </a:rPr>
                        <a:t>(par. 46d)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41250">
                <a:tc>
                  <a:txBody>
                    <a:bodyPr/>
                    <a:lstStyle/>
                    <a:p>
                      <a:pPr indent="0" lvl="0" marL="0" marR="0" rtl="0" algn="l">
                        <a:spcBef>
                          <a:spcPts val="0"/>
                        </a:spcBef>
                        <a:spcAft>
                          <a:spcPts val="0"/>
                        </a:spcAft>
                        <a:buClr>
                          <a:schemeClr val="accent2"/>
                        </a:buClr>
                        <a:buSzPts val="1200"/>
                        <a:buFont typeface="IBM Plex Sans"/>
                        <a:buNone/>
                      </a:pPr>
                      <a:r>
                        <a:rPr b="0" lang="fr-FR" sz="1200">
                          <a:solidFill>
                            <a:schemeClr val="accent2"/>
                          </a:solidFill>
                        </a:rPr>
                        <a:t>{{business_model}}</a:t>
                      </a:r>
                      <a:endParaRPr sz="1800"/>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5" name="Google Shape;205;p14"/>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décrit son modèle d’entreprise et sa stratégie globaux, ses produits et/ou services, ses marchés et ses relations d’affaires, et a indiqué si son modèle d’entreprise comporte des éléments liés à la durabilité. </a:t>
            </a:r>
            <a:endParaRPr sz="120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latin typeface="IBM Plex Sans"/>
                <a:ea typeface="IBM Plex Sans"/>
                <a:cs typeface="IBM Plex Sans"/>
                <a:sym typeface="IBM Plex Sans"/>
              </a:rPr>
              <a:t>P</a:t>
            </a:r>
            <a:r>
              <a:rPr b="1" lang="fr-FR" sz="1800">
                <a:solidFill>
                  <a:schemeClr val="dk2"/>
                </a:solidFill>
                <a:latin typeface="IBM Plex Sans"/>
                <a:ea typeface="IBM Plex Sans"/>
                <a:cs typeface="IBM Plex Sans"/>
                <a:sym typeface="IBM Plex Sans"/>
              </a:rPr>
              <a:t>ratiques, politiques et initiatives futures en vue de la transition vers une économie plus durable (C2)</a:t>
            </a:r>
            <a:endParaRPr/>
          </a:p>
        </p:txBody>
      </p:sp>
      <p:sp>
        <p:nvSpPr>
          <p:cNvPr id="212" name="Google Shape;212;p1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13" name="Google Shape;213;p1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14" name="Google Shape;214;p15"/>
          <p:cNvGraphicFramePr/>
          <p:nvPr/>
        </p:nvGraphicFramePr>
        <p:xfrm>
          <a:off x="518601" y="1753116"/>
          <a:ext cx="3000000" cy="3000000"/>
        </p:xfrm>
        <a:graphic>
          <a:graphicData uri="http://schemas.openxmlformats.org/drawingml/2006/table">
            <a:tbl>
              <a:tblPr firstRow="1">
                <a:noFill/>
                <a:tableStyleId>{83A74AF9-74D6-43BA-9877-64FBA191D48E}</a:tableStyleId>
              </a:tblPr>
              <a:tblGrid>
                <a:gridCol w="1916850"/>
                <a:gridCol w="3082850"/>
                <a:gridCol w="3082850"/>
                <a:gridCol w="3082850"/>
              </a:tblGrid>
              <a:tr h="349625">
                <a:tc row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Domaine</a:t>
                      </a:r>
                      <a:endParaRPr/>
                    </a:p>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47)</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Brève description </a:t>
                      </a:r>
                      <a:r>
                        <a:rPr b="1" lang="fr-FR" sz="1200" u="none">
                          <a:solidFill>
                            <a:schemeClr val="dk2"/>
                          </a:solidFill>
                          <a:latin typeface="IBM Plex Sans"/>
                          <a:ea typeface="IBM Plex Sans"/>
                          <a:cs typeface="IBM Plex Sans"/>
                          <a:sym typeface="IBM Plex Sans"/>
                        </a:rPr>
                        <a:t>des </a:t>
                      </a:r>
                      <a:r>
                        <a:rPr b="1" lang="fr-FR" sz="1200">
                          <a:solidFill>
                            <a:schemeClr val="dk2"/>
                          </a:solidFill>
                          <a:latin typeface="IBM Plex Sans"/>
                          <a:ea typeface="IBM Plex Sans"/>
                          <a:cs typeface="IBM Plex Sans"/>
                          <a:sym typeface="IBM Plex Sans"/>
                        </a:rPr>
                        <a:t>pratiques/politiques/actions existantes (cf. point B2)</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Brève description des </a:t>
                      </a:r>
                      <a:r>
                        <a:rPr b="1" lang="fr-FR" sz="1200" u="none">
                          <a:solidFill>
                            <a:schemeClr val="dk2"/>
                          </a:solidFill>
                          <a:latin typeface="IBM Plex Sans"/>
                          <a:ea typeface="IBM Plex Sans"/>
                          <a:cs typeface="IBM Plex Sans"/>
                          <a:sym typeface="IBM Plex Sans"/>
                        </a:rPr>
                        <a:t>cibles</a:t>
                      </a:r>
                      <a:r>
                        <a:rPr b="1" lang="fr-FR" sz="1200">
                          <a:solidFill>
                            <a:schemeClr val="dk2"/>
                          </a:solidFill>
                          <a:latin typeface="IBM Plex Sans"/>
                          <a:ea typeface="IBM Plex Sans"/>
                          <a:cs typeface="IBM Plex Sans"/>
                          <a:sym typeface="IBM Plex Sans"/>
                        </a:rPr>
                        <a:t> futures éventuelles (cf. point B2)</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200"/>
                        <a:buFont typeface="IBM Plex Sans"/>
                        <a:buNone/>
                      </a:pPr>
                      <a:r>
                        <a:rPr lang="fr-FR" sz="1200">
                          <a:solidFill>
                            <a:schemeClr val="lt1"/>
                          </a:solidFill>
                        </a:rPr>
                        <a:t>Information </a:t>
                      </a:r>
                      <a:r>
                        <a:rPr b="1" lang="fr-FR" sz="1200">
                          <a:solidFill>
                            <a:schemeClr val="lt1"/>
                          </a:solidFill>
                        </a:rPr>
                        <a:t>facultative</a:t>
                      </a:r>
                      <a:endParaRPr sz="1200">
                        <a:solidFill>
                          <a:schemeClr val="lt1"/>
                        </a:solidFill>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72675">
                <a:tc vMerge="1"/>
                <a:tc vMerge="1"/>
                <a:tc vMerge="1"/>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Niveau hiérarchique le plus élevé responsable de la mise en œuvre </a:t>
                      </a:r>
                      <a:r>
                        <a:rPr b="0" lang="fr-FR" sz="1200">
                          <a:solidFill>
                            <a:schemeClr val="dk2"/>
                          </a:solidFill>
                          <a:latin typeface="IBM Plex Sans"/>
                          <a:ea typeface="IBM Plex Sans"/>
                          <a:cs typeface="IBM Plex Sans"/>
                          <a:sym typeface="IBM Plex Sans"/>
                        </a:rPr>
                        <a:t>(par. 48)</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95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Changement climatique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Climate_C2_Description_Existing_Practices</a:t>
                      </a:r>
                      <a:r>
                        <a:rPr b="0" i="0" lang="fr-FR"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Climate_C2_Future_Practices</a:t>
                      </a:r>
                      <a:r>
                        <a:rPr b="0" i="0" lang="fr-FR"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Climate_C2_Management_Level</a:t>
                      </a:r>
                      <a:r>
                        <a:rPr b="0" i="0" lang="fr-FR"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7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Pollution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Pollution_C2_Description_Existing_Practices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Pollution_C2_Future_Practices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Pollution_C2_Management_Level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Ressources hydriques et marines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Water_C2_Description_Existing_Practices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Water_C2_Future_Practices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latin typeface="IBM Plex Sans"/>
                          <a:ea typeface="IBM Plex Sans"/>
                          <a:cs typeface="IBM Plex Sans"/>
                          <a:sym typeface="IBM Plex Sans"/>
                        </a:rPr>
                        <a:t>Water_C2_Management_Level</a:t>
                      </a:r>
                      <a:r>
                        <a:rPr b="0" i="0" lang="fr-FR" sz="1200" u="none" strike="noStrike">
                          <a:solidFill>
                            <a:srgbClr val="2D55FF"/>
                          </a:solidFill>
                          <a:latin typeface="Inter"/>
                          <a:ea typeface="Inter"/>
                          <a:cs typeface="Inter"/>
                          <a:sym typeface="Inter"/>
                        </a:rPr>
                        <a:t>}}</a:t>
                      </a:r>
                      <a:endParaRPr b="0" i="0" sz="120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i="0" sz="1200" u="none" strike="noStrike">
                        <a:solidFill>
                          <a:srgbClr val="2D55FF"/>
                        </a:solidFill>
                        <a:latin typeface="Inter"/>
                        <a:ea typeface="Inter"/>
                        <a:cs typeface="Inter"/>
                        <a:sym typeface="Inter"/>
                      </a:endParaRPr>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39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Biodiversité et écosystèmes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Bio_C2_Description_Existing_Practices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Bio_C2_Future_Practices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Bio_C2_Management_Level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Économie circulaire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Circular_C2_Description_Existing_Practices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Circular_C2_Future_Practices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Circular_C2_Management_Level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Personnel de l’entreprise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Own_Workforce_C2_Description_Existing_Practices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Own_Workforce_C2_Future_Practices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Own_Workforce_C2_Management_Level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Travailleurs de la chaîne de valeur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Workers_Value_Chain_C2_Description_Existing_Practices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Workers_Value_Chain_C2_Future_Practices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Workers_Value_Chain_C2_Management_Level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Communautés affectées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Affected_C2_Description_Existing_Practices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Affected_C2_Future_Practices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Affected_C2_Management_Level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39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Consommateurs et utilisateurs finaux</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Consumers_C2_Description_Existing_Practices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Consumers_C2_Future_Practices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Consumers_C2_Management_Level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Conduite des affaires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Governance_C2_Description_Existing_Practices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Governance_C2_Future_Practices</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a:t>
                      </a:r>
                      <a:r>
                        <a:rPr b="0" i="0" lang="fr-FR" sz="1200" u="none" strike="noStrike">
                          <a:solidFill>
                            <a:srgbClr val="2D55FF"/>
                          </a:solidFill>
                        </a:rPr>
                        <a:t>Governance_C2_Management_Level</a:t>
                      </a:r>
                      <a:r>
                        <a:rPr b="0" i="0" lang="fr-FR"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5" name="Google Shape;215;p15"/>
          <p:cNvSpPr txBox="1"/>
          <p:nvPr/>
        </p:nvSpPr>
        <p:spPr>
          <a:xfrm>
            <a:off x="535853" y="1029778"/>
            <a:ext cx="1114814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200">
                <a:solidFill>
                  <a:schemeClr val="dk2"/>
                </a:solidFill>
                <a:latin typeface="IBM Plex Sans"/>
                <a:ea typeface="IBM Plex Sans"/>
                <a:cs typeface="IBM Plex Sans"/>
                <a:sym typeface="IBM Plex Sans"/>
              </a:rPr>
              <a:t>Le tableau ci-dessous a été complété car l’entreprise a déjà mis en place des pratiques, politiques ou initiatives concrètes contribuant à la transition vers une économie plus durable. L’entreprise a répondu « OUI » à une ou plusieurs informations du point B2 du module de base. Ce qui suit présente de manière plus complète les politiques, initiatives et pratiques engagées dans l’entreprise en vue de la transition vers une économie plus durable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lang="fr-FR">
                <a:solidFill>
                  <a:srgbClr val="1B4528"/>
                </a:solidFill>
                <a:latin typeface="IBM Plex Sans"/>
                <a:ea typeface="IBM Plex Sans"/>
                <a:cs typeface="IBM Plex Sans"/>
                <a:sym typeface="IBM Plex Sans"/>
              </a:rPr>
              <a:t>Émissions de CO₂e au titre du point B3 du module de base</a:t>
            </a:r>
            <a:endParaRPr b="0"/>
          </a:p>
        </p:txBody>
      </p:sp>
      <p:sp>
        <p:nvSpPr>
          <p:cNvPr id="222" name="Google Shape;222;p1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23" name="Google Shape;223;p1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224" name="Google Shape;224;p16"/>
          <p:cNvGraphicFramePr/>
          <p:nvPr/>
        </p:nvGraphicFramePr>
        <p:xfrm>
          <a:off x="518599" y="3711451"/>
          <a:ext cx="3000000" cy="3000000"/>
        </p:xfrm>
        <a:graphic>
          <a:graphicData uri="http://schemas.openxmlformats.org/drawingml/2006/table">
            <a:tbl>
              <a:tblPr firstRow="1">
                <a:noFill/>
                <a:tableStyleId>{83A74AF9-74D6-43BA-9877-64FBA191D48E}</a:tableStyleId>
              </a:tblPr>
              <a:tblGrid>
                <a:gridCol w="3721800"/>
                <a:gridCol w="3721800"/>
                <a:gridCol w="3721800"/>
              </a:tblGrid>
              <a:tr h="280100">
                <a:tc gridSpan="3">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Cibles de réduction des émissions de CO₂e </a:t>
                      </a:r>
                      <a:r>
                        <a:rPr b="0" lang="fr-FR" sz="1200">
                          <a:solidFill>
                            <a:schemeClr val="dk2"/>
                          </a:solidFill>
                          <a:latin typeface="IBM Plex Sans"/>
                          <a:ea typeface="IBM Plex Sans"/>
                          <a:cs typeface="IBM Plex Sans"/>
                          <a:sym typeface="IBM Plex Sans"/>
                        </a:rPr>
                        <a:t>(par. 53 a–d)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46325">
                <a:tc>
                  <a:txBody>
                    <a:bodyPr/>
                    <a:lstStyle/>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Cible pour l’année </a:t>
                      </a:r>
                      <a:r>
                        <a:rPr b="1" lang="fr-FR" sz="1200">
                          <a:solidFill>
                            <a:schemeClr val="accent2"/>
                          </a:solidFill>
                          <a:latin typeface="IBM Plex Sans"/>
                          <a:ea typeface="IBM Plex Sans"/>
                          <a:cs typeface="IBM Plex Sans"/>
                          <a:sym typeface="IBM Plex Sans"/>
                        </a:rPr>
                        <a:t>{{baseline_year-1}}</a:t>
                      </a:r>
                      <a:endParaRPr b="0" sz="1200">
                        <a:solidFill>
                          <a:schemeClr val="accent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Émissions de CO₂e de l’année de base :</a:t>
                      </a:r>
                      <a:r>
                        <a:rPr b="0" lang="fr-FR" sz="1200">
                          <a:solidFill>
                            <a:schemeClr val="dk2"/>
                          </a:solidFill>
                          <a:latin typeface="IBM Plex Sans"/>
                          <a:ea typeface="IBM Plex Sans"/>
                          <a:cs typeface="IBM Plex Sans"/>
                          <a:sym typeface="IBM Plex Sans"/>
                        </a:rPr>
                        <a:t> </a:t>
                      </a:r>
                      <a:r>
                        <a:rPr b="1" lang="fr-FR" sz="1200">
                          <a:solidFill>
                            <a:schemeClr val="accent2"/>
                          </a:solidFill>
                          <a:latin typeface="IBM Plex Sans"/>
                          <a:ea typeface="IBM Plex Sans"/>
                          <a:cs typeface="IBM Plex Sans"/>
                          <a:sym typeface="IBM Plex Sans"/>
                        </a:rPr>
                        <a:t>{{Insert baseline 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632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Scope 1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{{scope1-2_target}}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{{scope1-2_baseline}}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Scope 2</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{{scope1-2_target}}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{{scope1-2_baseline}}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Scope 3</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{{scope3_target}}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{{scope3_baseline}}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5" name="Google Shape;225;p16"/>
          <p:cNvGraphicFramePr/>
          <p:nvPr/>
        </p:nvGraphicFramePr>
        <p:xfrm>
          <a:off x="518598" y="5613228"/>
          <a:ext cx="3000000" cy="3000000"/>
        </p:xfrm>
        <a:graphic>
          <a:graphicData uri="http://schemas.openxmlformats.org/drawingml/2006/table">
            <a:tbl>
              <a:tblPr firstRow="1">
                <a:noFill/>
                <a:tableStyleId>{83A74AF9-74D6-43BA-9877-64FBA191D48E}</a:tableStyleId>
              </a:tblPr>
              <a:tblGrid>
                <a:gridCol w="11165400"/>
              </a:tblGrid>
              <a:tr h="3303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Liste des principales actions que </a:t>
                      </a:r>
                      <a:r>
                        <a:rPr b="1" lang="fr-FR" sz="1200">
                          <a:solidFill>
                            <a:schemeClr val="accent2"/>
                          </a:solidFill>
                          <a:latin typeface="IBM Plex Sans"/>
                          <a:ea typeface="IBM Plex Sans"/>
                          <a:cs typeface="IBM Plex Sans"/>
                          <a:sym typeface="IBM Plex Sans"/>
                        </a:rPr>
                        <a:t>{{Company name}} </a:t>
                      </a:r>
                      <a:r>
                        <a:rPr b="0" lang="fr-FR" sz="1200">
                          <a:solidFill>
                            <a:schemeClr val="accent2"/>
                          </a:solidFill>
                          <a:latin typeface="IBM Plex Sans"/>
                          <a:ea typeface="IBM Plex Sans"/>
                          <a:cs typeface="IBM Plex Sans"/>
                          <a:sym typeface="IBM Plex Sans"/>
                        </a:rPr>
                        <a:t> </a:t>
                      </a:r>
                      <a:r>
                        <a:rPr b="1" lang="fr-FR" sz="1200">
                          <a:solidFill>
                            <a:schemeClr val="dk2"/>
                          </a:solidFill>
                          <a:latin typeface="IBM Plex Sans"/>
                          <a:ea typeface="IBM Plex Sans"/>
                          <a:cs typeface="IBM Plex Sans"/>
                          <a:sym typeface="IBM Plex Sans"/>
                        </a:rPr>
                        <a:t>met en œuvre pour atteindre les cibles de réduction des émissions de CO₂e </a:t>
                      </a:r>
                      <a:r>
                        <a:rPr b="0" lang="fr-FR" sz="1200">
                          <a:solidFill>
                            <a:schemeClr val="dk2"/>
                          </a:solidFill>
                          <a:latin typeface="IBM Plex Sans"/>
                          <a:ea typeface="IBM Plex Sans"/>
                          <a:cs typeface="IBM Plex Sans"/>
                          <a:sym typeface="IBM Plex Sans"/>
                        </a:rPr>
                        <a:t>(par. 53e)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29750">
                <a:tc>
                  <a:txBody>
                    <a:bodyPr/>
                    <a:lstStyle/>
                    <a:p>
                      <a:pPr indent="0" lvl="0" marL="0" marR="0" rtl="0" algn="l">
                        <a:spcBef>
                          <a:spcPts val="0"/>
                        </a:spcBef>
                        <a:spcAft>
                          <a:spcPts val="0"/>
                        </a:spcAft>
                        <a:buNone/>
                      </a:pPr>
                      <a:r>
                        <a:rPr b="0" lang="fr-FR" sz="1200">
                          <a:solidFill>
                            <a:schemeClr val="accent2"/>
                          </a:solidFill>
                        </a:rPr>
                        <a:t>{{mainaction}}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518600" y="3264714"/>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800">
                <a:solidFill>
                  <a:schemeClr val="dk2"/>
                </a:solidFill>
                <a:latin typeface="IBM Plex Sans"/>
                <a:ea typeface="IBM Plex Sans"/>
                <a:cs typeface="IBM Plex Sans"/>
                <a:sym typeface="IBM Plex Sans"/>
              </a:rPr>
              <a:t>Cibles de réduction des émissions de CO₂e (C3)</a:t>
            </a:r>
            <a:endParaRPr/>
          </a:p>
        </p:txBody>
      </p:sp>
      <p:graphicFrame>
        <p:nvGraphicFramePr>
          <p:cNvPr id="227" name="Google Shape;227;p16"/>
          <p:cNvGraphicFramePr/>
          <p:nvPr/>
        </p:nvGraphicFramePr>
        <p:xfrm>
          <a:off x="518599" y="1559113"/>
          <a:ext cx="3000000" cy="3000000"/>
        </p:xfrm>
        <a:graphic>
          <a:graphicData uri="http://schemas.openxmlformats.org/drawingml/2006/table">
            <a:tbl>
              <a:tblPr firstRow="1">
                <a:noFill/>
                <a:tableStyleId>{83A74AF9-74D6-43BA-9877-64FBA191D48E}</a:tableStyleId>
              </a:tblPr>
              <a:tblGrid>
                <a:gridCol w="8831675"/>
                <a:gridCol w="2323125"/>
              </a:tblGrid>
              <a:tr h="306325">
                <a:tc>
                  <a:txBody>
                    <a:bodyPr/>
                    <a:lstStyle/>
                    <a:p>
                      <a:pPr indent="0" lvl="0" marL="0" marR="0" rtl="0" algn="l">
                        <a:lnSpc>
                          <a:spcPct val="106000"/>
                        </a:lnSpc>
                        <a:spcBef>
                          <a:spcPts val="0"/>
                        </a:spcBef>
                        <a:spcAft>
                          <a:spcPts val="0"/>
                        </a:spcAft>
                        <a:buNone/>
                      </a:pPr>
                      <a:r>
                        <a:rPr b="1" lang="fr-FR" sz="1200">
                          <a:solidFill>
                            <a:schemeClr val="dk2"/>
                          </a:solidFill>
                        </a:rPr>
                        <a:t>Émissions de gaz à effet de serre –</a:t>
                      </a:r>
                      <a:r>
                        <a:rPr b="0" lang="fr-FR" sz="1200">
                          <a:solidFill>
                            <a:schemeClr val="dk2"/>
                          </a:solidFill>
                        </a:rPr>
                        <a:t> (ajout au par. 33)</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200">
                          <a:solidFill>
                            <a:schemeClr val="dk2"/>
                          </a:solidFill>
                        </a:rPr>
                        <a:t>Année </a:t>
                      </a:r>
                      <a:r>
                        <a:rPr b="1" lang="fr-FR" sz="1200">
                          <a:solidFill>
                            <a:schemeClr val="accent2"/>
                          </a:solidFill>
                          <a:latin typeface="Calibri"/>
                          <a:ea typeface="Calibri"/>
                          <a:cs typeface="Calibri"/>
                          <a:sym typeface="Calibri"/>
                        </a:rPr>
                        <a:t>{{Insert 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1375">
                <a:tc>
                  <a:txBody>
                    <a:bodyPr/>
                    <a:lstStyle/>
                    <a:p>
                      <a:pPr indent="0" lvl="0" marL="0" marR="0" rtl="0" algn="l">
                        <a:lnSpc>
                          <a:spcPct val="100000"/>
                        </a:lnSpc>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{{scope3_description_table}}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BM Plex Sans"/>
                        <a:buNone/>
                      </a:pPr>
                      <a:r>
                        <a:rPr b="0" i="0" lang="fr-FR" sz="1200" u="none" cap="none" strike="noStrike">
                          <a:solidFill>
                            <a:srgbClr val="2D55FF"/>
                          </a:solidFill>
                          <a:latin typeface="IBM Plex Sans"/>
                          <a:ea typeface="IBM Plex Sans"/>
                          <a:cs typeface="IBM Plex Sans"/>
                          <a:sym typeface="IBM Plex Sans"/>
                        </a:rPr>
                        <a:t>{{scope3_emissions_table}}</a:t>
                      </a:r>
                      <a:endParaRPr b="0" i="0" sz="1200" u="none" cap="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375">
                <a:tc>
                  <a:txBody>
                    <a:bodyPr/>
                    <a:lstStyle/>
                    <a:p>
                      <a:pPr indent="0" lvl="0" marL="0" marR="0" rtl="0" algn="l">
                        <a:lnSpc>
                          <a:spcPct val="106000"/>
                        </a:lnSpc>
                        <a:spcBef>
                          <a:spcPts val="0"/>
                        </a:spcBef>
                        <a:spcAft>
                          <a:spcPts val="0"/>
                        </a:spcAft>
                        <a:buNone/>
                      </a:pPr>
                      <a:r>
                        <a:rPr b="1" lang="fr-FR" sz="1200">
                          <a:solidFill>
                            <a:schemeClr val="dk2"/>
                          </a:solidFill>
                        </a:rPr>
                        <a:t>Émissions totales de CO₂e du scope 3 (basées sur la localisation)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2D55FF"/>
                        </a:buClr>
                        <a:buSzPts val="1200"/>
                        <a:buFont typeface="IBM Plex Sans"/>
                        <a:buNone/>
                      </a:pPr>
                      <a:r>
                        <a:rPr b="0" i="0" lang="fr-FR" sz="1200" u="none" cap="none" strike="noStrike">
                          <a:solidFill>
                            <a:srgbClr val="2D55FF"/>
                          </a:solidFill>
                          <a:latin typeface="IBM Plex Sans"/>
                          <a:ea typeface="IBM Plex Sans"/>
                          <a:cs typeface="IBM Plex Sans"/>
                          <a:sym typeface="IBM Plex Sans"/>
                        </a:rPr>
                        <a:t>{{scope3}}</a:t>
                      </a:r>
                      <a:endParaRPr b="0" i="0" sz="1200" u="none" cap="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1375">
                <a:tc>
                  <a:txBody>
                    <a:bodyPr/>
                    <a:lstStyle/>
                    <a:p>
                      <a:pPr indent="0" lvl="0" marL="0" marR="0" rtl="0" algn="l">
                        <a:lnSpc>
                          <a:spcPct val="106000"/>
                        </a:lnSpc>
                        <a:spcBef>
                          <a:spcPts val="0"/>
                        </a:spcBef>
                        <a:spcAft>
                          <a:spcPts val="0"/>
                        </a:spcAft>
                        <a:buNone/>
                      </a:pPr>
                      <a:r>
                        <a:rPr b="1" lang="fr-FR" sz="1200">
                          <a:solidFill>
                            <a:schemeClr val="dk2"/>
                          </a:solidFill>
                        </a:rPr>
                        <a:t>Émissions totales de CO₂e des scopes 1, 2 et 3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1200"/>
                        <a:buFont typeface="IBM Plex Sans"/>
                        <a:buNone/>
                      </a:pPr>
                      <a:r>
                        <a:rPr b="0" i="0" lang="fr-FR" sz="1200" u="none" cap="none" strike="noStrike">
                          <a:solidFill>
                            <a:srgbClr val="2D55FF"/>
                          </a:solidFill>
                          <a:latin typeface="IBM Plex Sans"/>
                          <a:ea typeface="IBM Plex Sans"/>
                          <a:cs typeface="IBM Plex Sans"/>
                          <a:sym typeface="IBM Plex Sans"/>
                        </a:rPr>
                        <a:t>{{total_all_scopes}}</a:t>
                      </a:r>
                      <a:endParaRPr b="0" i="0" sz="12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8" name="Google Shape;228;p16"/>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présenté un aperçu des émissions de GES du scope 3 conformément au protocole des GES. Elle indique les émissions totales et les émissions du scope 3 basées sur la localisation. Les cibles de réduction des émissions de CO₂e de l’entreprise sont indiquées, ainsi que ses principales actions pour atteindre ces cible</a:t>
            </a:r>
            <a:r>
              <a:rPr lang="fr-FR" sz="1200">
                <a:solidFill>
                  <a:schemeClr val="dk2"/>
                </a:solidFill>
                <a:latin typeface="Inter"/>
                <a:ea typeface="Inter"/>
                <a:cs typeface="Inter"/>
                <a:sym typeface="Inter"/>
              </a:rPr>
              <a: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T</a:t>
            </a:r>
            <a:r>
              <a:rPr b="1" lang="fr-FR" sz="1800">
                <a:solidFill>
                  <a:schemeClr val="dk2"/>
                </a:solidFill>
              </a:rPr>
              <a:t>ransition climatique (C3)</a:t>
            </a:r>
            <a:endParaRPr/>
          </a:p>
        </p:txBody>
      </p:sp>
      <p:sp>
        <p:nvSpPr>
          <p:cNvPr id="235" name="Google Shape;235;p1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36" name="Google Shape;236;p1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37" name="Google Shape;237;p17"/>
          <p:cNvGraphicFramePr/>
          <p:nvPr/>
        </p:nvGraphicFramePr>
        <p:xfrm>
          <a:off x="518592" y="4404641"/>
          <a:ext cx="3000000" cy="3000000"/>
        </p:xfrm>
        <a:graphic>
          <a:graphicData uri="http://schemas.openxmlformats.org/drawingml/2006/table">
            <a:tbl>
              <a:tblPr firstRow="1">
                <a:noFill/>
                <a:tableStyleId>{83A74AF9-74D6-43BA-9877-64FBA191D48E}</a:tableStyleId>
              </a:tblPr>
              <a:tblGrid>
                <a:gridCol w="5588000"/>
                <a:gridCol w="5588000"/>
              </a:tblGrid>
              <a:tr h="327575">
                <a:tc grid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Plan de transition à venir </a:t>
                      </a:r>
                      <a:r>
                        <a:rPr b="0" lang="fr-FR" sz="1200">
                          <a:solidFill>
                            <a:schemeClr val="dk2"/>
                          </a:solidFill>
                          <a:latin typeface="IBM Plex Sans"/>
                          <a:ea typeface="IBM Plex Sans"/>
                          <a:cs typeface="IBM Plex Sans"/>
                          <a:sym typeface="IBM Plex Sans"/>
                        </a:rPr>
                        <a:t>(par. 55)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48675">
                <a:tc>
                  <a:txBody>
                    <a:bodyPr/>
                    <a:lstStyle/>
                    <a:p>
                      <a:pPr indent="0" lvl="0" marL="0" marR="0" rtl="0" algn="l">
                        <a:spcBef>
                          <a:spcPts val="0"/>
                        </a:spcBef>
                        <a:spcAft>
                          <a:spcPts val="0"/>
                        </a:spcAft>
                        <a:buNone/>
                      </a:pPr>
                      <a:r>
                        <a:rPr b="1" lang="fr-FR" sz="1200">
                          <a:solidFill>
                            <a:schemeClr val="accent2"/>
                          </a:solidFill>
                          <a:latin typeface="IBM Plex Sans"/>
                          <a:ea typeface="IBM Plex Sans"/>
                          <a:cs typeface="IBM Plex Sans"/>
                          <a:sym typeface="IBM Plex Sans"/>
                        </a:rPr>
                        <a:t>{{company_name}} </a:t>
                      </a:r>
                      <a:r>
                        <a:rPr b="1" lang="fr-FR" sz="1200">
                          <a:solidFill>
                            <a:schemeClr val="dk2"/>
                          </a:solidFill>
                          <a:latin typeface="IBM Plex Sans"/>
                          <a:ea typeface="IBM Plex Sans"/>
                          <a:cs typeface="IBM Plex Sans"/>
                          <a:sym typeface="IBM Plex Sans"/>
                        </a:rPr>
                        <a:t>adoptera un plan de transition concret </a:t>
                      </a:r>
                      <a:r>
                        <a:rPr b="1" lang="fr-FR" sz="1200">
                          <a:solidFill>
                            <a:schemeClr val="dk2"/>
                          </a:solidFill>
                        </a:rPr>
                        <a:t>pour l’atténuation du changement climatique</a:t>
                      </a:r>
                      <a:endParaRPr b="1"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{{transition_plan?}}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4867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Date d’adoption du plan de transition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{{transition_plan_date}}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8" name="Google Shape;238;p17"/>
          <p:cNvGraphicFramePr/>
          <p:nvPr/>
        </p:nvGraphicFramePr>
        <p:xfrm>
          <a:off x="518592" y="1672171"/>
          <a:ext cx="3000000" cy="3000000"/>
        </p:xfrm>
        <a:graphic>
          <a:graphicData uri="http://schemas.openxmlformats.org/drawingml/2006/table">
            <a:tbl>
              <a:tblPr firstRow="1">
                <a:noFill/>
                <a:tableStyleId>{83A74AF9-74D6-43BA-9877-64FBA191D48E}</a:tableStyleId>
              </a:tblPr>
              <a:tblGrid>
                <a:gridCol w="11176000"/>
              </a:tblGrid>
              <a:tr h="3683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Plan de transition pour l’atténuation du changement climatique </a:t>
                      </a:r>
                      <a:r>
                        <a:rPr b="0" lang="fr-FR" sz="1200">
                          <a:solidFill>
                            <a:schemeClr val="dk2"/>
                          </a:solidFill>
                          <a:latin typeface="IBM Plex Sans"/>
                          <a:ea typeface="IBM Plex Sans"/>
                          <a:cs typeface="IBM Plex Sans"/>
                          <a:sym typeface="IBM Plex Sans"/>
                        </a:rPr>
                        <a:t>(par. 54)</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579875">
                <a:tc>
                  <a:txBody>
                    <a:bodyPr/>
                    <a:lstStyle/>
                    <a:p>
                      <a:pPr indent="0" lvl="0" marL="0" marR="0" rtl="0" algn="l">
                        <a:spcBef>
                          <a:spcPts val="0"/>
                        </a:spcBef>
                        <a:spcAft>
                          <a:spcPts val="0"/>
                        </a:spcAft>
                        <a:buNone/>
                      </a:pPr>
                      <a:r>
                        <a:rPr b="0" lang="fr-FR" sz="1200">
                          <a:solidFill>
                            <a:schemeClr val="accent2"/>
                          </a:solidFill>
                        </a:rPr>
                        <a:t>{{transition_plan}}</a:t>
                      </a:r>
                      <a:endParaRPr/>
                    </a:p>
                    <a:p>
                      <a:pPr indent="0" lvl="0" marL="0" marR="0" rtl="0" algn="l">
                        <a:spcBef>
                          <a:spcPts val="0"/>
                        </a:spcBef>
                        <a:spcAft>
                          <a:spcPts val="0"/>
                        </a:spcAft>
                        <a:buNone/>
                      </a:pPr>
                      <a:r>
                        <a:t/>
                      </a:r>
                      <a:endParaRPr b="0" sz="1200">
                        <a:solidFill>
                          <a:schemeClr val="accent2"/>
                        </a:solidFill>
                      </a:endParaRPr>
                    </a:p>
                    <a:p>
                      <a:pPr indent="0" lvl="0" marL="0" marR="0" rtl="0" algn="l">
                        <a:spcBef>
                          <a:spcPts val="0"/>
                        </a:spcBef>
                        <a:spcAft>
                          <a:spcPts val="0"/>
                        </a:spcAft>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9" name="Google Shape;239;p17"/>
          <p:cNvSpPr txBox="1"/>
          <p:nvPr/>
        </p:nvSpPr>
        <p:spPr>
          <a:xfrm>
            <a:off x="508000" y="1016000"/>
            <a:ext cx="1117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Les informations ci-dessous concernent le plan de transition de l’entreprise pour l’atténuation du changement climatique. La transition est liée aux cibles de réduction des émissions de CO₂e de l’entreprise.</a:t>
            </a:r>
            <a:endParaRPr/>
          </a:p>
        </p:txBody>
      </p:sp>
      <p:sp>
        <p:nvSpPr>
          <p:cNvPr id="240" name="Google Shape;240;p17"/>
          <p:cNvSpPr txBox="1"/>
          <p:nvPr/>
        </p:nvSpPr>
        <p:spPr>
          <a:xfrm>
            <a:off x="497408" y="3854142"/>
            <a:ext cx="1117599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Cette information a été complétée car l’entreprise a indiqué qu’elle adoptera un plan de transition concret, ainsi que la date d’adoption.</a:t>
            </a:r>
            <a:endParaRPr sz="1800">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R</a:t>
            </a:r>
            <a:r>
              <a:rPr b="1" lang="fr-FR" sz="1800">
                <a:solidFill>
                  <a:schemeClr val="dk2"/>
                </a:solidFill>
              </a:rPr>
              <a:t>isques climatiques (C4)</a:t>
            </a:r>
            <a:endParaRPr/>
          </a:p>
        </p:txBody>
      </p:sp>
      <p:sp>
        <p:nvSpPr>
          <p:cNvPr id="247" name="Google Shape;247;p1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248" name="Google Shape;248;p18"/>
          <p:cNvSpPr/>
          <p:nvPr/>
        </p:nvSpPr>
        <p:spPr>
          <a:xfrm>
            <a:off x="601802" y="3774751"/>
            <a:ext cx="207455" cy="232601"/>
          </a:xfrm>
          <a:prstGeom prst="rect">
            <a:avLst/>
          </a:prstGeom>
          <a:noFill/>
          <a:ln>
            <a:noFill/>
          </a:ln>
        </p:spPr>
      </p:sp>
      <p:sp>
        <p:nvSpPr>
          <p:cNvPr id="249" name="Google Shape;249;p18"/>
          <p:cNvSpPr/>
          <p:nvPr/>
        </p:nvSpPr>
        <p:spPr>
          <a:xfrm>
            <a:off x="601801" y="4402404"/>
            <a:ext cx="207455" cy="232601"/>
          </a:xfrm>
          <a:prstGeom prst="rect">
            <a:avLst/>
          </a:prstGeom>
          <a:noFill/>
          <a:ln>
            <a:noFill/>
          </a:ln>
        </p:spPr>
      </p:sp>
      <p:graphicFrame>
        <p:nvGraphicFramePr>
          <p:cNvPr id="250" name="Google Shape;250;p18"/>
          <p:cNvGraphicFramePr/>
          <p:nvPr/>
        </p:nvGraphicFramePr>
        <p:xfrm>
          <a:off x="518598" y="1550008"/>
          <a:ext cx="3000000" cy="3000000"/>
        </p:xfrm>
        <a:graphic>
          <a:graphicData uri="http://schemas.openxmlformats.org/drawingml/2006/table">
            <a:tbl>
              <a:tblPr firstRow="1">
                <a:noFill/>
                <a:tableStyleId>{83A74AF9-74D6-43BA-9877-64FBA191D48E}</a:tableStyleId>
              </a:tblPr>
              <a:tblGrid>
                <a:gridCol w="1336725"/>
                <a:gridCol w="1007400"/>
                <a:gridCol w="3163225"/>
                <a:gridCol w="1715075"/>
                <a:gridCol w="1569950"/>
                <a:gridCol w="1213750"/>
                <a:gridCol w="1159325"/>
              </a:tblGrid>
              <a:tr h="224150">
                <a:tc gridSpan="3">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56a)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56b)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56c)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56d)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545825">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Risques climatiques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Où</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Brève description des risques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Exposition </a:t>
                      </a:r>
                      <a:endParaRPr/>
                    </a:p>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rPr>
                        <a:t>(faible/moyen/élevé)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Sensibilité </a:t>
                      </a:r>
                      <a:endParaRPr/>
                    </a:p>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rPr>
                        <a:t>(faible/moyen/élevé)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Horizon temporel </a:t>
                      </a:r>
                      <a:endParaRPr/>
                    </a:p>
                    <a:p>
                      <a:pPr indent="0" lvl="0" marL="0" marR="0" rtl="0" algn="ctr">
                        <a:lnSpc>
                          <a:spcPct val="100000"/>
                        </a:lnSpc>
                        <a:spcBef>
                          <a:spcPts val="0"/>
                        </a:spcBef>
                        <a:spcAft>
                          <a:spcPts val="0"/>
                        </a:spcAft>
                        <a:buClr>
                          <a:schemeClr val="dk2"/>
                        </a:buClr>
                        <a:buSzPts val="1200"/>
                        <a:buFont typeface="IBM Plex Sans"/>
                        <a:buNone/>
                      </a:pPr>
                      <a:r>
                        <a:rPr b="0" i="0" lang="fr-FR" sz="1200">
                          <a:solidFill>
                            <a:schemeClr val="dk2"/>
                          </a:solidFill>
                        </a:rPr>
                        <a:t>(0-1/2-5/&gt;5 ans)</a:t>
                      </a:r>
                      <a:endParaRPr b="0" i="0" sz="12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Adaptation engagée </a:t>
                      </a:r>
                      <a:r>
                        <a:rPr b="0" lang="fr-FR" sz="1200">
                          <a:solidFill>
                            <a:schemeClr val="dk2"/>
                          </a:solidFill>
                        </a:rPr>
                        <a:t>(OUI/NON)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Aléas chroniques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Actifs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{{chronic_aktiver_description}}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{{chronic_aktiver_eksponerning}}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{{chronic_aktiver_time}}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Activités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{{chronic_aktivteter_eksponerning}}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{{chronic_aktivteter_time}}</a:t>
                      </a:r>
                      <a:endParaRPr sz="1800"/>
                    </a:p>
                    <a:p>
                      <a:pPr indent="0" lvl="0" marL="0" marR="0" rtl="0" algn="ctr">
                        <a:lnSpc>
                          <a:spcPct val="100000"/>
                        </a:lnSpc>
                        <a:spcBef>
                          <a:spcPts val="0"/>
                        </a:spcBef>
                        <a:spcAft>
                          <a:spcPts val="0"/>
                        </a:spcAft>
                        <a:buClr>
                          <a:schemeClr val="dk1"/>
                        </a:buClr>
                        <a:buSzPts val="1800"/>
                        <a:buFont typeface="IBM Plex Sans"/>
                        <a:buNone/>
                      </a:pPr>
                      <a:r>
                        <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{{chronic_aktivteter_tilpasning}}</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Chaîne de valeur</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{{chronic_value_description}}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{{chronic_value_eksponerning}}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{{chronic_value_sårbarhed}}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{{chronic_value_time}}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{{chronic_value_tilpasning}}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Aléas aigus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Actifs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{{akut_aktiver_description}}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Activités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{{akut_aktiviteter_description}}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{{akut_aktiviteter_eksponering}}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{{akut_aktiviteter_sårbarhed}}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{{akut_aktiviteter_tidshorisont}}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{{akut_aktiviteter_tilpasning}}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Chaîne de valeur</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{{akut_værdikæde_description}}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{{akut_værdikæde_eksponering}}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{{akut_værdikæde_sårbarhed}}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{{akut_værdikæde_tidshorisont}}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{{akut_værdikæde_tilpasning}}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Événement de transition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Actifs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{{omstilling_aktiver_description}}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Activités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{{omstilling_aktiviteter_description}}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{{omstilling_aktiviteter_eksponering}}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{{omstilling_aktiviteter_sårbarhed}}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{{omstilling_aktiviteter_tidshorisont}}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{{omstilling_aktiviteter_tilpasning}}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Chaîne de valeur</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{{omstilling_værdikæde_description}}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{{omstilling_værdikæde_eksponering}}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{{omstilling_værdikæde_sårbarhed}}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{{omstilling_værdikæde_tidshorisont}}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{{omstilling_værdikæde_tilpasning}}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1" name="Google Shape;251;p1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solidFill>
                  <a:srgbClr val="1B4528"/>
                </a:solidFill>
              </a:rPr>
              <a:t>‹#›</a:t>
            </a:fld>
            <a:endParaRPr>
              <a:solidFill>
                <a:srgbClr val="1B4528"/>
              </a:solidFill>
            </a:endParaRPr>
          </a:p>
        </p:txBody>
      </p:sp>
      <p:sp>
        <p:nvSpPr>
          <p:cNvPr id="252" name="Google Shape;252;p18"/>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présenté un aperçu des risques climatiques, en précisant s’ils sont chroniques, aigus ou liés à la transition et où ils se situent (actifs, activités ou chaîne de valeur de l’entreprise). </a:t>
            </a:r>
            <a:endParaRPr sz="120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R</a:t>
            </a:r>
            <a:r>
              <a:rPr b="1" lang="fr-FR" sz="1800">
                <a:solidFill>
                  <a:schemeClr val="dk2"/>
                </a:solidFill>
              </a:rPr>
              <a:t>isques climatiques (C4) - suite</a:t>
            </a:r>
            <a:endParaRPr/>
          </a:p>
        </p:txBody>
      </p:sp>
      <p:sp>
        <p:nvSpPr>
          <p:cNvPr id="259" name="Google Shape;259;p1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60" name="Google Shape;260;p1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61" name="Google Shape;261;p19"/>
          <p:cNvGraphicFramePr/>
          <p:nvPr/>
        </p:nvGraphicFramePr>
        <p:xfrm>
          <a:off x="498723" y="1527295"/>
          <a:ext cx="3000000" cy="3000000"/>
        </p:xfrm>
        <a:graphic>
          <a:graphicData uri="http://schemas.openxmlformats.org/drawingml/2006/table">
            <a:tbl>
              <a:tblPr firstRow="1">
                <a:noFill/>
                <a:tableStyleId>{83A74AF9-74D6-43BA-9877-64FBA191D48E}</a:tableStyleId>
              </a:tblPr>
              <a:tblGrid>
                <a:gridCol w="2838925"/>
                <a:gridCol w="5297500"/>
                <a:gridCol w="1635900"/>
                <a:gridCol w="1393050"/>
              </a:tblGrid>
              <a:tr h="175125">
                <a:tc gridSpan="4">
                  <a:txBody>
                    <a:bodyPr/>
                    <a:lstStyle/>
                    <a:p>
                      <a:pPr indent="0" lvl="0" marL="0" marR="0" rtl="0" algn="l">
                        <a:spcBef>
                          <a:spcPts val="0"/>
                        </a:spcBef>
                        <a:spcAft>
                          <a:spcPts val="0"/>
                        </a:spcAft>
                        <a:buNone/>
                      </a:pPr>
                      <a:r>
                        <a:rPr b="0" lang="fr-FR" sz="1200">
                          <a:solidFill>
                            <a:schemeClr val="dk2"/>
                          </a:solidFill>
                          <a:latin typeface="IBM Plex Sans"/>
                          <a:ea typeface="IBM Plex Sans"/>
                          <a:cs typeface="IBM Plex Sans"/>
                          <a:sym typeface="IBM Plex Sans"/>
                        </a:rPr>
                        <a:t>(par. 57)</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88175">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Impact négatif potentiel </a:t>
                      </a:r>
                      <a:r>
                        <a:rPr b="1" lang="fr-FR" sz="1200">
                          <a:solidFill>
                            <a:schemeClr val="dk2"/>
                          </a:solidFill>
                          <a:latin typeface="IBM Plex Sans"/>
                          <a:ea typeface="IBM Plex Sans"/>
                          <a:cs typeface="IBM Plex Sans"/>
                          <a:sym typeface="IBM Plex Sans"/>
                        </a:rPr>
                        <a:t>sur les performances financières et les activités de l’entreprise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Risque financier</a:t>
                      </a:r>
                      <a:endParaRPr/>
                    </a:p>
                    <a:p>
                      <a:pPr indent="0" lvl="0" marL="0" marR="0" rtl="0" algn="ctr">
                        <a:lnSpc>
                          <a:spcPct val="100000"/>
                        </a:lnSpc>
                        <a:spcBef>
                          <a:spcPts val="0"/>
                        </a:spcBef>
                        <a:spcAft>
                          <a:spcPts val="0"/>
                        </a:spcAft>
                        <a:buClr>
                          <a:schemeClr val="dk2"/>
                        </a:buClr>
                        <a:buSzPts val="1200"/>
                        <a:buFont typeface="IBM Plex Sans"/>
                        <a:buNone/>
                      </a:pPr>
                      <a:r>
                        <a:rPr b="0" lang="fr-FR" sz="1200">
                          <a:solidFill>
                            <a:schemeClr val="dk2"/>
                          </a:solidFill>
                          <a:latin typeface="IBM Plex Sans"/>
                          <a:ea typeface="IBM Plex Sans"/>
                          <a:cs typeface="IBM Plex Sans"/>
                          <a:sym typeface="IBM Plex Sans"/>
                        </a:rPr>
                        <a:t>(faible/moyen/élevé)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rPr>
                        <a:t>Horizon temporel</a:t>
                      </a:r>
                      <a:endParaRPr/>
                    </a:p>
                    <a:p>
                      <a:pPr indent="0" lvl="0" marL="0" marR="0" rtl="0" algn="ctr">
                        <a:lnSpc>
                          <a:spcPct val="100000"/>
                        </a:lnSpc>
                        <a:spcBef>
                          <a:spcPts val="0"/>
                        </a:spcBef>
                        <a:spcAft>
                          <a:spcPts val="0"/>
                        </a:spcAft>
                        <a:buClr>
                          <a:schemeClr val="dk2"/>
                        </a:buClr>
                        <a:buSzPts val="1200"/>
                        <a:buFont typeface="IBM Plex Sans"/>
                        <a:buNone/>
                      </a:pPr>
                      <a:r>
                        <a:rPr b="0" i="0" lang="fr-FR" sz="1200">
                          <a:solidFill>
                            <a:schemeClr val="dk2"/>
                          </a:solidFill>
                        </a:rPr>
                        <a:t>(0-1/2-5/&gt;5 ans)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Aléas chroniques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{{chronic_hazards}}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{{chronic_financial_risk}}</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{{chronic_time_horizon}}</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Aléas aigus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{{acute_hazards}}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{{acute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{{acute_financial_risk}}</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{{acute_time_horizon}}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Risques de transition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{{climate_related}}</a:t>
                      </a:r>
                      <a:endParaRPr sz="1800"/>
                    </a:p>
                    <a:p>
                      <a:pPr indent="0" lvl="0" marL="0" marR="0" rtl="0" algn="l">
                        <a:lnSpc>
                          <a:spcPct val="100000"/>
                        </a:lnSpc>
                        <a:spcBef>
                          <a:spcPts val="0"/>
                        </a:spcBef>
                        <a:spcAft>
                          <a:spcPts val="0"/>
                        </a:spcAft>
                        <a:buClr>
                          <a:schemeClr val="dk1"/>
                        </a:buClr>
                        <a:buSzPts val="1200"/>
                        <a:buFont typeface="IBM Plex Sans"/>
                        <a:buNone/>
                      </a:pPr>
                      <a:r>
                        <a:t/>
                      </a:r>
                      <a:endParaRPr b="0" i="0" sz="1200" u="none" strike="noStrike">
                        <a:solidFill>
                          <a:schemeClr val="accent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{{climate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{{climate_related_risk}}</a:t>
                      </a:r>
                      <a:endParaRPr sz="1800"/>
                    </a:p>
                    <a:p>
                      <a:pPr indent="0" lvl="0" marL="0" marR="0" rtl="0" algn="ctr">
                        <a:lnSpc>
                          <a:spcPct val="100000"/>
                        </a:lnSpc>
                        <a:spcBef>
                          <a:spcPts val="0"/>
                        </a:spcBef>
                        <a:spcAft>
                          <a:spcPts val="0"/>
                        </a:spcAft>
                        <a:buClr>
                          <a:schemeClr val="dk1"/>
                        </a:buClr>
                        <a:buSzPts val="1800"/>
                        <a:buFont typeface="IBM Plex Sans"/>
                        <a:buNone/>
                      </a:pPr>
                      <a:r>
                        <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{{climate_time_horizon}}</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2" name="Google Shape;262;p19"/>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L’entreprise a présenté un aperçu des risques climatiques, en précisant s’ils sont chroniques, aigus ou liés à la transition et s’ils peuvent affecter ses performances financières et ses activités.</a:t>
            </a:r>
            <a:endParaRPr sz="120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800" u="none" strike="noStrike">
                <a:solidFill>
                  <a:srgbClr val="1B4528"/>
                </a:solidFill>
              </a:rPr>
              <a:t>Caractéristiques supplémentaires (générales) du personnel (C5)</a:t>
            </a:r>
            <a:endParaRPr/>
          </a:p>
        </p:txBody>
      </p:sp>
      <p:sp>
        <p:nvSpPr>
          <p:cNvPr id="269" name="Google Shape;269;p2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70" name="Google Shape;270;p2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71" name="Google Shape;271;p20"/>
          <p:cNvGraphicFramePr/>
          <p:nvPr/>
        </p:nvGraphicFramePr>
        <p:xfrm>
          <a:off x="6237155" y="1650746"/>
          <a:ext cx="3000000" cy="3000000"/>
        </p:xfrm>
        <a:graphic>
          <a:graphicData uri="http://schemas.openxmlformats.org/drawingml/2006/table">
            <a:tbl>
              <a:tblPr firstRow="1">
                <a:noFill/>
                <a:tableStyleId>{83A74AF9-74D6-43BA-9877-64FBA191D48E}</a:tableStyleId>
              </a:tblPr>
              <a:tblGrid>
                <a:gridCol w="4228750"/>
                <a:gridCol w="1218100"/>
              </a:tblGrid>
              <a:tr h="28800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fr-FR" sz="1200">
                          <a:solidFill>
                            <a:schemeClr val="dk2"/>
                          </a:solidFill>
                        </a:rPr>
                        <a:t>Ratio femmes/hommes au niveau de l’encadrement </a:t>
                      </a:r>
                      <a:r>
                        <a:rPr b="0" i="0" lang="fr-FR" sz="1200">
                          <a:solidFill>
                            <a:schemeClr val="dk2"/>
                          </a:solidFill>
                        </a:rPr>
                        <a:t>(par. 59)</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fr-FR" sz="1200" u="none" strike="noStrike">
                          <a:solidFill>
                            <a:srgbClr val="1B4528"/>
                          </a:solidFill>
                          <a:latin typeface="IBM Plex Sans"/>
                          <a:ea typeface="IBM Plex Sans"/>
                          <a:cs typeface="IBM Plex Sans"/>
                          <a:sym typeface="IBM Plex Sans"/>
                        </a:rPr>
                        <a:t>Année </a:t>
                      </a:r>
                      <a:r>
                        <a:rPr b="1" i="0" lang="fr-FR" sz="1200" u="none" strike="noStrike">
                          <a:solidFill>
                            <a:srgbClr val="2D55FF"/>
                          </a:solidFill>
                          <a:latin typeface="IBM Plex Sans"/>
                          <a:ea typeface="IBM Plex Sans"/>
                          <a:cs typeface="IBM Plex Sans"/>
                          <a:sym typeface="IBM Plex Sans"/>
                        </a:rPr>
                        <a:t>{{Insert year}}</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{{gender_balance}}</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2" name="Google Shape;272;p20"/>
          <p:cNvGraphicFramePr/>
          <p:nvPr/>
        </p:nvGraphicFramePr>
        <p:xfrm>
          <a:off x="505381" y="1650746"/>
          <a:ext cx="3000000" cy="3000000"/>
        </p:xfrm>
        <a:graphic>
          <a:graphicData uri="http://schemas.openxmlformats.org/drawingml/2006/table">
            <a:tbl>
              <a:tblPr firstRow="1">
                <a:noFill/>
                <a:tableStyleId>{83A74AF9-74D6-43BA-9877-64FBA191D48E}</a:tableStyleId>
              </a:tblPr>
              <a:tblGrid>
                <a:gridCol w="4228750"/>
                <a:gridCol w="1218100"/>
              </a:tblGrid>
              <a:tr h="28800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fr-FR" sz="1200">
                          <a:solidFill>
                            <a:schemeClr val="dk2"/>
                          </a:solidFill>
                        </a:rPr>
                        <a:t>Rotation du personnel sur l’année de référence </a:t>
                      </a:r>
                      <a:r>
                        <a:rPr b="0" i="0" lang="fr-FR" sz="1200">
                          <a:solidFill>
                            <a:schemeClr val="dk2"/>
                          </a:solidFill>
                        </a:rPr>
                        <a:t>(par. 58)</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fr-FR" sz="1200" u="none" strike="noStrike">
                          <a:solidFill>
                            <a:srgbClr val="1B4528"/>
                          </a:solidFill>
                          <a:latin typeface="IBM Plex Sans"/>
                          <a:ea typeface="IBM Plex Sans"/>
                          <a:cs typeface="IBM Plex Sans"/>
                          <a:sym typeface="IBM Plex Sans"/>
                        </a:rPr>
                        <a:t>Année </a:t>
                      </a:r>
                      <a:r>
                        <a:rPr b="1" i="0" lang="fr-FR" sz="1200" u="none" strike="noStrike">
                          <a:solidFill>
                            <a:srgbClr val="2D55FF"/>
                          </a:solidFill>
                          <a:latin typeface="IBM Plex Sans"/>
                          <a:ea typeface="IBM Plex Sans"/>
                          <a:cs typeface="IBM Plex Sans"/>
                          <a:sym typeface="IBM Plex Sans"/>
                        </a:rPr>
                        <a:t>{{Insert year}}</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spcBef>
                          <a:spcPts val="0"/>
                        </a:spcBef>
                        <a:spcAft>
                          <a:spcPts val="0"/>
                        </a:spcAft>
                        <a:buClr>
                          <a:srgbClr val="2D55FF"/>
                        </a:buClr>
                        <a:buSzPts val="1200"/>
                        <a:buFont typeface="IBM Plex Sans"/>
                        <a:buNone/>
                      </a:pPr>
                      <a:r>
                        <a:rPr b="0" i="0" lang="fr-FR" sz="1200" u="none" strike="noStrike">
                          <a:solidFill>
                            <a:srgbClr val="2D55FF"/>
                          </a:solidFill>
                          <a:latin typeface="IBM Plex Sans"/>
                          <a:ea typeface="IBM Plex Sans"/>
                          <a:cs typeface="IBM Plex Sans"/>
                          <a:sym typeface="IBM Plex Sans"/>
                        </a:rPr>
                        <a:t>{{omsatningsrate}}</a:t>
                      </a:r>
                      <a:endParaRPr/>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508000" y="1016000"/>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Les informations ci-dessous complètent les autres informations sur le personnel de l’entreprise, notamment la répartition entre hommes et femmes au niveau de l’encadrement.</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graphicFrame>
        <p:nvGraphicFramePr>
          <p:cNvPr id="274" name="Google Shape;274;p20"/>
          <p:cNvGraphicFramePr/>
          <p:nvPr/>
        </p:nvGraphicFramePr>
        <p:xfrm>
          <a:off x="507999" y="3287188"/>
          <a:ext cx="3000000" cy="3000000"/>
        </p:xfrm>
        <a:graphic>
          <a:graphicData uri="http://schemas.openxmlformats.org/drawingml/2006/table">
            <a:tbl>
              <a:tblPr firstRow="1">
                <a:noFill/>
                <a:tableStyleId>{83A74AF9-74D6-43BA-9877-64FBA191D48E}</a:tableStyleId>
              </a:tblPr>
              <a:tblGrid>
                <a:gridCol w="8275925"/>
                <a:gridCol w="2889475"/>
              </a:tblGrid>
              <a:tr h="288000">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Travailleurs indépendants et salariés temporaires </a:t>
                      </a:r>
                      <a:r>
                        <a:rPr b="0" lang="fr-FR" sz="1200">
                          <a:solidFill>
                            <a:schemeClr val="dk2"/>
                          </a:solidFill>
                        </a:rPr>
                        <a:t>(par. 60)</a:t>
                      </a:r>
                      <a:endParaRPr b="1"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88000">
                <a:tc>
                  <a:txBody>
                    <a:bodyPr/>
                    <a:lstStyle/>
                    <a:p>
                      <a:pPr indent="0" lvl="0" marL="0" marR="0" rtl="0" algn="l">
                        <a:lnSpc>
                          <a:spcPct val="100000"/>
                        </a:lnSpc>
                        <a:spcBef>
                          <a:spcPts val="0"/>
                        </a:spcBef>
                        <a:spcAft>
                          <a:spcPts val="0"/>
                        </a:spcAft>
                        <a:buClr>
                          <a:schemeClr val="dk1"/>
                        </a:buClr>
                        <a:buSzPts val="1200"/>
                        <a:buFont typeface="IBM Plex Sans"/>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Nombre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1" lang="fr-FR" sz="1200">
                          <a:solidFill>
                            <a:schemeClr val="dk2"/>
                          </a:solidFill>
                        </a:rPr>
                        <a:t>Travailleurs indépendants (sans personnel)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{{self-employeed}}</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1" lang="fr-FR" sz="1200">
                          <a:solidFill>
                            <a:schemeClr val="dk2"/>
                          </a:solidFill>
                        </a:rPr>
                        <a:t>Salariés temporaires (mis à disposition par une agence d’intérim)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{{temp_workers}}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5" name="Google Shape;275;p20"/>
          <p:cNvSpPr txBox="1"/>
          <p:nvPr/>
        </p:nvSpPr>
        <p:spPr>
          <a:xfrm>
            <a:off x="518599" y="2772045"/>
            <a:ext cx="1115479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Les informations ci-dessous ont été complétées afin d’indiquer le nombre de travailleurs indépendants et de salariés temporaires de l’entreprise.</a:t>
            </a:r>
            <a:endParaRPr b="0" sz="120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800" u="none" strike="noStrike">
                <a:solidFill>
                  <a:srgbClr val="1B4528"/>
                </a:solidFill>
                <a:latin typeface="IBM Plex Sans"/>
                <a:ea typeface="IBM Plex Sans"/>
                <a:cs typeface="IBM Plex Sans"/>
                <a:sym typeface="IBM Plex Sans"/>
              </a:rPr>
              <a:t>Politiques et procédures en matière de droits de l’homme (C6</a:t>
            </a:r>
            <a:r>
              <a:rPr lang="fr-FR"/>
              <a:t>) - Personnel</a:t>
            </a:r>
            <a:endParaRPr/>
          </a:p>
        </p:txBody>
      </p:sp>
      <p:sp>
        <p:nvSpPr>
          <p:cNvPr id="281" name="Google Shape;281;p21"/>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82" name="Google Shape;282;p2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83" name="Google Shape;283;p21"/>
          <p:cNvGraphicFramePr/>
          <p:nvPr/>
        </p:nvGraphicFramePr>
        <p:xfrm>
          <a:off x="518600" y="1841711"/>
          <a:ext cx="3000000" cy="3000000"/>
        </p:xfrm>
        <a:graphic>
          <a:graphicData uri="http://schemas.openxmlformats.org/drawingml/2006/table">
            <a:tbl>
              <a:tblPr firstRow="1">
                <a:noFill/>
                <a:tableStyleId>{83A74AF9-74D6-43BA-9877-64FBA191D48E}</a:tableStyleId>
              </a:tblPr>
              <a:tblGrid>
                <a:gridCol w="8583275"/>
                <a:gridCol w="2582125"/>
              </a:tblGrid>
              <a:tr h="511925">
                <a:tc>
                  <a:txBody>
                    <a:bodyPr/>
                    <a:lstStyle/>
                    <a:p>
                      <a:pPr indent="0" lvl="0" marL="0" marR="0" rtl="0" algn="l">
                        <a:lnSpc>
                          <a:spcPct val="100000"/>
                        </a:lnSpc>
                        <a:spcBef>
                          <a:spcPts val="0"/>
                        </a:spcBef>
                        <a:spcAft>
                          <a:spcPts val="0"/>
                        </a:spcAft>
                        <a:buClr>
                          <a:schemeClr val="accent2"/>
                        </a:buClr>
                        <a:buSzPts val="1200"/>
                        <a:buFont typeface="IBM Plex Sans"/>
                        <a:buNone/>
                      </a:pPr>
                      <a:r>
                        <a:rPr b="1" lang="fr-FR" sz="1200">
                          <a:solidFill>
                            <a:schemeClr val="accent2"/>
                          </a:solidFill>
                          <a:latin typeface="IBM Plex Sans"/>
                          <a:ea typeface="IBM Plex Sans"/>
                          <a:cs typeface="IBM Plex Sans"/>
                          <a:sym typeface="IBM Plex Sans"/>
                        </a:rPr>
                        <a:t>{{company_name}}</a:t>
                      </a:r>
                      <a:r>
                        <a:rPr b="1" lang="fr-FR" sz="1200">
                          <a:solidFill>
                            <a:schemeClr val="dk2"/>
                          </a:solidFill>
                        </a:rPr>
                        <a:t> dispose d’</a:t>
                      </a:r>
                      <a:r>
                        <a:rPr b="1" lang="fr-FR" sz="1200">
                          <a:solidFill>
                            <a:schemeClr val="dk2"/>
                          </a:solidFill>
                          <a:latin typeface="IBM Plex Sans"/>
                          <a:ea typeface="IBM Plex Sans"/>
                          <a:cs typeface="IBM Plex Sans"/>
                          <a:sym typeface="IBM Plex Sans"/>
                        </a:rPr>
                        <a:t>un code de conduite </a:t>
                      </a:r>
                      <a:r>
                        <a:rPr b="1" i="1" lang="fr-FR" sz="1200">
                          <a:solidFill>
                            <a:schemeClr val="dk2"/>
                          </a:solidFill>
                          <a:latin typeface="IBM Plex Sans"/>
                          <a:ea typeface="IBM Plex Sans"/>
                          <a:cs typeface="IBM Plex Sans"/>
                          <a:sym typeface="IBM Plex Sans"/>
                        </a:rPr>
                        <a:t>et/ou</a:t>
                      </a:r>
                      <a:r>
                        <a:rPr b="1" lang="fr-FR" sz="1200">
                          <a:solidFill>
                            <a:schemeClr val="dk2"/>
                          </a:solidFill>
                          <a:latin typeface="IBM Plex Sans"/>
                          <a:ea typeface="IBM Plex Sans"/>
                          <a:cs typeface="IBM Plex Sans"/>
                          <a:sym typeface="IBM Plex Sans"/>
                        </a:rPr>
                        <a:t> d’une politique en matière de droits de l’homme pour notre </a:t>
                      </a:r>
                      <a:r>
                        <a:rPr b="1" lang="fr-FR" sz="1200" u="sng">
                          <a:solidFill>
                            <a:schemeClr val="dk2"/>
                          </a:solidFill>
                          <a:latin typeface="IBM Plex Sans"/>
                          <a:ea typeface="IBM Plex Sans"/>
                          <a:cs typeface="IBM Plex Sans"/>
                          <a:sym typeface="IBM Plex Sans"/>
                        </a:rPr>
                        <a:t>personnel</a:t>
                      </a:r>
                      <a:r>
                        <a:rPr b="0" lang="fr-FR" sz="1200" u="none">
                          <a:solidFill>
                            <a:schemeClr val="dk2"/>
                          </a:solidFill>
                          <a:latin typeface="IBM Plex Sans"/>
                          <a:ea typeface="IBM Plex Sans"/>
                          <a:cs typeface="IBM Plex Sans"/>
                          <a:sym typeface="IBM Plex Sans"/>
                        </a:rPr>
                        <a:t> (par. 61a)</a:t>
                      </a:r>
                      <a:endParaRPr b="0" sz="1200" u="none">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lang="fr-FR" sz="1200">
                          <a:solidFill>
                            <a:schemeClr val="accent2"/>
                          </a:solidFill>
                          <a:latin typeface="IBM Plex Sans"/>
                          <a:ea typeface="IBM Plex Sans"/>
                          <a:cs typeface="IBM Plex Sans"/>
                          <a:sym typeface="IBM Plex Sans"/>
                        </a:rPr>
                        <a:t>{{human_rights_policy?}}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gridSpan="2">
                  <a:txBody>
                    <a:bodyPr/>
                    <a:lstStyle/>
                    <a:p>
                      <a:pPr indent="0" lvl="0" marL="0" marR="0" rtl="0" algn="l">
                        <a:spcBef>
                          <a:spcPts val="0"/>
                        </a:spcBef>
                        <a:spcAft>
                          <a:spcPts val="0"/>
                        </a:spcAft>
                        <a:buNone/>
                      </a:pPr>
                      <a:r>
                        <a:rPr b="1" lang="fr-FR" sz="1200">
                          <a:solidFill>
                            <a:schemeClr val="dk1"/>
                          </a:solidFill>
                          <a:latin typeface="IBM Plex Sans"/>
                          <a:ea typeface="IBM Plex Sans"/>
                          <a:cs typeface="IBM Plex Sans"/>
                          <a:sym typeface="IBM Plex Sans"/>
                        </a:rPr>
                        <a:t>Le code de conduite ou la politique droits de l’homme couvre les thèmes suivants : </a:t>
                      </a:r>
                      <a:r>
                        <a:rPr b="0" lang="fr-FR" sz="1200" u="none">
                          <a:solidFill>
                            <a:schemeClr val="dk2"/>
                          </a:solidFill>
                          <a:latin typeface="IBM Plex Sans"/>
                          <a:ea typeface="IBM Plex Sans"/>
                          <a:cs typeface="IBM Plex Sans"/>
                          <a:sym typeface="IBM Plex Sans"/>
                        </a:rPr>
                        <a:t>(par. 61b)</a:t>
                      </a:r>
                      <a:endParaRPr b="0" sz="12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63275">
                <a:tc>
                  <a:txBody>
                    <a:bodyPr/>
                    <a:lstStyle/>
                    <a:p>
                      <a:pPr indent="0" lvl="1" marL="457200" marR="0" rtl="0" algn="l">
                        <a:spcBef>
                          <a:spcPts val="0"/>
                        </a:spcBef>
                        <a:spcAft>
                          <a:spcPts val="0"/>
                        </a:spcAft>
                        <a:buNone/>
                      </a:pPr>
                      <a:r>
                        <a:rPr b="0" lang="fr-FR" sz="1200" u="none" cap="none" strike="noStrike">
                          <a:solidFill>
                            <a:schemeClr val="dk2"/>
                          </a:solidFill>
                        </a:rPr>
                        <a:t>Travail des enfants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{{child_labour_polict?}}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fr-FR" sz="1200" u="none" cap="none" strike="noStrike">
                          <a:solidFill>
                            <a:schemeClr val="dk2"/>
                          </a:solidFill>
                        </a:rPr>
                        <a:t>Travail forcé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{{forced_labour_policy?}}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fr-FR" sz="1200" u="none" cap="none" strike="noStrike">
                          <a:solidFill>
                            <a:schemeClr val="dk2"/>
                          </a:solidFill>
                        </a:rPr>
                        <a:t>Traite des êtres humains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{{human_policy?}}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fr-FR" sz="1200" u="none" cap="none" strike="noStrike">
                          <a:solidFill>
                            <a:schemeClr val="dk2"/>
                          </a:solidFill>
                        </a:rPr>
                        <a:t>Discrimination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{{discrimanation_policy?}}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fr-FR" sz="1200" u="none" cap="none" strike="noStrike">
                          <a:solidFill>
                            <a:schemeClr val="dk2"/>
                          </a:solidFill>
                        </a:rPr>
                        <a:t>Sécurité et prévention des accidents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{{safety_policy?}}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fr-FR" sz="1200" u="none" cap="none" strike="noStrike">
                          <a:solidFill>
                            <a:schemeClr val="dk2"/>
                          </a:solidFill>
                        </a:rPr>
                        <a:t>Autre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{{other_policy?}}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gridSpan="2">
                  <a:txBody>
                    <a:bodyPr/>
                    <a:lstStyle/>
                    <a:p>
                      <a:pPr indent="0" lvl="0" marL="0" marR="0" rtl="0" algn="l">
                        <a:spcBef>
                          <a:spcPts val="0"/>
                        </a:spcBef>
                        <a:spcAft>
                          <a:spcPts val="0"/>
                        </a:spcAft>
                        <a:buNone/>
                      </a:pPr>
                      <a:r>
                        <a:rPr b="1" lang="fr-FR" sz="1200">
                          <a:solidFill>
                            <a:schemeClr val="dk2"/>
                          </a:solidFill>
                        </a:rPr>
                        <a:t>Si oui pour « Autre », veuillez préciser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833725">
                <a:tc gridSpan="2">
                  <a:txBody>
                    <a:bodyPr/>
                    <a:lstStyle/>
                    <a:p>
                      <a:pPr indent="0" lvl="0" marL="0" marR="0" rtl="0" algn="l">
                        <a:spcBef>
                          <a:spcPts val="0"/>
                        </a:spcBef>
                        <a:spcAft>
                          <a:spcPts val="0"/>
                        </a:spcAft>
                        <a:buNone/>
                      </a:pPr>
                      <a:r>
                        <a:t/>
                      </a:r>
                      <a:endParaRPr b="0" sz="1200">
                        <a:solidFill>
                          <a:schemeClr val="dk2"/>
                        </a:solidFill>
                      </a:endParaRPr>
                    </a:p>
                    <a:p>
                      <a:pPr indent="0" lvl="0" marL="0" marR="0" rtl="0" algn="l">
                        <a:lnSpc>
                          <a:spcPct val="100000"/>
                        </a:lnSpc>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{{C6_other_description}}</a:t>
                      </a:r>
                      <a:endParaRPr b="0" i="0" sz="120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4" name="Google Shape;284;p21"/>
          <p:cNvGraphicFramePr/>
          <p:nvPr/>
        </p:nvGraphicFramePr>
        <p:xfrm>
          <a:off x="507999" y="5483925"/>
          <a:ext cx="3000000" cy="3000000"/>
        </p:xfrm>
        <a:graphic>
          <a:graphicData uri="http://schemas.openxmlformats.org/drawingml/2006/table">
            <a:tbl>
              <a:tblPr firstRow="1">
                <a:noFill/>
                <a:tableStyleId>{83A74AF9-74D6-43BA-9877-64FBA191D48E}</a:tableStyleId>
              </a:tblPr>
              <a:tblGrid>
                <a:gridCol w="8595650"/>
                <a:gridCol w="2585825"/>
              </a:tblGrid>
              <a:tr h="866075">
                <a:tc>
                  <a:txBody>
                    <a:bodyPr/>
                    <a:lstStyle/>
                    <a:p>
                      <a:pPr indent="0" lvl="0" marL="0" marR="0" rtl="0" algn="l">
                        <a:spcBef>
                          <a:spcPts val="0"/>
                        </a:spcBef>
                        <a:spcAft>
                          <a:spcPts val="0"/>
                        </a:spcAft>
                        <a:buNone/>
                      </a:pPr>
                      <a:r>
                        <a:rPr b="1" lang="fr-FR" sz="1200">
                          <a:solidFill>
                            <a:schemeClr val="dk2"/>
                          </a:solidFill>
                        </a:rPr>
                        <a:t>L’entreprise dispose d’un mécanisme de traitement des plaintes pour notre </a:t>
                      </a:r>
                      <a:r>
                        <a:rPr b="1" lang="fr-FR" sz="1200" u="sng">
                          <a:solidFill>
                            <a:schemeClr val="dk2"/>
                          </a:solidFill>
                        </a:rPr>
                        <a:t>personnel</a:t>
                      </a:r>
                      <a:r>
                        <a:rPr b="0" lang="fr-FR" sz="1200" u="sng">
                          <a:solidFill>
                            <a:schemeClr val="dk2"/>
                          </a:solidFill>
                        </a:rPr>
                        <a:t> </a:t>
                      </a:r>
                      <a:r>
                        <a:rPr b="0" lang="fr-FR" sz="1200">
                          <a:solidFill>
                            <a:schemeClr val="dk2"/>
                          </a:solidFill>
                        </a:rPr>
                        <a:t>(par. 61c)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lang="fr-FR" sz="1200">
                          <a:solidFill>
                            <a:schemeClr val="accent2"/>
                          </a:solidFill>
                          <a:latin typeface="IBM Plex Sans"/>
                          <a:ea typeface="IBM Plex Sans"/>
                          <a:cs typeface="IBM Plex Sans"/>
                          <a:sym typeface="IBM Plex Sans"/>
                        </a:rPr>
                        <a:t>{{whistleblower?}}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5" name="Google Shape;285;p21"/>
          <p:cNvSpPr txBox="1"/>
          <p:nvPr/>
        </p:nvSpPr>
        <p:spPr>
          <a:xfrm>
            <a:off x="515952" y="1016000"/>
            <a:ext cx="1116804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200" u="none" strike="noStrike">
                <a:solidFill>
                  <a:schemeClr val="dk2"/>
                </a:solidFill>
                <a:latin typeface="Inter"/>
                <a:ea typeface="Inter"/>
                <a:cs typeface="Inter"/>
                <a:sym typeface="Inter"/>
              </a:rPr>
              <a:t>Ci-dessous figurent des </a:t>
            </a:r>
            <a:r>
              <a:rPr lang="fr-FR" sz="1200">
                <a:solidFill>
                  <a:schemeClr val="dk2"/>
                </a:solidFill>
                <a:latin typeface="Inter"/>
                <a:ea typeface="Inter"/>
                <a:cs typeface="Inter"/>
                <a:sym typeface="Inter"/>
              </a:rPr>
              <a:t>informations sur </a:t>
            </a:r>
            <a:r>
              <a:rPr b="0" i="0" lang="fr-FR" sz="1200" u="none" strike="noStrike">
                <a:solidFill>
                  <a:schemeClr val="dk2"/>
                </a:solidFill>
                <a:latin typeface="Inter"/>
                <a:ea typeface="Inter"/>
                <a:cs typeface="Inter"/>
                <a:sym typeface="Inter"/>
              </a:rPr>
              <a:t>le code de conduite et/ou la politique en matière de droits de l’homme de l’entreprise couvrant son personne</a:t>
            </a:r>
            <a:r>
              <a:rPr lang="fr-FR" sz="1200">
                <a:solidFill>
                  <a:schemeClr val="dk2"/>
                </a:solidFill>
                <a:latin typeface="Inter"/>
                <a:ea typeface="Inter"/>
                <a:cs typeface="Inter"/>
                <a:sym typeface="Inter"/>
              </a:rPr>
              <a:t>l. Il est également indiqué si l’entreprise dispose d’un mécanisme de traitement des plaintes permettant aux salariés de signaler des faits liés à des violations des droits de l’homme, des discriminations, du harcèlement ou d’autres agissements répréhensibles.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800" u="none" strike="noStrike">
                <a:solidFill>
                  <a:srgbClr val="1B4528"/>
                </a:solidFill>
                <a:latin typeface="IBM Plex Sans"/>
                <a:ea typeface="IBM Plex Sans"/>
                <a:cs typeface="IBM Plex Sans"/>
                <a:sym typeface="IBM Plex Sans"/>
              </a:rPr>
              <a:t>Incidents graves en matière de droits de l’homme (C7</a:t>
            </a:r>
            <a:r>
              <a:rPr lang="fr-FR"/>
              <a:t>) – Personnel de l’entreprise</a:t>
            </a:r>
            <a:endParaRPr/>
          </a:p>
        </p:txBody>
      </p:sp>
      <p:sp>
        <p:nvSpPr>
          <p:cNvPr id="291" name="Google Shape;291;p2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92" name="Google Shape;292;p2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293" name="Google Shape;293;p22"/>
          <p:cNvGraphicFramePr/>
          <p:nvPr/>
        </p:nvGraphicFramePr>
        <p:xfrm>
          <a:off x="518598" y="1676964"/>
          <a:ext cx="3000000" cy="3000000"/>
        </p:xfrm>
        <a:graphic>
          <a:graphicData uri="http://schemas.openxmlformats.org/drawingml/2006/table">
            <a:tbl>
              <a:tblPr firstRow="1">
                <a:noFill/>
                <a:tableStyleId>{83A74AF9-74D6-43BA-9877-64FBA191D48E}</a:tableStyleId>
              </a:tblPr>
              <a:tblGrid>
                <a:gridCol w="3918800"/>
                <a:gridCol w="7246600"/>
              </a:tblGrid>
              <a:tr h="326550">
                <a:tc grid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Existe-t-il, pour le </a:t>
                      </a:r>
                      <a:r>
                        <a:rPr b="1" lang="fr-FR" sz="1200" u="sng">
                          <a:solidFill>
                            <a:schemeClr val="dk2"/>
                          </a:solidFill>
                          <a:latin typeface="IBM Plex Sans"/>
                          <a:ea typeface="IBM Plex Sans"/>
                          <a:cs typeface="IBM Plex Sans"/>
                          <a:sym typeface="IBM Plex Sans"/>
                        </a:rPr>
                        <a:t>personnel de l’entreprise</a:t>
                      </a:r>
                      <a:r>
                        <a:rPr b="1" lang="fr-FR" sz="1200" u="none">
                          <a:solidFill>
                            <a:schemeClr val="dk2"/>
                          </a:solidFill>
                          <a:latin typeface="IBM Plex Sans"/>
                          <a:ea typeface="IBM Plex Sans"/>
                          <a:cs typeface="IBM Plex Sans"/>
                          <a:sym typeface="IBM Plex Sans"/>
                        </a:rPr>
                        <a:t>, </a:t>
                      </a:r>
                      <a:r>
                        <a:rPr b="1" lang="fr-FR" sz="1200">
                          <a:solidFill>
                            <a:schemeClr val="dk2"/>
                          </a:solidFill>
                          <a:latin typeface="IBM Plex Sans"/>
                          <a:ea typeface="IBM Plex Sans"/>
                          <a:cs typeface="IBM Plex Sans"/>
                          <a:sym typeface="IBM Plex Sans"/>
                        </a:rPr>
                        <a:t>des incidents négatifs confirmés liés aux points suivants </a:t>
                      </a:r>
                      <a:r>
                        <a:rPr b="0" lang="fr-FR" sz="1200">
                          <a:solidFill>
                            <a:schemeClr val="dk2"/>
                          </a:solidFill>
                          <a:latin typeface="IBM Plex Sans"/>
                          <a:ea typeface="IBM Plex Sans"/>
                          <a:cs typeface="IBM Plex Sans"/>
                          <a:sym typeface="IBM Plex Sans"/>
                        </a:rPr>
                        <a:t>(par. 62a-b)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852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Travail des enfants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{{child_labour_yes?}}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{{child_labour_desc}}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Travail forcé</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{{forced_labour_yes?}}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{{forced_labour_desc}}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Traite des êtres humains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{{human_trafficking_yes?}}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{{human_trafficking_desc}}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Discrimination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{{discrimination_yes?}}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rPr>
                        <a:t>{{discrimination_desc}}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12775">
                <a:tc>
                  <a:txBody>
                    <a:bodyPr/>
                    <a:lstStyle/>
                    <a:p>
                      <a:pPr indent="0" lvl="0" marL="0" marR="0" rtl="0" algn="l">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Autre </a:t>
                      </a:r>
                      <a:endParaRPr b="1" sz="1800">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{{other_yes?}}</a:t>
                      </a:r>
                      <a:endParaRPr b="0" i="0" sz="120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accent2"/>
                        </a:buClr>
                        <a:buSzPts val="1200"/>
                        <a:buFont typeface="IBM Plex Sans"/>
                        <a:buNone/>
                      </a:pPr>
                      <a:r>
                        <a:rPr b="0" i="0" lang="fr-FR" sz="1200" u="none" strike="noStrike">
                          <a:solidFill>
                            <a:schemeClr val="accent2"/>
                          </a:solidFill>
                          <a:latin typeface="IBM Plex Sans"/>
                          <a:ea typeface="IBM Plex Sans"/>
                          <a:cs typeface="IBM Plex Sans"/>
                          <a:sym typeface="IBM Plex Sans"/>
                        </a:rPr>
                        <a:t>{{other_desc}}</a:t>
                      </a:r>
                      <a:endParaRPr b="0" i="0" sz="1200" u="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4" name="Google Shape;294;p22"/>
          <p:cNvSpPr txBox="1"/>
          <p:nvPr/>
        </p:nvSpPr>
        <p:spPr>
          <a:xfrm>
            <a:off x="507999" y="1016000"/>
            <a:ext cx="1116539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fr-FR" sz="1200" u="none" strike="noStrike">
                <a:solidFill>
                  <a:schemeClr val="dk2"/>
                </a:solidFill>
                <a:latin typeface="Inter"/>
                <a:ea typeface="Inter"/>
                <a:cs typeface="Inter"/>
                <a:sym typeface="Inter"/>
              </a:rPr>
              <a:t>Les exigences de publication suivantes concernent la déclaration par l’entreprise des incidents négatifs liés au travail des enfants, au travail forcé, à la traite des êtres humains et à la discrimination. Dans cette section, l’entreprise indique si ce qui précède concerne son personnel.</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800" u="none" strike="noStrike">
                <a:solidFill>
                  <a:srgbClr val="1B4528"/>
                </a:solidFill>
                <a:latin typeface="IBM Plex Sans"/>
                <a:ea typeface="IBM Plex Sans"/>
                <a:cs typeface="IBM Plex Sans"/>
                <a:sym typeface="IBM Plex Sans"/>
              </a:rPr>
              <a:t>Incidents graves en matière de droits de l’homme (C7</a:t>
            </a:r>
            <a:r>
              <a:rPr lang="fr-FR"/>
              <a:t>) – Dans la chaîne de valeur</a:t>
            </a:r>
            <a:endParaRPr/>
          </a:p>
        </p:txBody>
      </p:sp>
      <p:sp>
        <p:nvSpPr>
          <p:cNvPr id="301" name="Google Shape;301;p2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02" name="Google Shape;302;p2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sp>
        <p:nvSpPr>
          <p:cNvPr id="303" name="Google Shape;303;p23"/>
          <p:cNvSpPr/>
          <p:nvPr/>
        </p:nvSpPr>
        <p:spPr>
          <a:xfrm>
            <a:off x="601802" y="4594892"/>
            <a:ext cx="207455" cy="232601"/>
          </a:xfrm>
          <a:prstGeom prst="rect">
            <a:avLst/>
          </a:prstGeom>
          <a:noFill/>
          <a:ln>
            <a:noFill/>
          </a:ln>
        </p:spPr>
      </p:sp>
      <p:graphicFrame>
        <p:nvGraphicFramePr>
          <p:cNvPr id="304" name="Google Shape;304;p23"/>
          <p:cNvGraphicFramePr/>
          <p:nvPr/>
        </p:nvGraphicFramePr>
        <p:xfrm>
          <a:off x="518599" y="1638525"/>
          <a:ext cx="3000000" cy="3000000"/>
        </p:xfrm>
        <a:graphic>
          <a:graphicData uri="http://schemas.openxmlformats.org/drawingml/2006/table">
            <a:tbl>
              <a:tblPr firstRow="1">
                <a:noFill/>
                <a:tableStyleId>{83A74AF9-74D6-43BA-9877-64FBA191D48E}</a:tableStyleId>
              </a:tblPr>
              <a:tblGrid>
                <a:gridCol w="2463175"/>
                <a:gridCol w="8702225"/>
              </a:tblGrid>
              <a:tr h="302400">
                <a:tc grid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L’entreprise a-t-elle connaissance d’incidents négatifs confirmés en matière de droits de l’homme dans la chaîne de valeur de </a:t>
                      </a:r>
                      <a:r>
                        <a:rPr b="1" lang="fr-FR" sz="1200">
                          <a:solidFill>
                            <a:schemeClr val="accent2"/>
                          </a:solidFill>
                          <a:latin typeface="IBM Plex Sans"/>
                          <a:ea typeface="IBM Plex Sans"/>
                          <a:cs typeface="IBM Plex Sans"/>
                          <a:sym typeface="IBM Plex Sans"/>
                        </a:rPr>
                        <a:t>{{company_name}}</a:t>
                      </a:r>
                      <a:r>
                        <a:rPr b="1" lang="fr-FR" sz="1200">
                          <a:solidFill>
                            <a:schemeClr val="dk2"/>
                          </a:solidFill>
                          <a:latin typeface="IBM Plex Sans"/>
                          <a:ea typeface="IBM Plex Sans"/>
                          <a:cs typeface="IBM Plex Sans"/>
                          <a:sym typeface="IBM Plex Sans"/>
                        </a:rPr>
                        <a:t> </a:t>
                      </a:r>
                      <a:r>
                        <a:rPr b="0" lang="fr-FR" sz="1200">
                          <a:solidFill>
                            <a:schemeClr val="dk2"/>
                          </a:solidFill>
                          <a:latin typeface="IBM Plex Sans"/>
                          <a:ea typeface="IBM Plex Sans"/>
                          <a:cs typeface="IBM Plex Sans"/>
                          <a:sym typeface="IBM Plex Sans"/>
                        </a:rPr>
                        <a:t>(par. 62c)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204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Travailleurs de la chaîne de valeur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{{incidents_workers_value_chain}}</a:t>
                      </a:r>
                      <a:endParaRPr sz="1200">
                        <a:solidFill>
                          <a:schemeClr val="accent2"/>
                        </a:solidFill>
                        <a:latin typeface="IBM Plex Sans"/>
                        <a:ea typeface="IBM Plex Sans"/>
                        <a:cs typeface="IBM Plex Sans"/>
                        <a:sym typeface="IBM Plex Sans"/>
                      </a:endParaRPr>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04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Communautés affectées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{{incidents_affected_communities}}</a:t>
                      </a:r>
                      <a:endParaRPr sz="1200">
                        <a:solidFill>
                          <a:schemeClr val="accent2"/>
                        </a:solidFill>
                        <a:latin typeface="IBM Plex Sans"/>
                        <a:ea typeface="IBM Plex Sans"/>
                        <a:cs typeface="IBM Plex Sans"/>
                        <a:sym typeface="IBM Plex Sans"/>
                      </a:endParaRPr>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0400">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Consommateurs et utilisateurs finaux</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{{incidents_consumers}}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5" name="Google Shape;305;p23"/>
          <p:cNvSpPr txBox="1"/>
          <p:nvPr/>
        </p:nvSpPr>
        <p:spPr>
          <a:xfrm>
            <a:off x="515952" y="1016000"/>
            <a:ext cx="1116804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200" u="none" strike="noStrike">
                <a:solidFill>
                  <a:schemeClr val="dk2"/>
                </a:solidFill>
                <a:latin typeface="Inter"/>
                <a:ea typeface="Inter"/>
                <a:cs typeface="Inter"/>
                <a:sym typeface="Inter"/>
              </a:rPr>
              <a:t>Ci-dessous figurent des </a:t>
            </a:r>
            <a:r>
              <a:rPr lang="fr-FR" sz="1200">
                <a:solidFill>
                  <a:schemeClr val="dk2"/>
                </a:solidFill>
                <a:latin typeface="Inter"/>
                <a:ea typeface="Inter"/>
                <a:cs typeface="Inter"/>
                <a:sym typeface="Inter"/>
              </a:rPr>
              <a:t>informations sur </a:t>
            </a:r>
            <a:r>
              <a:rPr b="0" i="0" lang="fr-FR" sz="1200" u="none" strike="noStrike">
                <a:solidFill>
                  <a:schemeClr val="dk2"/>
                </a:solidFill>
                <a:latin typeface="Inter"/>
                <a:ea typeface="Inter"/>
                <a:cs typeface="Inter"/>
                <a:sym typeface="Inter"/>
              </a:rPr>
              <a:t>la connaissance par l’entreprise d’incidents négatifs confirmés en matière de droits de l’homme dans sa chaîne de valeur.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800" u="none" strike="noStrike">
                <a:solidFill>
                  <a:srgbClr val="1B4528"/>
                </a:solidFill>
              </a:rPr>
              <a:t>Chiffre d’affaires de certaines activités (C8)</a:t>
            </a:r>
            <a:endParaRPr/>
          </a:p>
        </p:txBody>
      </p:sp>
      <p:sp>
        <p:nvSpPr>
          <p:cNvPr id="311" name="Google Shape;311;p2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12" name="Google Shape;312;p2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313" name="Google Shape;313;p24"/>
          <p:cNvGraphicFramePr/>
          <p:nvPr/>
        </p:nvGraphicFramePr>
        <p:xfrm>
          <a:off x="518598" y="1425825"/>
          <a:ext cx="3000000" cy="3000000"/>
        </p:xfrm>
        <a:graphic>
          <a:graphicData uri="http://schemas.openxmlformats.org/drawingml/2006/table">
            <a:tbl>
              <a:tblPr firstRow="1">
                <a:noFill/>
                <a:tableStyleId>{83A74AF9-74D6-43BA-9877-64FBA191D48E}</a:tableStyleId>
              </a:tblPr>
              <a:tblGrid>
                <a:gridCol w="7652625"/>
                <a:gridCol w="3512775"/>
              </a:tblGrid>
              <a:tr h="343825">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fr-FR" sz="1200">
                          <a:solidFill>
                            <a:schemeClr val="dk2"/>
                          </a:solidFill>
                          <a:latin typeface="IBM Plex Sans"/>
                          <a:ea typeface="IBM Plex Sans"/>
                          <a:cs typeface="IBM Plex Sans"/>
                          <a:sym typeface="IBM Plex Sans"/>
                        </a:rPr>
                        <a:t>Chiffre d’affaires de certains secteurs</a:t>
                      </a:r>
                      <a:r>
                        <a:rPr b="0" lang="fr-FR" sz="1200">
                          <a:solidFill>
                            <a:schemeClr val="dk2"/>
                          </a:solidFill>
                          <a:latin typeface="IBM Plex Sans"/>
                          <a:ea typeface="IBM Plex Sans"/>
                          <a:cs typeface="IBM Plex Sans"/>
                          <a:sym typeface="IBM Plex Sans"/>
                        </a:rPr>
                        <a:t> (par. 63 a-d)</a:t>
                      </a:r>
                      <a:endParaRPr/>
                    </a:p>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43825">
                <a:tc>
                  <a:txBody>
                    <a:bodyPr/>
                    <a:lstStyle/>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BM Plex Sans"/>
                        <a:buNone/>
                      </a:pPr>
                      <a:r>
                        <a:rPr b="1" i="0" lang="fr-FR" sz="1200" u="none" strike="noStrike">
                          <a:solidFill>
                            <a:srgbClr val="1B4528"/>
                          </a:solidFill>
                          <a:latin typeface="IBM Plex Sans"/>
                          <a:ea typeface="IBM Plex Sans"/>
                          <a:cs typeface="IBM Plex Sans"/>
                          <a:sym typeface="IBM Plex Sans"/>
                        </a:rPr>
                        <a:t>Chiffre d’affaires de l’année </a:t>
                      </a:r>
                      <a:r>
                        <a:rPr b="1" i="0" lang="fr-FR" sz="1200" u="none" strike="noStrike">
                          <a:solidFill>
                            <a:srgbClr val="2D55FF"/>
                          </a:solidFill>
                          <a:latin typeface="Inter"/>
                          <a:ea typeface="Inter"/>
                          <a:cs typeface="Inter"/>
                          <a:sym typeface="Inter"/>
                        </a:rPr>
                        <a:t>{{Insert year}}</a:t>
                      </a:r>
                      <a:endParaRPr sz="1200"/>
                    </a:p>
                  </a:txBody>
                  <a:tcPr marT="25400" marB="254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38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Armes controversées (mines antipersonnel, armes à sous-munitions, armes chimiques et biologiques)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{{revenue_weapons}}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Culture et/ou production de tabac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{{revenue_cultivation}}</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Combustibles fossiles : charbon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{{revenue_coal}}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Combustibles fossiles : pétrole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{{revenue_oil}}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Combustibles fossiles : gaz/gaz naturel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{{revenue_gas}}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Production de produits chimiques destinés aux pesticides et autres produits agrochimiques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fr-FR" sz="1200" u="none" strike="noStrike">
                          <a:solidFill>
                            <a:srgbClr val="2D55FF"/>
                          </a:solidFill>
                          <a:latin typeface="Inter"/>
                          <a:ea typeface="Inter"/>
                          <a:cs typeface="Inter"/>
                          <a:sym typeface="Inter"/>
                        </a:rPr>
                        <a:t>{{revenue_chemichal}}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4" name="Google Shape;314;p24"/>
          <p:cNvSpPr txBox="1"/>
          <p:nvPr/>
        </p:nvSpPr>
        <p:spPr>
          <a:xfrm>
            <a:off x="518598" y="1016000"/>
            <a:ext cx="111654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lang="fr-FR" sz="1200">
                <a:solidFill>
                  <a:schemeClr val="dk2"/>
                </a:solidFill>
                <a:latin typeface="Inter"/>
                <a:ea typeface="Inter"/>
                <a:cs typeface="Inter"/>
                <a:sym typeface="Inter"/>
              </a:rPr>
              <a:t>L</a:t>
            </a:r>
            <a:r>
              <a:rPr b="0" i="0" lang="fr-FR" sz="1200" u="none" strike="noStrike">
                <a:solidFill>
                  <a:schemeClr val="dk2"/>
                </a:solidFill>
                <a:latin typeface="Inter"/>
                <a:ea typeface="Inter"/>
                <a:cs typeface="Inter"/>
                <a:sym typeface="Inter"/>
              </a:rPr>
              <a:t>’entreprise a indiqué le chiffre d’affaires de certains secteurs et les montants de ces activités.</a:t>
            </a:r>
            <a:endParaRPr sz="1800">
              <a:solidFill>
                <a:schemeClr val="dk2"/>
              </a:solidFill>
              <a:latin typeface="IBM Plex Sans"/>
              <a:ea typeface="IBM Plex Sans"/>
              <a:cs typeface="IBM Plex Sans"/>
              <a:sym typeface="IBM Plex Sans"/>
            </a:endParaRPr>
          </a:p>
        </p:txBody>
      </p:sp>
      <p:sp>
        <p:nvSpPr>
          <p:cNvPr id="315" name="Google Shape;315;p24"/>
          <p:cNvSpPr txBox="1"/>
          <p:nvPr/>
        </p:nvSpPr>
        <p:spPr>
          <a:xfrm>
            <a:off x="518600" y="4748440"/>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800"/>
              <a:buFont typeface="IBM Plex Sans"/>
              <a:buNone/>
            </a:pPr>
            <a:r>
              <a:rPr b="1" lang="fr-FR" sz="1800">
                <a:solidFill>
                  <a:srgbClr val="1B4528"/>
                </a:solidFill>
                <a:latin typeface="IBM Plex Sans"/>
                <a:ea typeface="IBM Plex Sans"/>
                <a:cs typeface="IBM Plex Sans"/>
                <a:sym typeface="IBM Plex Sans"/>
              </a:rPr>
              <a:t>Ratio de mixité au sein de l’organe de gouvernance (C9)</a:t>
            </a:r>
            <a:endParaRPr b="1" sz="1800">
              <a:solidFill>
                <a:schemeClr val="dk2"/>
              </a:solidFill>
              <a:latin typeface="IBM Plex Sans"/>
              <a:ea typeface="IBM Plex Sans"/>
              <a:cs typeface="IBM Plex Sans"/>
              <a:sym typeface="IBM Plex Sans"/>
            </a:endParaRPr>
          </a:p>
        </p:txBody>
      </p:sp>
      <p:graphicFrame>
        <p:nvGraphicFramePr>
          <p:cNvPr id="316" name="Google Shape;316;p24"/>
          <p:cNvGraphicFramePr/>
          <p:nvPr/>
        </p:nvGraphicFramePr>
        <p:xfrm>
          <a:off x="507998" y="5614719"/>
          <a:ext cx="3000000" cy="3000000"/>
        </p:xfrm>
        <a:graphic>
          <a:graphicData uri="http://schemas.openxmlformats.org/drawingml/2006/table">
            <a:tbl>
              <a:tblPr firstRow="1">
                <a:noFill/>
                <a:tableStyleId>{83A74AF9-74D6-43BA-9877-64FBA191D48E}</a:tableStyleId>
              </a:tblPr>
              <a:tblGrid>
                <a:gridCol w="7704350"/>
                <a:gridCol w="3461050"/>
              </a:tblGrid>
              <a:tr h="288000">
                <a:tc rowSpan="2">
                  <a:txBody>
                    <a:bodyPr/>
                    <a:lstStyle/>
                    <a:p>
                      <a:pPr indent="0" lvl="0" marL="0" marR="0" rtl="0" algn="l">
                        <a:spcBef>
                          <a:spcPts val="0"/>
                        </a:spcBef>
                        <a:spcAft>
                          <a:spcPts val="0"/>
                        </a:spcAft>
                        <a:buNone/>
                      </a:pPr>
                      <a:r>
                        <a:rPr b="1" lang="fr-FR" sz="1200">
                          <a:solidFill>
                            <a:schemeClr val="dk2"/>
                          </a:solidFill>
                          <a:latin typeface="IBM Plex Sans"/>
                          <a:ea typeface="IBM Plex Sans"/>
                          <a:cs typeface="IBM Plex Sans"/>
                          <a:sym typeface="IBM Plex Sans"/>
                        </a:rPr>
                        <a:t>Ratio de femmes par rapport aux hommes au sein de l’organe de gouvernance (</a:t>
                      </a:r>
                      <a:r>
                        <a:rPr b="0" lang="fr-FR" sz="1200">
                          <a:solidFill>
                            <a:schemeClr val="dk2"/>
                          </a:solidFill>
                          <a:latin typeface="IBM Plex Sans"/>
                          <a:ea typeface="IBM Plex Sans"/>
                          <a:cs typeface="IBM Plex Sans"/>
                          <a:sym typeface="IBM Plex Sans"/>
                        </a:rPr>
                        <a:t>par. 64</a:t>
                      </a:r>
                      <a:r>
                        <a:rPr b="1" lang="fr-FR" sz="1200">
                          <a:solidFill>
                            <a:schemeClr val="dk2"/>
                          </a:solidFill>
                          <a:latin typeface="IBM Plex Sans"/>
                          <a:ea typeface="IBM Plex Sans"/>
                          <a:cs typeface="IBM Plex Sans"/>
                          <a:sym typeface="IBM Plex Sans"/>
                        </a:rPr>
                        <a: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200">
                          <a:solidFill>
                            <a:schemeClr val="dk2"/>
                          </a:solidFill>
                        </a:rPr>
                        <a:t>Année </a:t>
                      </a:r>
                      <a:r>
                        <a:rPr b="1" i="0" lang="fr-FR" sz="1200" u="none" strike="noStrike">
                          <a:solidFill>
                            <a:srgbClr val="2D55FF"/>
                          </a:solidFill>
                          <a:latin typeface="Inter"/>
                          <a:ea typeface="Inter"/>
                          <a:cs typeface="Inter"/>
                          <a:sym typeface="Inter"/>
                        </a:rPr>
                        <a:t>{{Insert year}}</a:t>
                      </a:r>
                      <a:endParaRPr b="1" sz="1200">
                        <a:solidFill>
                          <a:schemeClr val="dk2"/>
                        </a:solidFill>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ctr">
                        <a:spcBef>
                          <a:spcPts val="0"/>
                        </a:spcBef>
                        <a:spcAft>
                          <a:spcPts val="0"/>
                        </a:spcAft>
                        <a:buNone/>
                      </a:pPr>
                      <a:r>
                        <a:rPr b="0" lang="fr-FR" sz="1200">
                          <a:solidFill>
                            <a:schemeClr val="accent2"/>
                          </a:solidFill>
                        </a:rPr>
                        <a:t>{{</a:t>
                      </a:r>
                      <a:r>
                        <a:rPr b="0" i="0" lang="fr-FR" sz="1200" u="none" strike="noStrike">
                          <a:solidFill>
                            <a:schemeClr val="accent2"/>
                          </a:solidFill>
                          <a:latin typeface="IBM Plex Sans"/>
                          <a:ea typeface="IBM Plex Sans"/>
                          <a:cs typeface="IBM Plex Sans"/>
                          <a:sym typeface="IBM Plex Sans"/>
                        </a:rPr>
                        <a:t>gender_supreme_body</a:t>
                      </a:r>
                      <a:r>
                        <a:rPr b="0" lang="fr-FR" sz="1200">
                          <a:solidFill>
                            <a:schemeClr val="accent2"/>
                          </a:solidFill>
                        </a:rPr>
                        <a: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7" name="Google Shape;317;p24"/>
          <p:cNvSpPr txBox="1"/>
          <p:nvPr/>
        </p:nvSpPr>
        <p:spPr>
          <a:xfrm>
            <a:off x="3049438" y="3248647"/>
            <a:ext cx="60988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fr-FR" sz="1800">
                <a:solidFill>
                  <a:schemeClr val="dk1"/>
                </a:solidFill>
                <a:latin typeface="IBM Plex Sans"/>
                <a:ea typeface="IBM Plex Sans"/>
                <a:cs typeface="IBM Plex Sans"/>
                <a:sym typeface="IBM Plex Sans"/>
              </a:rPr>
              <a:t> </a:t>
            </a:r>
            <a:endParaRPr sz="1800">
              <a:solidFill>
                <a:schemeClr val="dk1"/>
              </a:solidFill>
              <a:latin typeface="IBM Plex Sans"/>
              <a:ea typeface="IBM Plex Sans"/>
              <a:cs typeface="IBM Plex Sans"/>
              <a:sym typeface="IBM Plex Sans"/>
            </a:endParaRPr>
          </a:p>
        </p:txBody>
      </p:sp>
      <p:sp>
        <p:nvSpPr>
          <p:cNvPr id="318" name="Google Shape;318;p24"/>
          <p:cNvSpPr txBox="1"/>
          <p:nvPr/>
        </p:nvSpPr>
        <p:spPr>
          <a:xfrm>
            <a:off x="526035" y="5127078"/>
            <a:ext cx="111654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lang="fr-FR" sz="1200">
                <a:solidFill>
                  <a:schemeClr val="dk2"/>
                </a:solidFill>
                <a:latin typeface="Inter"/>
                <a:ea typeface="Inter"/>
                <a:cs typeface="Inter"/>
                <a:sym typeface="Inter"/>
              </a:rPr>
              <a:t>L</a:t>
            </a:r>
            <a:r>
              <a:rPr b="0" i="0" lang="fr-FR" sz="1200" u="none" strike="noStrike">
                <a:solidFill>
                  <a:schemeClr val="dk2"/>
                </a:solidFill>
                <a:latin typeface="Inter"/>
                <a:ea typeface="Inter"/>
                <a:cs typeface="Inter"/>
                <a:sym typeface="Inter"/>
              </a:rPr>
              <a:t>’entreprise a indiqué le ratio de femmes par rapport aux hommes au sein de l’organe de gouvernance.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4402137" y="4447433"/>
            <a:ext cx="3449638" cy="1034319"/>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800"/>
              <a:buNone/>
            </a:pPr>
            <a:r>
              <a:rPr b="1" lang="fr-FR" sz="1800">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200"/>
              </a:spcBef>
              <a:spcAft>
                <a:spcPts val="0"/>
              </a:spcAft>
              <a:buClr>
                <a:srgbClr val="FFFFFF"/>
              </a:buClr>
              <a:buSzPts val="1800"/>
              <a:buNone/>
            </a:pPr>
            <a:r>
              <a:rPr b="1" lang="fr-FR" sz="1800">
                <a:solidFill>
                  <a:srgbClr val="FFFFFF"/>
                </a:solidFill>
                <a:latin typeface="IBM Plex Sans"/>
                <a:ea typeface="IBM Plex Sans"/>
                <a:cs typeface="IBM Plex Sans"/>
                <a:sym typeface="IBM Plex Sans"/>
              </a:rPr>
              <a:t>{{insert_year}}</a:t>
            </a:r>
            <a:br>
              <a:rPr b="1" lang="fr-FR" sz="1800">
                <a:solidFill>
                  <a:srgbClr val="FFFFFF"/>
                </a:solidFill>
                <a:latin typeface="IBM Plex Sans"/>
                <a:ea typeface="IBM Plex Sans"/>
                <a:cs typeface="IBM Plex Sans"/>
                <a:sym typeface="IBM Plex Sans"/>
              </a:rPr>
            </a:br>
            <a:endParaRPr sz="1800"/>
          </a:p>
        </p:txBody>
      </p:sp>
      <p:sp>
        <p:nvSpPr>
          <p:cNvPr id="324" name="Google Shape;324;p2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