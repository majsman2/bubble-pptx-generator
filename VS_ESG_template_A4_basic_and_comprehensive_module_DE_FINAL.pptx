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e-DE"/>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e-DE" smtClean="0"/>
              <a:pPr/>
              <a:t>12/08/2026</a:t>
            </a:fld>
            <a:endParaRPr lang="de-DE"/>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Click to edit Master text styles</a:t>
            </a:r>
          </a:p>
          <a:p>
            <a:pPr lvl="1"/>
            <a:r>
              <a:rPr lang="de-DE"/>
              <a:t xml:space="preserve">Zweite Ebene</a:t>
            </a:r>
          </a:p>
          <a:p>
            <a:pPr lvl="2"/>
            <a:r>
              <a:rPr lang="de-DE"/>
              <a:t xml:space="preserve">Dritte Ebene</a:t>
            </a:r>
          </a:p>
          <a:p>
            <a:pPr lvl="3"/>
            <a:r>
              <a:rPr lang="de-DE"/>
              <a:t xml:space="preserve">Vierte Ebene</a:t>
            </a:r>
          </a:p>
          <a:p>
            <a:pPr lvl="4"/>
            <a:r>
              <a:rPr lang="de-DE"/>
              <a:t xml:space="preserve">Fünfte Ebene</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e-DE"/>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e-DE" smtClean="0"/>
              <a:pPr/>
              <a:t>‹nr.›</a:t>
            </a:fld>
            <a:endParaRPr lang="de-DE"/>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a:t>
            </a:fld>
            <a:endParaRPr lang="de-DE"/>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2</a:t>
            </a:fld>
            <a:endParaRPr lang="de-DE"/>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3</a:t>
            </a:fld>
            <a:endParaRPr lang="de-DE"/>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{{documents_B2}}</a:t>
            </a:r>
          </a:p>
          <a:p>
            <a:r>
              <a:rPr lang="de-DE" sz="1200" b="0" i="0" u="none" strike="noStrike" kern="1200">
                <a:solidFill>
                  <a:schemeClr val="tx1"/>
                </a:solidFill>
                <a:effectLst/>
                <a:latin typeface="IBM Plex Sans" panose="020B0503050203000203" pitchFamily="34" charset="0"/>
                <a:ea typeface="+mn-ea"/>
                <a:cs typeface="+mn-cs"/>
              </a:rPr>
              <a:t xml:space="preserve">Hinzugefügt: Spalte zur Überwachung</a:t>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4</a:t>
            </a:fld>
            <a:endParaRPr lang="de-DE"/>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{{Insert_CO2e_intensity}}</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5</a:t>
            </a:fld>
            <a:endParaRPr lang="de-DE"/>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{{uploaded_documents_B4}}</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6</a:t>
            </a:fld>
            <a:endParaRPr lang="de-DE"/>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7</a:t>
            </a:fld>
            <a:endParaRPr lang="de-DE"/>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a:t>
            </a:r>
            <a:r>
              <a:rPr lang="de-DE" sz="1200" b="0" i="0" u="none" strike="noStrike" kern="1200">
                <a:solidFill>
                  <a:schemeClr val="tx1"/>
                </a:solidFill>
                <a:effectLst/>
                <a:latin typeface="IBM Plex Sans" panose="020B0503050203000203" pitchFamily="34" charset="0"/>
                <a:ea typeface="+mn-ea"/>
                <a:cs typeface="+mn-cs"/>
              </a:rPr>
              <a:t>omsatningsrate</a:t>
            </a:r>
            <a:r>
              <a:rPr lang="de-DE" sz="1200" b="0" i="0" u="none" strike="noStrike" kern="1200">
                <a:solidFill>
                  <a:schemeClr val="tx1"/>
                </a:solidFill>
                <a:effectLst/>
                <a:latin typeface="IBM Plex Sans" panose="020B0503050203000203" pitchFamily="34" charset="0"/>
                <a:ea typeface="+mn-ea"/>
                <a:cs typeface="+mn-cs"/>
              </a:rPr>
              <a:t>}}</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8</a:t>
            </a:fld>
            <a:endParaRPr lang="de-DE"/>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9</a:t>
            </a:fld>
            <a:endParaRPr lang="de-DE"/>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10</a:t>
            </a:fld>
            <a:endParaRPr lang="de-DE"/>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11</a:t>
            </a:fld>
            <a:endParaRPr lang="de-DE"/>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12</a:t>
            </a:fld>
            <a:endParaRPr lang="de-DE"/>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13</a:t>
            </a:fld>
            <a:endParaRPr lang="de-DE"/>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14</a:t>
            </a:fld>
            <a:endParaRPr lang="de-DE"/>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15</a:t>
            </a:fld>
            <a:endParaRPr lang="de-DE"/>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Hinzugefügt aus B8: </a:t>
            </a:r>
            <a:r>
              <a:rPr lang="de-DE" sz="1200" b="0" i="0" u="none" strike="noStrike" kern="1200">
                <a:solidFill>
                  <a:schemeClr val="tx1"/>
                </a:solidFill>
                <a:effectLst/>
                <a:latin typeface="IBM Plex Sans" panose="020B0503050203000203" pitchFamily="34" charset="0"/>
                <a:ea typeface="+mn-ea"/>
                <a:cs typeface="+mn-cs"/>
              </a:rPr>
              <a:t>{{</a:t>
            </a:r>
            <a:r>
              <a:rPr lang="de-DE" sz="1200" b="0" i="0" u="none" strike="noStrike" kern="1200">
                <a:solidFill>
                  <a:schemeClr val="tx1"/>
                </a:solidFill>
                <a:effectLst/>
                <a:latin typeface="IBM Plex Sans" panose="020B0503050203000203" pitchFamily="34" charset="0"/>
                <a:ea typeface="+mn-ea"/>
                <a:cs typeface="+mn-cs"/>
              </a:rPr>
              <a:t>omsatningsrate</a:t>
            </a:r>
            <a:r>
              <a:rPr lang="de-DE" sz="1200" b="0" i="0" u="none" strike="noStrike" kern="1200">
                <a:solidFill>
                  <a:schemeClr val="tx1"/>
                </a:solidFill>
                <a:effectLst/>
                <a:latin typeface="IBM Plex Sans" panose="020B0503050203000203" pitchFamily="34" charset="0"/>
                <a:ea typeface="+mn-ea"/>
                <a:cs typeface="+mn-cs"/>
              </a:rPr>
              <a:t>}}</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16</a:t>
            </a:fld>
            <a:endParaRPr lang="de-DE"/>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3146" y="3090113"/>
            <a:ext cx="657854" cy="1152135"/>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6748" y="3035991"/>
            <a:ext cx="840170" cy="1200816"/>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5834" y="3035990"/>
            <a:ext cx="782093" cy="1231210"/>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de-DE"/>
              <a:t xml:space="preserve">KLICKEN, UM FIRMENNAME EINZUFÜGEN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de-DE"/>
              <a:t xml:space="preserve">TITEL EINFÜGEN</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e-DE"/>
              <a:t xml:space="preserve">KLICKEN, UM FIRMENNAME EINZUFÜGEN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e-DE" smtClean="0"/>
              <a:pPr/>
              <a:t>‹nr.›</a:t>
            </a:fld>
            <a:endParaRPr lang="de-DE"/>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e-DE"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e-DE" noProof="0"/>
              <a:t xml:space="preserve">KLICKEN, UM FIRMENNAME EINZUFÜGEN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de-DE" noProof="0"/>
              <a:t xml:space="preserve">Unternehmensinformationen einfügen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e-DE" noProof="0"/>
              <a:t xml:space="preserve">KLICKEN, UM FIRMENNAME EINZUFÜGEN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de-DE" noProof="0"/>
              <a:t>Click to edit Master text styles</a:t>
            </a:r>
          </a:p>
          <a:p>
            <a:pPr lvl="1"/>
            <a:r>
              <a:rPr lang="de-DE" noProof="0"/>
              <a:t xml:space="preserve">Zweite Ebene</a:t>
            </a:r>
          </a:p>
          <a:p>
            <a:pPr lvl="2"/>
            <a:r>
              <a:rPr lang="de-DE" noProof="0"/>
              <a:t xml:space="preserve">Dritte Ebene</a:t>
            </a:r>
          </a:p>
          <a:p>
            <a:pPr lvl="3"/>
            <a:r>
              <a:rPr lang="de-DE" noProof="0"/>
              <a:t xml:space="preserve">Vierte Ebene</a:t>
            </a:r>
          </a:p>
          <a:p>
            <a:pPr lvl="4"/>
            <a:r>
              <a:rPr lang="de-DE" noProof="0"/>
              <a:t xml:space="preserve">Fünfte Ebene</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de-DE"/>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de-DE"/>
              <a:t xml:space="preserve">KLICKEN, UM FIRMENNAME EINZUFÜGEN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de-DE" smtClean="0"/>
              <a:pPr/>
              <a:t>‹nr.›</a:t>
            </a:fld>
            <a:endParaRPr lang="de-DE"/>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de-DE"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de-DE"/>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de-DE" noProof="0"/>
              <a:t xml:space="preserve">ESG-BERICHT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de-DE" noProof="0"/>
              <a:t>{{company_name}}</a:t>
            </a:r>
            <a:endParaRPr lang="de-DE"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de-DE" noProof="0"/>
              <a:t xml:space="preserve">ESG-Bericht</a:t>
            </a:r>
            <a:r>
              <a:rPr lang="de-DE" b="0" noProof="0">
                <a:solidFill>
                  <a:schemeClr val="accent2"/>
                </a:solidFill>
                <a:ea typeface="+mn-ea"/>
                <a:cs typeface="+mn-cs"/>
              </a:rPr>
              <a:t> </a:t>
            </a:r>
            <a:br>
              <a:rPr lang="de-DE" b="0" noProof="0">
                <a:solidFill>
                  <a:schemeClr val="accent2"/>
                </a:solidFill>
                <a:ea typeface="+mn-ea"/>
                <a:cs typeface="+mn-cs"/>
              </a:rPr>
            </a:br>
            <a:endParaRPr lang="de-DE"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de-DE" sz="975" b="1" noProof="0" dirty="0">
              <a:latin typeface="+mj-lt"/>
            </a:endParaRPr>
          </a:p>
          <a:p>
            <a:pPr>
              <a:lnSpc>
                <a:spcPct val="150000"/>
              </a:lnSpc>
              <a:tabLst>
                <a:tab pos="239439" algn="l"/>
                <a:tab pos="388922" algn="l"/>
                <a:tab pos="3737091" algn="r"/>
              </a:tabLst>
            </a:pP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Allgemeine Informationen				</a:t>
            </a:r>
            <a:endParaRPr lang="de-DE"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e-DE" sz="975" b="1" kern="1200" spc="-10" noProof="0">
                <a:solidFill>
                  <a:schemeClr val="tx2"/>
                </a:solidFill>
                <a:latin typeface="+mn-lt"/>
                <a:ea typeface="+mn-ea"/>
                <a:cs typeface="+mn-cs"/>
              </a:rPr>
              <a:t xml:space="preserve">Verfahrensweisen, Richtlinien und Initiativen für eine nachhaltigere Wirtschaft	</a:t>
            </a: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Energieverbrauch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CO₂e-Emissionen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Luft-, Wasser- und Bodenverschmutzung</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Biodiversität</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Wasser	</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Ressourcennutzung, Kreislaufwirtschaft und Abfallbewirtschaftung</a:t>
            </a:r>
            <a:r>
              <a:rPr lang="de-DE" sz="975" noProof="0">
                <a:latin typeface="+mj-lt"/>
              </a:rPr>
              <a:t>				</a:t>
            </a:r>
            <a:endParaRPr lang="de-DE"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Allgemeine Merkmale</a:t>
            </a:r>
            <a:r>
              <a:rPr lang="de-DE" sz="975" noProof="0">
                <a:latin typeface="+mj-lt"/>
              </a:rPr>
              <a:t>				</a:t>
            </a:r>
            <a:endParaRPr lang="de-DE"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Gesundheit &amp; Sicherheit</a:t>
            </a:r>
            <a:r>
              <a:rPr lang="de-DE" sz="975" noProof="0">
                <a:latin typeface="+mj-lt"/>
              </a:rPr>
              <a:t>				</a:t>
            </a:r>
            <a:endParaRPr lang="de-DE"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Vergütung, Tarifverhandlungen und Schulung</a:t>
            </a:r>
            <a:r>
              <a:rPr lang="de-DE" sz="975" noProof="0">
                <a:latin typeface="+mj-lt"/>
              </a:rPr>
              <a:t>		</a:t>
            </a:r>
            <a:endParaRPr lang="de-DE"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Unternehmenspolitik</a:t>
            </a:r>
            <a:r>
              <a:rPr lang="de-DE" sz="975" noProof="0">
                <a:latin typeface="+mj-lt"/>
              </a:rPr>
              <a:t>	 			</a:t>
            </a:r>
            <a:endParaRPr lang="de-DE" sz="975" noProof="0" dirty="0">
              <a:solidFill>
                <a:schemeClr val="accent2"/>
              </a:solidFill>
              <a:latin typeface="+mj-lt"/>
            </a:endParaRPr>
          </a:p>
          <a:p>
            <a:pPr>
              <a:tabLst>
                <a:tab pos="239439" algn="l"/>
                <a:tab pos="388922" algn="l"/>
                <a:tab pos="3737091" algn="r"/>
              </a:tabLst>
            </a:pPr>
            <a:endParaRPr lang="de-DE" sz="975" noProof="0" dirty="0">
              <a:latin typeface="+mj-lt"/>
            </a:endParaRPr>
          </a:p>
          <a:p>
            <a:pPr>
              <a:tabLst>
                <a:tab pos="239439" algn="l"/>
                <a:tab pos="388922" algn="l"/>
                <a:tab pos="3737091" algn="r"/>
              </a:tabLst>
            </a:pPr>
            <a:endParaRPr lang="de-DE" sz="975" noProof="0" dirty="0">
              <a:latin typeface="+mj-lt"/>
            </a:endParaRPr>
          </a:p>
          <a:p>
            <a:pPr>
              <a:tabLst>
                <a:tab pos="239439" algn="l"/>
                <a:tab pos="388922" algn="l"/>
                <a:tab pos="3737091" algn="r"/>
              </a:tabLst>
            </a:pPr>
            <a:endParaRPr lang="de-DE" noProof="0" dirty="0">
              <a:latin typeface="+mj-lt"/>
            </a:endParaRPr>
          </a:p>
          <a:p>
            <a:pPr>
              <a:tabLst>
                <a:tab pos="239439" algn="l"/>
                <a:tab pos="388922" algn="l"/>
                <a:tab pos="3737091" algn="r"/>
              </a:tabLst>
            </a:pPr>
            <a:endParaRPr lang="de-DE"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de-DE"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de-DE" noProof="0" smtClean="0"/>
              <a:pPr/>
              <a:t>2</a:t>
            </a:fld>
            <a:endParaRPr lang="de-DE"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de-DE" noProof="0"/>
              <a:t xml:space="preserve">Grundlagen für die Erstellung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de-DE"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3107"/>
          <a:ext cx="3295368" cy="77015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5788">
                <a:tc gridSpan="2">
                  <a:txBody>
                    <a:bodyPr/>
                    <a:lstStyle/>
                    <a:p>
                      <a:pPr marL="0" algn="l" defTabSz="914400" rtl="0" eaLnBrk="1" latinLnBrk="0" hangingPunct="1"/>
                      <a:r>
                        <a:rPr lang="de-DE" sz="975" b="1" kern="1200" spc="-10" noProof="0">
                          <a:solidFill>
                            <a:schemeClr val="tx2"/>
                          </a:solidFill>
                          <a:latin typeface="+mn-lt"/>
                          <a:ea typeface="+mn-ea"/>
                          <a:cs typeface="+mn-cs"/>
                        </a:rPr>
                        <a:t xml:space="preserve">Liste der in diesem ESG-Bericht erfassten Tochterunternehmen </a:t>
                      </a:r>
                      <a:r>
                        <a:rPr lang="de-DE" sz="975" b="0" kern="1200" spc="-10" noProof="0">
                          <a:solidFill>
                            <a:schemeClr val="tx2"/>
                          </a:solidFill>
                          <a:latin typeface="+mn-lt"/>
                          <a:ea typeface="+mn-ea"/>
                          <a:cs typeface="+mn-cs"/>
                        </a:rPr>
                        <a:t xml:space="preserve">(Nr. 27d)</a:t>
                      </a:r>
                      <a:endParaRPr lang="de-DE"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147556">
                <a:tc>
                  <a:txBody>
                    <a:bodyPr/>
                    <a:lstStyle/>
                    <a:p>
                      <a:pPr algn="l"/>
                      <a:r>
                        <a:rPr lang="de-DE" sz="975" b="1" kern="1200" spc="-10" noProof="0">
                          <a:solidFill>
                            <a:schemeClr val="tx2"/>
                          </a:solidFill>
                          <a:latin typeface="+mn-lt"/>
                          <a:ea typeface="+mn-ea"/>
                          <a:cs typeface="+mn-cs"/>
                        </a:rPr>
                        <a:t xml:space="preserve">Name des Tochterunternehmens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Anschrift des Tochterunternehmens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buNone/>
                      </a:pPr>
                      <a:r>
                        <a:rPr lang="de-DE" sz="975" b="0" i="0" u="none" strike="noStrike" noProof="0">
                          <a:solidFill>
                            <a:srgbClr val="2D55FF"/>
                          </a:solidFill>
                          <a:effectLst/>
                          <a:latin typeface="Inter"/>
                        </a:rPr>
                        <a:t>{{subsidiary}}</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subsidiary_address</a:t>
                      </a:r>
                      <a:r>
                        <a:rPr lang="de-DE" sz="975" b="0" i="0" u="none" strike="noStrike" noProof="0">
                          <a:solidFill>
                            <a:srgbClr val="2D55FF"/>
                          </a:solidFill>
                          <a:effectLst/>
                          <a:latin typeface="Inter"/>
                        </a:rPr>
                        <a:t>}}</a:t>
                      </a:r>
                      <a:endParaRPr lang="de-DE"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e-DE" noProof="0" smtClean="0"/>
              <a:pPr/>
              <a:t>3</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de-DE" noProof="0"/>
              <a:t>{{company_name}}</a:t>
            </a:r>
            <a:endParaRPr lang="de-DE" b="0" noProof="0"/>
          </a:p>
          <a:p>
            <a:br>
              <a:rPr lang="de-DE" noProof="0"/>
            </a:br>
            <a:endParaRPr lang="de-DE"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20124"/>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171405">
                <a:tc gridSpan="2">
                  <a:txBody>
                    <a:bodyPr/>
                    <a:lstStyle/>
                    <a:p>
                      <a:r>
                        <a:rPr lang="de-DE" sz="975" b="1" noProof="0">
                          <a:solidFill>
                            <a:schemeClr val="tx2"/>
                          </a:solidFill>
                        </a:rPr>
                        <a:t xml:space="preserve">Individuelle oder konsolidierte Berichterstattung</a:t>
                      </a:r>
                      <a:r>
                        <a:rPr lang="de-DE" sz="975" b="0" noProof="0">
                          <a:solidFill>
                            <a:schemeClr val="tx2"/>
                          </a:solidFill>
                        </a:rPr>
                        <a:t xml:space="preserve"> (Nr.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individueller Basis </a:t>
                      </a:r>
                      <a:r>
                        <a:rPr lang="de-DE" sz="975" b="0" kern="1200" spc="-10" noProof="0">
                          <a:solidFill>
                            <a:schemeClr val="tx2"/>
                          </a:solidFill>
                          <a:latin typeface="+mn-lt"/>
                          <a:ea typeface="+mn-ea"/>
                          <a:cs typeface="+mn-cs"/>
                        </a:rPr>
                        <a:t xml:space="preserve">erstellt (d. h. der Bericht erfasst keine Tochterunternehmen)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{{yes_subsidiary?}}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konsolidierter Basis </a:t>
                      </a:r>
                      <a:r>
                        <a:rPr lang="de-DE" sz="975" b="0" kern="1200" spc="-10" noProof="0">
                          <a:solidFill>
                            <a:schemeClr val="tx2"/>
                          </a:solidFill>
                          <a:latin typeface="+mn-lt"/>
                          <a:ea typeface="+mn-ea"/>
                          <a:cs typeface="+mn-cs"/>
                        </a:rPr>
                        <a:t xml:space="preserve">erstellt (d. h. der Bericht umfasst die Tochterunternehmen des Unternehmens)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{{no_subsidiary?}}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4046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25979">
                <a:tc gridSpan="2">
                  <a:txBody>
                    <a:bodyPr/>
                    <a:lstStyle/>
                    <a:p>
                      <a:r>
                        <a:rPr lang="de-DE" sz="975" b="1" kern="1200" spc="-10" noProof="0">
                          <a:solidFill>
                            <a:schemeClr val="tx2"/>
                          </a:solidFill>
                          <a:latin typeface="+mn-lt"/>
                          <a:ea typeface="+mn-ea"/>
                          <a:cs typeface="+mn-cs"/>
                        </a:rPr>
                        <a:t xml:space="preserve">Basismodul oder Basismodul +</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(Nr. 27a)</a:t>
                      </a:r>
                      <a:r>
                        <a:rPr lang="de-DE" sz="975" b="1" kern="1200" spc="-10" noProof="0">
                          <a:solidFill>
                            <a:schemeClr val="tx2"/>
                          </a:solidFill>
                          <a:latin typeface="+mn-lt"/>
                          <a:ea typeface="+mn-ea"/>
                          <a:cs typeface="+mn-cs"/>
                        </a:rPr>
                        <a:t>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0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des freiwilligen KMU-Standards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{{basic_module?}}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42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und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des freiwilligen KMU-Standards</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{{comprehensive?}}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lang="de-DE"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07434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06590">
                <a:tc gridSpan="2">
                  <a:txBody>
                    <a:bodyPr/>
                    <a:lstStyle/>
                    <a:p>
                      <a:pPr algn="l"/>
                      <a:r>
                        <a:rPr lang="de-DE" sz="975" b="1" kern="1200" spc="-10" noProof="0">
                          <a:solidFill>
                            <a:schemeClr val="tx2"/>
                          </a:solidFill>
                          <a:latin typeface="+mn-lt"/>
                          <a:ea typeface="+mn-ea"/>
                          <a:cs typeface="+mn-cs"/>
                        </a:rPr>
                        <a:t xml:space="preserve">Grundlegende Informationen über das Unternehmen</a:t>
                      </a:r>
                      <a:r>
                        <a:rPr lang="de-DE" sz="975" b="0" kern="1200" spc="-10" noProof="0">
                          <a:solidFill>
                            <a:schemeClr val="tx2"/>
                          </a:solidFill>
                          <a:latin typeface="+mn-lt"/>
                          <a:ea typeface="+mn-ea"/>
                          <a:cs typeface="+mn-cs"/>
                        </a:rPr>
                        <a:t xml:space="preserve"> (Nr.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585757">
                <a:tc>
                  <a:txBody>
                    <a:bodyPr/>
                    <a:lstStyle/>
                    <a:p>
                      <a:pPr algn="l"/>
                      <a:r>
                        <a:rPr lang="de-DE" sz="975" b="1" kern="1200" spc="-10" noProof="0">
                          <a:solidFill>
                            <a:schemeClr val="tx2"/>
                          </a:solidFill>
                          <a:latin typeface="+mn-lt"/>
                          <a:ea typeface="+mn-ea"/>
                          <a:cs typeface="+mn-cs"/>
                        </a:rPr>
                        <a:t xml:space="preserve">Rechtsform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{{branchekode}}</a:t>
                      </a:r>
                      <a:endParaRPr lang="de-DE"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NACE-Code(s)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{{NACE}}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54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Bilanzsumme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{{balance}}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821">
                <a:tc>
                  <a:txBody>
                    <a:bodyPr/>
                    <a:lstStyle/>
                    <a:p>
                      <a:pPr algn="l"/>
                      <a:r>
                        <a:rPr lang="de-DE" sz="975" b="1" kern="1200" spc="-10" noProof="0">
                          <a:solidFill>
                            <a:schemeClr val="tx2"/>
                          </a:solidFill>
                          <a:latin typeface="+mn-lt"/>
                          <a:ea typeface="+mn-ea"/>
                          <a:cs typeface="+mn-cs"/>
                        </a:rPr>
                        <a:t xml:space="preserve">Umsatzerlöse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{{revenue}}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06590">
                <a:tc>
                  <a:txBody>
                    <a:bodyPr/>
                    <a:lstStyle/>
                    <a:p>
                      <a:pPr algn="l"/>
                      <a:r>
                        <a:rPr lang="de-DE" sz="975" b="1" kern="1200" spc="-10" noProof="0">
                          <a:solidFill>
                            <a:schemeClr val="tx2"/>
                          </a:solidFill>
                          <a:latin typeface="+mn-lt"/>
                          <a:ea typeface="+mn-ea"/>
                          <a:cs typeface="+mn-cs"/>
                        </a:rPr>
                        <a:t xml:space="preserve">Beschäftigte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{{total_employees}}</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3674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409653">
                <a:tc gridSpan="2">
                  <a:txBody>
                    <a:bodyPr/>
                    <a:lstStyle/>
                    <a:p>
                      <a:pPr algn="l"/>
                      <a:r>
                        <a:rPr lang="de-DE" sz="975" b="1" kern="1200" spc="-10" noProof="0">
                          <a:solidFill>
                            <a:schemeClr val="tx2"/>
                          </a:solidFill>
                          <a:latin typeface="+mn-lt"/>
                          <a:ea typeface="+mn-ea"/>
                          <a:cs typeface="+mn-cs"/>
                        </a:rPr>
                        <a:t xml:space="preserve">Der ESG-Bericht enthält Auslassungen aufgrund vertraulicher Geschäftsinformationen </a:t>
                      </a:r>
                      <a:r>
                        <a:rPr lang="de-DE" sz="975" b="0" kern="1200" spc="-10" noProof="0">
                          <a:solidFill>
                            <a:schemeClr val="tx2"/>
                          </a:solidFill>
                          <a:latin typeface="+mn-lt"/>
                          <a:ea typeface="+mn-ea"/>
                          <a:cs typeface="+mn-cs"/>
                        </a:rPr>
                        <a:t xml:space="preserve">(Nr.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927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Folgende Angaben wurden ausgelassen</a:t>
                      </a:r>
                    </a:p>
                    <a:p>
                      <a:pPr algn="l"/>
                      <a:endParaRPr lang="de-DE"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noProof="0">
                          <a:solidFill>
                            <a:schemeClr val="accent2"/>
                          </a:solidFill>
                          <a:latin typeface="+mn-lt"/>
                          <a:cs typeface="Calibri" panose="020F0502020204030204" pitchFamily="34" charset="0"/>
                        </a:rPr>
                        <a:t>{{</a:t>
                      </a:r>
                      <a:r>
                        <a:rPr lang="de-DE" sz="975" noProof="0">
                          <a:solidFill>
                            <a:schemeClr val="accent2"/>
                          </a:solidFill>
                          <a:latin typeface="+mn-lt"/>
                          <a:cs typeface="Calibri" panose="020F0502020204030204" pitchFamily="34" charset="0"/>
                        </a:rPr>
                        <a:t>confidentiality_info</a:t>
                      </a:r>
                      <a:r>
                        <a:rPr lang="de-DE" sz="975" noProof="0">
                          <a:solidFill>
                            <a:schemeClr val="accent2"/>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de-DE" sz="975" b="1" kern="1200" spc="-10" noProof="0">
                          <a:solidFill>
                            <a:schemeClr val="tx2"/>
                          </a:solidFill>
                          <a:latin typeface="+mn-lt"/>
                          <a:ea typeface="+mn-ea"/>
                          <a:cs typeface="+mn-cs"/>
                        </a:rPr>
                        <a:t xml:space="preserve">Name des ESG-Zertifikats/Umweltsiegels </a:t>
                      </a:r>
                      <a:r>
                        <a:rPr lang="de-DE" sz="975" b="0" kern="1200" spc="-10" noProof="0">
                          <a:solidFill>
                            <a:schemeClr val="tx2"/>
                          </a:solidFill>
                          <a:latin typeface="+mn-lt"/>
                          <a:ea typeface="+mn-ea"/>
                          <a:cs typeface="+mn-cs"/>
                        </a:rPr>
                        <a:t xml:space="preserve">(Nr.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Kurze Beschreibung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Datum der Ausstellung/</a:t>
                      </a:r>
                    </a:p>
                    <a:p>
                      <a:pPr algn="l"/>
                      <a:r>
                        <a:rPr lang="de-DE" sz="975" b="1" kern="1200" spc="-10" noProof="0">
                          <a:solidFill>
                            <a:schemeClr val="tx2"/>
                          </a:solidFill>
                          <a:latin typeface="+mn-lt"/>
                          <a:ea typeface="+mn-ea"/>
                          <a:cs typeface="+mn-cs"/>
                        </a:rPr>
                        <a:t xml:space="preserve">Gültigkeit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Etwaige Bewertungsnote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buNone/>
                      </a:pPr>
                      <a:r>
                        <a:rPr lang="de-DE" sz="975" b="0" i="0" u="none" strike="noStrike" noProof="0">
                          <a:solidFill>
                            <a:srgbClr val="2D55FF"/>
                          </a:solidFill>
                          <a:effectLst/>
                          <a:latin typeface="Inter"/>
                        </a:rPr>
                        <a:t>{{certificate_or_ecolabel}}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{{description_certificate}}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date_certicate</a:t>
                      </a:r>
                      <a:r>
                        <a:rPr lang="de-DE" sz="975" b="0" i="0" u="none" strike="noStrike" noProof="0">
                          <a:solidFill>
                            <a:srgbClr val="2D55FF"/>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certiciate_possible_rating</a:t>
                      </a:r>
                      <a:r>
                        <a:rPr lang="de-DE" sz="975" b="0" i="0" u="none" strike="noStrike" noProof="0">
                          <a:solidFill>
                            <a:srgbClr val="2D55FF"/>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Anschriften und Geoposition </a:t>
                      </a:r>
                      <a:r>
                        <a:rPr lang="de-DE" sz="975" b="1" u="none" kern="1200" spc="-10" noProof="0">
                          <a:solidFill>
                            <a:schemeClr val="tx2"/>
                          </a:solidFill>
                          <a:latin typeface="+mn-lt"/>
                          <a:ea typeface="+mn-ea"/>
                          <a:cs typeface="+mn-cs"/>
                        </a:rPr>
                        <a:t xml:space="preserve">wesentlicher</a:t>
                      </a:r>
                      <a:r>
                        <a:rPr lang="de-DE" sz="975" b="1" kern="1200" spc="-10" noProof="0">
                          <a:solidFill>
                            <a:schemeClr val="tx2"/>
                          </a:solidFill>
                          <a:latin typeface="+mn-lt"/>
                          <a:ea typeface="+mn-ea"/>
                          <a:cs typeface="+mn-cs"/>
                        </a:rPr>
                        <a:t xml:space="preserve"> Vermögenswerte und Standorte, die das Unternehmen</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besitzt, gepachtet hat oder bewirtschaftet </a:t>
                      </a:r>
                      <a:r>
                        <a:rPr lang="de-DE" sz="975" b="0" kern="1200" spc="-10" noProof="0">
                          <a:solidFill>
                            <a:schemeClr val="tx2"/>
                          </a:solidFill>
                          <a:latin typeface="+mn-lt"/>
                          <a:ea typeface="+mn-ea"/>
                          <a:cs typeface="+mn-cs"/>
                        </a:rPr>
                        <a:t xml:space="preserve">(Nr.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de-DE" sz="975" b="1" kern="1200" spc="-10" noProof="0">
                          <a:solidFill>
                            <a:schemeClr val="tx2"/>
                          </a:solidFill>
                          <a:latin typeface="+mn-lt"/>
                          <a:ea typeface="+mn-ea"/>
                          <a:cs typeface="+mn-cs"/>
                        </a:rPr>
                        <a:t xml:space="preserve">Standort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Anschrift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PLZ</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Stadt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Land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Geoposition (Koordinaten)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buNone/>
                      </a:pPr>
                      <a:r>
                        <a:rPr lang="de-DE" sz="975" b="0" i="0" u="none" strike="noStrike" noProof="0">
                          <a:solidFill>
                            <a:srgbClr val="2D55FF"/>
                          </a:solidFill>
                          <a:effectLst/>
                          <a:latin typeface="Inter"/>
                        </a:rPr>
                        <a:t>{{geolocation}}</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geolocation_adress</a:t>
                      </a:r>
                      <a:r>
                        <a:rPr lang="de-DE" sz="975" b="0" i="0" u="none" strike="noStrike" noProof="0">
                          <a:solidFill>
                            <a:srgbClr val="2D55FF"/>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{{geolocation_postcode}}</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{{geolocation_city}}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{{geolocation_country}}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geolocation_coordinates</a:t>
                      </a:r>
                      <a:r>
                        <a:rPr lang="de-DE" sz="975" b="0" i="0" u="none" strike="noStrike" noProof="0">
                          <a:solidFill>
                            <a:srgbClr val="2D55FF"/>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de-DE" sz="975" b="0" i="0" u="none" strike="noStrike" noProof="0">
                <a:solidFill>
                  <a:schemeClr val="tx2"/>
                </a:solidFill>
                <a:effectLst/>
                <a:latin typeface="Inter"/>
              </a:rPr>
              <a:t xml:space="preserve">Nachstehend werden die Geopositionen des Unternehmens und die Orte seiner Tätigkeit beschrieben. Diese Angaben können für klimabedingte Risikozonen genutzt werden und informieren über Anlagen, Einrichtungen und/oder den Hauptsitz</a:t>
            </a:r>
            <a:r>
              <a:rPr lang="de-DE" sz="975" noProof="0">
                <a:solidFill>
                  <a:schemeClr val="tx2"/>
                </a:solidFill>
                <a:latin typeface="Inter"/>
              </a:rPr>
              <a:t xml:space="preserve">. Relevante Nachhaltigkeitszertifizierungen oder -siegel sind ebenfalls angegeben, einschließlich Aussteller, Datum und etwaiger Bewertungsnote.</a:t>
            </a:r>
            <a:endParaRPr lang="de-DE"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de-DE" sz="975" noProof="0">
                <a:solidFill>
                  <a:srgbClr val="487477"/>
                </a:solidFill>
                <a:latin typeface="Inter"/>
              </a:rPr>
              <a:t xml:space="preserve">Die Zertifikate und Umweltsiegel des Unternehmens sind nachstehend aufgeführt.</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de-DE" noProof="0"/>
              <a:t xml:space="preserve">Verfahrensweisen, Richtlinien und künftige Initiativen für den Übergang zu einer nachhaltigeren Wirtschaft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de-DE" sz="975" b="1" kern="1200" spc="-10" noProof="0">
                          <a:solidFill>
                            <a:schemeClr val="tx2"/>
                          </a:solidFill>
                          <a:latin typeface="+mn-lt"/>
                          <a:ea typeface="+mn-ea"/>
                          <a:cs typeface="+mn-cs"/>
                        </a:rPr>
                        <a:t xml:space="preserve">Bereich</a:t>
                      </a:r>
                    </a:p>
                    <a:p>
                      <a:r>
                        <a:rPr lang="de-DE" sz="975" b="0" kern="1200" spc="-10" noProof="0">
                          <a:solidFill>
                            <a:schemeClr val="tx2"/>
                          </a:solidFill>
                          <a:latin typeface="+mn-lt"/>
                          <a:ea typeface="+mn-ea"/>
                          <a:cs typeface="+mn-cs"/>
                        </a:rPr>
                        <a:t xml:space="preserve">(Nr.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Verfahrensweise oder Richtlinie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Ist die Richtlinie öffentlich zugänglich?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Das Unternehmen hat künftige Initiativen und Pläne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Ziele zur Überwachung der Umsetzung von Verfahrensweisen und Richtlinien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de-DE" sz="975" b="1" kern="1200" spc="-10" noProof="0">
                          <a:solidFill>
                            <a:schemeClr val="tx2"/>
                          </a:solidFill>
                          <a:latin typeface="+mn-lt"/>
                          <a:ea typeface="+mn-ea"/>
                          <a:cs typeface="+mn-cs"/>
                        </a:rPr>
                        <a:t xml:space="preserve">Klimawandel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{{climate_change_concrete}}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{{climate_change_publicly}}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{{climate_change_future}}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{{climate_change_plan}}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de-DE" sz="975" b="1" kern="1200" spc="-10" noProof="0">
                          <a:solidFill>
                            <a:schemeClr val="tx2"/>
                          </a:solidFill>
                          <a:latin typeface="+mn-lt"/>
                          <a:ea typeface="+mn-ea"/>
                          <a:cs typeface="+mn-cs"/>
                        </a:rPr>
                        <a:t xml:space="preserve">Umweltver­schmutzung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{{pollution_concrete}}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{{pollution_publicly}}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{{pollution_future}}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{{pollution_plan}}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de-DE" sz="975" b="1" kern="1200" spc="-10" noProof="0">
                          <a:solidFill>
                            <a:schemeClr val="tx2"/>
                          </a:solidFill>
                          <a:latin typeface="+mn-lt"/>
                          <a:ea typeface="+mn-ea"/>
                          <a:cs typeface="+mn-cs"/>
                        </a:rPr>
                        <a:t xml:space="preserve">Wasser- und Meeresressourcen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{{water_concrete}}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{{water_publicly}}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{{water_future}}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{{water_plan}}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de-DE" sz="975" b="1" kern="1200" spc="-10" noProof="0">
                          <a:solidFill>
                            <a:schemeClr val="tx2"/>
                          </a:solidFill>
                          <a:latin typeface="+mn-lt"/>
                          <a:ea typeface="+mn-ea"/>
                          <a:cs typeface="+mn-cs"/>
                        </a:rPr>
                        <a:t xml:space="preserve">Biodiversität und Ökosysteme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{{biodiversity_concrete}}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{{biodiversity_publicly}}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{{biodiversity_future}}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{{biodiversity_plan}}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de-DE" sz="975" b="1" kern="1200" spc="-10" noProof="0">
                          <a:solidFill>
                            <a:schemeClr val="tx2"/>
                          </a:solidFill>
                          <a:latin typeface="+mn-lt"/>
                          <a:ea typeface="+mn-ea"/>
                          <a:cs typeface="+mn-cs"/>
                        </a:rPr>
                        <a:t xml:space="preserve">Kreislaufwirt­schaft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{{circular_concrete}}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{{circular_publicly}}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{{circular_future}}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{{circular_plan}}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de-DE" sz="975" b="1" kern="1200" spc="-10" noProof="0">
                          <a:solidFill>
                            <a:schemeClr val="tx2"/>
                          </a:solidFill>
                          <a:latin typeface="+mn-lt"/>
                          <a:ea typeface="+mn-ea"/>
                          <a:cs typeface="+mn-cs"/>
                        </a:rPr>
                        <a:t xml:space="preserve">Arbeitskräfte des Unternehmens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{{workforce_concrete}}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{{workforce_publicly}}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{{workforce_future}}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{{workforce_plan}}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de-DE" sz="975" b="1" kern="1200" spc="-10" noProof="0">
                          <a:solidFill>
                            <a:schemeClr val="tx2"/>
                          </a:solidFill>
                          <a:latin typeface="+mn-lt"/>
                          <a:ea typeface="+mn-ea"/>
                          <a:cs typeface="+mn-cs"/>
                        </a:rPr>
                        <a:t xml:space="preserve">Arbeitskräfte in der Wertschöpfungs­kette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{{workers_concrete}}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{{workers_publicly}}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{{workers_future}}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{{workers_plan}}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de-DE" sz="975" b="1" kern="1200" spc="-10" noProof="0">
                          <a:solidFill>
                            <a:schemeClr val="tx2"/>
                          </a:solidFill>
                          <a:latin typeface="+mn-lt"/>
                          <a:ea typeface="+mn-ea"/>
                          <a:cs typeface="+mn-cs"/>
                        </a:rPr>
                        <a:t xml:space="preserve">Betroffene Gemeinschaften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{{communities_concrete}}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{{communities_publicly}}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{{communities_future}}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{{communities_plan}}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de-DE" sz="975" b="1" kern="1200" spc="-10" noProof="0">
                          <a:solidFill>
                            <a:schemeClr val="tx2"/>
                          </a:solidFill>
                          <a:latin typeface="+mn-lt"/>
                          <a:ea typeface="+mn-ea"/>
                          <a:cs typeface="+mn-cs"/>
                        </a:rPr>
                        <a:t xml:space="preserve">Verbraucher und Endnutzer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{{consumers_concrete}}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{{consumers_publicly}}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{{consumers_future}}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{{consumers_plan}}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de-DE" sz="975" b="1" kern="1200" spc="-10" noProof="0">
                          <a:solidFill>
                            <a:schemeClr val="tx2"/>
                          </a:solidFill>
                          <a:latin typeface="+mn-lt"/>
                          <a:ea typeface="+mn-ea"/>
                          <a:cs typeface="+mn-cs"/>
                        </a:rPr>
                        <a:t xml:space="preserve">Unternehmenspolitik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{{governance_concrete}}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{{governance_publicly}}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{{governance_future}}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nter"/>
                        </a:rPr>
                        <a:t>{{governance_plan}}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de-DE" sz="975" b="0" i="0" u="none" strike="noStrike" noProof="0">
                <a:solidFill>
                  <a:schemeClr val="tx2"/>
                </a:solidFill>
                <a:effectLst/>
                <a:latin typeface="Inter"/>
              </a:rPr>
              <a:t xml:space="preserve">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975" noProof="0">
                <a:solidFill>
                  <a:schemeClr val="tx2"/>
                </a:solidFill>
              </a:rPr>
            </a:br>
            <a:endParaRPr lang="de-DE"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e-DE" noProof="0" smtClean="0"/>
              <a:pPr/>
              <a:t>4</a:t>
            </a:fld>
            <a:endParaRPr lang="de-DE"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Energieverbrauch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Energieverbrauch in MWh </a:t>
                      </a:r>
                      <a:r>
                        <a:rPr lang="de-DE" sz="975" b="0" noProof="0">
                          <a:solidFill>
                            <a:schemeClr val="tx2"/>
                          </a:solidFill>
                        </a:rPr>
                        <a:t xml:space="preserve">(Nr.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e-DE" sz="72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Erneuerbarer Energieverbrauch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Nicht erneuerbarer Energieverbrauch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Gesamtenergieverbrauch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de-DE" sz="975" b="1" noProof="0">
                          <a:solidFill>
                            <a:schemeClr val="tx2"/>
                          </a:solidFill>
                        </a:rPr>
                        <a:t xml:space="preserve">Strom </a:t>
                      </a:r>
                      <a:r>
                        <a:rPr lang="de-DE" sz="975" b="0" noProof="0">
                          <a:solidFill>
                            <a:schemeClr val="tx2"/>
                          </a:solidFill>
                        </a:rPr>
                        <a:t xml:space="preserve">(wie in den Rechnungen der Versorgungsunternehmen angegeben)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{{electricity_renewable}}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{{electricity_non_rewenable}}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{{total_electricity}}</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de-DE" sz="975" b="1" noProof="0">
                          <a:solidFill>
                            <a:schemeClr val="tx2"/>
                          </a:solidFill>
                        </a:rPr>
                        <a:t xml:space="preserve">Kraft-/Brennstoffe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{{fuel_renewable}}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{{fuel_non_rewenable}}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{{total_fuel}}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de-DE" sz="975" b="1" noProof="0">
                          <a:solidFill>
                            <a:schemeClr val="tx2"/>
                          </a:solidFill>
                        </a:rPr>
                        <a:t xml:space="preserve">Sonstiges (z. B. Fernwärme)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{{district_heating_rewenable}}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{{district_heating_non_rewenable}}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{{total_district_heating}}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de-DE" sz="975" b="1" noProof="0">
                          <a:solidFill>
                            <a:schemeClr val="tx2"/>
                          </a:solidFill>
                        </a:rPr>
                        <a:t xml:space="preserve">Insgesamt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{{renewable_energy_total}}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{{non_rewenable_energy_total}}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BM Plex Sans" panose="020B0503050203000203" pitchFamily="34" charset="0"/>
                        </a:rPr>
                        <a:t>{{total_energy_consumption}}</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5</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de-DE" sz="975" b="0" i="0" u="none" strike="noStrike" noProof="0">
                <a:solidFill>
                  <a:schemeClr val="tx2"/>
                </a:solidFill>
                <a:effectLst/>
                <a:latin typeface="Inter"/>
              </a:rPr>
              <a:t xml:space="preserve">Dieser Abschnitt gibt die CO2-Emissionen aus dem Energieverbrauch an, aufgeteilt in erneuerbaren und nicht erneuerbaren Verbrauch. </a:t>
            </a:r>
            <a:r>
              <a:rPr lang="de-DE" sz="975" noProof="0">
                <a:solidFill>
                  <a:schemeClr val="tx2"/>
                </a:solidFill>
                <a:latin typeface="Inter"/>
              </a:rPr>
              <a:t xml:space="preserve">Die Emissionen werden nach </a:t>
            </a:r>
            <a:r>
              <a:rPr lang="de-DE" sz="975" b="0" i="0" u="none" strike="noStrike" noProof="0">
                <a:solidFill>
                  <a:schemeClr val="tx2"/>
                </a:solidFill>
                <a:effectLst/>
                <a:latin typeface="Inter"/>
              </a:rPr>
              <a:t xml:space="preserve">den Festlegungen des THG-Protokolls zu direkten und indirekten Emissionen angegeben. </a:t>
            </a:r>
            <a:br>
              <a:rPr lang="de-DE" sz="975" b="0" i="0" u="none" strike="noStrike" noProof="0" dirty="0">
                <a:effectLst/>
                <a:latin typeface="Inter"/>
              </a:rPr>
            </a:br>
            <a:br>
              <a:rPr lang="de-DE" sz="975" dirty="0">
                <a:latin typeface="Inter"/>
              </a:rPr>
            </a:br>
            <a:r>
              <a:rPr lang="de-DE" sz="650" b="0" i="0" u="none" strike="noStrike" noProof="0">
                <a:solidFill>
                  <a:schemeClr val="tx2"/>
                </a:solidFill>
                <a:effectLst/>
                <a:latin typeface="Inter"/>
              </a:rPr>
              <a:t> </a:t>
            </a:r>
            <a:endParaRPr lang="de-DE" sz="975" b="0" i="0" u="none" strike="noStrike" noProof="0" dirty="0">
              <a:solidFill>
                <a:schemeClr val="tx2"/>
              </a:solidFill>
              <a:effectLst/>
              <a:latin typeface="Inter"/>
            </a:endParaRPr>
          </a:p>
          <a:p>
            <a:pPr rtl="0">
              <a:buNone/>
            </a:pPr>
            <a:endParaRPr lang="de-DE" sz="975" b="0" noProof="0">
              <a:solidFill>
                <a:schemeClr val="tx2"/>
              </a:solidFill>
              <a:effectLst/>
              <a:latin typeface="Inter"/>
            </a:endParaRPr>
          </a:p>
          <a:p>
            <a:pPr>
              <a:buNone/>
            </a:pPr>
            <a:endParaRPr lang="de-DE"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endParaRPr lang="de-DE"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de-DE" sz="975" b="1" noProof="0">
                          <a:solidFill>
                            <a:schemeClr val="tx2"/>
                          </a:solidFill>
                        </a:rPr>
                        <a:t xml:space="preserve">Treibhausgasemissionen </a:t>
                      </a:r>
                      <a:r>
                        <a:rPr lang="de-DE" sz="975" b="0" noProof="0">
                          <a:solidFill>
                            <a:schemeClr val="tx2"/>
                          </a:solidFill>
                        </a:rPr>
                        <a:t xml:space="preserve">(Nr. 33)</a:t>
                      </a: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Jahr </a:t>
                      </a:r>
                      <a:r>
                        <a:rPr lang="de-DE" sz="975" b="1" noProof="0">
                          <a:solidFill>
                            <a:schemeClr val="accent2"/>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de-DE" sz="975" b="1" noProof="0">
                          <a:solidFill>
                            <a:schemeClr val="tx2"/>
                          </a:solidFill>
                        </a:rPr>
                        <a:t xml:space="preserve">Scope-1-CO₂e-Emissionen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{{scope1}}</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de-DE" sz="975" b="1" noProof="0">
                          <a:solidFill>
                            <a:schemeClr val="tx2"/>
                          </a:solidFill>
                        </a:rPr>
                        <a:t xml:space="preserve">Scope-2-CO₂e-Emissionen (standortbezogen)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{{scope2}}</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e-DE" sz="975" b="1" noProof="0">
                          <a:solidFill>
                            <a:schemeClr val="tx2"/>
                          </a:solidFill>
                        </a:rPr>
                        <a:t xml:space="preserve">Gesamte CO₂e-Emissionen aus Scope 1 und Scope 2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{{total_scope}}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de-DE" b="1" dirty="0">
                <a:latin typeface="+mj-lt"/>
              </a:rPr>
            </a:br>
            <a:r>
              <a:rPr lang="de-DE" b="1" i="0" u="none" strike="noStrike" noProof="0">
                <a:solidFill>
                  <a:schemeClr val="tx2"/>
                </a:solidFill>
                <a:effectLst/>
                <a:latin typeface="+mj-lt"/>
              </a:rPr>
              <a:t xml:space="preserve">CO₂e-Emissionen (B3)</a:t>
            </a:r>
            <a:endParaRPr lang="de-DE" noProof="0">
              <a:solidFill>
                <a:schemeClr val="tx2"/>
              </a:solidFill>
              <a:effectLst/>
              <a:latin typeface="+mj-lt"/>
            </a:endParaRPr>
          </a:p>
          <a:p>
            <a:r>
              <a:rPr lang="de-DE" sz="650">
                <a:latin typeface="Inter"/>
              </a:rPr>
              <a:t> </a:t>
            </a:r>
            <a:br>
              <a:rPr lang="de-DE" sz="975" dirty="0">
                <a:solidFill>
                  <a:schemeClr val="tx2"/>
                </a:solidFill>
                <a:latin typeface="Inter"/>
              </a:rPr>
            </a:br>
            <a:r>
              <a:rPr lang="de-DE" sz="975" b="0" i="0" u="none" strike="noStrike" noProof="0">
                <a:solidFill>
                  <a:schemeClr val="tx2"/>
                </a:solidFill>
                <a:effectLst/>
                <a:latin typeface="Inter"/>
              </a:rPr>
              <a:t xml:space="preserve">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975" noProof="0">
                <a:solidFill>
                  <a:schemeClr val="tx2"/>
                </a:solidFill>
                <a:latin typeface="Inter"/>
              </a:rPr>
              <a:t> </a:t>
            </a:r>
            <a:r>
              <a:rPr lang="de-DE" sz="975" b="0" i="0" u="none" strike="noStrike" noProof="0">
                <a:solidFill>
                  <a:schemeClr val="tx2"/>
                </a:solidFill>
                <a:effectLst/>
                <a:latin typeface="Inter"/>
              </a:rPr>
              <a:t>Scope 2</a:t>
            </a:r>
            <a:r>
              <a:rPr lang="de-DE" sz="975" noProof="0">
                <a:solidFill>
                  <a:schemeClr val="tx2"/>
                </a:solidFill>
                <a:latin typeface="Inter"/>
              </a:rPr>
              <a:t xml:space="preserve"> umfasst i</a:t>
            </a:r>
            <a:r>
              <a:rPr lang="de-DE" sz="975" b="0" i="0" u="none" strike="noStrike" noProof="0">
                <a:solidFill>
                  <a:schemeClr val="tx2"/>
                </a:solidFill>
                <a:effectLst/>
                <a:latin typeface="Inter"/>
              </a:rPr>
              <a:t xml:space="preserve">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lang="de-DE"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Luft-, Wasser- und Bodenverschmutzung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de-DE" sz="806" b="1" noProof="0">
                          <a:solidFill>
                            <a:schemeClr val="tx2"/>
                          </a:solidFill>
                        </a:rPr>
                        <a:t xml:space="preserve">Luft-, Wasser- und Bodenverschmutzung </a:t>
                      </a:r>
                      <a:r>
                        <a:rPr lang="de-DE" sz="806" b="0" noProof="0">
                          <a:solidFill>
                            <a:schemeClr val="tx2"/>
                          </a:solidFill>
                        </a:rPr>
                        <a:t xml:space="preserve">(Nr.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Art der Verschmutzung </a:t>
                      </a:r>
                      <a:r>
                        <a:rPr lang="de-DE" sz="806" b="0" noProof="0">
                          <a:solidFill>
                            <a:schemeClr val="tx2"/>
                          </a:solidFill>
                        </a:rPr>
                        <a:t xml:space="preserve">(z. B. Schadstoff)</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Wo? </a:t>
                      </a:r>
                      <a:r>
                        <a:rPr lang="de-DE" sz="806" b="0" noProof="0">
                          <a:solidFill>
                            <a:schemeClr val="tx2"/>
                          </a:solidFill>
                        </a:rPr>
                        <a:t xml:space="preserve">(Luft, Wasser, Boden)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Menge</a:t>
                      </a:r>
                      <a:endParaRPr lang="de-DE" sz="806"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buNone/>
                      </a:pPr>
                      <a:r>
                        <a:rPr lang="de-DE" sz="806" b="0" i="0" u="none" strike="noStrike" noProof="0">
                          <a:solidFill>
                            <a:srgbClr val="2D55FF"/>
                          </a:solidFill>
                          <a:effectLst/>
                          <a:latin typeface="Inter"/>
                        </a:rPr>
                        <a:t>{{type_of_pollution}}</a:t>
                      </a:r>
                      <a:endParaRPr lang="de-DE"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e-DE" sz="806" b="0" i="0" u="none" strike="noStrike" noProof="0">
                          <a:solidFill>
                            <a:srgbClr val="2D55FF"/>
                          </a:solidFill>
                          <a:effectLst/>
                          <a:latin typeface="Inter"/>
                        </a:rPr>
                        <a:t>{{scope_pollution}}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e-DE" sz="806" b="0" i="0" u="none" strike="noStrike" noProof="0">
                          <a:solidFill>
                            <a:srgbClr val="2D55FF"/>
                          </a:solidFill>
                          <a:effectLst/>
                          <a:latin typeface="Inter"/>
                        </a:rPr>
                        <a:t>{{</a:t>
                      </a:r>
                      <a:r>
                        <a:rPr lang="de-DE" sz="806" b="0" i="0" u="none" strike="noStrike" noProof="0">
                          <a:solidFill>
                            <a:srgbClr val="2D55FF"/>
                          </a:solidFill>
                          <a:effectLst/>
                          <a:latin typeface="Inter"/>
                        </a:rPr>
                        <a:t>pollution_medium</a:t>
                      </a:r>
                      <a:r>
                        <a:rPr lang="de-DE" sz="806" b="0" i="0" u="none" strike="noStrike" noProof="0">
                          <a:solidFill>
                            <a:srgbClr val="2D55FF"/>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Das Unternehmen berichtet die Gesamtmenge der Schadstoffe, die aus seinen Anlagen emittiert werden. Die Angaben zu den einzelnen Schadstoffen und deren Mengen, die in Luft, Wasser und Boden emittiert werden,</a:t>
            </a:r>
            <a:r>
              <a:rPr lang="de-DE" sz="806" noProof="0">
                <a:solidFill>
                  <a:schemeClr val="tx2"/>
                </a:solidFill>
                <a:latin typeface="Inter"/>
              </a:rPr>
              <a:t xml:space="preserve"> sind nachstehend aufgeführt.</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Biodiversität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de-DE" sz="806" b="1" noProof="0">
                          <a:solidFill>
                            <a:schemeClr val="tx2"/>
                          </a:solidFill>
                        </a:rPr>
                        <a:t xml:space="preserve">Standorte in oder in der Nähe von ‚Gebieten mit schutzbedürftiger Biodiversität‘, die das Unternehmen besitzt, gepachtet hat oder bewirtschaftet </a:t>
                      </a:r>
                      <a:r>
                        <a:rPr lang="de-DE" sz="806" b="0" noProof="0">
                          <a:solidFill>
                            <a:schemeClr val="tx2"/>
                          </a:solidFill>
                        </a:rPr>
                        <a:t xml:space="preserve">(Nr.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de-DE" sz="806" b="1" noProof="0">
                          <a:solidFill>
                            <a:schemeClr val="tx2"/>
                          </a:solidFill>
                        </a:rPr>
                        <a:t xml:space="preserve">Standort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Fläche in Hektar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Gebiet mit schutzbedürftiger Biodiversität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Angabe: in oder in der Nähe eines Gebiets mit schutzbedürftiger Biodiversität</a:t>
                      </a:r>
                      <a:endParaRPr lang="de-DE"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buNone/>
                      </a:pPr>
                      <a:r>
                        <a:rPr lang="de-DE" sz="806" b="0" i="0" u="none" strike="noStrike" noProof="0">
                          <a:solidFill>
                            <a:srgbClr val="2D55FF"/>
                          </a:solidFill>
                          <a:effectLst/>
                          <a:latin typeface="Inter"/>
                        </a:rPr>
                        <a:t>{{country_location}}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e-DE" sz="806" b="0" i="0" u="none" strike="noStrike" noProof="0">
                          <a:solidFill>
                            <a:srgbClr val="2D55FF"/>
                          </a:solidFill>
                          <a:effectLst/>
                          <a:latin typeface="Inter"/>
                        </a:rPr>
                        <a:t> {{area_hect}}</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806" b="0" i="0" u="none" strike="noStrike" noProof="0">
                          <a:solidFill>
                            <a:srgbClr val="2D55FF"/>
                          </a:solidFill>
                          <a:effectLst/>
                          <a:latin typeface="Inter"/>
                        </a:rPr>
                        <a:t>{{area_name}}</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806" b="0" i="0" u="none" strike="noStrike" noProof="0">
                          <a:solidFill>
                            <a:srgbClr val="2D55FF"/>
                          </a:solidFill>
                          <a:effectLst/>
                          <a:latin typeface="Inter"/>
                        </a:rPr>
                        <a:t>{{</a:t>
                      </a:r>
                      <a:r>
                        <a:rPr lang="de-DE" sz="806" b="0" i="0" u="none" strike="noStrike" noProof="0">
                          <a:solidFill>
                            <a:srgbClr val="2D55FF"/>
                          </a:solidFill>
                          <a:effectLst/>
                          <a:latin typeface="Inter"/>
                        </a:rPr>
                        <a:t>biosensitive_area</a:t>
                      </a:r>
                      <a:r>
                        <a:rPr lang="de-DE" sz="806" b="0" i="0" u="none" strike="noStrike" noProof="0">
                          <a:solidFill>
                            <a:srgbClr val="2D55FF"/>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de-DE" sz="806" b="0" i="0" u="none" strike="noStrike" noProof="0">
                <a:solidFill>
                  <a:schemeClr val="tx2"/>
                </a:solidFill>
                <a:effectLst/>
                <a:latin typeface="Inter"/>
              </a:rPr>
              <a:t xml:space="preserve">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endParaRPr lang="de-DE"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a:t xml:space="preserve">Wasser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1808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6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Wasserentnahme </a:t>
                      </a:r>
                      <a:r>
                        <a:rPr lang="de-DE" sz="806" b="0" noProof="0">
                          <a:solidFill>
                            <a:schemeClr val="tx2"/>
                          </a:solidFill>
                        </a:rPr>
                        <a:t xml:space="preserve">(Nr.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51364">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6" b="0" i="0" u="none" strike="noStrike" kern="1200" cap="none" spc="0" normalizeH="0" baseline="0" noProof="0">
                          <a:ln>
                            <a:noFill/>
                          </a:ln>
                          <a:solidFill>
                            <a:srgbClr val="2D55FF"/>
                          </a:solidFill>
                          <a:effectLst/>
                          <a:uLnTx/>
                          <a:uFillTx/>
                          <a:latin typeface="+mn-lt"/>
                          <a:ea typeface="+mn-ea"/>
                          <a:cs typeface="+mn-cs"/>
                        </a:rPr>
                        <a:t>{{</a:t>
                      </a:r>
                      <a:r>
                        <a:rPr kumimoji="0" lang="de-DE" sz="806" b="0" i="0" u="none" strike="noStrike" kern="1200" cap="none" spc="0" normalizeH="0" baseline="0" noProof="0">
                          <a:ln>
                            <a:noFill/>
                          </a:ln>
                          <a:solidFill>
                            <a:srgbClr val="2D55FF"/>
                          </a:solidFill>
                          <a:effectLst/>
                          <a:uLnTx/>
                          <a:uFillTx/>
                          <a:latin typeface="+mn-lt"/>
                          <a:ea typeface="+mn-ea"/>
                          <a:cs typeface="+mn-cs"/>
                        </a:rPr>
                        <a:t>total_withdrawal</a:t>
                      </a:r>
                      <a:r>
                        <a:rPr kumimoji="0" lang="de-DE" sz="806" b="0" i="0" u="none" strike="noStrike" kern="1200" cap="none" spc="0" normalizeH="0" baseline="0" noProof="0">
                          <a:ln>
                            <a:noFill/>
                          </a:ln>
                          <a:solidFill>
                            <a:srgbClr val="2D55FF"/>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1808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Wasserverbrauch </a:t>
                      </a:r>
                      <a:r>
                        <a:rPr lang="de-DE" sz="806" b="0" noProof="0">
                          <a:solidFill>
                            <a:schemeClr val="tx2"/>
                          </a:solidFill>
                        </a:rPr>
                        <a:t xml:space="preserve">(Nr.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0905">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{{consumption_total}}</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4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0" noProof="0">
                          <a:solidFill>
                            <a:schemeClr val="tx2"/>
                          </a:solidFill>
                        </a:rPr>
                        <a:t xml:space="preserve">Von Standorten in Gebieten mit Wasserknappheit (hoher Wasserstress)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a:t>
                      </a:r>
                      <a:r>
                        <a:rPr lang="de-DE" sz="806" b="0" i="0" u="none" strike="noStrike" noProof="0">
                          <a:solidFill>
                            <a:srgbClr val="2D55FF"/>
                          </a:solidFill>
                          <a:effectLst/>
                          <a:latin typeface="Inter"/>
                        </a:rPr>
                        <a:t>consumption_waterstress</a:t>
                      </a:r>
                      <a:r>
                        <a:rPr lang="de-DE" sz="806" b="0" i="0" u="none" strike="noStrike" noProof="0">
                          <a:solidFill>
                            <a:srgbClr val="2D55FF"/>
                          </a:solidFill>
                          <a:effectLst/>
                          <a:latin typeface="Inter"/>
                        </a:rPr>
                        <a:t>}}</a:t>
                      </a:r>
                      <a:endParaRPr lang="de-DE"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de-DE" sz="806" b="0" i="0" u="none" strike="noStrike" noProof="0">
                <a:solidFill>
                  <a:schemeClr val="tx2"/>
                </a:solidFill>
                <a:effectLst/>
                <a:latin typeface="Inter"/>
              </a:rPr>
              <a:t xml:space="preserve">Die Wasserentnahme ist die vom Unternehmen genutzte Wassermenge, wobei </a:t>
            </a:r>
            <a:r>
              <a:rPr lang="de-DE" sz="806" noProof="0">
                <a:solidFill>
                  <a:schemeClr val="tx2"/>
                </a:solidFill>
                <a:latin typeface="Inter"/>
              </a:rPr>
              <a:t xml:space="preserve">der Verbrauch das Wasser bezeichnet, das </a:t>
            </a:r>
            <a:r>
              <a:rPr lang="de-DE" sz="806" b="0" i="0" u="none" strike="noStrike" noProof="0">
                <a:solidFill>
                  <a:schemeClr val="tx2"/>
                </a:solidFill>
                <a:effectLst/>
                <a:latin typeface="Inter"/>
              </a:rPr>
              <a:t xml:space="preserve">nicht in Gewässer oder an Dritte abgeleitet wird bzw. werden soll. Dieser Abschnitt gibt die gesamte Wasserentnahme des Unternehmens an. Wasserverbrauch</a:t>
            </a:r>
            <a:r>
              <a:rPr lang="de-DE" sz="806" noProof="0">
                <a:solidFill>
                  <a:schemeClr val="tx2"/>
                </a:solidFill>
                <a:latin typeface="Inter"/>
              </a:rPr>
              <a:t> </a:t>
            </a:r>
            <a:r>
              <a:rPr lang="de-DE" sz="806" b="0" i="0" u="none" strike="noStrike" noProof="0">
                <a:solidFill>
                  <a:schemeClr val="tx2"/>
                </a:solidFill>
                <a:effectLst/>
                <a:latin typeface="Inter"/>
              </a:rPr>
              <a:t xml:space="preserve">und Wasserableitung aus Gebieten mit hohem Wasserstress sind nachstehend aufgeführt.</a:t>
            </a:r>
            <a:endParaRPr lang="de-DE"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Ressourcennutzung, Kreislaufwirtschaft und Abfallbewirtschaftung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Anwendung der Grundsätze der Kreislaufwirtschaft </a:t>
                      </a:r>
                      <a:r>
                        <a:rPr lang="de-DE" sz="806" b="0" noProof="0">
                          <a:solidFill>
                            <a:schemeClr val="tx2"/>
                          </a:solidFill>
                        </a:rPr>
                        <a:t xml:space="preserve">(Nr.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de-DE" sz="806" b="0" noProof="0">
                          <a:solidFill>
                            <a:schemeClr val="tx2"/>
                          </a:solidFill>
                        </a:rPr>
                        <a:t xml:space="preserve">Mein Unternehmen wendet Kreislaufgrundsätze 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{{circular_economy_princples_yes}}</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e-DE" sz="806" b="0" i="0" u="none" strike="noStrike" noProof="0">
                          <a:solidFill>
                            <a:srgbClr val="2D55FF"/>
                          </a:solidFill>
                          <a:effectLst/>
                          <a:latin typeface="Inter"/>
                        </a:rPr>
                        <a:t>{{circular_economy_princples_no?}}</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de-DE" sz="806" b="0" i="0" u="none" strike="noStrike" noProof="0">
                <a:solidFill>
                  <a:schemeClr val="tx2"/>
                </a:solidFill>
                <a:effectLst/>
                <a:latin typeface="Inter"/>
              </a:rPr>
              <a:t xml:space="preserve">Diese Angabepflicht informiert darüber, ob das Unternehmen</a:t>
            </a:r>
            <a:r>
              <a:rPr lang="de-DE" sz="806" noProof="0">
                <a:solidFill>
                  <a:schemeClr val="tx2"/>
                </a:solidFill>
                <a:latin typeface="Inter"/>
              </a:rPr>
              <a:t xml:space="preserve"> die Grundsätze der Kreislaufwirtschaft anwendet, u. a. Grundsätze zur Verringerung von Abfall und Umweltverschmutzung sowie einen Fokus auf kreislauffähige Produkte und Materialien.</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de-DE" sz="806" b="1" noProof="0">
                          <a:solidFill>
                            <a:schemeClr val="tx2"/>
                          </a:solidFill>
                        </a:rPr>
                        <a:t xml:space="preserve">Beschreibung, wie das Unternehmen die Grundsätze der Kreislaufwirtschaft anwendet </a:t>
                      </a:r>
                      <a:r>
                        <a:rPr lang="de-DE" sz="806" b="0" noProof="0">
                          <a:solidFill>
                            <a:schemeClr val="tx2"/>
                          </a:solidFill>
                        </a:rPr>
                        <a:t xml:space="preserve">(Nr. 38 Fortsetzung)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de-DE" sz="806" b="0" kern="1200" noProof="0">
                          <a:solidFill>
                            <a:schemeClr val="accent2"/>
                          </a:solidFill>
                          <a:latin typeface="+mn-lt"/>
                          <a:ea typeface="+mn-ea"/>
                          <a:cs typeface="+mn-cs"/>
                        </a:rPr>
                        <a:t>{{</a:t>
                      </a:r>
                      <a:r>
                        <a:rPr lang="de-DE" sz="806" b="0" kern="1200" noProof="0">
                          <a:solidFill>
                            <a:schemeClr val="accent2"/>
                          </a:solidFill>
                          <a:latin typeface="+mn-lt"/>
                          <a:ea typeface="+mn-ea"/>
                          <a:cs typeface="+mn-cs"/>
                        </a:rPr>
                        <a:t>description_of_circular_economies</a:t>
                      </a:r>
                      <a:r>
                        <a:rPr lang="de-DE" sz="806" b="0" kern="1200" noProof="0">
                          <a:solidFill>
                            <a:schemeClr val="accent2"/>
                          </a:solidFill>
                          <a:latin typeface="+mn-lt"/>
                          <a:ea typeface="+mn-ea"/>
                          <a:cs typeface="+mn-cs"/>
                        </a:rPr>
                        <a:t>}}</a:t>
                      </a:r>
                    </a:p>
                    <a:p>
                      <a:pPr algn="l"/>
                      <a:endParaRPr lang="de-DE" sz="806" b="0" kern="1200" noProof="0" dirty="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de-DE" noProof="0" smtClean="0"/>
              <a:pPr/>
              <a:t>6</a:t>
            </a:fld>
            <a:endParaRPr lang="de-DE"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Ressourcennutzung, Kreislaufwirtschaft und Abfallbewirtschaftung (B7) – Fortsetzung</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de-DE" sz="975" b="1" noProof="0">
                          <a:solidFill>
                            <a:schemeClr val="tx2"/>
                          </a:solidFill>
                        </a:rPr>
                        <a:t xml:space="preserve">Jährliches Gesamtabfallaufkommen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86343">
                <a:tc>
                  <a:txBody>
                    <a:bodyPr/>
                    <a:lstStyle/>
                    <a:p>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Gesamtabfallmenge </a:t>
                      </a:r>
                      <a:r>
                        <a:rPr lang="de-DE" sz="975" b="0" noProof="0">
                          <a:solidFill>
                            <a:schemeClr val="tx2"/>
                          </a:solidFill>
                        </a:rPr>
                        <a:t xml:space="preserve">(Nr.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Abfälle, die zum Recycling oder zur Vorbereitung der Wiederverwendung umgeleitet werden </a:t>
                      </a:r>
                      <a:r>
                        <a:rPr lang="de-DE" sz="975" b="0" noProof="0">
                          <a:solidFill>
                            <a:schemeClr val="tx2"/>
                          </a:solidFill>
                        </a:rPr>
                        <a:t xml:space="preserve">(Nr.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Nicht gefährliche Abfälle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buNone/>
                      </a:pPr>
                      <a:r>
                        <a:rPr lang="de-DE" sz="975" b="0" i="0" u="none" strike="noStrike" noProof="0">
                          <a:solidFill>
                            <a:srgbClr val="2D55FF"/>
                          </a:solidFill>
                          <a:effectLst/>
                          <a:latin typeface="Inter"/>
                        </a:rPr>
                        <a:t>{{Type_af_affald}}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{{kg_tons_total}}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nter"/>
                        </a:rPr>
                        <a:t>{{genbrug_kg_tons}}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de-DE" sz="975" b="1" noProof="0">
                          <a:solidFill>
                            <a:schemeClr val="tx2"/>
                          </a:solidFill>
                        </a:rPr>
                        <a:t xml:space="preserve">Gefährliche Abfälle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buNone/>
                      </a:pPr>
                      <a:r>
                        <a:rPr lang="de-DE" sz="975" b="0" i="0" u="none" strike="noStrike" noProof="0">
                          <a:solidFill>
                            <a:srgbClr val="2D55FF"/>
                          </a:solidFill>
                          <a:effectLst/>
                          <a:latin typeface="Inter"/>
                        </a:rPr>
                        <a:t>{{Type_af_affald_farlig}}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{{farlig_kg_tons}}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farlig_genbrug_kg_tons</a:t>
                      </a:r>
                      <a:r>
                        <a:rPr lang="de-DE" sz="975" b="0" i="0" u="none" strike="noStrike" noProof="0">
                          <a:solidFill>
                            <a:srgbClr val="2D55FF"/>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7</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lang="de-DE"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de-DE" sz="975" b="1" noProof="0">
                          <a:solidFill>
                            <a:schemeClr val="tx2"/>
                          </a:solidFill>
                        </a:rPr>
                        <a:t xml:space="preserve">Relevante Materialien </a:t>
                      </a:r>
                      <a:r>
                        <a:rPr lang="de-DE" sz="975" b="0" noProof="0">
                          <a:solidFill>
                            <a:schemeClr val="tx2"/>
                          </a:solidFill>
                        </a:rPr>
                        <a:t xml:space="preserve">(Nr.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Jährlicher Massenstrom </a:t>
                      </a:r>
                      <a:r>
                        <a:rPr lang="de-DE" sz="975" b="1" noProof="0">
                          <a:solidFill>
                            <a:schemeClr val="accent2"/>
                          </a:solidFill>
                        </a:rPr>
                        <a:t>{{insert_year}}</a:t>
                      </a: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r>
                        <a:rPr lang="de-DE" sz="975" b="0" i="0" u="none" strike="noStrike" noProof="0">
                          <a:solidFill>
                            <a:srgbClr val="2D55FF"/>
                          </a:solidFill>
                          <a:latin typeface="Inter"/>
                        </a:rPr>
                        <a:t>{{significant_material}}</a:t>
                      </a:r>
                      <a:endParaRPr lang="de-DE" sz="975" b="0" noProof="0">
                        <a:solidFill>
                          <a:schemeClr val="accent2"/>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e-DE" sz="975" b="0" i="0" u="none" strike="noStrike" noProof="0">
                          <a:solidFill>
                            <a:srgbClr val="2D55FF"/>
                          </a:solidFill>
                          <a:latin typeface="Inter"/>
                        </a:rPr>
                        <a:t>{{</a:t>
                      </a:r>
                      <a:r>
                        <a:rPr lang="de-DE" sz="975" b="0" i="0" u="none" strike="noStrike" noProof="0">
                          <a:solidFill>
                            <a:srgbClr val="2D55FF"/>
                          </a:solidFill>
                          <a:latin typeface="Inter"/>
                        </a:rPr>
                        <a:t>significant_material_unit</a:t>
                      </a:r>
                      <a:r>
                        <a:rPr lang="de-DE" sz="975" b="0" i="0" u="none" strike="noStrike" noProof="0">
                          <a:solidFill>
                            <a:srgbClr val="2D55FF"/>
                          </a:solidFill>
                          <a:latin typeface="Inter"/>
                        </a:rPr>
                        <a:t>}}</a:t>
                      </a:r>
                      <a:endParaRPr lang="de-DE"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Allgemeine Merkmale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63732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385185">
                <a:tc>
                  <a:txBody>
                    <a:bodyPr/>
                    <a:lstStyle/>
                    <a:p>
                      <a:r>
                        <a:rPr lang="de-DE" sz="975" b="1" noProof="0">
                          <a:solidFill>
                            <a:schemeClr val="tx2"/>
                          </a:solidFill>
                        </a:rPr>
                        <a:t xml:space="preserve">Art des Arbeitsvertrags </a:t>
                      </a:r>
                      <a:r>
                        <a:rPr lang="de-DE" sz="975" b="0" noProof="0">
                          <a:solidFill>
                            <a:schemeClr val="tx2"/>
                          </a:solidFill>
                        </a:rPr>
                        <a:t xml:space="preserve">(Nr.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85185">
                <a:tc>
                  <a:txBody>
                    <a:bodyPr/>
                    <a:lstStyle/>
                    <a:p>
                      <a:r>
                        <a:rPr lang="de-DE" sz="975" b="0" noProof="0">
                          <a:solidFill>
                            <a:schemeClr val="tx2"/>
                          </a:solidFill>
                        </a:rPr>
                        <a:t xml:space="preserve">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{{temporary}}</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5185">
                <a:tc>
                  <a:txBody>
                    <a:bodyPr/>
                    <a:lstStyle/>
                    <a:p>
                      <a:r>
                        <a:rPr lang="de-DE" sz="975" b="0" noProof="0">
                          <a:solidFill>
                            <a:schemeClr val="tx2"/>
                          </a:solidFill>
                        </a:rPr>
                        <a:t xml:space="preserve">Unbefristete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{{fulltime}}</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5185">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681718"/>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239990">
                <a:tc>
                  <a:txBody>
                    <a:bodyPr/>
                    <a:lstStyle/>
                    <a:p>
                      <a:r>
                        <a:rPr lang="de-DE" sz="975" b="1" noProof="0">
                          <a:solidFill>
                            <a:schemeClr val="tx2"/>
                          </a:solidFill>
                          <a:latin typeface="+mn-lt"/>
                        </a:rPr>
                        <a:t xml:space="preserve">Geschlecht</a:t>
                      </a:r>
                      <a:r>
                        <a:rPr lang="de-DE" sz="975" b="0" noProof="0">
                          <a:solidFill>
                            <a:schemeClr val="tx2"/>
                          </a:solidFill>
                          <a:latin typeface="+mn-lt"/>
                        </a:rPr>
                        <a:t xml:space="preserve"> (Nr.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latin typeface="+mn-lt"/>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latin typeface="+mn-lt"/>
                        </a:rPr>
                        <a:t xml:space="preserve">Männlich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latin typeface="+mn-lt"/>
                        </a:rPr>
                        <a:t xml:space="preserve">Weiblich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{{women}}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de-DE" sz="975" b="0" noProof="0">
                          <a:solidFill>
                            <a:schemeClr val="tx2"/>
                          </a:solidFill>
                          <a:latin typeface="+mn-lt"/>
                        </a:rPr>
                        <a:t xml:space="preserve">Sonstiges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{{others}}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de-DE" sz="975" b="0" noProof="0">
                          <a:solidFill>
                            <a:schemeClr val="tx2"/>
                          </a:solidFill>
                          <a:latin typeface="+mn-lt"/>
                        </a:rPr>
                        <a:t xml:space="preserve">Nicht erfasst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{{not_registeret}}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de-DE" sz="975" b="0" noProof="0">
                          <a:solidFill>
                            <a:schemeClr val="tx2"/>
                          </a:solidFill>
                          <a:latin typeface="+mn-lt"/>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8</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de-DE" sz="975" b="0" i="0" u="none" strike="noStrike" noProof="0">
                <a:solidFill>
                  <a:srgbClr val="25595D"/>
                </a:solidFill>
                <a:effectLst/>
                <a:latin typeface="Inter"/>
              </a:rPr>
              <a:t xml:space="preserve">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lang="de-DE" sz="975" b="0" noProof="0">
              <a:effectLst/>
              <a:latin typeface="Inter"/>
            </a:endParaRPr>
          </a:p>
          <a:p>
            <a:pPr>
              <a:buNone/>
            </a:pPr>
            <a:br>
              <a:rPr lang="de-DE" sz="975" noProof="0">
                <a:latin typeface="Inter"/>
              </a:rPr>
            </a:br>
            <a:endParaRPr lang="de-DE"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de-DE" sz="975" b="1" noProof="0">
                          <a:solidFill>
                            <a:schemeClr val="tx2"/>
                          </a:solidFill>
                        </a:rPr>
                        <a:t xml:space="preserve">Land (in dem der Arbeitsvertrag geschlossen wurde) </a:t>
                      </a:r>
                      <a:r>
                        <a:rPr lang="de-DE" sz="975" b="0" noProof="0">
                          <a:solidFill>
                            <a:schemeClr val="tx2"/>
                          </a:solidFill>
                        </a:rPr>
                        <a:t xml:space="preserve">(Nr.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rPr>
                        <a:t xml:space="preserve">Dänemark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e-DE" sz="975" b="0" i="0" u="none" strike="noStrike" noProof="0">
                          <a:solidFill>
                            <a:srgbClr val="2D55FF"/>
                          </a:solidFill>
                          <a:effectLst/>
                          <a:latin typeface="Inter"/>
                        </a:rPr>
                        <a:t>{{Denmark}}</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buNone/>
                      </a:pPr>
                      <a:r>
                        <a:rPr lang="de-DE" sz="975" b="0" i="0" u="none" strike="noStrike" noProof="0">
                          <a:solidFill>
                            <a:srgbClr val="2D55FF"/>
                          </a:solidFill>
                          <a:effectLst/>
                          <a:latin typeface="Inter"/>
                        </a:rPr>
                        <a:t>{{Land_b}}</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rPr>
                        <a:t>FTE_eller_antal_personer_land_b</a:t>
                      </a:r>
                      <a:r>
                        <a:rPr lang="de-DE" sz="975" b="0" i="0" u="none" strike="noStrike" noProof="0">
                          <a:solidFill>
                            <a:srgbClr val="2D55FF"/>
                          </a:solidFill>
                          <a:effectLst/>
                          <a:latin typeface="Inter"/>
                        </a:rPr>
                        <a: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975" b="0" i="0" u="none" strike="noStrike" noProof="0">
                          <a:solidFill>
                            <a:srgbClr val="2D55FF"/>
                          </a:solidFill>
                          <a:effectLst/>
                          <a:latin typeface="Inter"/>
                        </a:rPr>
                        <a:t>{{Total_out_of_countries}}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a:t xml:space="preserve">Eigene Arbeitskräfte: Vergütung, Tarifverhandlungen und Schulung (B10)</a:t>
            </a:r>
            <a:endParaRPr lang="de-DE"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11536"/>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4745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Entgeltgefälle zwischen männlichen und weiblichen Beschäftigten </a:t>
                      </a:r>
                      <a:r>
                        <a:rPr lang="de-DE" sz="975" b="0" noProof="0">
                          <a:solidFill>
                            <a:schemeClr val="tx2"/>
                          </a:solidFill>
                        </a:rPr>
                        <a:t xml:space="preserve">(Nr.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chemeClr val="accent2"/>
                          </a:solidFill>
                          <a:latin typeface="Calibri" panose="020F0502020204030204" pitchFamily="34" charset="0"/>
                          <a:cs typeface="Calibri" panose="020F0502020204030204" pitchFamily="34" charset="0"/>
                        </a:rPr>
                        <a:t> </a:t>
                      </a:r>
                      <a:r>
                        <a:rPr lang="de-DE"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077">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e-DE" sz="975" b="0" noProof="0">
                          <a:solidFill>
                            <a:schemeClr val="accent2"/>
                          </a:solidFill>
                        </a:rPr>
                        <a:t>{{</a:t>
                      </a:r>
                      <a:r>
                        <a:rPr lang="de-DE" sz="975" b="0" noProof="0">
                          <a:solidFill>
                            <a:schemeClr val="accent2"/>
                          </a:solidFill>
                        </a:rPr>
                        <a:t>indsat_procentvise_lonforskel</a:t>
                      </a:r>
                      <a:r>
                        <a:rPr lang="de-DE" sz="975" b="0" noProof="0">
                          <a:solidFill>
                            <a:schemeClr val="accent2"/>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11536"/>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172070">
                <a:tc>
                  <a:txBody>
                    <a:bodyPr/>
                    <a:lstStyle/>
                    <a:p>
                      <a:r>
                        <a:rPr lang="de-DE" sz="975" b="1" noProof="0">
                          <a:solidFill>
                            <a:schemeClr val="tx2"/>
                          </a:solidFill>
                        </a:rPr>
                        <a:t xml:space="preserve">Angaben zum Mindestlohn </a:t>
                      </a:r>
                      <a:r>
                        <a:rPr lang="de-DE"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18994">
                <a:tc>
                  <a:txBody>
                    <a:bodyPr/>
                    <a:lstStyle/>
                    <a:p>
                      <a:r>
                        <a:rPr lang="de-DE" sz="975" b="0" noProof="0">
                          <a:solidFill>
                            <a:schemeClr val="tx2"/>
                          </a:solidFill>
                        </a:rPr>
                        <a:t xml:space="preserve">Im Unternehmen erhalten alle Beschäftigten ein Entgelt mindestens in Höhe des Mindestlohns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{{minumum_wage_yes?}}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e-DE" sz="975" b="0" i="0" u="none" strike="noStrike" noProof="0">
                          <a:solidFill>
                            <a:srgbClr val="2D55FF"/>
                          </a:solidFill>
                          <a:effectLst/>
                          <a:latin typeface="Inter"/>
                        </a:rPr>
                        <a:t>{{minimum_wage_no?}}</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989"/>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Tarifvertrag </a:t>
                      </a:r>
                      <a:r>
                        <a:rPr lang="de-DE" sz="975" b="0" noProof="0">
                          <a:solidFill>
                            <a:schemeClr val="tx2"/>
                          </a:solidFill>
                        </a:rPr>
                        <a:t xml:space="preserve">(Nr.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chemeClr val="accent2"/>
                          </a:solidFill>
                          <a:latin typeface="Calibri" panose="020F0502020204030204" pitchFamily="34" charset="0"/>
                          <a:cs typeface="Calibri" panose="020F0502020204030204" pitchFamily="34" charset="0"/>
                        </a:rPr>
                        <a:t> {{insert_year}}</a:t>
                      </a:r>
                      <a:endParaRPr lang="de-DE" sz="97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17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noProof="0">
                          <a:solidFill>
                            <a:schemeClr val="tx2"/>
                          </a:solidFill>
                        </a:rPr>
                        <a:t xml:space="preserve">Prozentualer Anteil der Beschäftigten, die von einem Tarifvertrag abgedeckt sind</a:t>
                      </a:r>
                      <a:endParaRPr kumimoji="0" lang="de-DE" sz="975" b="0" i="0" u="none" strike="noStrike" kern="1200" cap="none" spc="0" normalizeH="0" baseline="0" noProof="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75" b="0" i="0" u="none" strike="noStrike" kern="1200" cap="none" spc="0" normalizeH="0" baseline="0" noProof="0">
                          <a:ln>
                            <a:noFill/>
                          </a:ln>
                          <a:solidFill>
                            <a:srgbClr val="2D55FF"/>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98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395290">
                <a:tc>
                  <a:txBody>
                    <a:bodyPr/>
                    <a:lstStyle/>
                    <a:p>
                      <a:r>
                        <a:rPr lang="de-DE" sz="975" b="1" noProof="0">
                          <a:solidFill>
                            <a:schemeClr val="tx2"/>
                          </a:solidFill>
                        </a:rPr>
                        <a:t xml:space="preserve">Durchschnittliche Schulungsstunden je Beschäftigtem </a:t>
                      </a:r>
                      <a:r>
                        <a:rPr lang="de-DE" sz="975" b="0" noProof="0">
                          <a:solidFill>
                            <a:schemeClr val="tx2"/>
                          </a:solidFill>
                        </a:rPr>
                        <a:t xml:space="preserve">(Nr.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chemeClr val="accent2"/>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699">
                <a:tc>
                  <a:txBody>
                    <a:bodyPr/>
                    <a:lstStyle/>
                    <a:p>
                      <a:r>
                        <a:rPr lang="de-DE" sz="975" b="0" noProof="0">
                          <a:solidFill>
                            <a:schemeClr val="tx2"/>
                          </a:solidFill>
                        </a:rPr>
                        <a:t xml:space="preserve">Stunde(n) je Beschäftigtem</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gennemsnitstimer</a:t>
                      </a:r>
                      <a:r>
                        <a:rPr lang="de-DE" sz="975" b="0" i="0" u="none" strike="noStrike" noProof="0">
                          <a:solidFill>
                            <a:srgbClr val="2D55FF"/>
                          </a:solidFill>
                          <a:effectLst/>
                          <a:latin typeface="Inter"/>
                        </a:rPr>
                        <a:t>}}</a:t>
                      </a:r>
                      <a:endParaRPr lang="de-DE"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Unternehmenspolitik: Anzahl der Verurteilungen und Geldstrafen wegen Korruption &amp; Bestechung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de-DE" sz="975" b="1" noProof="0">
                          <a:solidFill>
                            <a:schemeClr val="tx2"/>
                          </a:solidFill>
                        </a:rPr>
                        <a:t xml:space="preserve">Korruption und Bestechung </a:t>
                      </a:r>
                      <a:r>
                        <a:rPr lang="de-DE" sz="975" b="0" noProof="0">
                          <a:solidFill>
                            <a:schemeClr val="tx2"/>
                          </a:solidFill>
                        </a:rPr>
                        <a:t xml:space="preserve">(Nr.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e-DE" sz="975" b="1" noProof="0">
                          <a:solidFill>
                            <a:schemeClr val="tx2"/>
                          </a:solidFill>
                        </a:rPr>
                        <a:t xml:space="preserve">Anzahl der Verurteilungen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Gesamtbetrag der Geldstrafen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de-DE" sz="725"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{{domme}}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e-DE" sz="975" b="0" i="0" u="none" strike="noStrike" noProof="0">
                          <a:solidFill>
                            <a:srgbClr val="2D55FF"/>
                          </a:solidFill>
                          <a:effectLst/>
                          <a:latin typeface="Inter"/>
                        </a:rPr>
                        <a:t>{{samlet_bodestorrelse}}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9</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endParaRPr lang="de-DE" sz="975" b="0" noProof="0">
              <a:solidFill>
                <a:schemeClr val="tx2"/>
              </a:solidFill>
              <a:effectLst/>
              <a:latin typeface="Inter"/>
            </a:endParaRP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de-DE" sz="3325" b="1" noProof="0"/>
              <a:t xml:space="preserve">Angaben im Zusatzmodul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e-DE" noProof="0" smtClean="0"/>
              <a:pPr/>
              <a:t>10</a:t>
            </a:fld>
            <a:endParaRPr lang="de-DE"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de-DE" sz="1475" b="1" i="0" u="none" strike="noStrike" kern="1200" spc="-10" noProof="0">
                <a:solidFill>
                  <a:srgbClr val="1B4528"/>
                </a:solidFill>
                <a:effectLst/>
                <a:latin typeface="IBM Plex Sans" panose="020B0503050203000203" pitchFamily="34" charset="0"/>
              </a:rPr>
              <a:t xml:space="preserve">Strategie: Geschäftsmodell und nachhaltigkeitsbezogene Initiativen (C1)</a:t>
            </a:r>
            <a:endParaRPr lang="de-DE"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11</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de-DE" sz="975" b="1" noProof="0">
                          <a:solidFill>
                            <a:schemeClr val="tx2"/>
                          </a:solidFill>
                        </a:rPr>
                        <a:t xml:space="preserve">Beschreibung bedeutender Gruppen von Produkten und/oder Dienstleistungen, die </a:t>
                      </a:r>
                      <a:r>
                        <a:rPr lang="de-DE" sz="975" b="1" kern="1200" noProof="0">
                          <a:solidFill>
                            <a:schemeClr val="accent2"/>
                          </a:solidFill>
                          <a:latin typeface="+mn-lt"/>
                          <a:ea typeface="+mn-ea"/>
                          <a:cs typeface="+mn-cs"/>
                        </a:rPr>
                        <a:t>{{company_name}} </a:t>
                      </a:r>
                      <a:r>
                        <a:rPr lang="de-DE" sz="975" b="1" kern="1200" noProof="0">
                          <a:solidFill>
                            <a:schemeClr val="tx2"/>
                          </a:solidFill>
                          <a:latin typeface="+mn-lt"/>
                          <a:ea typeface="+mn-ea"/>
                          <a:cs typeface="+mn-cs"/>
                        </a:rPr>
                        <a:t xml:space="preserve">anbietet</a:t>
                      </a:r>
                      <a:r>
                        <a:rPr lang="de-DE" sz="975" b="1" noProof="0">
                          <a:solidFill>
                            <a:schemeClr val="tx2"/>
                          </a:solidFill>
                        </a:rPr>
                        <a:t> </a:t>
                      </a:r>
                      <a:r>
                        <a:rPr lang="de-DE" sz="975" b="0" noProof="0">
                          <a:solidFill>
                            <a:schemeClr val="tx2"/>
                          </a:solidFill>
                        </a:rPr>
                        <a:t xml:space="preserve">(Nr.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de-DE" sz="975" b="0" noProof="0">
                          <a:solidFill>
                            <a:schemeClr val="accent2"/>
                          </a:solidFill>
                        </a:rPr>
                        <a:t>{{markets_description}}</a:t>
                      </a:r>
                      <a:endParaRPr lang="de-DE"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de-DE" sz="975" b="1" noProof="0">
                          <a:solidFill>
                            <a:schemeClr val="tx2"/>
                          </a:solidFill>
                        </a:rPr>
                        <a:t xml:space="preserve">Beschreibung der bedeutenden Märkte, auf denen </a:t>
                      </a:r>
                      <a:r>
                        <a:rPr lang="de-DE" sz="975" b="1" kern="1200" noProof="0">
                          <a:solidFill>
                            <a:schemeClr val="accent2"/>
                          </a:solidFill>
                          <a:latin typeface="+mn-lt"/>
                          <a:ea typeface="+mn-ea"/>
                          <a:cs typeface="+mn-cs"/>
                        </a:rPr>
                        <a:t>{{company_name}} </a:t>
                      </a:r>
                      <a:r>
                        <a:rPr lang="de-DE" sz="975" b="1" noProof="0">
                          <a:solidFill>
                            <a:schemeClr val="tx2"/>
                          </a:solidFill>
                        </a:rPr>
                        <a:t xml:space="preserve">tätig ist </a:t>
                      </a:r>
                      <a:r>
                        <a:rPr lang="de-DE" sz="975" b="0" noProof="0">
                          <a:solidFill>
                            <a:schemeClr val="tx2"/>
                          </a:solidFill>
                        </a:rPr>
                        <a:t xml:space="preserve">(Nr.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de-DE" sz="975" b="0" noProof="0">
                          <a:solidFill>
                            <a:schemeClr val="accent2"/>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de-DE" sz="975" b="1" noProof="0">
                          <a:solidFill>
                            <a:schemeClr val="tx2"/>
                          </a:solidFill>
                        </a:rPr>
                        <a:t xml:space="preserve">Beschreibung von </a:t>
                      </a:r>
                      <a:r>
                        <a:rPr lang="de-DE" sz="975" b="1" kern="1200" noProof="0">
                          <a:solidFill>
                            <a:schemeClr val="accent2"/>
                          </a:solidFill>
                          <a:latin typeface="+mn-lt"/>
                          <a:ea typeface="+mn-ea"/>
                          <a:cs typeface="+mn-cs"/>
                        </a:rPr>
                        <a:t>{{company_name}}</a:t>
                      </a:r>
                      <a:r>
                        <a:rPr lang="de-DE" sz="975" b="1" kern="1200" noProof="0">
                          <a:solidFill>
                            <a:schemeClr val="accent1"/>
                          </a:solidFill>
                          <a:latin typeface="+mn-lt"/>
                          <a:ea typeface="+mn-ea"/>
                          <a:cs typeface="+mn-cs"/>
                        </a:rPr>
                        <a:t>’s</a:t>
                      </a:r>
                      <a:r>
                        <a:rPr lang="de-DE" sz="975" b="1" kern="1200" noProof="0">
                          <a:solidFill>
                            <a:schemeClr val="accent2"/>
                          </a:solidFill>
                          <a:latin typeface="+mn-lt"/>
                          <a:ea typeface="+mn-ea"/>
                          <a:cs typeface="+mn-cs"/>
                        </a:rPr>
                        <a:t> </a:t>
                      </a:r>
                      <a:r>
                        <a:rPr lang="de-DE" sz="975" b="1" noProof="0">
                          <a:solidFill>
                            <a:schemeClr val="tx2"/>
                          </a:solidFill>
                        </a:rPr>
                        <a:t xml:space="preserve">wesentlichen Geschäftsbeziehungen </a:t>
                      </a:r>
                      <a:r>
                        <a:rPr lang="de-DE" sz="975" b="0" noProof="0">
                          <a:solidFill>
                            <a:schemeClr val="tx2"/>
                          </a:solidFill>
                        </a:rPr>
                        <a:t xml:space="preserve">(Nr.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de-DE" sz="975" b="0" noProof="0">
                          <a:solidFill>
                            <a:schemeClr val="accent2"/>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de-DE" sz="975" b="1" noProof="0">
                          <a:solidFill>
                            <a:schemeClr val="tx2"/>
                          </a:solidFill>
                        </a:rPr>
                        <a:t xml:space="preserve">Beschreibung des übergeordneten Geschäftsmodells und der Strategie </a:t>
                      </a:r>
                      <a:r>
                        <a:rPr lang="de-DE" sz="975" b="0" noProof="0">
                          <a:solidFill>
                            <a:schemeClr val="tx2"/>
                          </a:solidFill>
                        </a:rPr>
                        <a:t xml:space="preserve">(Nr.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de-DE" sz="975" b="0" noProof="0">
                          <a:solidFill>
                            <a:schemeClr val="accent2"/>
                          </a:solidFill>
                        </a:rPr>
                        <a:t>{{products_description}}</a:t>
                      </a:r>
                    </a:p>
                    <a:p>
                      <a:pPr algn="l"/>
                      <a:endParaRPr lang="de-DE"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de-DE" sz="975" b="1" noProof="0">
                          <a:solidFill>
                            <a:schemeClr val="tx2"/>
                          </a:solidFill>
                        </a:rPr>
                        <a:t xml:space="preserve">Beschreibung, wo </a:t>
                      </a:r>
                      <a:r>
                        <a:rPr lang="de-DE" sz="975" b="1" kern="1200" noProof="0">
                          <a:solidFill>
                            <a:schemeClr val="accent2"/>
                          </a:solidFill>
                          <a:latin typeface="+mn-lt"/>
                          <a:ea typeface="+mn-ea"/>
                          <a:cs typeface="+mn-cs"/>
                        </a:rPr>
                        <a:t>{{company_name}}</a:t>
                      </a:r>
                      <a:r>
                        <a:rPr lang="de-DE" sz="975" b="1" kern="1200" noProof="0">
                          <a:solidFill>
                            <a:schemeClr val="accent1"/>
                          </a:solidFill>
                          <a:latin typeface="+mn-lt"/>
                          <a:ea typeface="+mn-ea"/>
                          <a:cs typeface="+mn-cs"/>
                        </a:rPr>
                        <a:t xml:space="preserve">´s Strategie und Geschäftsmodell nachhaltigkeitsbezogene Elemente aufweisen </a:t>
                      </a:r>
                      <a:r>
                        <a:rPr lang="de-DE" sz="975" b="0" noProof="0">
                          <a:solidFill>
                            <a:schemeClr val="tx2"/>
                          </a:solidFill>
                        </a:rPr>
                        <a:t xml:space="preserve">(Nr.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de-DE" sz="975" b="0" noProof="0">
                          <a:solidFill>
                            <a:schemeClr val="accent2"/>
                          </a:solidFill>
                        </a:rPr>
                        <a:t>{{business_model}}</a:t>
                      </a:r>
                      <a:endParaRPr lang="de-DE"/>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das übergeordnete Geschäftsmodell und die Strategie, Produkte und/oder Dienstleistungen, Märkte und Geschäftsbeziehungen beschrieben sowie angegeben, ob das Geschäftsmodell nachhaltigkeitsbezogene Elemente aufweist. </a:t>
            </a:r>
            <a:endParaRPr lang="de-DE"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de-DE" noProof="0">
                <a:latin typeface="+mn-lt"/>
                <a:ea typeface="+mn-ea"/>
                <a:cs typeface="+mn-cs"/>
              </a:rPr>
              <a:t xml:space="preserve">V</a:t>
            </a:r>
            <a:r>
              <a:rPr lang="de-DE" sz="1475" b="1" kern="1200" spc="-10" noProof="0">
                <a:solidFill>
                  <a:schemeClr val="tx2"/>
                </a:solidFill>
                <a:latin typeface="+mn-lt"/>
                <a:ea typeface="+mn-ea"/>
                <a:cs typeface="+mn-cs"/>
              </a:rPr>
              <a:t xml:space="preserve">erfahrensweisen, Richtlinien und künftige Initiativen für den Übergang zu einer nachhaltigeren Wirtschaft (C2)</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12</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de-DE" sz="975" b="1" kern="1200" spc="-10" noProof="0">
                          <a:solidFill>
                            <a:schemeClr val="tx2"/>
                          </a:solidFill>
                          <a:latin typeface="+mn-lt"/>
                          <a:ea typeface="+mn-ea"/>
                          <a:cs typeface="+mn-cs"/>
                        </a:rPr>
                        <a:t xml:space="preserve">Bereich</a:t>
                      </a:r>
                    </a:p>
                    <a:p>
                      <a:pPr algn="l"/>
                      <a:r>
                        <a:rPr lang="de-DE" sz="975" b="0" kern="1200" spc="-10" noProof="0">
                          <a:solidFill>
                            <a:schemeClr val="tx2"/>
                          </a:solidFill>
                          <a:latin typeface="+mn-lt"/>
                          <a:ea typeface="+mn-ea"/>
                          <a:cs typeface="+mn-cs"/>
                        </a:rPr>
                        <a:t xml:space="preserve">(Nr.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e-DE" sz="975" b="1" kern="1200" spc="-10" noProof="0">
                          <a:solidFill>
                            <a:schemeClr val="tx2"/>
                          </a:solidFill>
                          <a:latin typeface="+mn-lt"/>
                          <a:ea typeface="+mn-ea"/>
                          <a:cs typeface="+mn-cs"/>
                        </a:rPr>
                        <a:t xml:space="preserve">Kurze Beschreibung </a:t>
                      </a:r>
                      <a:r>
                        <a:rPr lang="de-DE" sz="975" b="1" u="none" kern="1200" spc="-10" noProof="0">
                          <a:solidFill>
                            <a:schemeClr val="tx2"/>
                          </a:solidFill>
                          <a:latin typeface="+mn-lt"/>
                          <a:ea typeface="+mn-ea"/>
                          <a:cs typeface="+mn-cs"/>
                        </a:rPr>
                        <a:t xml:space="preserve">bestehender </a:t>
                      </a:r>
                      <a:r>
                        <a:rPr lang="de-DE" sz="975" b="1" kern="1200" spc="-10" noProof="0">
                          <a:solidFill>
                            <a:schemeClr val="tx2"/>
                          </a:solidFill>
                          <a:latin typeface="+mn-lt"/>
                          <a:ea typeface="+mn-ea"/>
                          <a:cs typeface="+mn-cs"/>
                        </a:rPr>
                        <a:t xml:space="preserve">Verfahrensweisen / Richtlinien / Maßnahmen (vgl. Angabe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e-DE" sz="975" b="1" kern="1200" spc="-10" noProof="0">
                          <a:solidFill>
                            <a:schemeClr val="tx2"/>
                          </a:solidFill>
                          <a:latin typeface="+mn-lt"/>
                          <a:ea typeface="+mn-ea"/>
                          <a:cs typeface="+mn-cs"/>
                        </a:rPr>
                        <a:t xml:space="preserve">Kurze Beschreibung etwaiger </a:t>
                      </a:r>
                      <a:r>
                        <a:rPr lang="de-DE" sz="975" b="1" u="none" kern="1200" spc="-10" noProof="0">
                          <a:solidFill>
                            <a:schemeClr val="tx2"/>
                          </a:solidFill>
                          <a:latin typeface="+mn-lt"/>
                          <a:ea typeface="+mn-ea"/>
                          <a:cs typeface="+mn-cs"/>
                        </a:rPr>
                        <a:t xml:space="preserve">künftiger</a:t>
                      </a:r>
                      <a:r>
                        <a:rPr lang="de-DE" sz="975" b="1" kern="1200" spc="-10" noProof="0">
                          <a:solidFill>
                            <a:schemeClr val="tx2"/>
                          </a:solidFill>
                          <a:latin typeface="+mn-lt"/>
                          <a:ea typeface="+mn-ea"/>
                          <a:cs typeface="+mn-cs"/>
                        </a:rPr>
                        <a:t xml:space="preserve"> Ziele (vgl. Angabe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spc="-10" noProof="0">
                          <a:solidFill>
                            <a:schemeClr val="bg1"/>
                          </a:solidFill>
                        </a:rPr>
                        <a:t xml:space="preserve">Diese Angabe </a:t>
                      </a:r>
                      <a:r>
                        <a:rPr lang="de-DE" sz="975" b="1" spc="-10" noProof="0">
                          <a:solidFill>
                            <a:schemeClr val="bg1"/>
                          </a:solidFill>
                        </a:rPr>
                        <a:t xml:space="preserve">ist freiwillig</a:t>
                      </a:r>
                      <a:endParaRPr lang="de-DE"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de-DE"/>
                    </a:p>
                  </a:txBody>
                  <a:tcPr/>
                </a:tc>
                <a:tc vMerge="1">
                  <a:txBody>
                    <a:bodyPr/>
                    <a:lstStyle/>
                    <a:p>
                      <a:endParaRPr lang="de-DE"/>
                    </a:p>
                  </a:txBody>
                  <a:tcPr/>
                </a:tc>
                <a:tc vMerge="1">
                  <a:txBody>
                    <a:bodyPr/>
                    <a:lstStyle/>
                    <a:p>
                      <a:endParaRPr lang="de-D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Höchste für die Umsetzung verantwortliche Personalebene im Unternehmen </a:t>
                      </a:r>
                      <a:r>
                        <a:rPr lang="de-DE" sz="975" b="0" kern="1200" spc="-10" noProof="0">
                          <a:solidFill>
                            <a:schemeClr val="tx2"/>
                          </a:solidFill>
                          <a:latin typeface="+mn-lt"/>
                          <a:ea typeface="+mn-ea"/>
                          <a:cs typeface="+mn-cs"/>
                        </a:rPr>
                        <a:t xml:space="preserve">(Nr.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de-DE" sz="975" b="1" kern="1200" spc="-10" noProof="0">
                          <a:solidFill>
                            <a:schemeClr val="tx2"/>
                          </a:solidFill>
                          <a:latin typeface="+mn-lt"/>
                          <a:ea typeface="+mn-ea"/>
                          <a:cs typeface="+mn-cs"/>
                        </a:rPr>
                        <a:t xml:space="preserve">Klimawandel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Climate_C2_Description_Existing_Practices</a:t>
                      </a:r>
                      <a:r>
                        <a:rPr lang="de-DE" sz="975" b="0" i="0" u="none" strike="noStrike" noProof="0">
                          <a:solidFill>
                            <a:srgbClr val="2D55FF"/>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Climate_C2_Future_Practices</a:t>
                      </a:r>
                      <a:r>
                        <a:rPr lang="de-DE" sz="975" b="0" i="0" u="none" strike="noStrike" noProof="0">
                          <a:solidFill>
                            <a:srgbClr val="2D55FF"/>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Climate_C2_Management_Level</a:t>
                      </a:r>
                      <a:r>
                        <a:rPr lang="de-DE" sz="975" b="0" i="0" u="none" strike="noStrike" noProof="0">
                          <a:solidFill>
                            <a:srgbClr val="2D55FF"/>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de-DE" sz="975" b="1" kern="1200" spc="-10" noProof="0">
                          <a:solidFill>
                            <a:schemeClr val="tx2"/>
                          </a:solidFill>
                          <a:latin typeface="+mn-lt"/>
                          <a:ea typeface="+mn-ea"/>
                          <a:cs typeface="+mn-cs"/>
                        </a:rPr>
                        <a:t xml:space="preserve">Umweltver­schmutzung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Pollution_C2_Description_Existing_Practices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Pollution_C2_Future_Practices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Pollution_C2_Management_Level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de-DE" sz="975" b="1" kern="1200" spc="-10" noProof="0">
                          <a:solidFill>
                            <a:schemeClr val="tx2"/>
                          </a:solidFill>
                          <a:latin typeface="+mn-lt"/>
                          <a:ea typeface="+mn-ea"/>
                          <a:cs typeface="+mn-cs"/>
                        </a:rPr>
                        <a:t xml:space="preserve">Wasser- und Meeresressourcen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Water_C2_Description_Existing_Practices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Water_C2_Future_Practices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BM Plex Sans"/>
                        </a:rPr>
                        <a:t>Water_C2_Management_Level</a:t>
                      </a:r>
                      <a:r>
                        <a:rPr lang="de-DE" sz="975" b="0" i="0" u="none" strike="noStrike" noProof="0">
                          <a:solidFill>
                            <a:srgbClr val="2D55FF"/>
                          </a:solidFill>
                          <a:effectLst/>
                          <a:latin typeface="Inter"/>
                        </a:rPr>
                        <a:t>}}</a:t>
                      </a:r>
                      <a:endParaRPr lang="de-DE" sz="975" b="0" i="0" u="none" strike="noStrike" noProof="0">
                        <a:solidFill>
                          <a:srgbClr val="000000"/>
                        </a:solidFill>
                        <a:effectLst/>
                        <a:latin typeface="Inter"/>
                      </a:endParaRPr>
                    </a:p>
                    <a:p>
                      <a:pPr lvl="0">
                        <a:buNone/>
                      </a:pPr>
                      <a:endParaRPr lang="de-DE" sz="975" b="0" i="0" u="none" strike="noStrike" noProof="0">
                        <a:solidFill>
                          <a:srgbClr val="2D55FF"/>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de-DE" sz="975" b="1" kern="1200" spc="-10" noProof="0">
                          <a:solidFill>
                            <a:schemeClr val="tx2"/>
                          </a:solidFill>
                          <a:latin typeface="+mn-lt"/>
                          <a:ea typeface="+mn-ea"/>
                          <a:cs typeface="+mn-cs"/>
                        </a:rPr>
                        <a:t xml:space="preserve">Biodiversität und Ökosysteme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Bio_C2_Description_Existing_Practices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Bio_C2_Future_Practices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Bio_C2_Management_Level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de-DE" sz="975" b="1" kern="1200" spc="-10" noProof="0">
                          <a:solidFill>
                            <a:schemeClr val="tx2"/>
                          </a:solidFill>
                          <a:latin typeface="+mn-lt"/>
                          <a:ea typeface="+mn-ea"/>
                          <a:cs typeface="+mn-cs"/>
                        </a:rPr>
                        <a:t xml:space="preserve">Kreislaufwirt­schaft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Circular_C2_Description_Existing_Practices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Circular_C2_Future_Practices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Circular_C2_Management_Level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de-DE" sz="975" b="1" kern="1200" spc="-10" noProof="0">
                          <a:solidFill>
                            <a:schemeClr val="tx2"/>
                          </a:solidFill>
                          <a:latin typeface="+mn-lt"/>
                          <a:ea typeface="+mn-ea"/>
                          <a:cs typeface="+mn-cs"/>
                        </a:rPr>
                        <a:t xml:space="preserve">Arbeitskräfte des Unternehmens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Own_Workforce_C2_Description_Existing_Practices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Own_Workforce_C2_Future_Practices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Own_Workforce_C2_Management_Level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de-DE" sz="975" b="1" kern="1200" spc="-10" noProof="0">
                          <a:solidFill>
                            <a:schemeClr val="tx2"/>
                          </a:solidFill>
                          <a:latin typeface="+mn-lt"/>
                          <a:ea typeface="+mn-ea"/>
                          <a:cs typeface="+mn-cs"/>
                        </a:rPr>
                        <a:t xml:space="preserve">Arbeitskräfte in der Wertschöpfungs­kette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Workers_Value_Chain_C2_Description_Existing_Practices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Workers_Value_Chain_C2_Future_Practices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Workers_Value_Chain_C2_Management_Level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de-DE" sz="975" b="1" kern="1200" spc="-10" noProof="0">
                          <a:solidFill>
                            <a:schemeClr val="tx2"/>
                          </a:solidFill>
                          <a:latin typeface="+mn-lt"/>
                          <a:ea typeface="+mn-ea"/>
                          <a:cs typeface="+mn-cs"/>
                        </a:rPr>
                        <a:t xml:space="preserve">Betroffene Gemeinschaften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Affected_C2_Description_Existing_Practices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Affected_C2_Future_Practices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Affected_C2_Management_Level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de-DE" sz="975" b="1" kern="1200" spc="-10" noProof="0">
                          <a:solidFill>
                            <a:schemeClr val="tx2"/>
                          </a:solidFill>
                          <a:latin typeface="+mn-lt"/>
                          <a:ea typeface="+mn-ea"/>
                          <a:cs typeface="+mn-cs"/>
                        </a:rPr>
                        <a:t xml:space="preserve">Verbraucher und Endnutzer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Consumers_C2_Description_Existing_Practices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Consumers_C2_Future_Practices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Consumers_C2_Management_Level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de-DE" sz="975" b="1" kern="1200" spc="-10" noProof="0">
                          <a:solidFill>
                            <a:schemeClr val="tx2"/>
                          </a:solidFill>
                          <a:latin typeface="+mn-lt"/>
                          <a:ea typeface="+mn-ea"/>
                          <a:cs typeface="+mn-cs"/>
                        </a:rPr>
                        <a:t xml:space="preserve">Unternehmenspolitik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Governance_C2_Description_Existing_Practices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Governance_C2_Future_Practices</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e-DE" sz="975" b="0" i="0" u="none" strike="noStrike" noProof="0">
                          <a:solidFill>
                            <a:srgbClr val="2D55FF"/>
                          </a:solidFill>
                          <a:effectLst/>
                          <a:latin typeface="Inter"/>
                        </a:rPr>
                        <a:t>{{</a:t>
                      </a:r>
                      <a:r>
                        <a:rPr lang="de-DE" sz="975" b="0" i="0" u="none" strike="noStrike" noProof="0">
                          <a:solidFill>
                            <a:srgbClr val="2D55FF"/>
                          </a:solidFill>
                          <a:effectLst/>
                        </a:rPr>
                        <a:t>Governance_C2_Management_Level</a:t>
                      </a:r>
                      <a:r>
                        <a:rPr lang="de-DE" sz="975" b="0" i="0" u="none" strike="noStrike" noProof="0">
                          <a:solidFill>
                            <a:srgbClr val="2D55FF"/>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de-DE" sz="975" noProof="0">
                <a:solidFill>
                  <a:schemeClr val="tx2"/>
                </a:solidFill>
              </a:rPr>
              <a:t xml:space="preserve">Die nachstehende Tabelle wurde ausgefüllt, da das Unternehmen bereits konkrete Verfahrensweisen, Richtlinien oder Initiativen eingeführt hat, die zum Übergang zu einer nachhaltigeren Wirtschaft beitragen. Das Unternehmen hat eine oder mehrere Angaben unter B2 im Basismodul mit ”JA” beantwortet. Nachstehend wird ausführlicher auf die Richtlinien, Initiativen und Verfahrensweisen eingegangen, die im Unternehmen für den Übergang zu einer nachhaltigeren Wirtschaft eingeleitet wurden</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de-DE" noProof="0">
                <a:solidFill>
                  <a:srgbClr val="1B4528"/>
                </a:solidFill>
                <a:latin typeface="IBM Plex Sans" panose="020B0503050203000203" pitchFamily="34" charset="0"/>
              </a:rPr>
              <a:t xml:space="preserve">CO₂e-Emissionen unter B3 im Basismodul</a:t>
            </a:r>
            <a:endParaRPr lang="de-DE"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13</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de-DE" sz="975" b="1" kern="1200" spc="-10" noProof="0">
                          <a:solidFill>
                            <a:schemeClr val="tx2"/>
                          </a:solidFill>
                          <a:latin typeface="+mn-lt"/>
                          <a:ea typeface="+mn-ea"/>
                          <a:cs typeface="+mn-cs"/>
                        </a:rPr>
                        <a:t xml:space="preserve">CO₂e-Reduktionsziele </a:t>
                      </a:r>
                      <a:r>
                        <a:rPr lang="de-DE" sz="975" b="0" kern="1200" spc="-10" noProof="0">
                          <a:solidFill>
                            <a:schemeClr val="tx2"/>
                          </a:solidFill>
                          <a:latin typeface="+mn-lt"/>
                          <a:ea typeface="+mn-ea"/>
                          <a:cs typeface="+mn-cs"/>
                        </a:rPr>
                        <a:t xml:space="preserve">(Nr.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Zielwert im Jahr </a:t>
                      </a:r>
                      <a:r>
                        <a:rPr lang="de-DE" sz="975" b="1" kern="1200" spc="-10" noProof="0">
                          <a:solidFill>
                            <a:schemeClr val="accent2"/>
                          </a:solidFill>
                          <a:latin typeface="+mn-lt"/>
                          <a:ea typeface="+mn-ea"/>
                          <a:cs typeface="+mn-cs"/>
                        </a:rPr>
                        <a:t>{{baseline_year-1}}</a:t>
                      </a:r>
                      <a:endParaRPr lang="de-DE" sz="975" b="0" kern="1200" spc="-10" noProof="0">
                        <a:solidFill>
                          <a:schemeClr val="accent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CO₂e-Emissionen im Basisjahr:</a:t>
                      </a:r>
                      <a:r>
                        <a:rPr lang="de-DE" sz="975" b="0" kern="1200" spc="-10" noProof="0">
                          <a:solidFill>
                            <a:schemeClr val="tx2"/>
                          </a:solidFill>
                          <a:latin typeface="+mn-lt"/>
                          <a:ea typeface="+mn-ea"/>
                          <a:cs typeface="+mn-cs"/>
                        </a:rPr>
                        <a:t> </a:t>
                      </a:r>
                      <a:r>
                        <a:rPr lang="de-DE" sz="975" b="1" kern="1200" spc="-10" noProof="0">
                          <a:solidFill>
                            <a:schemeClr val="accent2"/>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0" i="0" u="none" strike="noStrike" noProof="0">
                          <a:solidFill>
                            <a:srgbClr val="2D55FF"/>
                          </a:solidFill>
                          <a:effectLst/>
                          <a:latin typeface="Inter"/>
                        </a:rPr>
                        <a:t>{{scope1-2_target}}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{{scope1-2_baseline}}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0" i="0" u="none" strike="noStrike" noProof="0">
                          <a:solidFill>
                            <a:srgbClr val="2D55FF"/>
                          </a:solidFill>
                          <a:effectLst/>
                          <a:latin typeface="Inter"/>
                        </a:rPr>
                        <a:t>{{scope1-2_target}}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{{scope1-2_baseline}}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de-DE"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0" i="0" u="none" strike="noStrike" noProof="0">
                          <a:solidFill>
                            <a:srgbClr val="2D55FF"/>
                          </a:solidFill>
                          <a:effectLst/>
                          <a:latin typeface="Inter"/>
                        </a:rPr>
                        <a:t>{{scope3_target}}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e-DE" sz="975" b="0" i="0" u="none" strike="noStrike" noProof="0">
                          <a:solidFill>
                            <a:srgbClr val="2D55FF"/>
                          </a:solidFill>
                          <a:effectLst/>
                          <a:latin typeface="Inter"/>
                        </a:rPr>
                        <a:t>{{scope3_baseline}}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de-DE" sz="975" b="1" kern="1200" spc="-10" noProof="0">
                          <a:solidFill>
                            <a:schemeClr val="tx2"/>
                          </a:solidFill>
                          <a:latin typeface="+mn-lt"/>
                          <a:ea typeface="+mn-ea"/>
                          <a:cs typeface="+mn-cs"/>
                        </a:rPr>
                        <a:t xml:space="preserve">Auflistung der wesentlichen Maßnahmen, die </a:t>
                      </a:r>
                      <a:r>
                        <a:rPr lang="de-DE" sz="975" b="1" kern="1200" noProof="0">
                          <a:solidFill>
                            <a:schemeClr val="accent2"/>
                          </a:solidFill>
                          <a:latin typeface="+mn-lt"/>
                          <a:ea typeface="+mn-ea"/>
                          <a:cs typeface="+mn-cs"/>
                        </a:rPr>
                        <a:t>{{Company name}} </a:t>
                      </a:r>
                      <a:r>
                        <a:rPr lang="de-DE" sz="975" b="0" kern="1200" noProof="0">
                          <a:solidFill>
                            <a:schemeClr val="accent2"/>
                          </a:solidFill>
                          <a:latin typeface="+mn-lt"/>
                          <a:ea typeface="+mn-ea"/>
                          <a:cs typeface="+mn-cs"/>
                        </a:rPr>
                        <a:t> </a:t>
                      </a:r>
                      <a:r>
                        <a:rPr lang="de-DE" sz="975" b="1" kern="1200" spc="-10" noProof="0">
                          <a:solidFill>
                            <a:schemeClr val="tx2"/>
                          </a:solidFill>
                          <a:latin typeface="+mn-lt"/>
                          <a:ea typeface="+mn-ea"/>
                          <a:cs typeface="+mn-cs"/>
                        </a:rPr>
                        <a:t xml:space="preserve">zur Erreichung der CO₂e-Reduktionsziele durchführt </a:t>
                      </a:r>
                      <a:r>
                        <a:rPr lang="de-DE" sz="975" b="0" kern="1200" spc="-10" noProof="0">
                          <a:solidFill>
                            <a:schemeClr val="tx2"/>
                          </a:solidFill>
                          <a:latin typeface="+mn-lt"/>
                          <a:ea typeface="+mn-ea"/>
                          <a:cs typeface="+mn-cs"/>
                        </a:rPr>
                        <a:t xml:space="preserve">(Nr.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de-DE" sz="975" b="0" noProof="0">
                          <a:solidFill>
                            <a:schemeClr val="accent2"/>
                          </a:solidFill>
                        </a:rPr>
                        <a:t>{{</a:t>
                      </a:r>
                      <a:r>
                        <a:rPr lang="de-DE" sz="975" b="0" noProof="0">
                          <a:solidFill>
                            <a:schemeClr val="accent2"/>
                          </a:solidFill>
                        </a:rPr>
                        <a:t>mainaction</a:t>
                      </a:r>
                      <a:r>
                        <a:rPr lang="de-DE" sz="975" b="0" noProof="0">
                          <a:solidFill>
                            <a:schemeClr val="accent2"/>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noProof="0"/>
              <a:t xml:space="preserve">CO₂e-Reduktionsziele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de-DE" sz="975" b="1" noProof="0">
                          <a:solidFill>
                            <a:schemeClr val="tx2"/>
                          </a:solidFill>
                        </a:rPr>
                        <a:t xml:space="preserve">Treibhausgasemissionen –</a:t>
                      </a:r>
                      <a:r>
                        <a:rPr lang="de-DE" sz="975" b="0" noProof="0">
                          <a:solidFill>
                            <a:schemeClr val="tx2"/>
                          </a:solidFill>
                        </a:rPr>
                        <a:t xml:space="preserve"> (ergänzt Nr. 33)</a:t>
                      </a: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Jahr </a:t>
                      </a:r>
                      <a:r>
                        <a:rPr lang="de-DE" sz="975" b="1" noProof="0">
                          <a:solidFill>
                            <a:schemeClr val="accent2"/>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l">
                        <a:lnSpc>
                          <a:spcPct val="100000"/>
                        </a:lnSpc>
                        <a:spcBef>
                          <a:spcPts val="0"/>
                        </a:spcBef>
                        <a:spcAft>
                          <a:spcPts val="0"/>
                        </a:spcAft>
                        <a:buNone/>
                      </a:pPr>
                      <a:r>
                        <a:rPr lang="de-DE" sz="975" b="0" i="0" u="none" strike="noStrike" kern="1200" noProof="0">
                          <a:solidFill>
                            <a:srgbClr val="2D55FF"/>
                          </a:solidFill>
                          <a:latin typeface="IBM Plex Sans"/>
                          <a:ea typeface="+mn-ea"/>
                          <a:cs typeface="+mn-cs"/>
                        </a:rPr>
                        <a:t>{{scope3_description_table}}</a:t>
                      </a:r>
                      <a:endParaRPr lang="de-DE"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e-DE" sz="975" b="0" i="0" u="none" strike="noStrike" kern="1200" cap="none" spc="0" normalizeH="0" baseline="0" noProof="0">
                          <a:ln>
                            <a:noFill/>
                          </a:ln>
                          <a:solidFill>
                            <a:srgbClr val="2D55FF"/>
                          </a:solidFill>
                          <a:effectLst/>
                          <a:uLnTx/>
                          <a:uFillTx/>
                          <a:latin typeface="IBM Plex Sans"/>
                          <a:ea typeface="+mn-ea"/>
                          <a:cs typeface="+mn-cs"/>
                        </a:rPr>
                        <a:t>{{scope3_emissions_table}}</a:t>
                      </a:r>
                      <a:endParaRPr lang="de-DE"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de-DE" sz="975" b="1" noProof="0">
                          <a:solidFill>
                            <a:schemeClr val="tx2"/>
                          </a:solidFill>
                        </a:rPr>
                        <a:t xml:space="preserve">CO₂e-Emissionen in Scope 3 insgesamt (standortbezogen)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de-DE" sz="975" b="0" i="0" u="none" strike="noStrike" kern="1200" cap="none" spc="0" normalizeH="0" baseline="0" noProof="0">
                          <a:ln>
                            <a:noFill/>
                          </a:ln>
                          <a:solidFill>
                            <a:srgbClr val="2D55FF"/>
                          </a:solidFill>
                          <a:effectLst/>
                          <a:uLnTx/>
                          <a:uFillTx/>
                          <a:latin typeface="IBM Plex Sans"/>
                          <a:ea typeface="+mn-ea"/>
                          <a:cs typeface="+mn-cs"/>
                        </a:rPr>
                        <a:t>{{scope3}}</a:t>
                      </a:r>
                      <a:endParaRPr lang="de-DE"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de-DE" sz="975" b="1" noProof="0">
                          <a:solidFill>
                            <a:schemeClr val="tx2"/>
                          </a:solidFill>
                        </a:rPr>
                        <a:t xml:space="preserve">Gesamte CO₂e-Emissionen für Scope 1, 2 und 3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e-DE" sz="975" b="0" i="0" u="none" strike="noStrike" kern="1200" cap="none" spc="0" normalizeH="0" baseline="0" noProof="0">
                          <a:ln>
                            <a:noFill/>
                          </a:ln>
                          <a:solidFill>
                            <a:srgbClr val="2D55FF"/>
                          </a:solidFill>
                          <a:effectLst/>
                          <a:uLnTx/>
                          <a:uFillTx/>
                          <a:latin typeface="+mn-lt"/>
                          <a:ea typeface="+mn-ea"/>
                          <a:cs typeface="+mn-cs"/>
                        </a:rPr>
                        <a:t>{{</a:t>
                      </a:r>
                      <a:r>
                        <a:rPr kumimoji="0" lang="de-DE" sz="975" b="0" i="0" u="none" strike="noStrike" kern="1200" cap="none" spc="0" normalizeH="0" baseline="0" noProof="0">
                          <a:ln>
                            <a:noFill/>
                          </a:ln>
                          <a:solidFill>
                            <a:srgbClr val="2D55FF"/>
                          </a:solidFill>
                          <a:effectLst/>
                          <a:uLnTx/>
                          <a:uFillTx/>
                          <a:latin typeface="+mn-lt"/>
                          <a:ea typeface="+mn-ea"/>
                          <a:cs typeface="+mn-cs"/>
                        </a:rPr>
                        <a:t>total_all_scopes</a:t>
                      </a:r>
                      <a:r>
                        <a:rPr kumimoji="0" lang="de-DE" sz="975" b="0" i="0" u="none" strike="noStrike" kern="1200" cap="none" spc="0" normalizeH="0" baseline="0" noProof="0">
                          <a:ln>
                            <a:noFill/>
                          </a:ln>
                          <a:solidFill>
                            <a:srgbClr val="2D55FF"/>
                          </a:solidFill>
                          <a:effectLst/>
                          <a:uLnTx/>
                          <a:uFillTx/>
                          <a:latin typeface="+mn-lt"/>
                          <a:ea typeface="+mn-ea"/>
                          <a:cs typeface="+mn-cs"/>
                        </a:rPr>
                        <a:t>}}</a:t>
                      </a:r>
                      <a:endParaRPr kumimoji="0" lang="de-DE" sz="975" b="0" i="0" u="none" strike="noStrike" kern="1200" cap="none" spc="0" normalizeH="0" baseline="0" noProof="0" dirty="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Treibhausgasemissionen in Scope 3 nach dem THG-Protokoll angegeben. Das Unternehmen gibt die Gesamtemissionen und die standortbezogenen Emissionen aus Scope 3 an. Die CO₂e-Reduktionsziele des Unternehmens sind aufgeführt, einschließlich der wesentlichen Maßnahmen des Unternehmens zur Erreichung der Reduktionsziel</a:t>
            </a:r>
            <a:r>
              <a:rPr lang="de-DE" sz="975" noProof="0">
                <a:solidFill>
                  <a:schemeClr val="tx2"/>
                </a:solidFill>
                <a:latin typeface="Inter"/>
              </a:rPr>
              <a:t xml:space="preserve">e.</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a:t xml:space="preserve">Übergang für den Klimaschutz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de-DE" sz="975" b="1" kern="1200" spc="-10" noProof="0">
                          <a:solidFill>
                            <a:schemeClr val="tx2"/>
                          </a:solidFill>
                          <a:latin typeface="+mn-lt"/>
                          <a:ea typeface="+mn-ea"/>
                          <a:cs typeface="+mn-cs"/>
                        </a:rPr>
                        <a:t xml:space="preserve">Künftiger Übergangsplan </a:t>
                      </a:r>
                      <a:r>
                        <a:rPr lang="de-DE" sz="975" b="0" kern="1200" spc="-10" noProof="0">
                          <a:solidFill>
                            <a:schemeClr val="tx2"/>
                          </a:solidFill>
                          <a:latin typeface="+mn-lt"/>
                          <a:ea typeface="+mn-ea"/>
                          <a:cs typeface="+mn-cs"/>
                        </a:rPr>
                        <a:t xml:space="preserve">(Nr.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e-DE"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de-DE" sz="975" b="1" kern="1200" noProof="0">
                          <a:solidFill>
                            <a:schemeClr val="accent2"/>
                          </a:solidFill>
                          <a:latin typeface="+mn-lt"/>
                          <a:ea typeface="+mn-ea"/>
                          <a:cs typeface="+mn-cs"/>
                        </a:rPr>
                        <a:t>{{company_name}} </a:t>
                      </a:r>
                      <a:r>
                        <a:rPr lang="de-DE" sz="975" b="1" kern="1200" noProof="0">
                          <a:solidFill>
                            <a:schemeClr val="tx2"/>
                          </a:solidFill>
                          <a:latin typeface="+mn-lt"/>
                          <a:ea typeface="+mn-ea"/>
                          <a:cs typeface="+mn-cs"/>
                        </a:rPr>
                        <a:t xml:space="preserve">wird einen konkreten Übergangsplan </a:t>
                      </a:r>
                      <a:r>
                        <a:rPr lang="de-DE" sz="975" b="1" noProof="0">
                          <a:solidFill>
                            <a:schemeClr val="tx2"/>
                          </a:solidFill>
                        </a:rPr>
                        <a:t xml:space="preserve">für den Klimaschutz annehmen</a:t>
                      </a:r>
                      <a:endParaRPr lang="de-DE"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0" i="0" u="none" strike="noStrike" noProof="0">
                          <a:solidFill>
                            <a:srgbClr val="2D55FF"/>
                          </a:solidFill>
                          <a:effectLst/>
                          <a:latin typeface="Inter"/>
                        </a:rPr>
                        <a:t>{{transition_plan?}}</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de-DE" sz="975" b="1" kern="1200" noProof="0">
                          <a:solidFill>
                            <a:schemeClr val="tx2"/>
                          </a:solidFill>
                          <a:latin typeface="+mn-lt"/>
                          <a:ea typeface="+mn-ea"/>
                          <a:cs typeface="+mn-cs"/>
                        </a:rPr>
                        <a:t xml:space="preserve">Zeitpunkt der Annahme des Übergangsplans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0" i="0" u="none" strike="noStrike" noProof="0">
                          <a:solidFill>
                            <a:srgbClr val="2D55FF"/>
                          </a:solidFill>
                          <a:effectLst/>
                          <a:latin typeface="Inter"/>
                        </a:rPr>
                        <a:t>{{</a:t>
                      </a:r>
                      <a:r>
                        <a:rPr lang="de-DE" sz="975" b="0" i="0" u="none" strike="noStrike" noProof="0">
                          <a:solidFill>
                            <a:srgbClr val="2D55FF"/>
                          </a:solidFill>
                          <a:effectLst/>
                          <a:latin typeface="Inter"/>
                        </a:rPr>
                        <a:t>transition_plan_date</a:t>
                      </a:r>
                      <a:r>
                        <a:rPr lang="de-DE" sz="975" b="0" i="0" u="none" strike="noStrike" noProof="0">
                          <a:solidFill>
                            <a:srgbClr val="2D55FF"/>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de-DE" sz="975" b="1" kern="1200" spc="-10" noProof="0">
                          <a:solidFill>
                            <a:schemeClr val="tx2"/>
                          </a:solidFill>
                          <a:latin typeface="+mn-lt"/>
                          <a:ea typeface="+mn-ea"/>
                          <a:cs typeface="+mn-cs"/>
                        </a:rPr>
                        <a:t xml:space="preserve">Übergangsplan für den Klimaschutz </a:t>
                      </a:r>
                      <a:r>
                        <a:rPr lang="de-DE" sz="975" b="0" kern="1200" spc="-10" noProof="0">
                          <a:solidFill>
                            <a:schemeClr val="tx2"/>
                          </a:solidFill>
                          <a:latin typeface="+mn-lt"/>
                          <a:ea typeface="+mn-ea"/>
                          <a:cs typeface="+mn-cs"/>
                        </a:rPr>
                        <a:t xml:space="preserve">(Nr.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de-DE" sz="975" b="0" noProof="0">
                          <a:solidFill>
                            <a:schemeClr val="accent2"/>
                          </a:solidFill>
                        </a:rPr>
                        <a:t>{{</a:t>
                      </a:r>
                      <a:r>
                        <a:rPr lang="de-DE" sz="975" b="0" noProof="0">
                          <a:solidFill>
                            <a:schemeClr val="accent2"/>
                          </a:solidFill>
                        </a:rPr>
                        <a:t>transition_plan</a:t>
                      </a:r>
                      <a:r>
                        <a:rPr lang="de-DE" sz="975" b="0" noProof="0">
                          <a:solidFill>
                            <a:schemeClr val="accent2"/>
                          </a:solidFill>
                        </a:rPr>
                        <a:t>}}</a:t>
                      </a:r>
                    </a:p>
                    <a:p>
                      <a:pPr algn="l"/>
                      <a:endParaRPr lang="de-DE" sz="975" b="0" noProof="0" dirty="0">
                        <a:solidFill>
                          <a:schemeClr val="accent2"/>
                        </a:solidFill>
                      </a:endParaRPr>
                    </a:p>
                    <a:p>
                      <a:pPr algn="l"/>
                      <a:endParaRPr lang="de-DE" sz="975" b="0" noProof="0" dirty="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Die nachstehenden Angaben beziehen sich auf den Übergangsplan des Unternehmens für den Klimaschutz. Der Übergang steht im Zusammenhang mit den CO₂e-Reduktionszielen des Unternehmens.</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Diese Angabe wurde ausgefüllt, da das Unternehmen angegeben hat, dass es einen konkreten Übergangsplan einleiten wird, sowie das Datum der Annahme.</a:t>
            </a:r>
            <a:endParaRPr lang="de-DE"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de-DE" noProof="0"/>
              <a:t xml:space="preserve">K</a:t>
            </a:r>
            <a:r>
              <a:rPr lang="de-DE" sz="1475" b="1" noProof="0">
                <a:solidFill>
                  <a:schemeClr val="tx2"/>
                </a:solidFill>
              </a:rPr>
              <a:t xml:space="preserve">limabedingte Risiken (C4)</a:t>
            </a:r>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de-DE" sz="825" b="0" kern="1200" noProof="0">
                          <a:solidFill>
                            <a:schemeClr val="tx2"/>
                          </a:solidFill>
                          <a:latin typeface="+mn-lt"/>
                          <a:ea typeface="+mn-ea"/>
                          <a:cs typeface="+mn-cs"/>
                        </a:rPr>
                        <a:t xml:space="preserve">(Nr.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e-DE" sz="825" b="0" kern="1200" noProof="0">
                          <a:solidFill>
                            <a:schemeClr val="tx2"/>
                          </a:solidFill>
                          <a:latin typeface="+mn-lt"/>
                          <a:ea typeface="+mn-ea"/>
                          <a:cs typeface="+mn-cs"/>
                        </a:rPr>
                        <a:t xml:space="preserve">(Nr.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e-DE" sz="825" b="0" kern="1200" noProof="0">
                          <a:solidFill>
                            <a:schemeClr val="tx2"/>
                          </a:solidFill>
                          <a:latin typeface="+mn-lt"/>
                          <a:ea typeface="+mn-ea"/>
                          <a:cs typeface="+mn-cs"/>
                        </a:rPr>
                        <a:t xml:space="preserve">(Nr.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e-DE" sz="825" b="0" kern="1200" noProof="0">
                          <a:solidFill>
                            <a:schemeClr val="tx2"/>
                          </a:solidFill>
                          <a:latin typeface="+mn-lt"/>
                          <a:ea typeface="+mn-ea"/>
                          <a:cs typeface="+mn-cs"/>
                        </a:rPr>
                        <a:t xml:space="preserve">(Nr.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Klimabedingte 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Wo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Kurze Beschreibung der 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Exposition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noProof="0">
                          <a:solidFill>
                            <a:schemeClr val="tx2"/>
                          </a:solidFill>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Anfälligkeit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noProof="0">
                          <a:solidFill>
                            <a:schemeClr val="tx2"/>
                          </a:solidFill>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Zeithorizont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i="0" noProof="0">
                          <a:solidFill>
                            <a:schemeClr val="tx2"/>
                          </a:solidFill>
                        </a:rPr>
                        <a:t xml:space="preserve">(0-1/2-5/&gt;5 Jahre)</a:t>
                      </a:r>
                      <a:endParaRPr lang="de-DE"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Anpassung ergriffen </a:t>
                      </a:r>
                      <a:r>
                        <a:rPr lang="de-DE" sz="825" b="0" noProof="0">
                          <a:solidFill>
                            <a:schemeClr val="tx2"/>
                          </a:solidFill>
                        </a:rPr>
                        <a:t xml:space="preserve">(JA/NEIN)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Chronische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{{chronic_aktiver_description}}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{{chronic_aktiver_eksponerning}}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{{chronic_aktiver_time}}</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{{chronic_aktivteter_eksponerning}}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{{chronic_aktivteter_time}}</a:t>
                      </a:r>
                      <a:endParaRPr lang="de-DE"/>
                    </a:p>
                    <a:p>
                      <a:pPr lvl="0" algn="ctr">
                        <a:lnSpc>
                          <a:spcPct val="100000"/>
                        </a:lnSpc>
                        <a:spcBef>
                          <a:spcPts val="0"/>
                        </a:spcBef>
                        <a:spcAft>
                          <a:spcPts val="0"/>
                        </a:spcAft>
                        <a:buNone/>
                      </a:pP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{{chronic_aktivteter_tilpasning}}</a:t>
                      </a:r>
                      <a:endParaRPr lang="de-DE"/>
                    </a:p>
                    <a:p>
                      <a:pPr marL="0" marR="0" lvl="0" indent="0" algn="ctr">
                        <a:lnSpc>
                          <a:spcPct val="100000"/>
                        </a:lnSpc>
                        <a:spcBef>
                          <a:spcPts val="0"/>
                        </a:spcBef>
                        <a:spcAft>
                          <a:spcPts val="0"/>
                        </a:spcAft>
                        <a:buClrTx/>
                        <a:buSzTx/>
                        <a:buFontTx/>
                        <a:buNone/>
                      </a:pP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{{chronic_value_description}}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{{chronic_value_eksponerning}}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{{chronic_value_sårbarhed}}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{{chronic_value_time}}</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{{chronic_value_tilpasning}}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kern="1200" noProof="0">
                          <a:solidFill>
                            <a:schemeClr val="tx2"/>
                          </a:solidFill>
                          <a:latin typeface="+mn-lt"/>
                          <a:ea typeface="+mn-ea"/>
                          <a:cs typeface="+mn-cs"/>
                        </a:rPr>
                        <a:t xml:space="preserve">Akute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{{akut_aktiver_description}}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{{akut_aktiviteter_description}}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{{akut_aktiviteter_eksponering}}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{{akut_aktiviteter_sårbarhed}}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{{akut_aktiviteter_tidshorisont}}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{{akut_aktiviteter_tilpasning}}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{{akut_værdikæde_description}}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{{akut_værdikæde_eksponering}}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{{akut_værdikæde_sårbarhed}}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{{akut_værdikæde_tidshorisont}}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{{akut_værdikæde_tilpasning}}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kern="1200" noProof="0">
                          <a:solidFill>
                            <a:schemeClr val="tx2"/>
                          </a:solidFill>
                          <a:latin typeface="+mn-lt"/>
                          <a:ea typeface="+mn-ea"/>
                          <a:cs typeface="+mn-cs"/>
                        </a:rPr>
                        <a:t xml:space="preserve">Übergangs-ereignis</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{{omstilling_aktiver_description}}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{{omstilling_aktiviteter_description}}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{{omstilling_aktiviteter_eksponering}}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{{omstilling_aktiviteter_sårbarhed}}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{{omstilling_aktiviteter_tidshorisont}}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{{omstilling_aktiviteter_tilpasning}}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rPr>
                        <a:t>{{omstilling_værdikæde_description}}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{{omstilling_værdikæde_eksponering}}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{{omstilling_værdikæde_sårbarhed}}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{{omstilling_værdikæde_tidshorisont}}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825" b="0" i="0" u="none" strike="noStrike" noProof="0">
                          <a:solidFill>
                            <a:schemeClr val="accent2"/>
                          </a:solidFill>
                          <a:latin typeface="IBM Plex Sans"/>
                        </a:rPr>
                        <a:t>{{omstilling_værdikæde_tilpasning}}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de-DE" dirty="0">
                <a:solidFill>
                  <a:srgbClr val="1B4528">
                    <a:alpha val="70000"/>
                  </a:srgbClr>
                </a:solidFill>
              </a:rPr>
              <a:t>14</a:t>
            </a:fld>
            <a:endParaRPr lang="de-DE"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klimabedingten Risiken angegeben, einschließlich der Frage, ob diese chronisch, akut oder übergangsbedingt sind und wo sie angesiedelt sind (Vermögenswerte, Tätigkeiten oder Wertschöpfungskette des Unternehmens). </a:t>
            </a:r>
            <a:endParaRPr lang="de-DE"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de-DE" noProof="0"/>
              <a:t xml:space="preserve">K</a:t>
            </a:r>
            <a:r>
              <a:rPr lang="de-DE" sz="1475" b="1" noProof="0">
                <a:solidFill>
                  <a:schemeClr val="tx2"/>
                </a:solidFill>
              </a:rPr>
              <a:t xml:space="preserve">limabedingte Risiken (C4) - Fortsetzung</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15</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de-DE" sz="975" b="0" kern="1200" noProof="0">
                          <a:solidFill>
                            <a:schemeClr val="tx2"/>
                          </a:solidFill>
                          <a:latin typeface="+mn-lt"/>
                          <a:ea typeface="+mn-ea"/>
                          <a:cs typeface="+mn-cs"/>
                        </a:rPr>
                        <a:t xml:space="preserve">(Nr.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Potenzielle nachteilige </a:t>
                      </a:r>
                      <a:r>
                        <a:rPr lang="de-DE" sz="975" b="1" kern="1200" noProof="0">
                          <a:solidFill>
                            <a:schemeClr val="tx2"/>
                          </a:solidFill>
                          <a:latin typeface="+mn-lt"/>
                          <a:ea typeface="+mn-ea"/>
                          <a:cs typeface="+mn-cs"/>
                        </a:rPr>
                        <a:t xml:space="preserve">Auswirkungen auf die finanzielle Leistungsfähigkeit und die Geschäftstätigkeit des Unternehmens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Finanzielles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0" kern="1200" noProof="0">
                          <a:solidFill>
                            <a:schemeClr val="tx2"/>
                          </a:solidFill>
                          <a:latin typeface="+mn-lt"/>
                          <a:ea typeface="+mn-ea"/>
                          <a:cs typeface="+mn-cs"/>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Zeithorizont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0" i="0" noProof="0">
                          <a:solidFill>
                            <a:schemeClr val="tx2"/>
                          </a:solidFill>
                        </a:rPr>
                        <a:t xml:space="preserve">(0-1/2-5/&gt;5 Jahre)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Chronische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de-DE" sz="975" b="0" i="0" u="none" strike="noStrike" noProof="0">
                          <a:solidFill>
                            <a:schemeClr val="accent2"/>
                          </a:solidFill>
                        </a:rPr>
                        <a:t>{{chronic_hazards}}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BM Plex Sans"/>
                        </a:rPr>
                        <a:t>{{chronic connection financial </a:t>
                      </a:r>
                      <a:r>
                        <a:rPr lang="de-DE" sz="975" b="0" i="0" u="none" strike="noStrike" noProof="0">
                          <a:solidFill>
                            <a:schemeClr val="accent2"/>
                          </a:solidFill>
                          <a:latin typeface="IBM Plex Sans"/>
                          <a:ea typeface="+mn-ea"/>
                          <a:cs typeface="+mn-cs"/>
                        </a:rPr>
                        <a:t>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{{chronic_financial_risk}}</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{{chronic_time_horizon}}</a:t>
                      </a:r>
                      <a:endParaRPr lang="de-DE"/>
                    </a:p>
                    <a:p>
                      <a:pPr marL="0" marR="0" lvl="0" indent="0" algn="ctr" defTabSz="914400">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Akute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de-DE" sz="975" b="0" i="0" u="none" strike="noStrike" noProof="0">
                          <a:solidFill>
                            <a:schemeClr val="accent2"/>
                          </a:solidFill>
                        </a:rPr>
                        <a:t>{{acute_hazards}}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BM Plex Sans"/>
                        </a:rPr>
                        <a:t>{{acute connection </a:t>
                      </a:r>
                      <a:r>
                        <a:rPr lang="de-DE" sz="975" b="0" i="0" u="none" strike="noStrike" noProof="0">
                          <a:solidFill>
                            <a:schemeClr val="accent2"/>
                          </a:solidFill>
                          <a:latin typeface="IBM Plex Sans"/>
                          <a:ea typeface="+mn-ea"/>
                          <a:cs typeface="+mn-cs"/>
                        </a:rPr>
                        <a:t>financial 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{{acute_financial_risk}}</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{{acute_time_horizon}}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Übergangsrisiken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de-DE" sz="975" b="0" i="0" u="none" strike="noStrike" noProof="0">
                          <a:solidFill>
                            <a:schemeClr val="accent2"/>
                          </a:solidFill>
                        </a:rPr>
                        <a:t>{{climate_related}}</a:t>
                      </a:r>
                      <a:endParaRPr lang="de-DE"/>
                    </a:p>
                    <a:p>
                      <a:pPr lvl="0" algn="l">
                        <a:lnSpc>
                          <a:spcPct val="100000"/>
                        </a:lnSpc>
                        <a:spcBef>
                          <a:spcPts val="0"/>
                        </a:spcBef>
                        <a:spcAft>
                          <a:spcPts val="0"/>
                        </a:spcAft>
                        <a:buNone/>
                      </a:pPr>
                      <a:endParaRPr lang="de-DE" sz="975" b="0" i="0" u="none" strike="noStrike" noProof="0">
                        <a:solidFill>
                          <a:schemeClr val="accent2"/>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chemeClr val="accent2"/>
                          </a:solidFill>
                          <a:latin typeface="IBM Plex Sans"/>
                        </a:rPr>
                        <a:t>{{climate connection financial </a:t>
                      </a:r>
                      <a:r>
                        <a:rPr lang="de-DE" sz="975" b="0" i="0" u="none" strike="noStrike" noProof="0">
                          <a:solidFill>
                            <a:schemeClr val="accent2"/>
                          </a:solidFill>
                          <a:latin typeface="IBM Plex Sans"/>
                          <a:ea typeface="+mn-ea"/>
                          <a:cs typeface="+mn-cs"/>
                        </a:rPr>
                        <a:t>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{{climate_related_risk}}</a:t>
                      </a:r>
                      <a:endParaRPr lang="de-DE"/>
                    </a:p>
                    <a:p>
                      <a:pPr lvl="0" algn="ctr">
                        <a:lnSpc>
                          <a:spcPct val="100000"/>
                        </a:lnSpc>
                        <a:spcBef>
                          <a:spcPts val="0"/>
                        </a:spcBef>
                        <a:spcAft>
                          <a:spcPts val="0"/>
                        </a:spcAft>
                        <a:buNone/>
                      </a:pP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chemeClr val="accent2"/>
                          </a:solidFill>
                          <a:latin typeface="IBM Plex Sans"/>
                        </a:rPr>
                        <a:t>{{climate_time_horizon}}</a:t>
                      </a:r>
                      <a:endParaRPr lang="de-DE"/>
                    </a:p>
                    <a:p>
                      <a:pPr marL="0" marR="0" lvl="0" indent="0" algn="ctr" defTabSz="914400">
                        <a:lnSpc>
                          <a:spcPct val="100000"/>
                        </a:lnSpc>
                        <a:spcBef>
                          <a:spcPts val="0"/>
                        </a:spcBef>
                        <a:spcAft>
                          <a:spcPts val="0"/>
                        </a:spcAft>
                        <a:buClrTx/>
                        <a:buSzTx/>
                        <a:buFontTx/>
                        <a:buNone/>
                        <a:tabLst/>
                        <a:defRPr/>
                      </a:pPr>
                      <a:endParaRPr lang="de-DE"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klimabedingten Risiken angegeben, einschließlich, ob diese chronisch, akut oder übergangsbedingt sind und ob sie die finanzielle Leistungsfähigkeit und Geschäftstätigkeit nachteilig beeinflussen können.</a:t>
            </a:r>
            <a:endParaRPr lang="de-DE"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de-DE" sz="1220" b="1" i="0" u="none" strike="noStrike" kern="1200" spc="-10" noProof="0">
                <a:solidFill>
                  <a:srgbClr val="1B4528"/>
                </a:solidFill>
              </a:rPr>
              <a:t xml:space="preserve">Zusätzliche (allgemeine) Merkmale der Arbeitskräfte (C5)</a:t>
            </a:r>
            <a:endParaRPr lang="de-DE"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16</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i="0" noProof="0">
                          <a:solidFill>
                            <a:schemeClr val="tx2"/>
                          </a:solidFill>
                        </a:rPr>
                        <a:t xml:space="preserve">Zahlenmäßiges Verhältnis von Frauen zu Männern auf Führungsebene </a:t>
                      </a:r>
                      <a:r>
                        <a:rPr lang="de-DE" sz="806" b="0" i="0" noProof="0">
                          <a:solidFill>
                            <a:schemeClr val="tx2"/>
                          </a:solidFill>
                        </a:rPr>
                        <a:t xml:space="preserve">(Nr.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1" i="0" u="none" strike="noStrike" noProof="0">
                          <a:solidFill>
                            <a:srgbClr val="1B4528"/>
                          </a:solidFill>
                          <a:effectLst/>
                          <a:latin typeface="IBM Plex Sans" panose="020B0503050203000203" pitchFamily="34" charset="0"/>
                        </a:rPr>
                        <a:t xml:space="preserve">Jahr </a:t>
                      </a:r>
                      <a:r>
                        <a:rPr lang="de-DE" sz="806" b="1" i="0" u="none" strike="noStrike" noProof="0">
                          <a:solidFill>
                            <a:srgbClr val="2D55FF"/>
                          </a:solidFill>
                          <a:effectLst/>
                          <a:latin typeface="IBM Plex Sans" panose="020B0503050203000203" pitchFamily="34" charset="0"/>
                        </a:rPr>
                        <a:t>{{Insert year}}</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e-DE"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0" i="0" u="none" strike="noStrike" noProof="0">
                          <a:solidFill>
                            <a:srgbClr val="2D55FF"/>
                          </a:solidFill>
                          <a:effectLst/>
                          <a:latin typeface="IBM Plex Sans" panose="020B0503050203000203" pitchFamily="34" charset="0"/>
                        </a:rPr>
                        <a:t>{{gender_balance}}</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i="0" noProof="0">
                          <a:solidFill>
                            <a:schemeClr val="tx2"/>
                          </a:solidFill>
                        </a:rPr>
                        <a:t xml:space="preserve">Beschäftigtenfluktuation im Berichtsjahr </a:t>
                      </a:r>
                      <a:r>
                        <a:rPr lang="de-DE" sz="806" b="0" i="0" noProof="0">
                          <a:solidFill>
                            <a:schemeClr val="tx2"/>
                          </a:solidFill>
                        </a:rPr>
                        <a:t xml:space="preserve">(Nr.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1" i="0" u="none" strike="noStrike" noProof="0">
                          <a:solidFill>
                            <a:srgbClr val="1B4528"/>
                          </a:solidFill>
                          <a:effectLst/>
                          <a:latin typeface="IBM Plex Sans" panose="020B0503050203000203" pitchFamily="34" charset="0"/>
                        </a:rPr>
                        <a:t xml:space="preserve">Jahr </a:t>
                      </a:r>
                      <a:r>
                        <a:rPr lang="de-DE" sz="806" b="1" i="0" u="none" strike="noStrike" noProof="0">
                          <a:solidFill>
                            <a:srgbClr val="2D55FF"/>
                          </a:solidFill>
                          <a:effectLst/>
                          <a:latin typeface="IBM Plex Sans" panose="020B0503050203000203" pitchFamily="34" charset="0"/>
                        </a:rPr>
                        <a:t>{{Insert year}}</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e-DE"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0" i="0" u="none" strike="noStrike" noProof="0">
                          <a:solidFill>
                            <a:srgbClr val="2D55FF"/>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Die nachstehenden Informationen ergänzen die übrigen Angaben zu den Arbeitskräften des Unternehmens, einschließlich der Frage, wie sich das Verhältnis von Männern und Frauen auf Führungsebene im Unternehmen verteilt.</a:t>
            </a:r>
            <a:endParaRPr lang="de-DE" sz="806" b="0" noProof="0">
              <a:solidFill>
                <a:schemeClr val="tx2"/>
              </a:solidFill>
              <a:effectLst/>
              <a:latin typeface="Inter"/>
            </a:endParaRPr>
          </a:p>
          <a:p>
            <a:pPr>
              <a:buNone/>
            </a:pPr>
            <a:br>
              <a:rPr lang="de-DE" sz="806" noProof="0">
                <a:solidFill>
                  <a:schemeClr val="tx2"/>
                </a:solidFill>
                <a:latin typeface="Inter"/>
              </a:rPr>
            </a:br>
            <a:endParaRPr lang="de-DE" sz="806"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1" kern="1200" noProof="0">
                          <a:solidFill>
                            <a:schemeClr val="tx2"/>
                          </a:solidFill>
                          <a:latin typeface="+mn-lt"/>
                          <a:ea typeface="+mn-ea"/>
                          <a:cs typeface="+mn-cs"/>
                        </a:rPr>
                        <a:t xml:space="preserve">Selbstständige und Zeitarbeitskräfte </a:t>
                      </a:r>
                      <a:r>
                        <a:rPr lang="de-DE" sz="806" b="0" noProof="0">
                          <a:solidFill>
                            <a:schemeClr val="tx2"/>
                          </a:solidFill>
                        </a:rPr>
                        <a:t xml:space="preserve">(Nr. 60)</a:t>
                      </a:r>
                      <a:endParaRPr lang="de-DE" sz="806"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806"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1" kern="1200" noProof="0">
                          <a:solidFill>
                            <a:schemeClr val="tx2"/>
                          </a:solidFill>
                          <a:latin typeface="+mn-lt"/>
                          <a:ea typeface="+mn-ea"/>
                          <a:cs typeface="+mn-cs"/>
                        </a:rPr>
                        <a:t xml:space="preserve">Anzahl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de-DE" sz="806" b="1" noProof="0">
                          <a:solidFill>
                            <a:schemeClr val="tx2"/>
                          </a:solidFill>
                        </a:rPr>
                        <a:t xml:space="preserve">Selbstständige (ohne eigenes Personal)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{{self-employeed}}</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806" b="1" noProof="0">
                          <a:solidFill>
                            <a:schemeClr val="tx2"/>
                          </a:solidFill>
                        </a:rPr>
                        <a:t xml:space="preserve">Zeitarbeitskräfte (über eine Zeitarbeitsagentur bereitgestellt) </a:t>
                      </a:r>
                      <a:endParaRPr lang="de-DE"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a:t>
                      </a:r>
                      <a:r>
                        <a:rPr lang="de-DE" sz="806" b="0" i="0" u="none" strike="noStrike" noProof="0">
                          <a:solidFill>
                            <a:srgbClr val="2D55FF"/>
                          </a:solidFill>
                          <a:effectLst/>
                          <a:latin typeface="Inter"/>
                        </a:rPr>
                        <a:t>temp_workers</a:t>
                      </a:r>
                      <a:r>
                        <a:rPr lang="de-DE" sz="806" b="0" i="0" u="none" strike="noStrike" noProof="0">
                          <a:solidFill>
                            <a:srgbClr val="2D55FF"/>
                          </a:solidFill>
                          <a:effectLst/>
                          <a:latin typeface="Inter"/>
                        </a:rPr>
                        <a:t>}}</a:t>
                      </a:r>
                      <a:endParaRPr lang="de-DE"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Die nachstehenden Informationen wurden ausgefüllt, um über die Anzahl der Selbstständigen und Zeitarbeitskräfte des Unternehmens zu informieren.</a:t>
            </a:r>
            <a:endParaRPr lang="de-DE" sz="806"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a:solidFill>
                  <a:srgbClr val="1B4528"/>
                </a:solidFill>
                <a:latin typeface="+mn-lt"/>
                <a:ea typeface="+mn-ea"/>
                <a:cs typeface="+mn-cs"/>
              </a:rPr>
              <a:t xml:space="preserve">Menschenrechtsrichtlinien und -prozesse (C6</a:t>
            </a:r>
            <a:r>
              <a:rPr lang="de-DE"/>
              <a:t xml:space="preserve">) - Eigene Arbeitskräfte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kern="1200" noProof="0">
                          <a:solidFill>
                            <a:schemeClr val="accent2"/>
                          </a:solidFill>
                          <a:latin typeface="+mn-lt"/>
                          <a:ea typeface="+mn-ea"/>
                          <a:cs typeface="+mn-cs"/>
                        </a:rPr>
                        <a:t>{{company_name}}</a:t>
                      </a:r>
                      <a:r>
                        <a:rPr lang="de-DE" sz="806" b="1" noProof="0">
                          <a:solidFill>
                            <a:schemeClr val="tx2"/>
                          </a:solidFill>
                        </a:rPr>
                        <a:t xml:space="preserve"> verfügt über </a:t>
                      </a:r>
                      <a:r>
                        <a:rPr lang="de-DE" sz="806" b="1" kern="1200" spc="-10" noProof="0">
                          <a:solidFill>
                            <a:schemeClr val="tx2"/>
                          </a:solidFill>
                          <a:latin typeface="+mn-lt"/>
                          <a:ea typeface="+mn-ea"/>
                          <a:cs typeface="+mn-cs"/>
                        </a:rPr>
                        <a:t xml:space="preserve">einen Verhaltenskodex </a:t>
                      </a:r>
                      <a:r>
                        <a:rPr lang="de-DE" sz="806" b="1" i="1" kern="1200" spc="-10" noProof="0">
                          <a:solidFill>
                            <a:schemeClr val="tx2"/>
                          </a:solidFill>
                          <a:latin typeface="+mn-lt"/>
                          <a:ea typeface="+mn-ea"/>
                          <a:cs typeface="+mn-cs"/>
                        </a:rPr>
                        <a:t xml:space="preserve">und/oder</a:t>
                      </a:r>
                      <a:r>
                        <a:rPr lang="de-DE" sz="806" b="1" kern="1200" spc="-10" noProof="0">
                          <a:solidFill>
                            <a:schemeClr val="tx2"/>
                          </a:solidFill>
                          <a:latin typeface="+mn-lt"/>
                          <a:ea typeface="+mn-ea"/>
                          <a:cs typeface="+mn-cs"/>
                        </a:rPr>
                        <a:t xml:space="preserve"> Richtlinien für die Achtung der Menschenrechte für unsere </a:t>
                      </a:r>
                      <a:r>
                        <a:rPr lang="de-DE" sz="806" b="1" u="sng" kern="1200" spc="-10" noProof="0">
                          <a:solidFill>
                            <a:schemeClr val="tx2"/>
                          </a:solidFill>
                          <a:latin typeface="+mn-lt"/>
                          <a:ea typeface="+mn-ea"/>
                          <a:cs typeface="+mn-cs"/>
                        </a:rPr>
                        <a:t xml:space="preserve">eigenen Arbeitskräfte</a:t>
                      </a:r>
                      <a:r>
                        <a:rPr lang="de-DE" sz="806" b="0" u="none" kern="1200" spc="-10" noProof="0">
                          <a:solidFill>
                            <a:schemeClr val="tx2"/>
                          </a:solidFill>
                          <a:latin typeface="+mn-lt"/>
                          <a:ea typeface="+mn-ea"/>
                          <a:cs typeface="+mn-cs"/>
                        </a:rPr>
                        <a:t xml:space="preserve"> (Nr. 61a)</a:t>
                      </a:r>
                      <a:endParaRPr lang="de-DE" sz="806"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0" noProof="0">
                          <a:solidFill>
                            <a:schemeClr val="accent2"/>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de-DE" sz="806" b="1" kern="1200" noProof="0">
                          <a:solidFill>
                            <a:schemeClr val="tx1"/>
                          </a:solidFill>
                          <a:latin typeface="+mn-lt"/>
                          <a:ea typeface="+mn-ea"/>
                          <a:cs typeface="+mn-cs"/>
                        </a:rPr>
                        <a:t xml:space="preserve">Der Verhaltenskodex bzw. die Menschenrechtsrichtlinien decken folgende Aspekte ab: </a:t>
                      </a:r>
                      <a:r>
                        <a:rPr lang="de-DE" sz="806" b="0" u="none" kern="1200" spc="-10" noProof="0">
                          <a:solidFill>
                            <a:schemeClr val="tx2"/>
                          </a:solidFill>
                          <a:latin typeface="+mn-lt"/>
                          <a:ea typeface="+mn-ea"/>
                          <a:cs typeface="+mn-cs"/>
                        </a:rPr>
                        <a:t xml:space="preserve">(Nr. 61b)</a:t>
                      </a:r>
                      <a:endParaRPr lang="de-DE" sz="806"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de-DE" sz="806" b="0" noProof="0">
                          <a:solidFill>
                            <a:schemeClr val="tx2"/>
                          </a:solidFill>
                        </a:rPr>
                        <a:t xml:space="preserve">Kinderarbeit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{{child_labour_polict?}}</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de-DE" sz="806" b="0" noProof="0">
                          <a:solidFill>
                            <a:schemeClr val="tx2"/>
                          </a:solidFill>
                        </a:rPr>
                        <a:t xml:space="preserve">Zwangsarbeit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{{forced_labour_policy?}}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de-DE" sz="806" b="0" noProof="0">
                          <a:solidFill>
                            <a:schemeClr val="tx2"/>
                          </a:solidFill>
                        </a:rPr>
                        <a:t xml:space="preserve">Menschenhandel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{{human_policy?}}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de-DE" sz="806" b="0" noProof="0">
                          <a:solidFill>
                            <a:schemeClr val="tx2"/>
                          </a:solidFill>
                        </a:rPr>
                        <a:t xml:space="preserve">Diskriminierung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{{discrimanation_policy?}}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de-DE" sz="806" b="0" noProof="0">
                          <a:solidFill>
                            <a:schemeClr val="tx2"/>
                          </a:solidFill>
                        </a:rPr>
                        <a:t xml:space="preserve">Sicherheit und Unfallverhütung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{{safety_policy?}}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de-DE" sz="806" b="0" noProof="0">
                          <a:solidFill>
                            <a:schemeClr val="tx2"/>
                          </a:solidFill>
                        </a:rPr>
                        <a:t xml:space="preserve">Sonstiges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e-DE" sz="806" b="0" i="0" u="none" strike="noStrike" noProof="0">
                          <a:solidFill>
                            <a:srgbClr val="2D55FF"/>
                          </a:solidFill>
                          <a:effectLst/>
                          <a:latin typeface="Inter"/>
                        </a:rPr>
                        <a:t>{{other_policy?}}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de-DE" sz="806" b="1" noProof="0">
                          <a:solidFill>
                            <a:schemeClr val="tx2"/>
                          </a:solidFill>
                        </a:rPr>
                        <a:t xml:space="preserve">Falls ja zu ”Sonstiges”, bitte ausführen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de-DE" sz="806" b="0" noProof="0" dirty="0">
                        <a:solidFill>
                          <a:schemeClr val="tx2"/>
                        </a:solidFill>
                      </a:endParaRPr>
                    </a:p>
                    <a:p>
                      <a:pPr lvl="0" algn="l">
                        <a:lnSpc>
                          <a:spcPct val="100000"/>
                        </a:lnSpc>
                        <a:spcBef>
                          <a:spcPts val="0"/>
                        </a:spcBef>
                        <a:spcAft>
                          <a:spcPts val="0"/>
                        </a:spcAft>
                        <a:buNone/>
                      </a:pPr>
                      <a:r>
                        <a:rPr lang="de-DE" sz="806" b="0" i="0" u="none" strike="noStrike" kern="1200" noProof="0">
                          <a:solidFill>
                            <a:srgbClr val="2D55FF"/>
                          </a:solidFill>
                          <a:latin typeface="Inter"/>
                          <a:ea typeface="+mn-ea"/>
                          <a:cs typeface="+mn-cs"/>
                        </a:rPr>
                        <a:t>{{C6_other_description}}</a:t>
                      </a:r>
                      <a:endParaRPr lang="de-DE" sz="806" b="0" i="0" u="none" strike="noStrike" kern="1200" noProof="0" dirty="0">
                        <a:solidFill>
                          <a:srgbClr val="000000"/>
                        </a:solidFill>
                        <a:latin typeface="Inter"/>
                        <a:ea typeface="+mn-ea"/>
                        <a:cs typeface="+mn-cs"/>
                      </a:endParaRPr>
                    </a:p>
                    <a:p>
                      <a:endParaRPr lang="de-DE" sz="806"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de-DE" sz="806" b="1" noProof="0">
                          <a:solidFill>
                            <a:schemeClr val="tx2"/>
                          </a:solidFill>
                        </a:rPr>
                        <a:t xml:space="preserve">Das Unternehmen verfügt über ein Verfahren zur Bearbeitung von Beschwerden unserer </a:t>
                      </a:r>
                      <a:r>
                        <a:rPr lang="de-DE" sz="806" b="1" u="sng" noProof="0">
                          <a:solidFill>
                            <a:schemeClr val="tx2"/>
                          </a:solidFill>
                        </a:rPr>
                        <a:t xml:space="preserve">eigenen Arbeitskräfte</a:t>
                      </a:r>
                      <a:r>
                        <a:rPr lang="de-DE" sz="806" b="0" u="sng" noProof="0">
                          <a:solidFill>
                            <a:schemeClr val="tx2"/>
                          </a:solidFill>
                        </a:rPr>
                        <a:t> </a:t>
                      </a:r>
                      <a:r>
                        <a:rPr lang="de-DE" sz="806" b="0" noProof="0">
                          <a:solidFill>
                            <a:schemeClr val="tx2"/>
                          </a:solidFill>
                        </a:rPr>
                        <a:t xml:space="preserve">(Nr.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0" noProof="0">
                          <a:solidFill>
                            <a:schemeClr val="accent2"/>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de-DE" sz="806" b="0" i="0" u="none" strike="noStrike" noProof="0">
                <a:solidFill>
                  <a:schemeClr val="tx2"/>
                </a:solidFill>
                <a:effectLst/>
                <a:latin typeface="Inter"/>
              </a:rPr>
              <a:t xml:space="preserve">Nachstehend sind </a:t>
            </a:r>
            <a:r>
              <a:rPr lang="de-DE" sz="806" noProof="0">
                <a:solidFill>
                  <a:schemeClr val="tx2"/>
                </a:solidFill>
                <a:latin typeface="Inter"/>
              </a:rPr>
              <a:t xml:space="preserve">Informationen über </a:t>
            </a:r>
            <a:r>
              <a:rPr lang="de-DE" sz="806" b="0" i="0" u="none" strike="noStrike" noProof="0">
                <a:solidFill>
                  <a:schemeClr val="tx2"/>
                </a:solidFill>
                <a:effectLst/>
                <a:latin typeface="Inter"/>
              </a:rPr>
              <a:t xml:space="preserve">den Verhaltenskodex und/oder die Menschenrechtsrichtlinien des Unternehmens für die eigenen Arbeitskräft</a:t>
            </a:r>
            <a:r>
              <a:rPr lang="de-DE" sz="806" noProof="0">
                <a:solidFill>
                  <a:schemeClr val="tx2"/>
                </a:solidFill>
                <a:latin typeface="Inter"/>
              </a:rPr>
              <a:t xml:space="preserve">e angegeben. Ebenso wird angegeben, ob das Unternehmen über ein Verfahren zur Bearbeitung von Beschwerden verfügt, das es den Beschäftigten ermöglicht, Sachverhalte im Zusammenhang mit Menschenrechtsverletzungen, Diskriminierung, Belästigung oder anderen kritikwürdigen Vorgängen zu melden.</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de-DE" sz="1327" b="1" i="0" u="none" strike="noStrike" kern="1200" spc="-10" noProof="0">
                <a:solidFill>
                  <a:srgbClr val="1B4528"/>
                </a:solidFill>
                <a:latin typeface="+mn-lt"/>
                <a:ea typeface="+mn-ea"/>
                <a:cs typeface="+mn-cs"/>
              </a:rPr>
              <a:t xml:space="preserve">Schwerwiegende negative Vorfälle im Zusammenhang mit Menschenrechten (C7</a:t>
            </a:r>
            <a:r>
              <a:rPr lang="de-DE" noProof="0"/>
              <a:t xml:space="preserve">) – Eigene Arbeitskräfte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17</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de-DE" sz="877" b="1" kern="1200" spc="-10" noProof="0">
                          <a:solidFill>
                            <a:schemeClr val="tx2"/>
                          </a:solidFill>
                          <a:latin typeface="+mn-lt"/>
                          <a:ea typeface="+mn-ea"/>
                          <a:cs typeface="+mn-cs"/>
                        </a:rPr>
                        <a:t xml:space="preserve">Sind unter den </a:t>
                      </a:r>
                      <a:r>
                        <a:rPr lang="de-DE" sz="877" b="1" u="sng" kern="1200" spc="-10" noProof="0">
                          <a:solidFill>
                            <a:schemeClr val="tx2"/>
                          </a:solidFill>
                          <a:latin typeface="+mn-lt"/>
                          <a:ea typeface="+mn-ea"/>
                          <a:cs typeface="+mn-cs"/>
                        </a:rPr>
                        <a:t xml:space="preserve">eigenen Arbeitskräften</a:t>
                      </a:r>
                      <a:r>
                        <a:rPr lang="de-DE" sz="877" b="1" u="none" kern="1200" spc="-10" noProof="0">
                          <a:solidFill>
                            <a:schemeClr val="tx2"/>
                          </a:solidFill>
                          <a:latin typeface="+mn-lt"/>
                          <a:ea typeface="+mn-ea"/>
                          <a:cs typeface="+mn-cs"/>
                        </a:rPr>
                        <a:t xml:space="preserve"> des Unternehmens </a:t>
                      </a:r>
                      <a:r>
                        <a:rPr lang="de-DE" sz="877" b="1" kern="1200" spc="-10" noProof="0">
                          <a:solidFill>
                            <a:schemeClr val="tx2"/>
                          </a:solidFill>
                          <a:latin typeface="+mn-lt"/>
                          <a:ea typeface="+mn-ea"/>
                          <a:cs typeface="+mn-cs"/>
                        </a:rPr>
                        <a:t xml:space="preserve">bestätigte negative Vorfälle im Zusammenhang mit Folgendem aufgetreten </a:t>
                      </a:r>
                      <a:r>
                        <a:rPr lang="de-DE" sz="877" b="0" kern="1200" spc="-10" noProof="0">
                          <a:solidFill>
                            <a:schemeClr val="tx2"/>
                          </a:solidFill>
                          <a:latin typeface="+mn-lt"/>
                          <a:ea typeface="+mn-ea"/>
                          <a:cs typeface="+mn-cs"/>
                        </a:rPr>
                        <a:t xml:space="preserve">(Nr.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50"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de-DE" sz="877" b="1" kern="1200" spc="-10" noProof="0">
                          <a:solidFill>
                            <a:schemeClr val="tx2"/>
                          </a:solidFill>
                          <a:latin typeface="+mn-lt"/>
                          <a:ea typeface="+mn-ea"/>
                          <a:cs typeface="+mn-cs"/>
                        </a:rPr>
                        <a:t xml:space="preserve">Kinderarbeit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chemeClr val="accent2"/>
                          </a:solidFill>
                        </a:rPr>
                        <a:t>{{child_labour_yes?}}</a:t>
                      </a:r>
                      <a:endParaRPr lang="de-DE"/>
                    </a:p>
                    <a:p>
                      <a:pPr lvl="0" algn="l">
                        <a:lnSpc>
                          <a:spcPct val="100000"/>
                        </a:lnSpc>
                        <a:spcBef>
                          <a:spcPts val="0"/>
                        </a:spcBef>
                        <a:spcAft>
                          <a:spcPts val="0"/>
                        </a:spcAft>
                        <a:buNone/>
                      </a:pPr>
                      <a:r>
                        <a:rPr lang="de-DE" sz="877" b="0" i="0" u="none" strike="noStrike" noProof="0">
                          <a:solidFill>
                            <a:schemeClr val="accent2"/>
                          </a:solidFill>
                        </a:rPr>
                        <a:t>{{child_labour_desc}}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de-DE" sz="877" b="1" kern="1200" spc="-10" noProof="0">
                          <a:solidFill>
                            <a:schemeClr val="tx2"/>
                          </a:solidFill>
                          <a:latin typeface="+mn-lt"/>
                          <a:ea typeface="+mn-ea"/>
                          <a:cs typeface="+mn-cs"/>
                        </a:rPr>
                        <a:t xml:space="preserve">Zwangsarbeit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chemeClr val="accent2"/>
                          </a:solidFill>
                        </a:rPr>
                        <a:t>{{forced_labour_yes?}}</a:t>
                      </a:r>
                      <a:endParaRPr lang="de-DE"/>
                    </a:p>
                    <a:p>
                      <a:pPr lvl="0" algn="l" defTabSz="914400">
                        <a:lnSpc>
                          <a:spcPct val="100000"/>
                        </a:lnSpc>
                        <a:spcBef>
                          <a:spcPts val="0"/>
                        </a:spcBef>
                        <a:spcAft>
                          <a:spcPts val="0"/>
                        </a:spcAft>
                        <a:buNone/>
                        <a:tabLst/>
                        <a:defRPr/>
                      </a:pPr>
                      <a:r>
                        <a:rPr lang="de-DE" sz="877" b="0" i="0" u="none" strike="noStrike" noProof="0">
                          <a:solidFill>
                            <a:schemeClr val="accent2"/>
                          </a:solidFill>
                        </a:rPr>
                        <a:t>{{forced_labour_desc}}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de-DE" sz="877" b="1" kern="1200" spc="-10" noProof="0">
                          <a:solidFill>
                            <a:schemeClr val="tx2"/>
                          </a:solidFill>
                          <a:latin typeface="+mn-lt"/>
                          <a:ea typeface="+mn-ea"/>
                          <a:cs typeface="+mn-cs"/>
                        </a:rPr>
                        <a:t xml:space="preserve">Menschenhandel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chemeClr val="accent2"/>
                          </a:solidFill>
                        </a:rPr>
                        <a:t>{{human_trafficking_yes?}}</a:t>
                      </a:r>
                      <a:endParaRPr lang="de-DE"/>
                    </a:p>
                    <a:p>
                      <a:pPr lvl="0" algn="l" defTabSz="914400">
                        <a:lnSpc>
                          <a:spcPct val="100000"/>
                        </a:lnSpc>
                        <a:spcBef>
                          <a:spcPts val="0"/>
                        </a:spcBef>
                        <a:spcAft>
                          <a:spcPts val="0"/>
                        </a:spcAft>
                        <a:buNone/>
                        <a:tabLst/>
                        <a:defRPr/>
                      </a:pPr>
                      <a:r>
                        <a:rPr lang="de-DE" sz="877" b="0" i="0" u="none" strike="noStrike" noProof="0">
                          <a:solidFill>
                            <a:schemeClr val="accent2"/>
                          </a:solidFill>
                        </a:rPr>
                        <a:t>{{human_trafficking_desc}}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de-DE" sz="877" b="1" kern="1200" spc="-10" noProof="0">
                          <a:solidFill>
                            <a:schemeClr val="tx2"/>
                          </a:solidFill>
                          <a:latin typeface="+mn-lt"/>
                          <a:ea typeface="+mn-ea"/>
                          <a:cs typeface="+mn-cs"/>
                        </a:rPr>
                        <a:t xml:space="preserve">Diskriminierung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chemeClr val="accent2"/>
                          </a:solidFill>
                        </a:rPr>
                        <a:t>{{discrimination_yes?}}</a:t>
                      </a:r>
                      <a:endParaRPr lang="de-DE"/>
                    </a:p>
                    <a:p>
                      <a:pPr lvl="0" algn="l" defTabSz="914400">
                        <a:lnSpc>
                          <a:spcPct val="100000"/>
                        </a:lnSpc>
                        <a:spcBef>
                          <a:spcPts val="0"/>
                        </a:spcBef>
                        <a:spcAft>
                          <a:spcPts val="0"/>
                        </a:spcAft>
                        <a:buNone/>
                        <a:tabLst/>
                        <a:defRPr/>
                      </a:pPr>
                      <a:r>
                        <a:rPr lang="de-DE" sz="877" b="0" i="0" u="none" strike="noStrike" noProof="0">
                          <a:solidFill>
                            <a:schemeClr val="accent2"/>
                          </a:solidFill>
                        </a:rPr>
                        <a:t>{{discrimination_desc}}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de-DE" sz="877" b="1" kern="1200" spc="-10" noProof="0">
                          <a:solidFill>
                            <a:schemeClr val="tx2"/>
                          </a:solidFill>
                          <a:latin typeface="+mn-lt"/>
                          <a:ea typeface="+mn-ea"/>
                          <a:cs typeface="+mn-cs"/>
                        </a:rPr>
                        <a:t xml:space="preserve">Sonstiges </a:t>
                      </a:r>
                      <a:endParaRPr lang="de-DE"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chemeClr val="accent2"/>
                          </a:solidFill>
                          <a:latin typeface="IBM Plex Sans"/>
                          <a:cs typeface="Calibri"/>
                        </a:rPr>
                        <a:t>{{other</a:t>
                      </a:r>
                      <a:r>
                        <a:rPr lang="de-DE" sz="877" b="0" i="0" u="none" strike="noStrike" noProof="0">
                          <a:solidFill>
                            <a:schemeClr val="accent2"/>
                          </a:solidFill>
                          <a:latin typeface="IBM Plex Sans"/>
                        </a:rPr>
                        <a:t>_yes?}}</a:t>
                      </a:r>
                      <a:endParaRPr lang="de-DE" sz="877"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e-DE" sz="877" b="0" i="0" u="none" strike="noStrike" noProof="0">
                          <a:solidFill>
                            <a:schemeClr val="accent2"/>
                          </a:solidFill>
                          <a:latin typeface="IBM Plex Sans"/>
                        </a:rPr>
                        <a:t>{{other_desc}}</a:t>
                      </a:r>
                      <a:endParaRPr lang="de-DE" sz="877"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de-DE" sz="877" b="0" i="0" u="none" strike="noStrike" noProof="0">
                <a:solidFill>
                  <a:schemeClr val="tx2"/>
                </a:solidFill>
                <a:effectLst/>
                <a:latin typeface="Inter"/>
              </a:rPr>
              <a:t xml:space="preserve">Die folgenden Angabepflichten betreffen die Berichterstattung des Unternehmens über negative Vorfälle im Zusammenhang mit Kinderarbeit, Zwangsarbeit, Menschenhandel und Diskriminierung. In diesem Abschnitt gibt das Unternehmen an, ob sich das Vorstehende auf die eigenen Arbeitskräfte bezieht.</a:t>
            </a:r>
            <a:endParaRPr lang="de-DE" sz="877" b="0" noProof="0">
              <a:solidFill>
                <a:schemeClr val="tx2"/>
              </a:solidFill>
              <a:effectLst/>
              <a:latin typeface="Inter"/>
            </a:endParaRPr>
          </a:p>
          <a:p>
            <a:pPr>
              <a:buNone/>
            </a:pPr>
            <a:br>
              <a:rPr lang="de-DE" sz="877" noProof="0">
                <a:solidFill>
                  <a:schemeClr val="tx2"/>
                </a:solidFill>
                <a:latin typeface="Inter"/>
              </a:rPr>
            </a:br>
            <a:endParaRPr lang="de-DE" sz="877"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de-DE">
                <a:solidFill>
                  <a:srgbClr val="1B4528"/>
                </a:solidFill>
                <a:latin typeface="+mn-lt"/>
                <a:ea typeface="+mn-ea"/>
                <a:cs typeface="+mn-cs"/>
              </a:rPr>
              <a:t xml:space="preserve">Schwerwiegende negative Vorfälle im Zusammenhang mit Menschenrechten (C7</a:t>
            </a:r>
            <a:r>
              <a:rPr lang="de-DE"/>
              <a:t xml:space="preserve">) – In der Wertschöpfungskette</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de-DE" sz="877" b="1" kern="1200" spc="-10" noProof="0">
                          <a:solidFill>
                            <a:schemeClr val="tx2"/>
                          </a:solidFill>
                          <a:latin typeface="+mn-lt"/>
                          <a:ea typeface="+mn-ea"/>
                          <a:cs typeface="+mn-cs"/>
                        </a:rPr>
                        <a:t xml:space="preserve">Sind dem Unternehmen bestätigte negative Vorfälle im Zusammenhang mit Menschenrechten in </a:t>
                      </a:r>
                      <a:r>
                        <a:rPr lang="de-DE" sz="877" b="1" kern="1200" noProof="0">
                          <a:solidFill>
                            <a:schemeClr val="accent2"/>
                          </a:solidFill>
                          <a:latin typeface="+mn-lt"/>
                          <a:ea typeface="+mn-ea"/>
                          <a:cs typeface="+mn-cs"/>
                        </a:rPr>
                        <a:t>{{company_name}}’s</a:t>
                      </a:r>
                      <a:r>
                        <a:rPr lang="de-DE" sz="877" b="1" kern="1200" noProof="0">
                          <a:solidFill>
                            <a:schemeClr val="tx2"/>
                          </a:solidFill>
                          <a:latin typeface="+mn-lt"/>
                          <a:ea typeface="+mn-ea"/>
                          <a:cs typeface="+mn-cs"/>
                        </a:rPr>
                        <a:t> </a:t>
                      </a:r>
                      <a:r>
                        <a:rPr lang="de-DE" sz="877" b="1" kern="1200" spc="-10" noProof="0">
                          <a:solidFill>
                            <a:schemeClr val="tx2"/>
                          </a:solidFill>
                          <a:latin typeface="+mn-lt"/>
                          <a:ea typeface="+mn-ea"/>
                          <a:cs typeface="+mn-cs"/>
                        </a:rPr>
                        <a:t xml:space="preserve">Wertschöpfungskette bekannt </a:t>
                      </a:r>
                      <a:r>
                        <a:rPr lang="de-DE" sz="877" b="0" kern="1200" spc="-10" noProof="0">
                          <a:solidFill>
                            <a:schemeClr val="tx2"/>
                          </a:solidFill>
                          <a:latin typeface="+mn-lt"/>
                          <a:ea typeface="+mn-ea"/>
                          <a:cs typeface="+mn-cs"/>
                        </a:rPr>
                        <a:t xml:space="preserve">(Nr.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50"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de-DE" sz="877" b="1" kern="1200" spc="-10" noProof="0">
                          <a:solidFill>
                            <a:schemeClr val="tx2"/>
                          </a:solidFill>
                          <a:latin typeface="+mn-lt"/>
                          <a:ea typeface="+mn-ea"/>
                          <a:cs typeface="+mn-cs"/>
                        </a:rPr>
                        <a:t xml:space="preserve">Arbeitskräfte in der Wertschöpfungs­kette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877" b="0" i="0" u="none" strike="noStrike" noProof="0">
                          <a:solidFill>
                            <a:srgbClr val="2D55FF"/>
                          </a:solidFill>
                          <a:effectLst/>
                          <a:latin typeface="Inter"/>
                        </a:rPr>
                        <a:t>{{incidents_workers_value_chain}}</a:t>
                      </a:r>
                      <a:endParaRPr lang="de-DE" sz="877" noProof="0">
                        <a:solidFill>
                          <a:schemeClr val="accent2"/>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de-DE" sz="877" b="1" kern="1200" spc="-10" noProof="0">
                          <a:solidFill>
                            <a:schemeClr val="tx2"/>
                          </a:solidFill>
                          <a:latin typeface="+mn-lt"/>
                          <a:ea typeface="+mn-ea"/>
                          <a:cs typeface="+mn-cs"/>
                        </a:rPr>
                        <a:t xml:space="preserve">Betroffene Gemeinschaften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877" b="0" i="0" u="none" strike="noStrike" noProof="0">
                          <a:solidFill>
                            <a:srgbClr val="2D55FF"/>
                          </a:solidFill>
                          <a:effectLst/>
                          <a:latin typeface="Inter"/>
                        </a:rPr>
                        <a:t>{{incidents_affected_communities}}</a:t>
                      </a:r>
                      <a:endParaRPr lang="de-DE" sz="877" kern="1200" noProof="0">
                        <a:solidFill>
                          <a:schemeClr val="accent2"/>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de-DE" sz="877" b="1" kern="1200" spc="-10" noProof="0">
                          <a:solidFill>
                            <a:schemeClr val="tx2"/>
                          </a:solidFill>
                          <a:latin typeface="+mn-lt"/>
                          <a:ea typeface="+mn-ea"/>
                          <a:cs typeface="+mn-cs"/>
                        </a:rPr>
                        <a:t xml:space="preserve">Verbraucher und Endnutzer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877" b="0" i="0" u="none" strike="noStrike" noProof="0">
                          <a:solidFill>
                            <a:srgbClr val="2D55FF"/>
                          </a:solidFill>
                          <a:effectLst/>
                          <a:latin typeface="Inter"/>
                        </a:rPr>
                        <a:t>{{</a:t>
                      </a:r>
                      <a:r>
                        <a:rPr lang="de-DE" sz="877" b="0" i="0" u="none" strike="noStrike" noProof="0">
                          <a:solidFill>
                            <a:srgbClr val="2D55FF"/>
                          </a:solidFill>
                          <a:effectLst/>
                          <a:latin typeface="Inter"/>
                        </a:rPr>
                        <a:t>incidents_consumers</a:t>
                      </a:r>
                      <a:r>
                        <a:rPr lang="de-DE" sz="877" b="0" i="0" u="none" strike="noStrike" noProof="0">
                          <a:solidFill>
                            <a:srgbClr val="2D55FF"/>
                          </a:solidFill>
                          <a:effectLst/>
                          <a:latin typeface="Inter"/>
                        </a:rPr>
                        <a:t>}}</a:t>
                      </a:r>
                      <a:endParaRPr lang="de-DE" sz="877"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de-DE" sz="877" b="0" i="0" u="none" strike="noStrike" noProof="0">
                <a:solidFill>
                  <a:schemeClr val="tx2"/>
                </a:solidFill>
                <a:effectLst/>
                <a:latin typeface="Inter"/>
              </a:rPr>
              <a:t xml:space="preserve">Nachstehend sind </a:t>
            </a:r>
            <a:r>
              <a:rPr lang="de-DE" sz="877" noProof="0">
                <a:solidFill>
                  <a:schemeClr val="tx2"/>
                </a:solidFill>
                <a:latin typeface="Inter"/>
              </a:rPr>
              <a:t xml:space="preserve">Informationen über </a:t>
            </a:r>
            <a:r>
              <a:rPr lang="de-DE" sz="877" b="0" i="0" u="none" strike="noStrike" noProof="0">
                <a:solidFill>
                  <a:schemeClr val="tx2"/>
                </a:solidFill>
                <a:effectLst/>
                <a:latin typeface="Inter"/>
              </a:rPr>
              <a:t xml:space="preserve">die Kenntnis des Unternehmens von bestätigten negativen Vorfällen im Zusammenhang mit Menschenrechten in der Wertschöpfungskette des Unternehmens angegeben.</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de-DE" sz="1475" b="1" i="0" u="none" strike="noStrike" kern="1200" spc="-10" noProof="0">
                <a:solidFill>
                  <a:srgbClr val="1B4528"/>
                </a:solidFill>
              </a:rPr>
              <a:t xml:space="preserve">Umsatzerlöse aus bestimmten Tätigkeiten (C8)</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18</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Umsatzerlöse aus bestimmten Sektoren</a:t>
                      </a:r>
                      <a:r>
                        <a:rPr lang="de-DE" sz="975" b="0" kern="1200" spc="-10" noProof="0">
                          <a:solidFill>
                            <a:schemeClr val="tx2"/>
                          </a:solidFill>
                          <a:latin typeface="+mn-lt"/>
                          <a:ea typeface="+mn-ea"/>
                          <a:cs typeface="+mn-cs"/>
                        </a:rPr>
                        <a:t xml:space="preserve"> (Nr. 63 a-d)</a:t>
                      </a:r>
                    </a:p>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1" i="0" u="none" strike="noStrike" noProof="0">
                          <a:solidFill>
                            <a:srgbClr val="1B4528"/>
                          </a:solidFill>
                          <a:effectLst/>
                          <a:latin typeface="IBM Plex Sans" panose="020B0503050203000203" pitchFamily="34" charset="0"/>
                        </a:rPr>
                        <a:t xml:space="preserve">Umsatzerlöse im Jahr </a:t>
                      </a:r>
                      <a:r>
                        <a:rPr lang="de-DE" sz="975" b="1" i="0" u="none" strike="noStrike" noProof="0">
                          <a:solidFill>
                            <a:srgbClr val="2D55FF"/>
                          </a:solidFill>
                          <a:effectLst/>
                          <a:latin typeface="Inter"/>
                        </a:rPr>
                        <a:t>{{Insert year}}</a:t>
                      </a:r>
                      <a:endParaRPr lang="de-DE"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de-DE" sz="975" b="1" kern="1200" spc="-10" noProof="0">
                          <a:solidFill>
                            <a:schemeClr val="tx2"/>
                          </a:solidFill>
                          <a:latin typeface="+mn-lt"/>
                          <a:ea typeface="+mn-ea"/>
                          <a:cs typeface="+mn-cs"/>
                        </a:rPr>
                        <a:t xml:space="preserve">Umstrittene Waffen (Antipersonenminen, Streumunition, chemische und biologische Waffen)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{{revenue_weapons}}</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de-DE" sz="975" b="1" kern="1200" spc="-10" noProof="0">
                          <a:solidFill>
                            <a:schemeClr val="tx2"/>
                          </a:solidFill>
                          <a:latin typeface="+mn-lt"/>
                          <a:ea typeface="+mn-ea"/>
                          <a:cs typeface="+mn-cs"/>
                        </a:rPr>
                        <a:t xml:space="preserve">Anbau und/oder Produktion von Tabak</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{{revenue_cultivation}}</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de-DE" sz="975" b="1" kern="1200" spc="-10" noProof="0">
                          <a:solidFill>
                            <a:schemeClr val="tx2"/>
                          </a:solidFill>
                          <a:latin typeface="+mn-lt"/>
                          <a:ea typeface="+mn-ea"/>
                          <a:cs typeface="+mn-cs"/>
                        </a:rPr>
                        <a:t xml:space="preserve">Fossile Brennstoffe: Kohle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{{revenue_coal}}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de-DE" sz="975" b="1" kern="1200" spc="-10" noProof="0">
                          <a:solidFill>
                            <a:schemeClr val="tx2"/>
                          </a:solidFill>
                          <a:latin typeface="+mn-lt"/>
                          <a:ea typeface="+mn-ea"/>
                          <a:cs typeface="+mn-cs"/>
                        </a:rPr>
                        <a:t xml:space="preserve">Fossile Brennstoffe: Erdöl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{{revenue_oil}}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de-DE" sz="975" b="1" kern="1200" spc="-10" noProof="0">
                          <a:solidFill>
                            <a:schemeClr val="tx2"/>
                          </a:solidFill>
                          <a:latin typeface="+mn-lt"/>
                          <a:ea typeface="+mn-ea"/>
                          <a:cs typeface="+mn-cs"/>
                        </a:rPr>
                        <a:t xml:space="preserve">Fossile Brennstoffe: Gas/Erdgas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{{revenue_gas}}</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de-DE" sz="975" b="1" kern="1200" spc="-10" noProof="0">
                          <a:solidFill>
                            <a:schemeClr val="tx2"/>
                          </a:solidFill>
                          <a:latin typeface="+mn-lt"/>
                          <a:ea typeface="+mn-ea"/>
                          <a:cs typeface="+mn-cs"/>
                        </a:rPr>
                        <a:t xml:space="preserve">Herstellung von Chemikalien zur Produktion von Pestiziden und anderen agrochemischen Erzeugnissen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e-DE" sz="975" b="0" i="0" u="none" strike="noStrike" noProof="0">
                          <a:solidFill>
                            <a:srgbClr val="2D55FF"/>
                          </a:solidFill>
                          <a:effectLst/>
                          <a:latin typeface="Inter"/>
                        </a:rPr>
                        <a:t>{{revenue_chemichal}}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de-DE" sz="975" noProof="0">
                <a:solidFill>
                  <a:schemeClr val="tx2"/>
                </a:solidFill>
                <a:latin typeface="Inter"/>
              </a:rPr>
              <a:t xml:space="preserve">D</a:t>
            </a:r>
            <a:r>
              <a:rPr lang="de-DE" sz="975" b="0" i="0" u="none" strike="noStrike" noProof="0">
                <a:solidFill>
                  <a:schemeClr val="tx2"/>
                </a:solidFill>
                <a:effectLst/>
                <a:latin typeface="Inter"/>
              </a:rPr>
              <a:t xml:space="preserve">as Unternehmen hat die Umsatzerlöse aus bestimmten Sektoren und die Beträge aus diesen Tätigkeiten angegeben.</a:t>
            </a:r>
            <a:endParaRPr lang="de-DE"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noProof="0">
                <a:solidFill>
                  <a:srgbClr val="1B4528"/>
                </a:solidFill>
              </a:rPr>
              <a:t xml:space="preserve">Geschlechtervielfalt im Leitungsorgan (C9)</a:t>
            </a:r>
            <a:endParaRPr lang="de-DE"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de-DE" sz="975" b="1" kern="1200" spc="-10" noProof="0">
                          <a:solidFill>
                            <a:schemeClr val="tx2"/>
                          </a:solidFill>
                          <a:latin typeface="+mj-lt"/>
                          <a:ea typeface="+mn-ea"/>
                          <a:cs typeface="+mn-cs"/>
                        </a:rPr>
                        <a:t xml:space="preserve">Das zahlenmäßige Verhältnis von Frauen zu Männern im Leitungsorgan (</a:t>
                      </a:r>
                      <a:r>
                        <a:rPr lang="de-DE" sz="975" b="0" kern="1200" spc="-10" noProof="0">
                          <a:solidFill>
                            <a:schemeClr val="tx2"/>
                          </a:solidFill>
                          <a:latin typeface="+mj-lt"/>
                          <a:ea typeface="+mn-ea"/>
                          <a:cs typeface="+mn-cs"/>
                        </a:rPr>
                        <a:t xml:space="preserve">Nr. 64</a:t>
                      </a:r>
                      <a:r>
                        <a:rPr lang="de-DE"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Jahr </a:t>
                      </a:r>
                      <a:r>
                        <a:rPr lang="de-DE" sz="975" b="1" i="0" u="none" strike="noStrike" noProof="0">
                          <a:solidFill>
                            <a:srgbClr val="2D55FF"/>
                          </a:solidFill>
                          <a:effectLst/>
                          <a:latin typeface="Inter"/>
                        </a:rPr>
                        <a:t>{{Insert year}}</a:t>
                      </a:r>
                      <a:endParaRPr lang="de-DE"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e-DE"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0" noProof="0">
                          <a:solidFill>
                            <a:schemeClr val="accent2"/>
                          </a:solidFill>
                        </a:rPr>
                        <a:t>{{</a:t>
                      </a:r>
                      <a:r>
                        <a:rPr lang="de-DE" sz="975" b="0" i="0" u="none" strike="noStrike" noProof="0">
                          <a:solidFill>
                            <a:schemeClr val="accent2"/>
                          </a:solidFill>
                          <a:latin typeface="IBM Plex Sans"/>
                        </a:rPr>
                        <a:t>gender_supreme_body</a:t>
                      </a:r>
                      <a:r>
                        <a:rPr lang="de-DE" sz="975" b="0" noProof="0">
                          <a:solidFill>
                            <a:schemeClr val="accent2"/>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de-DE" b="0" noProof="0">
                <a:effectLst/>
              </a:rPr>
              <a:t> </a:t>
            </a:r>
            <a:endParaRPr lang="de-DE"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de-DE" sz="975" noProof="0">
                <a:solidFill>
                  <a:schemeClr val="tx2"/>
                </a:solidFill>
                <a:latin typeface="Inter"/>
              </a:rPr>
              <a:t xml:space="preserve">D</a:t>
            </a:r>
            <a:r>
              <a:rPr lang="de-DE" sz="975" b="0" i="0" u="none" strike="noStrike" noProof="0">
                <a:solidFill>
                  <a:schemeClr val="tx2"/>
                </a:solidFill>
                <a:effectLst/>
                <a:latin typeface="Inter"/>
              </a:rPr>
              <a:t xml:space="preserve">as Unternehmen hat das zahlenmäßige Verhältnis von Frauen zu Männern im Leitungsorgan angegeben.</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de-DE" sz="1475" b="1" noProof="0">
                <a:solidFill>
                  <a:srgbClr val="FFFFFF"/>
                </a:solidFill>
                <a:latin typeface="IBM Plex Sans" panose="020B0503050203000203" pitchFamily="34" charset="0"/>
              </a:rPr>
              <a:t>{{company_name}}</a:t>
            </a:r>
          </a:p>
          <a:p>
            <a:pPr algn="ctr"/>
            <a:r>
              <a:rPr lang="de-DE" sz="1475" b="1" noProof="0">
                <a:solidFill>
                  <a:srgbClr val="FFFFFF"/>
                </a:solidFill>
                <a:latin typeface="IBM Plex Sans" panose="020B0503050203000203" pitchFamily="34" charset="0"/>
              </a:rPr>
              <a:t>{{insert_year}}</a:t>
            </a:r>
            <a:br>
              <a:rPr lang="de-DE" sz="1475" b="1" noProof="0">
                <a:solidFill>
                  <a:srgbClr val="FFFFFF"/>
                </a:solidFill>
                <a:latin typeface="IBM Plex Sans" panose="020B0503050203000203" pitchFamily="34" charset="0"/>
              </a:rPr>
            </a:br>
            <a:endParaRPr lang="de-DE"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de-DE" noProof="0" smtClean="0"/>
              <a:pPr/>
              <a:t>19</a:t>
            </a:fld>
            <a:endParaRPr lang="de-DE"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