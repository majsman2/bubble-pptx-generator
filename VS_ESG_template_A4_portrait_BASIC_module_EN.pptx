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n-GB"/>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n-GB" smtClean="0"/>
              <a:pPr/>
              <a:t>12/08/2026</a:t>
            </a:fld>
            <a:endParaRPr lang="en-GB"/>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n-GB"/>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n-GB" smtClean="0"/>
              <a:pPr/>
              <a:t>‹nr.›</a:t>
            </a:fld>
            <a:endParaRPr lang="en-GB"/>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a:t>
            </a:fld>
            <a:endParaRPr lang="en-GB"/>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2</a:t>
            </a:fld>
            <a:endParaRPr lang="en-GB"/>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3</a:t>
            </a:fld>
            <a:endParaRPr lang="en-GB"/>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n-GB"/>
              <a:t>Removed: </a:t>
            </a:r>
            <a:r>
              <a:rPr lang="en-GB" sz="1200" b="0" i="0" u="none" strike="noStrike" kern="1200">
                <a:solidFill>
                  <a:schemeClr val="tx1"/>
                </a:solidFill>
                <a:effectLst/>
                <a:latin typeface="IBM Plex Sans" panose="020B0503050203000203" pitchFamily="34" charset="0"/>
                <a:ea typeface="+mn-ea"/>
                <a:cs typeface="+mn-cs"/>
              </a:rPr>
              <a:t>{{documents_B2}}</a:t>
            </a:r>
          </a:p>
          <a:p>
            <a:r>
              <a:rPr lang="en-GB" sz="1200" b="0" i="0" u="none" strike="noStrike" kern="1200" err="1">
                <a:solidFill>
                  <a:schemeClr val="tx1"/>
                </a:solidFill>
                <a:effectLst/>
                <a:latin typeface="IBM Plex Sans" panose="020B0503050203000203" pitchFamily="34" charset="0"/>
                <a:ea typeface="+mn-ea"/>
                <a:cs typeface="+mn-cs"/>
              </a:rPr>
              <a:t>Added</a:t>
            </a:r>
            <a:r>
              <a:rPr lang="en-GB" sz="1200" b="0" i="0" u="none" strike="noStrike" kern="1200">
                <a:solidFill>
                  <a:schemeClr val="tx1"/>
                </a:solidFill>
                <a:effectLst/>
                <a:latin typeface="IBM Plex Sans" panose="020B0503050203000203" pitchFamily="34" charset="0"/>
                <a:ea typeface="+mn-ea"/>
                <a:cs typeface="+mn-cs"/>
              </a:rPr>
              <a:t>: </a:t>
            </a:r>
            <a:r>
              <a:rPr lang="en-GB" sz="1200" b="0" i="0" u="none" strike="noStrike" kern="1200" err="1">
                <a:solidFill>
                  <a:schemeClr val="tx1"/>
                </a:solidFill>
                <a:effectLst/>
                <a:latin typeface="IBM Plex Sans" panose="020B0503050203000203" pitchFamily="34" charset="0"/>
                <a:ea typeface="+mn-ea"/>
                <a:cs typeface="+mn-cs"/>
              </a:rPr>
              <a:t>column</a:t>
            </a:r>
            <a:r>
              <a:rPr lang="en-GB" sz="1200" b="0" i="0" u="none" strike="noStrike" kern="1200">
                <a:solidFill>
                  <a:schemeClr val="tx1"/>
                </a:solidFill>
                <a:effectLst/>
                <a:latin typeface="IBM Plex Sans" panose="020B0503050203000203" pitchFamily="34" charset="0"/>
                <a:ea typeface="+mn-ea"/>
                <a:cs typeface="+mn-cs"/>
              </a:rPr>
              <a:t> on </a:t>
            </a:r>
            <a:r>
              <a:rPr lang="en-GB" sz="1200" b="0" i="0" u="none" strike="noStrike" kern="1200" err="1">
                <a:solidFill>
                  <a:schemeClr val="tx1"/>
                </a:solidFill>
                <a:effectLst/>
                <a:latin typeface="IBM Plex Sans" panose="020B0503050203000203" pitchFamily="34" charset="0"/>
                <a:ea typeface="+mn-ea"/>
                <a:cs typeface="+mn-cs"/>
              </a:rPr>
              <a:t>monitoring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4</a:t>
            </a:fld>
            <a:endParaRPr lang="en-GB"/>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5</a:t>
            </a:fld>
            <a:endParaRPr lang="en-GB"/>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6</a:t>
            </a:fld>
            <a:endParaRPr lang="en-GB"/>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7</a:t>
            </a:fld>
            <a:endParaRPr lang="en-GB"/>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8</a:t>
            </a:fld>
            <a:endParaRPr lang="en-GB"/>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9</a:t>
            </a:fld>
            <a:endParaRPr lang="en-GB"/>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n-GB"/>
              <a:t>CLICK TO INSERT COMPANY NAME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n-GB"/>
              <a:t>INSERT TITLE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n-GB"/>
              <a:t>CLICK TO INSERT COMPANY NAME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n-GB" smtClean="0"/>
              <a:pPr/>
              <a:t>‹nr.›</a:t>
            </a:fld>
            <a:endParaRPr lang="en-GB"/>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n-GB"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n-GB" noProof="0"/>
              <a:t>CLICK TO INSERT COMPANY NAME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n-GB" noProof="0"/>
              <a:t>Insert company 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n-GB" noProof="0"/>
              <a:t>CLICK TO INSERT COMPANY NAME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n-GB"/>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n-GB"/>
              <a:t>CLICK TO INSERT COMPANY NAME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n-GB" smtClean="0"/>
              <a:pPr/>
              <a:t>‹nr.›</a:t>
            </a:fld>
            <a:endParaRPr lang="en-GB"/>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n-GB"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n-GB"/>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n-GB" noProof="0"/>
              <a:t>ESG REPORT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n-GB" noProof="0"/>
              <a:t>{{company_name}}</a:t>
            </a:r>
            <a:endParaRPr lang="en-GB"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n-GB" noProof="0"/>
              <a:t>ESG report</a:t>
            </a:r>
            <a:r>
              <a:rPr lang="en-GB" b="0" noProof="0">
                <a:solidFill>
                  <a:srgbClr val="1B4528"/>
                </a:solidFill>
                <a:ea typeface="+mn-ea"/>
                <a:cs typeface="+mn-cs"/>
              </a:rPr>
              <a:t> </a:t>
            </a:r>
            <a:br>
              <a:rPr lang="en-GB" b="0" noProof="0">
                <a:solidFill>
                  <a:srgbClr val="1B4528"/>
                </a:solidFill>
                <a:ea typeface="+mn-ea"/>
                <a:cs typeface="+mn-cs"/>
              </a:rPr>
            </a:br>
            <a:endParaRPr lang="en-GB"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n-GB" sz="975" b="1" noProof="0" dirty="0">
              <a:latin typeface="+mj-lt"/>
            </a:endParaRPr>
          </a:p>
          <a:p>
            <a:pPr>
              <a:lnSpc>
                <a:spcPct val="150000"/>
              </a:lnSpc>
              <a:tabLst>
                <a:tab pos="239439" algn="l"/>
                <a:tab pos="388922" algn="l"/>
                <a:tab pos="3737091" algn="r"/>
              </a:tabLst>
            </a:pP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General information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kern="1200" spc="-10" noProof="0" dirty="0">
                <a:solidFill>
                  <a:schemeClr val="tx2"/>
                </a:solidFill>
                <a:latin typeface="+mn-lt"/>
                <a:ea typeface="+mn-ea"/>
                <a:cs typeface="+mn-cs"/>
              </a:rPr>
              <a:t>Practices, policies and initiatives for transitioning to a more sustainable economy	</a:t>
            </a: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Energy consumption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CO₂e emissions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Pollution of air, water and soil</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Biodiversity</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Water	</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Resource use, circular economy and waste management</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General characteristics</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Health and safety</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Remuneration, collective bargaining and training</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Business conduct</a:t>
            </a:r>
            <a:r>
              <a:rPr lang="en-GB" sz="975" noProof="0" dirty="0">
                <a:latin typeface="+mj-lt"/>
              </a:rPr>
              <a:t>	 			</a:t>
            </a:r>
            <a:endParaRPr lang="en-GB" sz="975" noProof="0" dirty="0">
              <a:solidFill>
                <a:srgbClr val="1B4528"/>
              </a:solidFill>
              <a:latin typeface="+mj-lt"/>
            </a:endParaRPr>
          </a:p>
          <a:p>
            <a:pPr>
              <a:tabLst>
                <a:tab pos="239439" algn="l"/>
                <a:tab pos="388922" algn="l"/>
                <a:tab pos="3737091" algn="r"/>
              </a:tabLst>
            </a:pPr>
            <a:endParaRPr lang="en-GB" sz="975" noProof="0" dirty="0">
              <a:latin typeface="+mj-lt"/>
            </a:endParaRPr>
          </a:p>
          <a:p>
            <a:pPr>
              <a:tabLst>
                <a:tab pos="239439" algn="l"/>
                <a:tab pos="388922" algn="l"/>
                <a:tab pos="3737091" algn="r"/>
              </a:tabLst>
            </a:pPr>
            <a:endParaRPr lang="en-GB" sz="975" noProof="0" dirty="0">
              <a:latin typeface="+mj-lt"/>
            </a:endParaRPr>
          </a:p>
          <a:p>
            <a:pPr>
              <a:tabLst>
                <a:tab pos="239439" algn="l"/>
                <a:tab pos="388922" algn="l"/>
                <a:tab pos="3737091" algn="r"/>
              </a:tabLst>
            </a:pPr>
            <a:endParaRPr lang="en-GB" noProof="0" dirty="0">
              <a:latin typeface="+mj-lt"/>
            </a:endParaRPr>
          </a:p>
          <a:p>
            <a:pPr>
              <a:tabLst>
                <a:tab pos="239439" algn="l"/>
                <a:tab pos="388922" algn="l"/>
                <a:tab pos="3737091" algn="r"/>
              </a:tabLst>
            </a:pPr>
            <a:endParaRPr lang="en-GB"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n-GB"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n-GB" noProof="0" smtClean="0"/>
              <a:pPr/>
              <a:t>2</a:t>
            </a:fld>
            <a:endParaRPr lang="en-GB"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n-GB" noProof="0"/>
              <a:t>Basis for preparation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n-GB"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89318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86855">
                <a:tc gridSpan="2">
                  <a:txBody>
                    <a:bodyPr/>
                    <a:lstStyle/>
                    <a:p>
                      <a:pPr marL="0" algn="l" defTabSz="914400" rtl="0" eaLnBrk="1" latinLnBrk="0" hangingPunct="1"/>
                      <a:r>
                        <a:rPr lang="en-GB" sz="975" b="1" kern="1200" spc="-10" noProof="0">
                          <a:solidFill>
                            <a:schemeClr val="tx2"/>
                          </a:solidFill>
                          <a:latin typeface="+mn-lt"/>
                          <a:ea typeface="+mn-ea"/>
                          <a:cs typeface="+mn-cs"/>
                        </a:rPr>
                        <a:t>List of subsidiaries included in this ESG report </a:t>
                      </a:r>
                      <a:r>
                        <a:rPr lang="en-GB" sz="975" b="0" kern="1200" spc="-10" noProof="0">
                          <a:solidFill>
                            <a:schemeClr val="tx2"/>
                          </a:solidFill>
                          <a:latin typeface="+mn-lt"/>
                          <a:ea typeface="+mn-ea"/>
                          <a:cs typeface="+mn-cs"/>
                        </a:rPr>
                        <a:t>(para. 27d)</a:t>
                      </a:r>
                      <a:endParaRPr lang="en-GB"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49780">
                <a:tc>
                  <a:txBody>
                    <a:bodyPr/>
                    <a:lstStyle/>
                    <a:p>
                      <a:pPr algn="l"/>
                      <a:r>
                        <a:rPr lang="en-GB" sz="975" b="1" kern="1200" spc="-10" noProof="0">
                          <a:solidFill>
                            <a:schemeClr val="tx2"/>
                          </a:solidFill>
                          <a:latin typeface="+mn-lt"/>
                          <a:ea typeface="+mn-ea"/>
                          <a:cs typeface="+mn-cs"/>
                        </a:rPr>
                        <a:t>Name of subsidiary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Address of subsidiary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49780">
                <a:tc>
                  <a:txBody>
                    <a:bodyPr/>
                    <a:lstStyle/>
                    <a:p>
                      <a:pPr rtl="0" fontAlgn="t" algn="l">
                        <a:buNone/>
                      </a:pPr>
                      <a:r>
                        <a:rPr lang="en-GB" sz="975" b="0" i="0" u="none" strike="noStrike" noProof="0">
                          <a:solidFill>
                            <a:srgbClr val="1B4528"/>
                          </a:solidFill>
                          <a:effectLst/>
                          <a:latin typeface="Inter"/>
                        </a:rPr>
                        <a:t>{{subsidiary}}</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subsidiary_address</a:t>
                      </a:r>
                      <a:r>
                        <a:rPr lang="en-GB" sz="975" b="0" i="0" u="none" strike="noStrike" noProof="0" dirty="0">
                          <a:solidFill>
                            <a:srgbClr val="1B4528"/>
                          </a:solidFill>
                          <a:effectLst/>
                          <a:latin typeface="Inter"/>
                        </a:rPr>
                        <a:t>}}</a:t>
                      </a:r>
                      <a:endParaRPr lang="en-GB"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3</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n-GB" noProof="0"/>
              <a:t>{{company_name}}</a:t>
            </a:r>
            <a:endParaRPr lang="en-GB" b="0" noProof="0"/>
          </a:p>
          <a:p>
            <a:br>
              <a:rPr lang="en-GB" noProof="0"/>
            </a:br>
            <a:endParaRPr lang="en-GB"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n-GB" sz="975" b="1" noProof="0">
                          <a:solidFill>
                            <a:schemeClr val="tx2"/>
                          </a:solidFill>
                        </a:rPr>
                        <a:t>Individual or consolidated reporting</a:t>
                      </a:r>
                      <a:r>
                        <a:rPr lang="en-GB" sz="975" b="0" noProof="0">
                          <a:solidFill>
                            <a:schemeClr val="tx2"/>
                          </a:solidFill>
                        </a:rPr>
                        <a:t> (para.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an </a:t>
                      </a:r>
                      <a:r>
                        <a:rPr lang="en-GB" sz="975" b="1" kern="1200" spc="-10" noProof="0">
                          <a:solidFill>
                            <a:schemeClr val="tx2"/>
                          </a:solidFill>
                          <a:latin typeface="+mn-lt"/>
                          <a:ea typeface="+mn-ea"/>
                          <a:cs typeface="+mn-cs"/>
                        </a:rPr>
                        <a:t>individual basis </a:t>
                      </a:r>
                      <a:r>
                        <a:rPr lang="en-GB" sz="975" b="0" kern="1200" spc="-10" noProof="0">
                          <a:solidFill>
                            <a:schemeClr val="tx2"/>
                          </a:solidFill>
                          <a:latin typeface="+mn-lt"/>
                          <a:ea typeface="+mn-ea"/>
                          <a:cs typeface="+mn-cs"/>
                        </a:rPr>
                        <a:t>(i.e. the report does not cover any subsidiaries)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{{yes_subsidiary?}}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 </a:t>
                      </a:r>
                      <a:r>
                        <a:rPr lang="en-GB" sz="975" b="1" kern="1200" spc="-10" noProof="0">
                          <a:solidFill>
                            <a:schemeClr val="tx2"/>
                          </a:solidFill>
                          <a:latin typeface="+mn-lt"/>
                          <a:ea typeface="+mn-ea"/>
                          <a:cs typeface="+mn-cs"/>
                        </a:rPr>
                        <a:t>consolidated basis </a:t>
                      </a:r>
                      <a:r>
                        <a:rPr lang="en-GB" sz="975" b="0" kern="1200" spc="-10" noProof="0">
                          <a:solidFill>
                            <a:schemeClr val="tx2"/>
                          </a:solidFill>
                          <a:latin typeface="+mn-lt"/>
                          <a:ea typeface="+mn-ea"/>
                          <a:cs typeface="+mn-cs"/>
                        </a:rPr>
                        <a:t>(i.e. the report includes the undertaking’s subsidiaries)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{{no_subsidiary?}}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33674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40160">
                <a:tc gridSpan="2">
                  <a:txBody>
                    <a:bodyPr/>
                    <a:lstStyle/>
                    <a:p>
                      <a:r>
                        <a:rPr lang="en-GB" sz="975" b="1" kern="1200" spc="-10" noProof="0">
                          <a:solidFill>
                            <a:schemeClr val="tx2"/>
                          </a:solidFill>
                          <a:latin typeface="+mn-lt"/>
                          <a:ea typeface="+mn-ea"/>
                          <a:cs typeface="+mn-cs"/>
                        </a:rPr>
                        <a:t>Basic Module, or Basic Module +</a:t>
                      </a:r>
                      <a:r>
                        <a:rPr lang="en-GB" sz="975" b="0" kern="1200" spc="-10" noProof="0">
                          <a:solidFill>
                            <a:schemeClr val="tx2"/>
                          </a:solidFill>
                          <a:latin typeface="+mn-lt"/>
                          <a:ea typeface="+mn-ea"/>
                          <a:cs typeface="+mn-cs"/>
                        </a:rPr>
                        <a:t>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(para. 27a)</a:t>
                      </a:r>
                      <a:r>
                        <a:rPr lang="en-GB" sz="975" b="1" kern="1200" spc="-10" noProof="0">
                          <a:solidFill>
                            <a:schemeClr val="tx2"/>
                          </a:solidFill>
                          <a:latin typeface="+mn-lt"/>
                          <a:ea typeface="+mn-ea"/>
                          <a:cs typeface="+mn-cs"/>
                        </a:rPr>
                        <a:t>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of the voluntary SME standard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{{basic_module?}}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and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of the voluntary SME standard</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{{comprehensive?}}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lang="en-GB"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n-GB" sz="975" b="1" kern="1200" spc="-10" noProof="0">
                          <a:solidFill>
                            <a:schemeClr val="tx2"/>
                          </a:solidFill>
                          <a:latin typeface="+mn-lt"/>
                          <a:ea typeface="+mn-ea"/>
                          <a:cs typeface="+mn-cs"/>
                        </a:rPr>
                        <a:t>Basic information about the undertaking</a:t>
                      </a:r>
                      <a:r>
                        <a:rPr lang="en-GB" sz="975" b="0" kern="1200" spc="-10" noProof="0">
                          <a:solidFill>
                            <a:schemeClr val="tx2"/>
                          </a:solidFill>
                          <a:latin typeface="+mn-lt"/>
                          <a:ea typeface="+mn-ea"/>
                          <a:cs typeface="+mn-cs"/>
                        </a:rPr>
                        <a:t> (para.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n-GB" sz="975" b="1" kern="1200" spc="-10" noProof="0">
                          <a:solidFill>
                            <a:schemeClr val="tx2"/>
                          </a:solidFill>
                          <a:latin typeface="+mn-lt"/>
                          <a:ea typeface="+mn-ea"/>
                          <a:cs typeface="+mn-cs"/>
                        </a:rPr>
                        <a:t>Legal 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{{branchekode}}</a:t>
                      </a:r>
                      <a:endParaRPr lang="en-GB"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NACE sector 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{{NACE}}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Balance sheet total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{{balance}}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n-GB" sz="975" b="1" kern="1200" spc="-10" noProof="0">
                          <a:solidFill>
                            <a:schemeClr val="tx2"/>
                          </a:solidFill>
                          <a:latin typeface="+mn-lt"/>
                          <a:ea typeface="+mn-ea"/>
                          <a:cs typeface="+mn-cs"/>
                        </a:rPr>
                        <a:t>Turnover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{{revenue}}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n-GB" sz="975" b="1" kern="1200" spc="-10" noProof="0">
                          <a:solidFill>
                            <a:schemeClr val="tx2"/>
                          </a:solidFill>
                          <a:latin typeface="+mn-lt"/>
                          <a:ea typeface="+mn-ea"/>
                          <a:cs typeface="+mn-cs"/>
                        </a:rPr>
                        <a:t>No. of employees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{{total_employees}}</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n-GB" sz="975" b="1" kern="1200" spc="-10" noProof="0" dirty="0">
                          <a:solidFill>
                            <a:schemeClr val="tx2"/>
                          </a:solidFill>
                          <a:latin typeface="+mn-lt"/>
                          <a:ea typeface="+mn-ea"/>
                          <a:cs typeface="+mn-cs"/>
                        </a:rPr>
                        <a:t>The ESG report contains omissions due to sensitive business information </a:t>
                      </a:r>
                      <a:r>
                        <a:rPr lang="en-GB" sz="975" b="0" kern="1200" spc="-10" noProof="0" dirty="0">
                          <a:solidFill>
                            <a:schemeClr val="tx2"/>
                          </a:solidFill>
                          <a:latin typeface="+mn-lt"/>
                          <a:ea typeface="+mn-ea"/>
                          <a:cs typeface="+mn-cs"/>
                        </a:rPr>
                        <a:t>(para.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dirty="0">
                          <a:solidFill>
                            <a:schemeClr val="tx2"/>
                          </a:solidFill>
                          <a:latin typeface="+mn-lt"/>
                          <a:ea typeface="+mn-ea"/>
                          <a:cs typeface="+mn-cs"/>
                        </a:rPr>
                        <a:t>The following disclosures have been omitted</a:t>
                      </a:r>
                    </a:p>
                    <a:p>
                      <a:pPr algn="l"/>
                      <a:endParaRPr lang="en-GB"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975" noProof="0" dirty="0">
                          <a:solidFill>
                            <a:srgbClr val="1B4528"/>
                          </a:solidFill>
                          <a:latin typeface="+mn-lt"/>
                          <a:cs typeface="Calibri" panose="020F0502020204030204" pitchFamily="34" charset="0"/>
                        </a:rPr>
                        <a:t>{{</a:t>
                      </a:r>
                      <a:r>
                        <a:rPr lang="en-GB" sz="975" noProof="0" dirty="0" err="1">
                          <a:solidFill>
                            <a:srgbClr val="1B4528"/>
                          </a:solidFill>
                          <a:latin typeface="+mn-lt"/>
                          <a:cs typeface="Calibri" panose="020F0502020204030204" pitchFamily="34" charset="0"/>
                        </a:rPr>
                        <a:t>confidentiality_info</a:t>
                      </a:r>
                      <a:r>
                        <a:rPr lang="en-GB" sz="975" noProof="0" dirty="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n-GB" sz="975" b="1" kern="1200" spc="-10" noProof="0">
                          <a:solidFill>
                            <a:schemeClr val="tx2"/>
                          </a:solidFill>
                          <a:latin typeface="+mn-lt"/>
                          <a:ea typeface="+mn-ea"/>
                          <a:cs typeface="+mn-cs"/>
                        </a:rPr>
                        <a:t>Name of ESG certificate/ecolabel </a:t>
                      </a:r>
                      <a:r>
                        <a:rPr lang="en-GB" sz="975" b="0" kern="1200" spc="-10" noProof="0">
                          <a:solidFill>
                            <a:schemeClr val="tx2"/>
                          </a:solidFill>
                          <a:latin typeface="+mn-lt"/>
                          <a:ea typeface="+mn-ea"/>
                          <a:cs typeface="+mn-cs"/>
                        </a:rPr>
                        <a:t>(para.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Brief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Date of issue/</a:t>
                      </a:r>
                    </a:p>
                    <a:p>
                      <a:pPr algn="l"/>
                      <a:r>
                        <a:rPr lang="en-GB" sz="975" b="1" kern="1200" spc="-10" noProof="0">
                          <a:solidFill>
                            <a:schemeClr val="tx2"/>
                          </a:solidFill>
                          <a:latin typeface="+mn-lt"/>
                          <a:ea typeface="+mn-ea"/>
                          <a:cs typeface="+mn-cs"/>
                        </a:rPr>
                        <a:t>validity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Rating, if any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en-GB" sz="975" b="0" i="0" u="none" strike="noStrike" noProof="0">
                          <a:solidFill>
                            <a:srgbClr val="1B4528"/>
                          </a:solidFill>
                          <a:effectLst/>
                          <a:latin typeface="Inter"/>
                        </a:rPr>
                        <a:t>{{certificate_or_ecolabel}}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a:solidFill>
                            <a:srgbClr val="1B4528"/>
                          </a:solidFill>
                          <a:effectLst/>
                          <a:latin typeface="Inter"/>
                        </a:rPr>
                        <a:t>{{description_certificate}}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date_certicate</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certiciate_possible_rating</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dirty="0">
                          <a:solidFill>
                            <a:schemeClr val="tx2"/>
                          </a:solidFill>
                          <a:latin typeface="+mn-lt"/>
                          <a:ea typeface="+mn-ea"/>
                          <a:cs typeface="+mn-cs"/>
                        </a:rPr>
                        <a:t>Addresses and geolocation of </a:t>
                      </a:r>
                      <a:r>
                        <a:rPr lang="en-GB" sz="975" b="1" u="none" kern="1200" spc="-10" noProof="0" dirty="0">
                          <a:solidFill>
                            <a:schemeClr val="tx2"/>
                          </a:solidFill>
                          <a:latin typeface="+mn-lt"/>
                          <a:ea typeface="+mn-ea"/>
                          <a:cs typeface="+mn-cs"/>
                        </a:rPr>
                        <a:t>significant</a:t>
                      </a:r>
                      <a:r>
                        <a:rPr lang="en-GB" sz="975" b="1" kern="1200" spc="-10" noProof="0" dirty="0">
                          <a:solidFill>
                            <a:schemeClr val="tx2"/>
                          </a:solidFill>
                          <a:latin typeface="+mn-lt"/>
                          <a:ea typeface="+mn-ea"/>
                          <a:cs typeface="+mn-cs"/>
                        </a:rPr>
                        <a:t> assets and sites that the undertaking</a:t>
                      </a:r>
                      <a:r>
                        <a:rPr lang="en-GB" sz="975" b="0" kern="1200" spc="-10" noProof="0" dirty="0">
                          <a:solidFill>
                            <a:schemeClr val="tx2"/>
                          </a:solidFill>
                          <a:latin typeface="+mn-lt"/>
                          <a:ea typeface="+mn-ea"/>
                          <a:cs typeface="+mn-cs"/>
                        </a:rPr>
                        <a:t> </a:t>
                      </a:r>
                      <a:r>
                        <a:rPr lang="en-GB" sz="975" b="1" kern="1200" spc="-10" noProof="0" dirty="0">
                          <a:solidFill>
                            <a:schemeClr val="tx2"/>
                          </a:solidFill>
                          <a:latin typeface="+mn-lt"/>
                          <a:ea typeface="+mn-ea"/>
                          <a:cs typeface="+mn-cs"/>
                        </a:rPr>
                        <a:t>owns, leases or manages </a:t>
                      </a:r>
                      <a:r>
                        <a:rPr lang="en-GB" sz="975" b="0" kern="1200" spc="-10" noProof="0" dirty="0">
                          <a:solidFill>
                            <a:schemeClr val="tx2"/>
                          </a:solidFill>
                          <a:latin typeface="+mn-lt"/>
                          <a:ea typeface="+mn-ea"/>
                          <a:cs typeface="+mn-cs"/>
                        </a:rPr>
                        <a:t>(para.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n-GB"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dirty="0">
                          <a:solidFill>
                            <a:schemeClr val="tx2"/>
                          </a:solidFill>
                          <a:latin typeface="+mn-lt"/>
                          <a:ea typeface="+mn-ea"/>
                          <a:cs typeface="+mn-cs"/>
                        </a:rPr>
                        <a:t>Address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Postcode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City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Country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Geolocation (coordinates)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en-GB" sz="975" b="0" i="0" u="none" strike="noStrike" noProof="0">
                          <a:solidFill>
                            <a:srgbClr val="1B4528"/>
                          </a:solidFill>
                          <a:effectLst/>
                          <a:latin typeface="Inter"/>
                        </a:rPr>
                        <a:t>{{geolocation}}</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geolocation_adress</a:t>
                      </a:r>
                      <a:r>
                        <a:rPr lang="en-GB" sz="975" b="0" i="0" u="none" strike="noStrike" noProof="0" dirty="0">
                          <a:solidFill>
                            <a:srgbClr val="1B4528"/>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{{geolocation_postcode}}</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{{geolocation_city}}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{{geolocation_country}}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geolocation_coordinates</a:t>
                      </a:r>
                      <a:r>
                        <a:rPr lang="en-GB" sz="975" b="0" i="0" u="none" strike="noStrike" noProof="0" dirty="0">
                          <a:solidFill>
                            <a:srgbClr val="1B4528"/>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n-GB" sz="975" b="0" i="0" u="none" strike="noStrike" noProof="0" dirty="0">
                <a:solidFill>
                  <a:schemeClr val="tx2"/>
                </a:solidFill>
                <a:effectLst/>
                <a:latin typeface="Inter"/>
              </a:rPr>
              <a:t>Below is a description of the undertaking’s geolocations and of where the undertaking operates. This information can be used for climate-related risk zones and provides information on the undertaking’s sites, facilities and/or headquarters</a:t>
            </a:r>
            <a:r>
              <a:rPr lang="en-GB" sz="975" noProof="0" dirty="0">
                <a:solidFill>
                  <a:schemeClr val="tx2"/>
                </a:solidFill>
                <a:latin typeface="Inter"/>
              </a:rPr>
              <a:t>. Relevant sustainability-related certifications or labels are also stated, including the issuer of the certification, the date and any rating.</a:t>
            </a:r>
            <a:endParaRPr lang="en-GB"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n-GB" sz="975" noProof="0" dirty="0">
                <a:solidFill>
                  <a:srgbClr val="487477"/>
                </a:solidFill>
                <a:latin typeface="Inter"/>
              </a:rPr>
              <a:t>The undertaking’s certificates and ecolabels are listed below.</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n-GB" noProof="0"/>
              <a:t>Practices, policies and future initiatives for transitioning towards a more sustainable economy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n-GB" sz="975" b="1" kern="1200" spc="-10" noProof="0">
                          <a:solidFill>
                            <a:schemeClr val="tx2"/>
                          </a:solidFill>
                          <a:latin typeface="+mn-lt"/>
                          <a:ea typeface="+mn-ea"/>
                          <a:cs typeface="+mn-cs"/>
                        </a:rPr>
                        <a:t>Area</a:t>
                      </a:r>
                    </a:p>
                    <a:p>
                      <a:r>
                        <a:rPr lang="en-GB" sz="975" b="0" kern="1200" spc="-10" noProof="0">
                          <a:solidFill>
                            <a:schemeClr val="tx2"/>
                          </a:solidFill>
                          <a:latin typeface="+mn-lt"/>
                          <a:ea typeface="+mn-ea"/>
                          <a:cs typeface="+mn-cs"/>
                        </a:rPr>
                        <a:t>(para.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a specific practice or policy in this area</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Is the policy publicly available?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future initiatives and plans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specific targets to monitor the implementation of practices and policies?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n-GB" sz="975" b="1" kern="1200" spc="-10" noProof="0">
                          <a:solidFill>
                            <a:schemeClr val="tx2"/>
                          </a:solidFill>
                          <a:latin typeface="+mn-lt"/>
                          <a:ea typeface="+mn-ea"/>
                          <a:cs typeface="+mn-cs"/>
                        </a:rPr>
                        <a:t>Climate change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{{climate_change_concrete}}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{{climate_change_publicly}}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{{climate_change_future}}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{{climate_change_plan}}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n-GB"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{{pollution_concrete}}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{{pollution_publicly}}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{{pollution_future}}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{{pollution_plan}}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n-GB" sz="975" b="1" kern="1200" spc="-10" noProof="0">
                          <a:solidFill>
                            <a:schemeClr val="tx2"/>
                          </a:solidFill>
                          <a:latin typeface="+mn-lt"/>
                          <a:ea typeface="+mn-ea"/>
                          <a:cs typeface="+mn-cs"/>
                        </a:rPr>
                        <a:t>Water and marine resources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{{water_concrete}}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{{water_publicly}}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{{water_future}}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{{water_plan}}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n-GB" sz="975" b="1" kern="1200" spc="-10" noProof="0">
                          <a:solidFill>
                            <a:schemeClr val="tx2"/>
                          </a:solidFill>
                          <a:latin typeface="+mn-lt"/>
                          <a:ea typeface="+mn-ea"/>
                          <a:cs typeface="+mn-cs"/>
                        </a:rPr>
                        <a:t>Biodiversity and ecosystems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{{biodiversity_concrete}}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{{biodiversity_publicly}}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{{biodiversity_future}}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{{biodiversity_plan}}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n-GB" sz="975" b="1" kern="1200" spc="-10" noProof="0">
                          <a:solidFill>
                            <a:schemeClr val="tx2"/>
                          </a:solidFill>
                          <a:latin typeface="+mn-lt"/>
                          <a:ea typeface="+mn-ea"/>
                          <a:cs typeface="+mn-cs"/>
                        </a:rPr>
                        <a:t>Circular economy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{{circular_concrete}}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{{circular_publicly}}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{{circular_future}}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{{circular_plan}}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n-GB" sz="975" b="1" kern="1200" spc="-10" noProof="0">
                          <a:solidFill>
                            <a:schemeClr val="tx2"/>
                          </a:solidFill>
                          <a:latin typeface="+mn-lt"/>
                          <a:ea typeface="+mn-ea"/>
                          <a:cs typeface="+mn-cs"/>
                        </a:rPr>
                        <a:t>Own workforce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{{workforce_concrete}}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{{workforce_publicly}}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{{workforce_future}}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{{workforce_plan}}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n-GB" sz="975" b="1" kern="1200" spc="-10" noProof="0">
                          <a:solidFill>
                            <a:schemeClr val="tx2"/>
                          </a:solidFill>
                          <a:latin typeface="+mn-lt"/>
                          <a:ea typeface="+mn-ea"/>
                          <a:cs typeface="+mn-cs"/>
                        </a:rPr>
                        <a:t>Workers in the value chain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{{workers_concrete}}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{{workers_plan}}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n-GB" sz="975" b="1" kern="1200" spc="-10" noProof="0">
                          <a:solidFill>
                            <a:schemeClr val="tx2"/>
                          </a:solidFill>
                          <a:latin typeface="+mn-lt"/>
                          <a:ea typeface="+mn-ea"/>
                          <a:cs typeface="+mn-cs"/>
                        </a:rPr>
                        <a:t>Affected communities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{{communities_concrete}}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{{communities_publicly}}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{{communities_future}}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{{communities_plan}}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n-GB" sz="975" b="1" kern="1200" spc="-10" noProof="0">
                          <a:solidFill>
                            <a:schemeClr val="tx2"/>
                          </a:solidFill>
                          <a:latin typeface="+mn-lt"/>
                          <a:ea typeface="+mn-ea"/>
                          <a:cs typeface="+mn-cs"/>
                        </a:rPr>
                        <a:t>Consumers and end-users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{{consumers_concrete}}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{{consumers_publicly}}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{{consumers_future}}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{{consumers_plan}}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n-GB" sz="975" b="1" kern="1200" spc="-10" noProof="0">
                          <a:solidFill>
                            <a:schemeClr val="tx2"/>
                          </a:solidFill>
                          <a:latin typeface="+mn-lt"/>
                          <a:ea typeface="+mn-ea"/>
                          <a:cs typeface="+mn-cs"/>
                        </a:rPr>
                        <a:t>Business conduct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{{governance_concrete}}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{{governance_publicly}}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{{governance_future}}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{{governance_plan}}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n-GB" sz="975" b="0" i="0" u="none" strike="noStrike" noProof="0">
                <a:solidFill>
                  <a:schemeClr val="tx2"/>
                </a:solidFill>
                <a:effectLst/>
                <a:latin typeface="Inter"/>
              </a:rPr>
              <a:t>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975" noProof="0">
                <a:solidFill>
                  <a:schemeClr val="tx2"/>
                </a:solidFill>
              </a:rPr>
            </a:br>
            <a:endParaRPr lang="en-GB"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4</a:t>
            </a:fld>
            <a:endParaRPr lang="en-GB"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Energy consumption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Energy consumption in MWh </a:t>
                      </a:r>
                      <a:r>
                        <a:rPr lang="en-GB" sz="975" b="0" noProof="0">
                          <a:solidFill>
                            <a:schemeClr val="tx2"/>
                          </a:solidFill>
                        </a:rPr>
                        <a:t>(para.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n-GB"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Renewable energy consumption</a:t>
                      </a:r>
                      <a:r>
                        <a:rPr lang="en-GB" sz="975" b="1" noProof="0">
                          <a:solidFill>
                            <a:schemeClr val="tx2"/>
                          </a:solidFill>
                        </a:rPr>
                        <a:t>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Non-renewable energy consumption</a:t>
                      </a:r>
                      <a:r>
                        <a:rPr lang="en-GB" sz="975" b="1" noProof="0">
                          <a:solidFill>
                            <a:schemeClr val="tx2"/>
                          </a:solidFill>
                        </a:rPr>
                        <a:t>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Total energy consumption (MWh)</a:t>
                      </a:r>
                    </a:p>
                    <a:p>
                      <a:pPr marL="0" marR="0" lvl="0" indent="0" algn="r" defTabSz="914400" rtl="0" eaLnBrk="1" fontAlgn="auto" latinLnBrk="0" hangingPunct="1">
                        <a:lnSpc>
                          <a:spcPct val="106000"/>
                        </a:lnSpc>
                        <a:spcBef>
                          <a:spcPts val="0"/>
                        </a:spcBef>
                        <a:spcAft>
                          <a:spcPts val="0"/>
                        </a:spcAft>
                        <a:buClrTx/>
                        <a:buSzTx/>
                        <a:buFontTx/>
                        <a:buNone/>
                        <a:tabLst/>
                        <a:defRPr/>
                      </a:pP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n-GB" sz="975" b="1" noProof="0">
                          <a:solidFill>
                            <a:schemeClr val="tx2"/>
                          </a:solidFill>
                        </a:rPr>
                        <a:t>Electricity </a:t>
                      </a:r>
                      <a:r>
                        <a:rPr lang="en-GB" sz="975" b="0" noProof="0">
                          <a:solidFill>
                            <a:schemeClr val="tx2"/>
                          </a:solidFill>
                        </a:rPr>
                        <a:t>(as reflected in the undertaking’s utility bills)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{{electricity_renewable}}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{{electricity_non_rewenable}}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{{total_electricity}}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n-GB" sz="975" b="1" noProof="0">
                          <a:solidFill>
                            <a:schemeClr val="tx2"/>
                          </a:solidFill>
                        </a:rPr>
                        <a:t>Fuels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{{fuel_renewable}}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{{fuel_non_rewenable}}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{{total_fuel}}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n-GB" sz="975" b="1" noProof="0">
                          <a:solidFill>
                            <a:schemeClr val="tx2"/>
                          </a:solidFill>
                        </a:rPr>
                        <a:t>Other (e.g. district heating)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{{district_heating_rewenable}}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{{district_heating_non_rewenable}}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{{total_district_heating}}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n-GB"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{{renewable_energy_total}}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{{non_rewenable_energy_total}}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{{total_energy_consumption}}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5</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n-GB" sz="975" b="0" i="0" u="none" strike="noStrike" noProof="0">
                <a:solidFill>
                  <a:schemeClr val="tx2"/>
                </a:solidFill>
                <a:effectLst/>
                <a:latin typeface="Inter"/>
              </a:rPr>
              <a:t>This section presents the undertaking’s CO2 emissions from energy consumption and states renewable and non-renewable consumption. </a:t>
            </a:r>
            <a:r>
              <a:rPr lang="en-GB" sz="975" noProof="0">
                <a:solidFill>
                  <a:schemeClr val="tx2"/>
                </a:solidFill>
                <a:latin typeface="Inter"/>
              </a:rPr>
              <a:t>The emissions are disclosed on the basis of </a:t>
            </a:r>
            <a:r>
              <a:rPr lang="en-GB" sz="975" b="0" i="0" u="none" strike="noStrike" noProof="0">
                <a:solidFill>
                  <a:schemeClr val="tx2"/>
                </a:solidFill>
                <a:effectLst/>
                <a:latin typeface="Inter"/>
              </a:rPr>
              <a:t>the GHG Protocol’s definitions of what direct and indirect emissions comprise. </a:t>
            </a:r>
            <a:br>
              <a:rPr lang="en-GB" sz="975" b="0" i="0" u="none" strike="noStrike" noProof="0" dirty="0">
                <a:effectLst/>
                <a:latin typeface="Inter"/>
              </a:rPr>
            </a:br>
            <a:br>
              <a:rPr lang="en-GB" sz="975" dirty="0">
                <a:latin typeface="Inter"/>
              </a:rPr>
            </a:br>
            <a:r>
              <a:rPr lang="en-GB" sz="650" b="0" i="0" u="none" strike="noStrike" noProof="0">
                <a:solidFill>
                  <a:schemeClr val="tx2"/>
                </a:solidFill>
                <a:effectLst/>
                <a:latin typeface="Inter"/>
              </a:rPr>
              <a:t> </a:t>
            </a:r>
            <a:endParaRPr lang="en-GB" sz="975" b="0" i="0" u="none" strike="noStrike" noProof="0" dirty="0">
              <a:solidFill>
                <a:schemeClr val="tx2"/>
              </a:solidFill>
              <a:effectLst/>
              <a:latin typeface="Inter"/>
            </a:endParaRPr>
          </a:p>
          <a:p>
            <a:pPr rtl="0">
              <a:buNone/>
            </a:pPr>
            <a:endParaRPr lang="en-GB" sz="975" b="0" noProof="0">
              <a:solidFill>
                <a:schemeClr val="tx2"/>
              </a:solidFill>
              <a:effectLst/>
              <a:latin typeface="Inter"/>
            </a:endParaRPr>
          </a:p>
          <a:p>
            <a:pPr>
              <a:buNone/>
            </a:pPr>
            <a:endParaRPr lang="en-GB"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endParaRPr lang="en-GB"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n-GB" sz="975" b="1" noProof="0">
                          <a:solidFill>
                            <a:schemeClr val="tx2"/>
                          </a:solidFill>
                        </a:rPr>
                        <a:t>Greenhouse gas emissions </a:t>
                      </a:r>
                      <a:r>
                        <a:rPr lang="en-GB" sz="975" b="0" noProof="0">
                          <a:solidFill>
                            <a:schemeClr val="tx2"/>
                          </a:solidFill>
                        </a:rPr>
                        <a:t>(para. 33)</a:t>
                      </a: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n-GB" sz="975" b="1" noProof="0">
                          <a:solidFill>
                            <a:schemeClr val="tx2"/>
                          </a:solidFill>
                        </a:rPr>
                        <a:t>Scope 1 CO₂e emissions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{{scope1}}</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n-GB" sz="975" b="1" noProof="0">
                          <a:solidFill>
                            <a:schemeClr val="tx2"/>
                          </a:solidFill>
                        </a:rPr>
                        <a:t>Scope 2 CO₂e emissions (location-based)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{{scope2}}</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n-GB" sz="975" b="1" noProof="0">
                          <a:solidFill>
                            <a:schemeClr val="tx2"/>
                          </a:solidFill>
                        </a:rPr>
                        <a:t>Total CO₂e emissions from Scope 1 and Scope 2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{{total_scope}}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n-GB" b="1" dirty="0">
                <a:latin typeface="+mj-lt"/>
              </a:rPr>
            </a:br>
            <a:r>
              <a:rPr lang="en-GB" b="1" i="0" u="none" strike="noStrike" noProof="0">
                <a:solidFill>
                  <a:schemeClr val="tx2"/>
                </a:solidFill>
                <a:effectLst/>
                <a:latin typeface="+mj-lt"/>
              </a:rPr>
              <a:t>CO₂e emissions (B3)</a:t>
            </a:r>
            <a:endParaRPr lang="en-GB" noProof="0">
              <a:solidFill>
                <a:schemeClr val="tx2"/>
              </a:solidFill>
              <a:effectLst/>
              <a:latin typeface="+mj-lt"/>
            </a:endParaRPr>
          </a:p>
          <a:p>
            <a:r>
              <a:rPr lang="en-GB" sz="650">
                <a:latin typeface="Inter"/>
              </a:rPr>
              <a:t> </a:t>
            </a:r>
            <a:br>
              <a:rPr lang="en-GB" sz="975" dirty="0">
                <a:solidFill>
                  <a:schemeClr val="tx2"/>
                </a:solidFill>
                <a:latin typeface="Inter"/>
              </a:rPr>
            </a:br>
            <a:r>
              <a:rPr lang="en-GB" sz="975" b="0" i="0" u="none" strike="noStrike" noProof="0">
                <a:solidFill>
                  <a:schemeClr val="tx2"/>
                </a:solidFill>
                <a:effectLst/>
                <a:latin typeface="Inter"/>
              </a:rPr>
              <a:t>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975" noProof="0">
                <a:solidFill>
                  <a:schemeClr val="tx2"/>
                </a:solidFill>
                <a:latin typeface="Inter"/>
              </a:rPr>
              <a:t> </a:t>
            </a:r>
            <a:r>
              <a:rPr lang="en-GB" sz="975" b="0" i="0" u="none" strike="noStrike" noProof="0">
                <a:solidFill>
                  <a:schemeClr val="tx2"/>
                </a:solidFill>
                <a:effectLst/>
                <a:latin typeface="Inter"/>
              </a:rPr>
              <a:t>Scope 2</a:t>
            </a:r>
            <a:r>
              <a:rPr lang="en-GB" sz="975" noProof="0">
                <a:solidFill>
                  <a:schemeClr val="tx2"/>
                </a:solidFill>
                <a:latin typeface="Inter"/>
              </a:rPr>
              <a:t> covers i</a:t>
            </a:r>
            <a:r>
              <a:rPr lang="en-GB" sz="975" b="0" i="0" u="none" strike="noStrike" noProof="0">
                <a:solidFill>
                  <a:schemeClr val="tx2"/>
                </a:solidFill>
                <a:effectLst/>
                <a:latin typeface="Inter"/>
              </a:rPr>
              <a:t>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lang="en-GB"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Pollution of air, water and soil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n-GB" sz="975" b="1" noProof="0">
                          <a:solidFill>
                            <a:schemeClr val="tx2"/>
                          </a:solidFill>
                        </a:rPr>
                        <a:t>Pollution of air, water and soil </a:t>
                      </a:r>
                      <a:r>
                        <a:rPr lang="en-GB" sz="975" b="0" noProof="0">
                          <a:solidFill>
                            <a:schemeClr val="tx2"/>
                          </a:solidFill>
                        </a:rPr>
                        <a:t>(para.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Type of pollution </a:t>
                      </a:r>
                      <a:r>
                        <a:rPr lang="en-GB" sz="975" b="0" noProof="0">
                          <a:solidFill>
                            <a:schemeClr val="tx2"/>
                          </a:solidFill>
                        </a:rPr>
                        <a:t>(e.g.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Where? </a:t>
                      </a:r>
                      <a:r>
                        <a:rPr lang="en-GB" sz="975" b="0" noProof="0">
                          <a:solidFill>
                            <a:schemeClr val="tx2"/>
                          </a:solidFill>
                        </a:rPr>
                        <a:t>(air, water, soil)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Amount</a:t>
                      </a: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en-GB" sz="975" b="0" i="0" u="none" strike="noStrike" noProof="0">
                          <a:solidFill>
                            <a:srgbClr val="1B4528"/>
                          </a:solidFill>
                          <a:effectLst/>
                          <a:latin typeface="Inter"/>
                        </a:rPr>
                        <a:t>{{type_of_pollution}}</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n-GB" sz="975" b="0" i="0" u="none" strike="noStrike" noProof="0">
                          <a:solidFill>
                            <a:srgbClr val="1B4528"/>
                          </a:solidFill>
                          <a:effectLst/>
                          <a:latin typeface="Inter"/>
                        </a:rPr>
                        <a:t>{{scope_pollution}}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pollution_medium</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reports the total amount of pollutants emitted from its own operations. Reporting on specific pollutants and their amounts emitted to air, water and soil</a:t>
            </a:r>
            <a:r>
              <a:rPr lang="en-GB" sz="975" noProof="0">
                <a:solidFill>
                  <a:schemeClr val="tx2"/>
                </a:solidFill>
                <a:latin typeface="Inter"/>
              </a:rPr>
              <a:t> is set out below.</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Biodiversity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n-GB" sz="975" b="1" noProof="0">
                          <a:solidFill>
                            <a:schemeClr val="tx2"/>
                          </a:solidFill>
                        </a:rPr>
                        <a:t>Sites in or near ‘biodiversity sensitive areas’ that the undertaking owns, leases or manages </a:t>
                      </a:r>
                      <a:r>
                        <a:rPr lang="en-GB" sz="975" b="0" noProof="0">
                          <a:solidFill>
                            <a:schemeClr val="tx2"/>
                          </a:solidFill>
                        </a:rPr>
                        <a:t>(para.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n-GB" sz="975" b="1" noProof="0">
                          <a:solidFill>
                            <a:schemeClr val="tx2"/>
                          </a:solidFill>
                        </a:rPr>
                        <a:t>Location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Area in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Biodiversity sensitive area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Specification: in or near a biodiversity sensitive area</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en-GB" sz="975" b="0" i="0" u="none" strike="noStrike" noProof="0">
                          <a:solidFill>
                            <a:srgbClr val="1B4528"/>
                          </a:solidFill>
                          <a:effectLst/>
                          <a:latin typeface="Inter"/>
                        </a:rPr>
                        <a:t>{{country_location}}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 {{area_hect}}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nter"/>
                        </a:rPr>
                        <a:t>{{area_name}}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biosensitive_area</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n-GB" sz="975" b="0" i="0" u="none" strike="noStrike" noProof="0">
                <a:solidFill>
                  <a:schemeClr val="tx2"/>
                </a:solidFill>
                <a:effectLst/>
                <a:latin typeface="Inter"/>
              </a:rPr>
              <a:t>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endParaRPr lang="en-GB" sz="975"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87072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t>Water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879470"/>
          <a:ext cx="3295368" cy="1216099"/>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6214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dirty="0">
                          <a:solidFill>
                            <a:schemeClr val="tx2"/>
                          </a:solidFill>
                        </a:rPr>
                        <a:t>Water withdrawal </a:t>
                      </a:r>
                      <a:r>
                        <a:rPr lang="en-GB" sz="975" b="0" noProof="0" dirty="0">
                          <a:solidFill>
                            <a:schemeClr val="tx2"/>
                          </a:solidFill>
                        </a:rPr>
                        <a:t>(para.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03128">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dirty="0">
                          <a:ln>
                            <a:noFill/>
                          </a:ln>
                          <a:solidFill>
                            <a:srgbClr val="1B4528"/>
                          </a:solidFill>
                          <a:effectLst/>
                          <a:uLnTx/>
                          <a:uFillTx/>
                          <a:latin typeface="+mn-lt"/>
                          <a:ea typeface="+mn-ea"/>
                          <a:cs typeface="+mn-cs"/>
                        </a:rPr>
                        <a:t>{{</a:t>
                      </a:r>
                      <a:r>
                        <a:rPr kumimoji="0" lang="en-GB" sz="975" b="0" i="0" u="none" strike="noStrike" kern="1200" cap="none" spc="0" normalizeH="0" baseline="0" noProof="0" dirty="0" err="1">
                          <a:ln>
                            <a:noFill/>
                          </a:ln>
                          <a:solidFill>
                            <a:srgbClr val="1B4528"/>
                          </a:solidFill>
                          <a:effectLst/>
                          <a:uLnTx/>
                          <a:uFillTx/>
                          <a:latin typeface="+mn-lt"/>
                          <a:ea typeface="+mn-ea"/>
                          <a:cs typeface="+mn-cs"/>
                        </a:rPr>
                        <a:t>total_withdrawal</a:t>
                      </a:r>
                      <a:r>
                        <a:rPr kumimoji="0" lang="en-GB" sz="975" b="0" i="0" u="none" strike="noStrike" kern="1200" cap="none" spc="0" normalizeH="0" baseline="0" noProof="0" dirty="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87946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Water consumption </a:t>
                      </a:r>
                      <a:r>
                        <a:rPr lang="en-GB" sz="975" b="0" noProof="0">
                          <a:solidFill>
                            <a:schemeClr val="tx2"/>
                          </a:solidFill>
                        </a:rPr>
                        <a:t>(para.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{{consumption_total}}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dirty="0">
                          <a:solidFill>
                            <a:schemeClr val="tx2"/>
                          </a:solidFill>
                        </a:rPr>
                        <a:t>From sites in areas of water scarcity (high water-stress)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consumption_waterstress</a:t>
                      </a:r>
                      <a:r>
                        <a:rPr lang="en-GB" sz="975" b="0" i="0" u="none" strike="noStrike" noProof="0" dirty="0">
                          <a:solidFill>
                            <a:srgbClr val="1B4528"/>
                          </a:solidFill>
                          <a:effectLst/>
                          <a:latin typeface="Inter"/>
                        </a:rPr>
                        <a:t>}}</a:t>
                      </a:r>
                      <a:endParaRPr lang="en-GB" sz="975"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201429"/>
            <a:ext cx="6737040" cy="384705"/>
          </a:xfrm>
          <a:prstGeom prst="rect">
            <a:avLst/>
          </a:prstGeom>
          <a:noFill/>
        </p:spPr>
        <p:txBody>
          <a:bodyPr wrap="square">
            <a:spAutoFit/>
          </a:bodyPr>
          <a:lstStyle/>
          <a:p>
            <a:pPr rtl="0">
              <a:spcBef>
                <a:spcPts val="750"/>
              </a:spcBef>
              <a:buNone/>
            </a:pPr>
            <a:r>
              <a:rPr lang="en-GB" sz="975" b="0" i="0" u="none" strike="noStrike" noProof="0" dirty="0">
                <a:solidFill>
                  <a:schemeClr val="tx2"/>
                </a:solidFill>
                <a:effectLst/>
                <a:latin typeface="Inter"/>
              </a:rPr>
              <a:t>Water withdrawal is the amount of water used by the undertaking, of which </a:t>
            </a:r>
            <a:r>
              <a:rPr lang="en-GB" sz="975" noProof="0" dirty="0">
                <a:solidFill>
                  <a:schemeClr val="tx2"/>
                </a:solidFill>
                <a:latin typeface="Inter"/>
              </a:rPr>
              <a:t>consumption denotes water that </a:t>
            </a:r>
            <a:r>
              <a:rPr lang="en-GB" sz="975" b="0" i="0" u="none" strike="noStrike" noProof="0" dirty="0">
                <a:solidFill>
                  <a:schemeClr val="tx2"/>
                </a:solidFill>
                <a:effectLst/>
                <a:latin typeface="Inter"/>
              </a:rPr>
              <a:t>is not discharged, or planned to be discharged, back to the water environment or to a third party. This section discloses the undertaking’s total water withdrawal. The undertaking’s water consumption</a:t>
            </a:r>
            <a:r>
              <a:rPr lang="en-GB" sz="975" noProof="0" dirty="0">
                <a:solidFill>
                  <a:schemeClr val="tx2"/>
                </a:solidFill>
                <a:latin typeface="Inter"/>
              </a:rPr>
              <a:t> </a:t>
            </a:r>
            <a:r>
              <a:rPr lang="en-GB" sz="975" b="0" i="0" u="none" strike="noStrike" noProof="0" dirty="0">
                <a:solidFill>
                  <a:schemeClr val="tx2"/>
                </a:solidFill>
                <a:effectLst/>
                <a:latin typeface="Inter"/>
              </a:rPr>
              <a:t>and water discharge from areas of high water-stress are set out below.</a:t>
            </a:r>
            <a:endParaRPr lang="en-GB" sz="975"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27199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Resource use, circular economy and waste management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69250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Disclosure on the application of circular economy principles </a:t>
                      </a:r>
                      <a:r>
                        <a:rPr lang="en-GB" sz="975" b="0" noProof="0">
                          <a:solidFill>
                            <a:schemeClr val="tx2"/>
                          </a:solidFill>
                        </a:rPr>
                        <a:t>(para.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n-GB" sz="975" b="0" noProof="0">
                          <a:solidFill>
                            <a:schemeClr val="tx2"/>
                          </a:solidFill>
                        </a:rPr>
                        <a:t>My company applies circular economy principles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{{circular_economy_princples_yes}}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{{circular_economy_princples_no?}}</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675487"/>
            <a:ext cx="3295368" cy="692470"/>
          </a:xfrm>
          <a:prstGeom prst="rect">
            <a:avLst/>
          </a:prstGeom>
          <a:noFill/>
        </p:spPr>
        <p:txBody>
          <a:bodyPr wrap="square" lIns="76197" tIns="38098" rIns="76197" bIns="38098" anchor="t">
            <a:spAutoFit/>
          </a:bodyPr>
          <a:lstStyle/>
          <a:p>
            <a:pPr rtl="0">
              <a:buNone/>
            </a:pPr>
            <a:r>
              <a:rPr lang="en-GB" sz="975" b="0" i="0" u="none" strike="noStrike" noProof="0" dirty="0">
                <a:solidFill>
                  <a:schemeClr val="tx2"/>
                </a:solidFill>
                <a:effectLst/>
                <a:latin typeface="Inter"/>
              </a:rPr>
              <a:t>This disclosure requirement provides information on whether the undertaking</a:t>
            </a:r>
            <a:r>
              <a:rPr lang="en-GB" sz="975" noProof="0" dirty="0">
                <a:solidFill>
                  <a:schemeClr val="tx2"/>
                </a:solidFill>
                <a:latin typeface="Inter"/>
              </a:rPr>
              <a:t> applies circular economy principles, including whether principles are applied regarding reducing waste and pollution and to a focus on circular products and materials.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9023763"/>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n-GB" sz="975" b="1" noProof="0" dirty="0">
                          <a:solidFill>
                            <a:schemeClr val="tx2"/>
                          </a:solidFill>
                        </a:rPr>
                        <a:t>Description of how the undertaking applies circular economy principles </a:t>
                      </a:r>
                      <a:r>
                        <a:rPr lang="en-GB" sz="975" b="0" noProof="0" dirty="0">
                          <a:solidFill>
                            <a:schemeClr val="tx2"/>
                          </a:solidFill>
                        </a:rPr>
                        <a:t>(para. 38 continued)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n-GB" sz="975" b="0" kern="1200" noProof="0" dirty="0">
                          <a:solidFill>
                            <a:srgbClr val="1B4528"/>
                          </a:solidFill>
                          <a:latin typeface="+mn-lt"/>
                          <a:ea typeface="+mn-ea"/>
                          <a:cs typeface="+mn-cs"/>
                        </a:rPr>
                        <a:t>{{</a:t>
                      </a:r>
                      <a:r>
                        <a:rPr lang="en-GB" sz="975" b="0" kern="1200" noProof="0" dirty="0" err="1">
                          <a:solidFill>
                            <a:srgbClr val="1B4528"/>
                          </a:solidFill>
                          <a:latin typeface="+mn-lt"/>
                          <a:ea typeface="+mn-ea"/>
                          <a:cs typeface="+mn-cs"/>
                        </a:rPr>
                        <a:t>description_of_circular_economies</a:t>
                      </a:r>
                      <a:r>
                        <a:rPr lang="en-GB" sz="975" b="0" kern="1200" noProof="0" dirty="0">
                          <a:solidFill>
                            <a:srgbClr val="1B4528"/>
                          </a:solidFill>
                          <a:latin typeface="+mn-lt"/>
                          <a:ea typeface="+mn-ea"/>
                          <a:cs typeface="+mn-cs"/>
                        </a:rPr>
                        <a:t>}}</a:t>
                      </a:r>
                    </a:p>
                    <a:p>
                      <a:pPr algn="l"/>
                      <a:endParaRPr lang="en-GB" sz="975"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n-GB" noProof="0" smtClean="0"/>
              <a:pPr/>
              <a:t>6</a:t>
            </a:fld>
            <a:endParaRPr lang="en-GB"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Resource use, circular economy and waste management (B7) – continued</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n-GB" sz="975" b="1" noProof="0">
                          <a:solidFill>
                            <a:schemeClr val="tx2"/>
                          </a:solidFill>
                        </a:rPr>
                        <a:t>Total annual waste generation</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86343">
                <a:tc>
                  <a:txBody>
                    <a:bodyPr/>
                    <a:lstStyle/>
                    <a:p>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Total waste generated </a:t>
                      </a:r>
                      <a:r>
                        <a:rPr lang="en-GB" sz="975" b="0" noProof="0">
                          <a:solidFill>
                            <a:schemeClr val="tx2"/>
                          </a:solidFill>
                        </a:rPr>
                        <a:t>(para.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Waste diverted to recycling or preparation for reuse </a:t>
                      </a:r>
                      <a:r>
                        <a:rPr lang="en-GB" sz="975" b="0" noProof="0">
                          <a:solidFill>
                            <a:schemeClr val="tx2"/>
                          </a:solidFill>
                        </a:rPr>
                        <a:t>(para.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Non-hazardous waste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en-GB" sz="975" b="0" i="0" u="none" strike="noStrike" noProof="0">
                          <a:solidFill>
                            <a:srgbClr val="1B4528"/>
                          </a:solidFill>
                          <a:effectLst/>
                          <a:latin typeface="Inter"/>
                        </a:rPr>
                        <a:t>{{Type_af_affald}}</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{{kg_tons_total}}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nter"/>
                        </a:rPr>
                        <a:t>{{genbrug_kg_tons}}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n-GB" sz="975" b="1" noProof="0">
                          <a:solidFill>
                            <a:schemeClr val="tx2"/>
                          </a:solidFill>
                        </a:rPr>
                        <a:t>Hazardous waste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en-GB" sz="975" b="0" i="0" u="none" strike="noStrike" noProof="0">
                          <a:solidFill>
                            <a:srgbClr val="1B4528"/>
                          </a:solidFill>
                          <a:effectLst/>
                          <a:latin typeface="Inter"/>
                        </a:rPr>
                        <a:t>{{Type_af_affald_farlig}}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{{farlig_kg_tons}}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farlig_genbrug_kg_tons</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7</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lang="en-GB"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n-GB" sz="975" b="1" noProof="0">
                          <a:solidFill>
                            <a:schemeClr val="tx2"/>
                          </a:solidFill>
                        </a:rPr>
                        <a:t>Significant materials </a:t>
                      </a:r>
                      <a:r>
                        <a:rPr lang="en-GB" sz="975" b="0" noProof="0">
                          <a:solidFill>
                            <a:schemeClr val="tx2"/>
                          </a:solidFill>
                        </a:rPr>
                        <a:t>(para.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Annual mass-flow </a:t>
                      </a:r>
                      <a:r>
                        <a:rPr lang="en-GB" sz="975" b="1" noProof="0">
                          <a:solidFill>
                            <a:srgbClr val="1B4528"/>
                          </a:solidFill>
                        </a:rPr>
                        <a:t>{{insert_year}}</a:t>
                      </a: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en-GB" sz="975" b="0" i="0" u="none" strike="noStrike" noProof="0">
                          <a:solidFill>
                            <a:srgbClr val="1B4528"/>
                          </a:solidFill>
                          <a:latin typeface="Inter"/>
                        </a:rPr>
                        <a:t>{{significant_material}}</a:t>
                      </a:r>
                      <a:endParaRPr lang="en-GB"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n-GB" sz="975" b="0" i="0" u="none" strike="noStrike" noProof="0" dirty="0">
                          <a:solidFill>
                            <a:srgbClr val="1B4528"/>
                          </a:solidFill>
                          <a:latin typeface="Inter"/>
                        </a:rPr>
                        <a:t>{{</a:t>
                      </a:r>
                      <a:r>
                        <a:rPr lang="en-GB" sz="975" b="0" i="0" u="none" strike="noStrike" noProof="0" dirty="0" err="1">
                          <a:solidFill>
                            <a:srgbClr val="1B4528"/>
                          </a:solidFill>
                          <a:latin typeface="Inter"/>
                        </a:rPr>
                        <a:t>significant_material_unit</a:t>
                      </a:r>
                      <a:r>
                        <a:rPr lang="en-GB" sz="975" b="0" i="0" u="none" strike="noStrike" noProof="0" dirty="0">
                          <a:solidFill>
                            <a:srgbClr val="1B4528"/>
                          </a:solidFill>
                          <a:latin typeface="Inter"/>
                        </a:rPr>
                        <a:t>}}</a:t>
                      </a:r>
                      <a:endParaRPr lang="en-GB"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Own workforce: General characteristics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737373"/>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518599">
                <a:tc>
                  <a:txBody>
                    <a:bodyPr/>
                    <a:lstStyle/>
                    <a:p>
                      <a:r>
                        <a:rPr lang="en-GB" sz="975" b="1" noProof="0">
                          <a:solidFill>
                            <a:schemeClr val="tx2"/>
                          </a:solidFill>
                        </a:rPr>
                        <a:t>Type of contract </a:t>
                      </a:r>
                      <a:r>
                        <a:rPr lang="en-GB" sz="975" b="0" noProof="0">
                          <a:solidFill>
                            <a:schemeClr val="tx2"/>
                          </a:solidFill>
                        </a:rPr>
                        <a:t>(para.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8939">
                <a:tc>
                  <a:txBody>
                    <a:bodyPr/>
                    <a:lstStyle/>
                    <a:p>
                      <a:r>
                        <a:rPr lang="en-GB" sz="975" b="0" noProof="0">
                          <a:solidFill>
                            <a:schemeClr val="tx2"/>
                          </a:solidFill>
                        </a:rPr>
                        <a:t>Temporary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{{temporary}}</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8939">
                <a:tc>
                  <a:txBody>
                    <a:bodyPr/>
                    <a:lstStyle/>
                    <a:p>
                      <a:r>
                        <a:rPr lang="en-GB" sz="975" b="0" noProof="0">
                          <a:solidFill>
                            <a:schemeClr val="tx2"/>
                          </a:solidFill>
                        </a:rPr>
                        <a:t>Permanent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{{fulltime}}</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8939">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n-GB" sz="975" b="1" noProof="0">
                          <a:solidFill>
                            <a:schemeClr val="tx2"/>
                          </a:solidFill>
                          <a:latin typeface="+mn-lt"/>
                        </a:rPr>
                        <a:t>Gender</a:t>
                      </a:r>
                      <a:r>
                        <a:rPr lang="en-GB" sz="975" b="0" noProof="0">
                          <a:solidFill>
                            <a:schemeClr val="tx2"/>
                          </a:solidFill>
                          <a:latin typeface="+mn-lt"/>
                        </a:rPr>
                        <a:t> (para.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latin typeface="+mn-lt"/>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latin typeface="+mn-lt"/>
                        </a:rPr>
                        <a:t>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latin typeface="+mn-lt"/>
                        </a:rPr>
                        <a:t>Female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{{women}}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n-GB" sz="975" b="0" noProof="0">
                          <a:solidFill>
                            <a:schemeClr val="tx2"/>
                          </a:solidFill>
                          <a:latin typeface="+mn-lt"/>
                        </a:rPr>
                        <a:t>Other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{{others}}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n-GB" sz="975" b="0" noProof="0">
                          <a:solidFill>
                            <a:schemeClr val="tx2"/>
                          </a:solidFill>
                          <a:latin typeface="+mn-lt"/>
                        </a:rPr>
                        <a:t>Not recorded</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{{not_registeret}}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n-GB" sz="975" b="0" noProof="0">
                          <a:solidFill>
                            <a:schemeClr val="tx2"/>
                          </a:solidFill>
                          <a:latin typeface="+mn-lt"/>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8</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n-GB" sz="975" b="0" i="0" u="none" strike="noStrike" noProof="0">
                <a:solidFill>
                  <a:srgbClr val="25595D"/>
                </a:solidFill>
                <a:effectLst/>
                <a:latin typeface="Inter"/>
              </a:rPr>
              <a:t>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lang="en-GB" sz="975" b="0" noProof="0">
              <a:effectLst/>
              <a:latin typeface="Inter"/>
            </a:endParaRPr>
          </a:p>
          <a:p>
            <a:pPr>
              <a:buNone/>
            </a:pPr>
            <a:br>
              <a:rPr lang="en-GB" sz="975" noProof="0">
                <a:latin typeface="Inter"/>
              </a:rPr>
            </a:br>
            <a:endParaRPr lang="en-GB"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n-GB" sz="975" b="1" noProof="0">
                          <a:solidFill>
                            <a:schemeClr val="tx2"/>
                          </a:solidFill>
                        </a:rPr>
                        <a:t>Country (where the employment contract was concluded) </a:t>
                      </a:r>
                      <a:r>
                        <a:rPr lang="en-GB" sz="975" b="0" noProof="0">
                          <a:solidFill>
                            <a:schemeClr val="tx2"/>
                          </a:solidFill>
                        </a:rPr>
                        <a:t>(para.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rPr>
                        <a:t>Denmark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{{Denmark}}</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en-GB" sz="975" b="0" i="0" u="none" strike="noStrike" noProof="0">
                          <a:solidFill>
                            <a:srgbClr val="1B4528"/>
                          </a:solidFill>
                          <a:effectLst/>
                          <a:latin typeface="Inter"/>
                        </a:rPr>
                        <a:t>{{Land_b}}</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a:t>
                      </a:r>
                      <a:r>
                        <a:rPr lang="en-GB" sz="975" b="0" i="0" u="none" strike="noStrike" noProof="0">
                          <a:solidFill>
                            <a:srgbClr val="1B4528"/>
                          </a:solidFill>
                          <a:effectLst/>
                        </a:rPr>
                        <a:t>FTE_eller_antal_personer_land_b</a:t>
                      </a:r>
                      <a:r>
                        <a:rPr lang="en-GB" sz="975" b="0" i="0" u="none" strike="noStrike" noProof="0">
                          <a:solidFill>
                            <a:srgbClr val="1B4528"/>
                          </a:solidFill>
                          <a:effectLst/>
                          <a:latin typeface="Inter"/>
                        </a:rPr>
                        <a: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{{Total_out_of_countries}}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Business conduct: Number of convictions and fines related to corruption &amp; bribery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n-GB" sz="975" b="1" noProof="0">
                          <a:solidFill>
                            <a:schemeClr val="tx2"/>
                          </a:solidFill>
                        </a:rPr>
                        <a:t>Corruption and bribery </a:t>
                      </a:r>
                      <a:r>
                        <a:rPr lang="en-GB" sz="975" b="0" noProof="0">
                          <a:solidFill>
                            <a:schemeClr val="tx2"/>
                          </a:solidFill>
                        </a:rPr>
                        <a:t>(para.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975" b="1" noProof="0">
                          <a:solidFill>
                            <a:schemeClr val="tx2"/>
                          </a:solidFill>
                        </a:rPr>
                        <a:t>Number of convictions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Total amount of fines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n-GB"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{{domme}}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{{samlet_bodestorrelse}}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9</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n-GB" sz="1475" b="1" noProof="0">
                <a:solidFill>
                  <a:srgbClr val="FFFFFF"/>
                </a:solidFill>
                <a:latin typeface="IBM Plex Sans" panose="020B0503050203000203" pitchFamily="34" charset="0"/>
              </a:rPr>
              <a:t>{{company_name}}</a:t>
            </a:r>
          </a:p>
          <a:p>
            <a:pPr algn="ctr"/>
            <a:r>
              <a:rPr lang="en-GB" sz="1475" b="1" noProof="0">
                <a:solidFill>
                  <a:srgbClr val="FFFFFF"/>
                </a:solidFill>
                <a:latin typeface="IBM Plex Sans" panose="020B0503050203000203" pitchFamily="34" charset="0"/>
              </a:rPr>
              <a:t>{{insert_year}}</a:t>
            </a:r>
            <a:br>
              <a:rPr lang="en-GB" sz="1475" b="1" noProof="0">
                <a:solidFill>
                  <a:srgbClr val="FFFFFF"/>
                </a:solidFill>
                <a:latin typeface="IBM Plex Sans" panose="020B0503050203000203" pitchFamily="34" charset="0"/>
              </a:rPr>
            </a:br>
            <a:endParaRPr lang="en-GB"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n-GB" noProof="0" smtClean="0"/>
              <a:pPr/>
              <a:t>19</a:t>
            </a:fld>
            <a:endParaRPr lang="en-GB"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Health and safety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Recordable work-related accidents </a:t>
                      </a:r>
                      <a:r>
                        <a:rPr lang="en-GB" sz="975" b="0" noProof="0">
                          <a:solidFill>
                            <a:schemeClr val="tx2"/>
                          </a:solidFill>
                        </a:rPr>
                        <a:t xml:space="preserve">(para.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en-GB" sz="975" b="0" noProof="0">
                          <a:solidFill>
                            <a:schemeClr val="tx2"/>
                          </a:solidFill>
                        </a:rPr>
                        <a:t xml:space="preserve">Number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1B4528"/>
                          </a:solidFill>
                          <a:effectLst/>
                          <a:uLnTx/>
                          <a:uFillTx/>
                          <a:latin typeface="Inter"/>
                          <a:ea typeface="+mn-ea"/>
                          <a:cs typeface="+mn-cs"/>
                        </a:rPr>
                        <a:t>{{</a:t>
                      </a:r>
                      <a:r>
                        <a:rPr lang="en-GB" sz="975" b="0" i="0" u="none" strike="noStrike" kern="1200" cap="none" spc="0" normalizeH="0" baseline="0" noProof="0">
                          <a:ln>
                            <a:noFill/>
                          </a:ln>
                          <a:solidFill>
                            <a:srgbClr val="1B4528"/>
                          </a:solidFill>
                          <a:effectLst/>
                          <a:uLnTx/>
                          <a:uFillTx/>
                          <a:latin typeface="Inter"/>
                        </a:rPr>
                        <a:t>indsat_antal_accidents</a:t>
                      </a:r>
                      <a:r>
                        <a:rPr lang="en-GB" sz="975" b="0" i="0" u="none" strike="noStrike" kern="1200" cap="none" spc="0" normalizeH="0" baseline="0" noProof="0">
                          <a:ln>
                            <a:noFill/>
                          </a:ln>
                          <a:solidFill>
                            <a:srgbClr val="1B4528"/>
                          </a:solidFill>
                          <a:effectLst/>
                          <a:uLnTx/>
                          <a:uFillTx/>
                          <a:latin typeface="Inter"/>
                          <a:ea typeface="+mn-ea"/>
                          <a:cs typeface="+mn-cs"/>
                        </a:rPr>
                        <a:t>}}</a:t>
                      </a:r>
                      <a:endParaRPr kumimoji="0" lang="en-GB"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en-GB" sz="975" b="0" noProof="0">
                          <a:solidFill>
                            <a:schemeClr val="tx2"/>
                          </a:solidFill>
                        </a:rPr>
                        <a:t xml:space="preserve">Rate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1B4528"/>
                          </a:solidFill>
                          <a:effectLst/>
                          <a:uLnTx/>
                          <a:uFillTx/>
                          <a:latin typeface="Inter"/>
                          <a:ea typeface="+mn-ea"/>
                          <a:cs typeface="+mn-cs"/>
                        </a:rPr>
                        <a:t>{{</a:t>
                      </a:r>
                      <a:r>
                        <a:rPr lang="en-GB" sz="975" b="0" i="0" u="none" strike="noStrike" kern="1200" cap="none" spc="0" normalizeH="0" baseline="0" noProof="0">
                          <a:ln>
                            <a:noFill/>
                          </a:ln>
                          <a:solidFill>
                            <a:srgbClr val="1B4528"/>
                          </a:solidFill>
                          <a:effectLst/>
                          <a:uLnTx/>
                          <a:uFillTx/>
                          <a:latin typeface="Inter"/>
                        </a:rPr>
                        <a:t>indsat_accidents_frequents</a:t>
                      </a:r>
                      <a:r>
                        <a:rPr lang="en-GB" sz="975" b="0" i="0" u="none" strike="noStrike" kern="1200" cap="none" spc="0" normalizeH="0" baseline="0" noProof="0">
                          <a:ln>
                            <a:noFill/>
                          </a:ln>
                          <a:solidFill>
                            <a:srgbClr val="1B4528"/>
                          </a:solidFill>
                          <a:effectLst/>
                          <a:uLnTx/>
                          <a:uFillTx/>
                          <a:latin typeface="Inter"/>
                          <a:ea typeface="+mn-ea"/>
                          <a:cs typeface="+mn-cs"/>
                        </a:rPr>
                        <a:t>}}</a:t>
                      </a:r>
                      <a:endParaRPr kumimoji="0" lang="en-GB"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Work-related fatalities </a:t>
                      </a:r>
                      <a:r>
                        <a:rPr lang="en-GB" sz="975" b="0" noProof="0">
                          <a:solidFill>
                            <a:schemeClr val="tx2"/>
                          </a:solidFill>
                        </a:rPr>
                        <a:t xml:space="preserve">(para.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en-GB" sz="975" b="0" noProof="0">
                          <a:solidFill>
                            <a:schemeClr val="tx2"/>
                          </a:solidFill>
                        </a:rPr>
                        <a:t xml:space="preserve">As a result of work-related injury/accident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en-GB" sz="975" b="0" i="0" u="none" strike="noStrike" kern="1200" cap="none" spc="0" normalizeH="0" baseline="0" noProof="0">
                          <a:ln>
                            <a:noFill/>
                          </a:ln>
                          <a:solidFill>
                            <a:srgbClr val="1B4528"/>
                          </a:solidFill>
                          <a:effectLst/>
                          <a:uLnTx/>
                          <a:uFillTx/>
                          <a:latin typeface="Inter"/>
                          <a:ea typeface="+mn-ea"/>
                          <a:cs typeface="+mn-cs"/>
                        </a:rPr>
                        <a:t>{{</a:t>
                      </a:r>
                      <a:r>
                        <a:rPr lang="en-GB" sz="975" b="0" i="0" u="none" strike="noStrike" kern="1200" cap="none" spc="0" normalizeH="0" baseline="0" noProof="0">
                          <a:ln>
                            <a:noFill/>
                          </a:ln>
                          <a:solidFill>
                            <a:srgbClr val="1B4528"/>
                          </a:solidFill>
                          <a:effectLst/>
                          <a:uLnTx/>
                          <a:uFillTx/>
                          <a:latin typeface="Inter"/>
                        </a:rPr>
                        <a:t>deaths_by_accidents</a:t>
                      </a:r>
                      <a:r>
                        <a:rPr lang="en-GB" sz="975" b="0" i="0" u="none" strike="noStrike" kern="1200" cap="none" spc="0" normalizeH="0" baseline="0" noProof="0">
                          <a:ln>
                            <a:noFill/>
                          </a:ln>
                          <a:solidFill>
                            <a:srgbClr val="1B4528"/>
                          </a:solidFill>
                          <a:effectLst/>
                          <a:uLnTx/>
                          <a:uFillTx/>
                          <a:latin typeface="Inter"/>
                          <a:ea typeface="+mn-ea"/>
                          <a:cs typeface="+mn-cs"/>
                        </a:rPr>
                        <a:t>}}</a:t>
                      </a:r>
                      <a:endParaRPr kumimoji="0" lang="en-GB"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en-GB" sz="975" b="0" noProof="0">
                          <a:solidFill>
                            <a:schemeClr val="tx2"/>
                          </a:solidFill>
                        </a:rPr>
                        <a:t xml:space="preserve">As a result of work-related ill health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1B4528"/>
                          </a:solidFill>
                          <a:effectLst/>
                          <a:uLnTx/>
                          <a:uFillTx/>
                          <a:latin typeface="Inter"/>
                          <a:ea typeface="+mn-ea"/>
                          <a:cs typeface="+mn-cs"/>
                        </a:rPr>
                        <a:t>{{</a:t>
                      </a:r>
                      <a:r>
                        <a:rPr lang="en-GB" sz="975" b="0" i="0" u="none" strike="noStrike" kern="1200" cap="none" spc="0" normalizeH="0" baseline="0" noProof="0">
                          <a:ln>
                            <a:noFill/>
                          </a:ln>
                          <a:solidFill>
                            <a:srgbClr val="1B4528"/>
                          </a:solidFill>
                          <a:effectLst/>
                          <a:uLnTx/>
                          <a:uFillTx/>
                          <a:latin typeface="Inter"/>
                        </a:rPr>
                        <a:t>deaths_by_health</a:t>
                      </a:r>
                      <a:r>
                        <a:rPr lang="en-GB" sz="975" b="0" i="0" u="none" strike="noStrike" kern="1200" cap="none" spc="0" normalizeH="0" baseline="0" noProof="0">
                          <a:ln>
                            <a:noFill/>
                          </a:ln>
                          <a:solidFill>
                            <a:srgbClr val="1B4528"/>
                          </a:solidFill>
                          <a:effectLst/>
                          <a:uLnTx/>
                          <a:uFillTx/>
                          <a:latin typeface="Inter"/>
                          <a:ea typeface="+mn-ea"/>
                          <a:cs typeface="+mn-cs"/>
                        </a:rPr>
                        <a:t>}}</a:t>
                      </a:r>
                      <a:endParaRPr kumimoji="0" lang="en-GB"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11</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en-GB" sz="975" b="0" i="0" u="none" strike="noStrike" noProof="0">
                <a:solidFill>
                  <a:schemeClr val="tx2"/>
                </a:solidFill>
                <a:effectLst/>
                <a:latin typeface="Inter"/>
              </a:rPr>
              <a:t xml:space="preserve">The undertaking has disclosed information on the number of recordable work-related accidents and work-related fatalities for the following breakdowns: number and rate. In addition, whether work-related fatalities are due to work-related injuries/accidents or ill health.</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 xml:space="preserve">Own workforce: Remuneration, collective bargaining and training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403568"/>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Pay gap between male and female employees </a:t>
                      </a:r>
                      <a:r>
                        <a:rPr lang="en-GB" sz="975" b="0" noProof="0">
                          <a:solidFill>
                            <a:schemeClr val="tx2"/>
                          </a:solidFill>
                        </a:rPr>
                        <a:t xml:space="preserve">(para.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rgbClr val="1B4528"/>
                          </a:solidFill>
                          <a:latin typeface="Calibri" panose="020F0502020204030204" pitchFamily="34" charset="0"/>
                          <a:cs typeface="Calibri" panose="020F0502020204030204" pitchFamily="34" charset="0"/>
                        </a:rPr>
                        <a:t> </a:t>
                      </a:r>
                      <a:r>
                        <a:rPr lang="en-GB" sz="975" b="1" noProof="0">
                          <a:solidFill>
                            <a:srgbClr val="1B4528"/>
                          </a:solidFill>
                        </a:rPr>
                        <a:t>{{</a:t>
                      </a:r>
                      <a:r>
                        <a:rPr lang="en-GB" sz="975" b="1" noProof="0">
                          <a:solidFill>
                            <a:srgbClr val="1B4528"/>
                          </a:solidFill>
                        </a:rPr>
                        <a:t>insert_year</a:t>
                      </a:r>
                      <a:r>
                        <a:rPr lang="en-GB" sz="975" b="1"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975" b="0" noProof="0">
                          <a:solidFill>
                            <a:srgbClr val="1B4528"/>
                          </a:solidFill>
                        </a:rPr>
                        <a:t>{{</a:t>
                      </a:r>
                      <a:r>
                        <a:rPr lang="en-GB" sz="975" b="0" noProof="0">
                          <a:solidFill>
                            <a:srgbClr val="1B4528"/>
                          </a:solidFill>
                        </a:rPr>
                        <a:t>indsat_procentvise_lonforskel</a:t>
                      </a:r>
                      <a:r>
                        <a:rPr lang="en-GB"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403571"/>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88378">
                <a:tc>
                  <a:txBody>
                    <a:bodyPr/>
                    <a:lstStyle/>
                    <a:p>
                      <a:r>
                        <a:rPr lang="en-GB" sz="975" b="1" noProof="0">
                          <a:solidFill>
                            <a:schemeClr val="tx2"/>
                          </a:solidFill>
                        </a:rPr>
                        <a:t xml:space="preserve">Information on minimum wage </a:t>
                      </a:r>
                      <a:r>
                        <a:rPr lang="en-GB"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 xml:space="preserve">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 xml:space="preserve">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9942">
                <a:tc>
                  <a:txBody>
                    <a:bodyPr/>
                    <a:lstStyle/>
                    <a:p>
                      <a:r>
                        <a:rPr lang="en-GB" sz="975" b="0" noProof="0">
                          <a:solidFill>
                            <a:schemeClr val="tx2"/>
                          </a:solidFill>
                        </a:rPr>
                        <a:t xml:space="preserve">In the undertaking, all employees receive pay that is at least equal to the minimum wage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a:t>
                      </a:r>
                      <a:r>
                        <a:rPr lang="en-GB" sz="975" b="0" i="0" u="none" strike="noStrike" noProof="0">
                          <a:solidFill>
                            <a:srgbClr val="1B4528"/>
                          </a:solidFill>
                          <a:effectLst/>
                          <a:latin typeface="Inter"/>
                        </a:rPr>
                        <a:t>minumum_wage_yes</a:t>
                      </a:r>
                      <a:r>
                        <a:rPr lang="en-GB" sz="975" b="0" i="0" u="none" strike="noStrike" noProof="0">
                          <a:solidFill>
                            <a:srgbClr val="1B4528"/>
                          </a:solidFill>
                          <a:effectLst/>
                          <a:latin typeface="Inter"/>
                        </a:rPr>
                        <a: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a:t>
                      </a:r>
                      <a:r>
                        <a:rPr lang="en-GB" sz="975" b="0" i="0" u="none" strike="noStrike" noProof="0">
                          <a:solidFill>
                            <a:srgbClr val="1B4528"/>
                          </a:solidFill>
                          <a:effectLst/>
                          <a:latin typeface="Inter"/>
                        </a:rPr>
                        <a:t>minimum_wage_no</a:t>
                      </a:r>
                      <a:r>
                        <a:rPr lang="en-GB" sz="975" b="0" i="0" u="none" strike="noStrike" noProof="0">
                          <a:solidFill>
                            <a:srgbClr val="1B4528"/>
                          </a:solidFill>
                          <a:effectLst/>
                          <a:latin typeface="Inter"/>
                        </a:rPr>
                        <a: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899672"/>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Collective bargaining agreement </a:t>
                      </a:r>
                      <a:r>
                        <a:rPr lang="en-GB" sz="975" b="0" noProof="0">
                          <a:solidFill>
                            <a:schemeClr val="tx2"/>
                          </a:solidFill>
                        </a:rPr>
                        <a:t xml:space="preserve">(para.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rgbClr val="1B4528"/>
                          </a:solidFill>
                          <a:latin typeface="Calibri" panose="020F0502020204030204" pitchFamily="34" charset="0"/>
                          <a:cs typeface="Calibri" panose="020F0502020204030204" pitchFamily="34" charset="0"/>
                        </a:rPr>
                        <a:t> {{</a:t>
                      </a:r>
                      <a:r>
                        <a:rPr lang="en-GB" sz="975" b="1" noProof="0">
                          <a:solidFill>
                            <a:srgbClr val="1B4528"/>
                          </a:solidFill>
                          <a:latin typeface="Calibri" panose="020F0502020204030204" pitchFamily="34" charset="0"/>
                          <a:cs typeface="Calibri" panose="020F0502020204030204" pitchFamily="34" charset="0"/>
                        </a:rPr>
                        <a:t>insert_year</a:t>
                      </a:r>
                      <a:r>
                        <a:rPr lang="en-GB" sz="975" b="1" noProof="0">
                          <a:solidFill>
                            <a:srgbClr val="1B4528"/>
                          </a:solidFill>
                          <a:latin typeface="Calibri" panose="020F0502020204030204" pitchFamily="34" charset="0"/>
                          <a:cs typeface="Calibri" panose="020F0502020204030204" pitchFamily="34" charset="0"/>
                        </a:rPr>
                        <a:t>}}</a:t>
                      </a:r>
                      <a:endParaRPr lang="en-GB"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a:solidFill>
                            <a:schemeClr val="tx2"/>
                          </a:solidFill>
                        </a:rPr>
                        <a:t xml:space="preserve">Percentage of employees covered by a collective bargaining agreement</a:t>
                      </a:r>
                      <a:endParaRPr kumimoji="0" lang="en-GB"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a:ln>
                            <a:noFill/>
                          </a:ln>
                          <a:solidFill>
                            <a:srgbClr val="1B4528"/>
                          </a:solidFill>
                          <a:effectLst/>
                          <a:uLnTx/>
                          <a:uFillTx/>
                          <a:latin typeface="+mn-lt"/>
                          <a:ea typeface="+mn-ea"/>
                          <a:cs typeface="+mn-cs"/>
                        </a:rPr>
                        <a:t>{{</a:t>
                      </a:r>
                      <a:r>
                        <a:rPr kumimoji="0" lang="en-GB" sz="975" b="0" i="0" u="none" strike="noStrike" kern="1200" cap="none" spc="0" normalizeH="0" baseline="0" noProof="0">
                          <a:ln>
                            <a:noFill/>
                          </a:ln>
                          <a:solidFill>
                            <a:srgbClr val="1B4528"/>
                          </a:solidFill>
                          <a:effectLst/>
                          <a:uLnTx/>
                          <a:uFillTx/>
                          <a:latin typeface="+mn-lt"/>
                          <a:ea typeface="+mn-ea"/>
                          <a:cs typeface="+mn-cs"/>
                        </a:rPr>
                        <a:t>indsat_procentvis_ansatte</a:t>
                      </a:r>
                      <a:r>
                        <a:rPr kumimoji="0" lang="en-GB" sz="975"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899671"/>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en-GB" sz="975" b="1" noProof="0">
                          <a:solidFill>
                            <a:schemeClr val="tx2"/>
                          </a:solidFill>
                        </a:rPr>
                        <a:t xml:space="preserve">Average training hours per employee </a:t>
                      </a:r>
                      <a:r>
                        <a:rPr lang="en-GB" sz="975" b="0" noProof="0">
                          <a:solidFill>
                            <a:schemeClr val="tx2"/>
                          </a:solidFill>
                        </a:rPr>
                        <a:t xml:space="preserve">(para.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n-GB" sz="975" b="0" noProof="0">
                          <a:solidFill>
                            <a:schemeClr val="tx2"/>
                          </a:solidFill>
                        </a:rPr>
                        <a:t xml:space="preserve">Hour(s) per employee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{{gennemsnitstimer}}</a:t>
                      </a:r>
                      <a:endParaRPr lang="en-GB"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28183"/>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 xml:space="preserve">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