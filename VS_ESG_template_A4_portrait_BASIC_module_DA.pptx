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10691800" cx="7559675"/>
  <p:notesSz cx="6858000" cy="9144000"/>
  <p:embeddedFontLst>
    <p:embeddedFont>
      <p:font typeface="IBM Plex Sans"/>
      <p:regular r:id="rId18"/>
      <p:bold r:id="rId19"/>
      <p:italic r:id="rId20"/>
      <p:boldItalic r:id="rId21"/>
    </p:embeddedFont>
    <p:embeddedFont>
      <p:font typeface="Int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6" roundtripDataSignature="AMtx7mh9rOfg/Or/TSpseKBJPIB/WPM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686DB3-B821-445C-B3A6-515973651C61}">
  <a:tblStyle styleId="{E5686DB3-B821-445C-B3A6-515973651C61}"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font" Target="fonts/IBMPlexSans-italic.fntdata"/><Relationship Id="rId22" Type="http://schemas.openxmlformats.org/officeDocument/2006/relationships/font" Target="fonts/Inter-regular.fntdata"/><Relationship Id="rId21" Type="http://schemas.openxmlformats.org/officeDocument/2006/relationships/font" Target="fonts/IBMPlexSans-boldItalic.fntdata"/><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IBMPlexSans-bold.fntdata"/><Relationship Id="rId18" Type="http://schemas.openxmlformats.org/officeDocument/2006/relationships/font" Target="fonts/IBMPlex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a-DK"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{{documents_B2}}</a:t>
            </a:r>
            <a:endParaRPr/>
          </a:p>
          <a:p>
            <a:pPr indent="0" lvl="0" marL="0" rtl="0" algn="l">
              <a:spcBef>
                <a:spcPts val="0"/>
              </a:spcBef>
              <a:spcAft>
                <a:spcPts val="0"/>
              </a:spcAft>
              <a:buNone/>
            </a:pPr>
            <a:r>
              <a:rPr b="0" i="0" lang="da-DK" sz="1200" u="none" strike="noStrike">
                <a:solidFill>
                  <a:schemeClr val="dk1"/>
                </a:solidFill>
                <a:latin typeface="IBM Plex Sans"/>
                <a:ea typeface="IBM Plex Sans"/>
                <a:cs typeface="IBM Plex Sans"/>
                <a:sym typeface="IBM Plex Sans"/>
              </a:rPr>
              <a:t>Tilføjet: kolonne om monitorering</a:t>
            </a:r>
            <a:endParaRPr/>
          </a:p>
        </p:txBody>
      </p:sp>
      <p:sp>
        <p:nvSpPr>
          <p:cNvPr id="78" name="Google Shape;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{{Insert_CO2e_intensity}}</a:t>
            </a:r>
            <a:endParaRPr b="0"/>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{{uploaded_documents_B4}}</a:t>
            </a:r>
            <a:endParaRPr b="0"/>
          </a:p>
        </p:txBody>
      </p:sp>
      <p:sp>
        <p:nvSpPr>
          <p:cNvPr id="100" name="Google Shape;1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{{omsatningsrate}}</a:t>
            </a:r>
            <a:endParaRPr b="0"/>
          </a:p>
        </p:txBody>
      </p:sp>
      <p:sp>
        <p:nvSpPr>
          <p:cNvPr id="132" name="Google Shape;13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3"/>
          <p:cNvSpPr txBox="1"/>
          <p:nvPr/>
        </p:nvSpPr>
        <p:spPr>
          <a:xfrm>
            <a:off x="365760" y="2537424"/>
            <a:ext cx="6828155" cy="222834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da-DK" sz="12900" u="none" cap="none" strike="noStrike">
                <a:solidFill>
                  <a:srgbClr val="FFFFFF"/>
                </a:solidFill>
                <a:latin typeface="IBM Plex Sans"/>
                <a:ea typeface="IBM Plex Sans"/>
                <a:cs typeface="IBM Plex Sans"/>
                <a:sym typeface="IBM Plex Sans"/>
              </a:rPr>
              <a:t>ESG</a:t>
            </a:r>
            <a:endParaRPr b="1" i="0" sz="12900" u="none" cap="none" strike="noStrike">
              <a:solidFill>
                <a:schemeClr val="dk1"/>
              </a:solidFill>
              <a:latin typeface="IBM Plex Sans"/>
              <a:ea typeface="IBM Plex Sans"/>
              <a:cs typeface="IBM Plex Sans"/>
              <a:sym typeface="IBM Plex Sans"/>
            </a:endParaRPr>
          </a:p>
        </p:txBody>
      </p:sp>
      <p:sp>
        <p:nvSpPr>
          <p:cNvPr id="17" name="Google Shape;17;p13"/>
          <p:cNvSpPr txBox="1"/>
          <p:nvPr>
            <p:ph idx="11" type="ftr"/>
          </p:nvPr>
        </p:nvSpPr>
        <p:spPr>
          <a:xfrm>
            <a:off x="2184109" y="6707538"/>
            <a:ext cx="3052354" cy="234336"/>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15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3"/>
          <p:cNvSpPr txBox="1"/>
          <p:nvPr>
            <p:ph type="title"/>
          </p:nvPr>
        </p:nvSpPr>
        <p:spPr>
          <a:xfrm>
            <a:off x="754701" y="6237584"/>
            <a:ext cx="5915802" cy="152274"/>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900"/>
              <a:buFont typeface="IBM Plex Sans"/>
              <a:buNone/>
              <a:defRPr sz="9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19" name="Shape 19"/>
        <p:cNvGrpSpPr/>
        <p:nvPr/>
      </p:nvGrpSpPr>
      <p:grpSpPr>
        <a:xfrm>
          <a:off x="0" y="0"/>
          <a:ext cx="0" cy="0"/>
          <a:chOff x="0" y="0"/>
          <a:chExt cx="0" cy="0"/>
        </a:xfrm>
      </p:grpSpPr>
      <p:sp>
        <p:nvSpPr>
          <p:cNvPr id="20" name="Google Shape;20;p14"/>
          <p:cNvSpPr txBox="1"/>
          <p:nvPr>
            <p:ph idx="1" type="body"/>
          </p:nvPr>
        </p:nvSpPr>
        <p:spPr>
          <a:xfrm>
            <a:off x="423975" y="1381944"/>
            <a:ext cx="2687561" cy="4470221"/>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725"/>
              <a:buNone/>
              <a:defRPr sz="725">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417"/>
              </a:spcBef>
              <a:spcAft>
                <a:spcPts val="0"/>
              </a:spcAft>
              <a:buClr>
                <a:schemeClr val="dk1"/>
              </a:buClr>
              <a:buSzPts val="1800"/>
              <a:buChar char="•"/>
              <a:defRPr/>
            </a:lvl6pPr>
            <a:lvl7pPr indent="-342900" lvl="6" marL="3200400" algn="l">
              <a:lnSpc>
                <a:spcPct val="90000"/>
              </a:lnSpc>
              <a:spcBef>
                <a:spcPts val="417"/>
              </a:spcBef>
              <a:spcAft>
                <a:spcPts val="0"/>
              </a:spcAft>
              <a:buClr>
                <a:schemeClr val="dk1"/>
              </a:buClr>
              <a:buSzPts val="1800"/>
              <a:buChar char="•"/>
              <a:defRPr/>
            </a:lvl7pPr>
            <a:lvl8pPr indent="-342900" lvl="7" marL="3657600" algn="l">
              <a:lnSpc>
                <a:spcPct val="90000"/>
              </a:lnSpc>
              <a:spcBef>
                <a:spcPts val="417"/>
              </a:spcBef>
              <a:spcAft>
                <a:spcPts val="0"/>
              </a:spcAft>
              <a:buClr>
                <a:schemeClr val="dk1"/>
              </a:buClr>
              <a:buSzPts val="1800"/>
              <a:buChar char="•"/>
              <a:defRPr/>
            </a:lvl8pPr>
            <a:lvl9pPr indent="-342900" lvl="8" marL="4114800" algn="l">
              <a:lnSpc>
                <a:spcPct val="90000"/>
              </a:lnSpc>
              <a:spcBef>
                <a:spcPts val="417"/>
              </a:spcBef>
              <a:spcAft>
                <a:spcPts val="0"/>
              </a:spcAft>
              <a:buClr>
                <a:schemeClr val="dk1"/>
              </a:buClr>
              <a:buSzPts val="1800"/>
              <a:buChar char="•"/>
              <a:defRPr/>
            </a:lvl9pPr>
          </a:lstStyle>
          <a:p/>
        </p:txBody>
      </p:sp>
      <p:sp>
        <p:nvSpPr>
          <p:cNvPr id="21" name="Google Shape;21;p14"/>
          <p:cNvSpPr txBox="1"/>
          <p:nvPr>
            <p:ph idx="2" type="body"/>
          </p:nvPr>
        </p:nvSpPr>
        <p:spPr>
          <a:xfrm>
            <a:off x="3934311" y="1374025"/>
            <a:ext cx="2687561" cy="4470220"/>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725"/>
              <a:buNone/>
              <a:defRPr sz="725">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417"/>
              </a:spcBef>
              <a:spcAft>
                <a:spcPts val="0"/>
              </a:spcAft>
              <a:buClr>
                <a:schemeClr val="dk1"/>
              </a:buClr>
              <a:buSzPts val="1800"/>
              <a:buChar char="•"/>
              <a:defRPr/>
            </a:lvl6pPr>
            <a:lvl7pPr indent="-342900" lvl="6" marL="3200400" algn="l">
              <a:lnSpc>
                <a:spcPct val="90000"/>
              </a:lnSpc>
              <a:spcBef>
                <a:spcPts val="417"/>
              </a:spcBef>
              <a:spcAft>
                <a:spcPts val="0"/>
              </a:spcAft>
              <a:buClr>
                <a:schemeClr val="dk1"/>
              </a:buClr>
              <a:buSzPts val="1800"/>
              <a:buChar char="•"/>
              <a:defRPr/>
            </a:lvl7pPr>
            <a:lvl8pPr indent="-342900" lvl="7" marL="3657600" algn="l">
              <a:lnSpc>
                <a:spcPct val="90000"/>
              </a:lnSpc>
              <a:spcBef>
                <a:spcPts val="417"/>
              </a:spcBef>
              <a:spcAft>
                <a:spcPts val="0"/>
              </a:spcAft>
              <a:buClr>
                <a:schemeClr val="dk1"/>
              </a:buClr>
              <a:buSzPts val="1800"/>
              <a:buChar char="•"/>
              <a:defRPr/>
            </a:lvl8pPr>
            <a:lvl9pPr indent="-342900" lvl="8" marL="4114800" algn="l">
              <a:lnSpc>
                <a:spcPct val="90000"/>
              </a:lnSpc>
              <a:spcBef>
                <a:spcPts val="417"/>
              </a:spcBef>
              <a:spcAft>
                <a:spcPts val="0"/>
              </a:spcAft>
              <a:buClr>
                <a:schemeClr val="dk1"/>
              </a:buClr>
              <a:buSzPts val="1800"/>
              <a:buChar char="•"/>
              <a:defRPr/>
            </a:lvl9pPr>
          </a:lstStyle>
          <a:p/>
        </p:txBody>
      </p:sp>
      <p:sp>
        <p:nvSpPr>
          <p:cNvPr id="22" name="Google Shape;22;p14"/>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a-DK"/>
              <a:t>‹#›</a:t>
            </a:fld>
            <a:endParaRPr/>
          </a:p>
        </p:txBody>
      </p:sp>
      <p:sp>
        <p:nvSpPr>
          <p:cNvPr id="24" name="Google Shape;24;p14"/>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 name="Shape 25"/>
        <p:cNvGrpSpPr/>
        <p:nvPr/>
      </p:nvGrpSpPr>
      <p:grpSpPr>
        <a:xfrm>
          <a:off x="0" y="0"/>
          <a:ext cx="0" cy="0"/>
          <a:chOff x="0" y="0"/>
          <a:chExt cx="0" cy="0"/>
        </a:xfrm>
      </p:grpSpPr>
      <p:sp>
        <p:nvSpPr>
          <p:cNvPr id="26" name="Google Shape;26;p15"/>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0" type="dt"/>
          </p:nvPr>
        </p:nvSpPr>
        <p:spPr>
          <a:xfrm>
            <a:off x="276685" y="10152285"/>
            <a:ext cx="1617485" cy="12823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0" name="Shape 30"/>
        <p:cNvGrpSpPr/>
        <p:nvPr/>
      </p:nvGrpSpPr>
      <p:grpSpPr>
        <a:xfrm>
          <a:off x="0" y="0"/>
          <a:ext cx="0" cy="0"/>
          <a:chOff x="0" y="0"/>
          <a:chExt cx="0" cy="0"/>
        </a:xfrm>
      </p:grpSpPr>
      <p:sp>
        <p:nvSpPr>
          <p:cNvPr id="31" name="Google Shape;31;p16"/>
          <p:cNvSpPr txBox="1"/>
          <p:nvPr>
            <p:ph idx="1" type="body"/>
          </p:nvPr>
        </p:nvSpPr>
        <p:spPr>
          <a:xfrm>
            <a:off x="754701" y="2186263"/>
            <a:ext cx="5915802" cy="1217034"/>
          </a:xfrm>
          <a:prstGeom prst="rect">
            <a:avLst/>
          </a:prstGeom>
          <a:solidFill>
            <a:srgbClr val="1B4529"/>
          </a:solidFill>
          <a:ln>
            <a:noFill/>
          </a:ln>
        </p:spPr>
        <p:txBody>
          <a:bodyPr anchorCtr="0" anchor="t" bIns="0" lIns="0" spcFirstLastPara="1" rIns="0" wrap="square" tIns="0">
            <a:normAutofit/>
          </a:bodyPr>
          <a:lstStyle>
            <a:lvl1pPr indent="-228600" lvl="0" marL="457200" algn="l">
              <a:lnSpc>
                <a:spcPct val="100000"/>
              </a:lnSpc>
              <a:spcBef>
                <a:spcPts val="167"/>
              </a:spcBef>
              <a:spcAft>
                <a:spcPts val="0"/>
              </a:spcAft>
              <a:buClr>
                <a:schemeClr val="lt1"/>
              </a:buClr>
              <a:buSzPts val="900"/>
              <a:buFont typeface="IBM Plex Sans"/>
              <a:buNone/>
              <a:defRPr sz="900">
                <a:solidFill>
                  <a:schemeClr val="lt1"/>
                </a:solidFill>
              </a:defRPr>
            </a:lvl1pPr>
            <a:lvl2pPr indent="-228600" lvl="1" marL="914400" algn="l">
              <a:lnSpc>
                <a:spcPct val="106000"/>
              </a:lnSpc>
              <a:spcBef>
                <a:spcPts val="0"/>
              </a:spcBef>
              <a:spcAft>
                <a:spcPts val="0"/>
              </a:spcAft>
              <a:buClr>
                <a:schemeClr val="lt1"/>
              </a:buClr>
              <a:buSzPts val="900"/>
              <a:buFont typeface="IBM Plex Sans"/>
              <a:buNone/>
              <a:defRPr sz="900">
                <a:solidFill>
                  <a:schemeClr val="lt1"/>
                </a:solidFill>
              </a:defRPr>
            </a:lvl2pPr>
            <a:lvl3pPr indent="-285750" lvl="2" marL="1371600" algn="l">
              <a:lnSpc>
                <a:spcPct val="106000"/>
              </a:lnSpc>
              <a:spcBef>
                <a:spcPts val="0"/>
              </a:spcBef>
              <a:spcAft>
                <a:spcPts val="0"/>
              </a:spcAft>
              <a:buClr>
                <a:schemeClr val="lt1"/>
              </a:buClr>
              <a:buSzPts val="900"/>
              <a:buChar char="•"/>
              <a:defRPr sz="900">
                <a:solidFill>
                  <a:schemeClr val="lt1"/>
                </a:solidFill>
              </a:defRPr>
            </a:lvl3pPr>
            <a:lvl4pPr indent="-285750" lvl="3" marL="1828800" algn="l">
              <a:lnSpc>
                <a:spcPct val="106000"/>
              </a:lnSpc>
              <a:spcBef>
                <a:spcPts val="0"/>
              </a:spcBef>
              <a:spcAft>
                <a:spcPts val="0"/>
              </a:spcAft>
              <a:buClr>
                <a:schemeClr val="lt1"/>
              </a:buClr>
              <a:buSzPts val="900"/>
              <a:buChar char="•"/>
              <a:defRPr sz="900">
                <a:solidFill>
                  <a:schemeClr val="lt1"/>
                </a:solidFill>
              </a:defRPr>
            </a:lvl4pPr>
            <a:lvl5pPr indent="-285750" lvl="4" marL="2286000" algn="l">
              <a:lnSpc>
                <a:spcPct val="106000"/>
              </a:lnSpc>
              <a:spcBef>
                <a:spcPts val="0"/>
              </a:spcBef>
              <a:spcAft>
                <a:spcPts val="0"/>
              </a:spcAft>
              <a:buClr>
                <a:schemeClr val="lt1"/>
              </a:buClr>
              <a:buSzPts val="900"/>
              <a:buChar char="•"/>
              <a:defRPr sz="900">
                <a:solidFill>
                  <a:schemeClr val="lt1"/>
                </a:solidFill>
              </a:defRPr>
            </a:lvl5pPr>
            <a:lvl6pPr indent="-342900" lvl="5" marL="2743200" algn="l">
              <a:lnSpc>
                <a:spcPct val="90000"/>
              </a:lnSpc>
              <a:spcBef>
                <a:spcPts val="417"/>
              </a:spcBef>
              <a:spcAft>
                <a:spcPts val="0"/>
              </a:spcAft>
              <a:buClr>
                <a:schemeClr val="dk1"/>
              </a:buClr>
              <a:buSzPts val="1800"/>
              <a:buChar char="•"/>
              <a:defRPr/>
            </a:lvl6pPr>
            <a:lvl7pPr indent="-342900" lvl="6" marL="3200400" algn="l">
              <a:lnSpc>
                <a:spcPct val="90000"/>
              </a:lnSpc>
              <a:spcBef>
                <a:spcPts val="417"/>
              </a:spcBef>
              <a:spcAft>
                <a:spcPts val="0"/>
              </a:spcAft>
              <a:buClr>
                <a:schemeClr val="dk1"/>
              </a:buClr>
              <a:buSzPts val="1800"/>
              <a:buChar char="•"/>
              <a:defRPr/>
            </a:lvl7pPr>
            <a:lvl8pPr indent="-342900" lvl="7" marL="3657600" algn="l">
              <a:lnSpc>
                <a:spcPct val="90000"/>
              </a:lnSpc>
              <a:spcBef>
                <a:spcPts val="417"/>
              </a:spcBef>
              <a:spcAft>
                <a:spcPts val="0"/>
              </a:spcAft>
              <a:buClr>
                <a:schemeClr val="dk1"/>
              </a:buClr>
              <a:buSzPts val="1800"/>
              <a:buChar char="•"/>
              <a:defRPr/>
            </a:lvl8pPr>
            <a:lvl9pPr indent="-342900" lvl="8" marL="4114800" algn="l">
              <a:lnSpc>
                <a:spcPct val="90000"/>
              </a:lnSpc>
              <a:spcBef>
                <a:spcPts val="417"/>
              </a:spcBef>
              <a:spcAft>
                <a:spcPts val="0"/>
              </a:spcAft>
              <a:buClr>
                <a:schemeClr val="dk1"/>
              </a:buClr>
              <a:buSzPts val="1800"/>
              <a:buChar char="•"/>
              <a:defRPr/>
            </a:lvl9pPr>
          </a:lstStyle>
          <a:p/>
        </p:txBody>
      </p:sp>
      <p:sp>
        <p:nvSpPr>
          <p:cNvPr id="32" name="Google Shape;32;p16"/>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475"/>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6"/>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lvl1pPr indent="0" lvl="0" marL="0" algn="r">
              <a:spcBef>
                <a:spcPts val="0"/>
              </a:spcBef>
              <a:buNone/>
              <a:defRPr sz="825">
                <a:solidFill>
                  <a:schemeClr val="lt1"/>
                </a:solidFill>
                <a:latin typeface="IBM Plex Sans"/>
                <a:ea typeface="IBM Plex Sans"/>
                <a:cs typeface="IBM Plex Sans"/>
                <a:sym typeface="IBM Plex Sans"/>
              </a:defRPr>
            </a:lvl1pPr>
            <a:lvl2pPr indent="0" lvl="1" marL="0" algn="r">
              <a:spcBef>
                <a:spcPts val="0"/>
              </a:spcBef>
              <a:buNone/>
              <a:defRPr sz="825">
                <a:solidFill>
                  <a:schemeClr val="lt1"/>
                </a:solidFill>
                <a:latin typeface="IBM Plex Sans"/>
                <a:ea typeface="IBM Plex Sans"/>
                <a:cs typeface="IBM Plex Sans"/>
                <a:sym typeface="IBM Plex Sans"/>
              </a:defRPr>
            </a:lvl2pPr>
            <a:lvl3pPr indent="0" lvl="2" marL="0" algn="r">
              <a:spcBef>
                <a:spcPts val="0"/>
              </a:spcBef>
              <a:buNone/>
              <a:defRPr sz="825">
                <a:solidFill>
                  <a:schemeClr val="lt1"/>
                </a:solidFill>
                <a:latin typeface="IBM Plex Sans"/>
                <a:ea typeface="IBM Plex Sans"/>
                <a:cs typeface="IBM Plex Sans"/>
                <a:sym typeface="IBM Plex Sans"/>
              </a:defRPr>
            </a:lvl3pPr>
            <a:lvl4pPr indent="0" lvl="3" marL="0" algn="r">
              <a:spcBef>
                <a:spcPts val="0"/>
              </a:spcBef>
              <a:buNone/>
              <a:defRPr sz="825">
                <a:solidFill>
                  <a:schemeClr val="lt1"/>
                </a:solidFill>
                <a:latin typeface="IBM Plex Sans"/>
                <a:ea typeface="IBM Plex Sans"/>
                <a:cs typeface="IBM Plex Sans"/>
                <a:sym typeface="IBM Plex Sans"/>
              </a:defRPr>
            </a:lvl4pPr>
            <a:lvl5pPr indent="0" lvl="4" marL="0" algn="r">
              <a:spcBef>
                <a:spcPts val="0"/>
              </a:spcBef>
              <a:buNone/>
              <a:defRPr sz="825">
                <a:solidFill>
                  <a:schemeClr val="lt1"/>
                </a:solidFill>
                <a:latin typeface="IBM Plex Sans"/>
                <a:ea typeface="IBM Plex Sans"/>
                <a:cs typeface="IBM Plex Sans"/>
                <a:sym typeface="IBM Plex Sans"/>
              </a:defRPr>
            </a:lvl5pPr>
            <a:lvl6pPr indent="0" lvl="5" marL="0" algn="r">
              <a:spcBef>
                <a:spcPts val="0"/>
              </a:spcBef>
              <a:buNone/>
              <a:defRPr sz="825">
                <a:solidFill>
                  <a:schemeClr val="lt1"/>
                </a:solidFill>
                <a:latin typeface="IBM Plex Sans"/>
                <a:ea typeface="IBM Plex Sans"/>
                <a:cs typeface="IBM Plex Sans"/>
                <a:sym typeface="IBM Plex Sans"/>
              </a:defRPr>
            </a:lvl6pPr>
            <a:lvl7pPr indent="0" lvl="6" marL="0" algn="r">
              <a:spcBef>
                <a:spcPts val="0"/>
              </a:spcBef>
              <a:buNone/>
              <a:defRPr sz="825">
                <a:solidFill>
                  <a:schemeClr val="lt1"/>
                </a:solidFill>
                <a:latin typeface="IBM Plex Sans"/>
                <a:ea typeface="IBM Plex Sans"/>
                <a:cs typeface="IBM Plex Sans"/>
                <a:sym typeface="IBM Plex Sans"/>
              </a:defRPr>
            </a:lvl7pPr>
            <a:lvl8pPr indent="0" lvl="7" marL="0" algn="r">
              <a:spcBef>
                <a:spcPts val="0"/>
              </a:spcBef>
              <a:buNone/>
              <a:defRPr sz="825">
                <a:solidFill>
                  <a:schemeClr val="lt1"/>
                </a:solidFill>
                <a:latin typeface="IBM Plex Sans"/>
                <a:ea typeface="IBM Plex Sans"/>
                <a:cs typeface="IBM Plex Sans"/>
                <a:sym typeface="IBM Plex Sans"/>
              </a:defRPr>
            </a:lvl8pPr>
            <a:lvl9pPr indent="0" lvl="8" marL="0" algn="r">
              <a:spcBef>
                <a:spcPts val="0"/>
              </a:spcBef>
              <a:buNone/>
              <a:defRPr sz="825">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35" name="Shape 35"/>
        <p:cNvGrpSpPr/>
        <p:nvPr/>
      </p:nvGrpSpPr>
      <p:grpSpPr>
        <a:xfrm>
          <a:off x="0" y="0"/>
          <a:ext cx="0" cy="0"/>
          <a:chOff x="0" y="0"/>
          <a:chExt cx="0" cy="0"/>
        </a:xfrm>
      </p:grpSpPr>
      <p:sp>
        <p:nvSpPr>
          <p:cNvPr id="36" name="Google Shape;36;p17"/>
          <p:cNvSpPr txBox="1"/>
          <p:nvPr>
            <p:ph idx="1" type="body"/>
          </p:nvPr>
        </p:nvSpPr>
        <p:spPr>
          <a:xfrm>
            <a:off x="417725" y="1422386"/>
            <a:ext cx="2071467" cy="4440060"/>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725"/>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417"/>
              </a:spcBef>
              <a:spcAft>
                <a:spcPts val="0"/>
              </a:spcAft>
              <a:buClr>
                <a:schemeClr val="dk1"/>
              </a:buClr>
              <a:buSzPts val="1800"/>
              <a:buChar char="•"/>
              <a:defRPr/>
            </a:lvl6pPr>
            <a:lvl7pPr indent="-342900" lvl="6" marL="3200400" algn="l">
              <a:lnSpc>
                <a:spcPct val="90000"/>
              </a:lnSpc>
              <a:spcBef>
                <a:spcPts val="417"/>
              </a:spcBef>
              <a:spcAft>
                <a:spcPts val="0"/>
              </a:spcAft>
              <a:buClr>
                <a:schemeClr val="dk1"/>
              </a:buClr>
              <a:buSzPts val="1800"/>
              <a:buChar char="•"/>
              <a:defRPr/>
            </a:lvl7pPr>
            <a:lvl8pPr indent="-342900" lvl="7" marL="3657600" algn="l">
              <a:lnSpc>
                <a:spcPct val="90000"/>
              </a:lnSpc>
              <a:spcBef>
                <a:spcPts val="417"/>
              </a:spcBef>
              <a:spcAft>
                <a:spcPts val="0"/>
              </a:spcAft>
              <a:buClr>
                <a:schemeClr val="dk1"/>
              </a:buClr>
              <a:buSzPts val="1800"/>
              <a:buChar char="•"/>
              <a:defRPr/>
            </a:lvl8pPr>
            <a:lvl9pPr indent="-342900" lvl="8" marL="4114800" algn="l">
              <a:lnSpc>
                <a:spcPct val="90000"/>
              </a:lnSpc>
              <a:spcBef>
                <a:spcPts val="417"/>
              </a:spcBef>
              <a:spcAft>
                <a:spcPts val="0"/>
              </a:spcAft>
              <a:buClr>
                <a:schemeClr val="dk1"/>
              </a:buClr>
              <a:buSzPts val="1800"/>
              <a:buChar char="•"/>
              <a:defRPr/>
            </a:lvl9pPr>
          </a:lstStyle>
          <a:p/>
        </p:txBody>
      </p:sp>
      <p:sp>
        <p:nvSpPr>
          <p:cNvPr id="37" name="Google Shape;37;p17"/>
          <p:cNvSpPr txBox="1"/>
          <p:nvPr>
            <p:ph idx="2" type="body"/>
          </p:nvPr>
        </p:nvSpPr>
        <p:spPr>
          <a:xfrm>
            <a:off x="2676401" y="1422387"/>
            <a:ext cx="2071466" cy="4440059"/>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725"/>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417"/>
              </a:spcBef>
              <a:spcAft>
                <a:spcPts val="0"/>
              </a:spcAft>
              <a:buClr>
                <a:schemeClr val="dk1"/>
              </a:buClr>
              <a:buSzPts val="1800"/>
              <a:buChar char="•"/>
              <a:defRPr/>
            </a:lvl6pPr>
            <a:lvl7pPr indent="-342900" lvl="6" marL="3200400" algn="l">
              <a:lnSpc>
                <a:spcPct val="90000"/>
              </a:lnSpc>
              <a:spcBef>
                <a:spcPts val="417"/>
              </a:spcBef>
              <a:spcAft>
                <a:spcPts val="0"/>
              </a:spcAft>
              <a:buClr>
                <a:schemeClr val="dk1"/>
              </a:buClr>
              <a:buSzPts val="1800"/>
              <a:buChar char="•"/>
              <a:defRPr/>
            </a:lvl7pPr>
            <a:lvl8pPr indent="-342900" lvl="7" marL="3657600" algn="l">
              <a:lnSpc>
                <a:spcPct val="90000"/>
              </a:lnSpc>
              <a:spcBef>
                <a:spcPts val="417"/>
              </a:spcBef>
              <a:spcAft>
                <a:spcPts val="0"/>
              </a:spcAft>
              <a:buClr>
                <a:schemeClr val="dk1"/>
              </a:buClr>
              <a:buSzPts val="1800"/>
              <a:buChar char="•"/>
              <a:defRPr/>
            </a:lvl8pPr>
            <a:lvl9pPr indent="-342900" lvl="8" marL="4114800" algn="l">
              <a:lnSpc>
                <a:spcPct val="90000"/>
              </a:lnSpc>
              <a:spcBef>
                <a:spcPts val="417"/>
              </a:spcBef>
              <a:spcAft>
                <a:spcPts val="0"/>
              </a:spcAft>
              <a:buClr>
                <a:schemeClr val="dk1"/>
              </a:buClr>
              <a:buSzPts val="1800"/>
              <a:buChar char="•"/>
              <a:defRPr/>
            </a:lvl9pPr>
          </a:lstStyle>
          <a:p/>
        </p:txBody>
      </p:sp>
      <p:sp>
        <p:nvSpPr>
          <p:cNvPr id="38" name="Google Shape;38;p17"/>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idx="1" type="body"/>
          </p:nvPr>
        </p:nvSpPr>
        <p:spPr>
          <a:xfrm>
            <a:off x="423975" y="1422668"/>
            <a:ext cx="6583503" cy="4439883"/>
          </a:xfrm>
          <a:prstGeom prst="rect">
            <a:avLst/>
          </a:prstGeom>
          <a:noFill/>
          <a:ln>
            <a:noFill/>
          </a:ln>
        </p:spPr>
        <p:txBody>
          <a:bodyPr anchorCtr="0" anchor="t" bIns="0" lIns="0" spcFirstLastPara="1" rIns="0" wrap="square" tIns="0">
            <a:noAutofit/>
          </a:bodyPr>
          <a:lstStyle>
            <a:lvl1pPr indent="-274638" lvl="0" marL="457200" marR="0" rtl="0" algn="l">
              <a:lnSpc>
                <a:spcPct val="106000"/>
              </a:lnSpc>
              <a:spcBef>
                <a:spcPts val="0"/>
              </a:spcBef>
              <a:spcAft>
                <a:spcPts val="0"/>
              </a:spcAft>
              <a:buClr>
                <a:schemeClr val="dk2"/>
              </a:buClr>
              <a:buSzPts val="725"/>
              <a:buFont typeface="Arial"/>
              <a:buChar char="•"/>
              <a:defRPr b="0" i="0" sz="725" u="none" cap="none" strike="noStrike">
                <a:solidFill>
                  <a:schemeClr val="dk2"/>
                </a:solidFill>
                <a:latin typeface="IBM Plex Sans"/>
                <a:ea typeface="IBM Plex Sans"/>
                <a:cs typeface="IBM Plex Sans"/>
                <a:sym typeface="IBM Plex Sans"/>
              </a:defRPr>
            </a:lvl1pPr>
            <a:lvl2pPr indent="-274638" lvl="1" marL="914400" marR="0" rtl="0" algn="l">
              <a:lnSpc>
                <a:spcPct val="106000"/>
              </a:lnSpc>
              <a:spcBef>
                <a:spcPts val="0"/>
              </a:spcBef>
              <a:spcAft>
                <a:spcPts val="0"/>
              </a:spcAft>
              <a:buClr>
                <a:schemeClr val="dk2"/>
              </a:buClr>
              <a:buSzPts val="725"/>
              <a:buFont typeface="Arial"/>
              <a:buChar char="•"/>
              <a:defRPr b="0" i="0" sz="725" u="none" cap="none" strike="noStrike">
                <a:solidFill>
                  <a:schemeClr val="dk2"/>
                </a:solidFill>
                <a:latin typeface="IBM Plex Sans"/>
                <a:ea typeface="IBM Plex Sans"/>
                <a:cs typeface="IBM Plex Sans"/>
                <a:sym typeface="IBM Plex Sans"/>
              </a:defRPr>
            </a:lvl2pPr>
            <a:lvl3pPr indent="-274638" lvl="2" marL="1371600" marR="0" rtl="0" algn="l">
              <a:lnSpc>
                <a:spcPct val="106000"/>
              </a:lnSpc>
              <a:spcBef>
                <a:spcPts val="0"/>
              </a:spcBef>
              <a:spcAft>
                <a:spcPts val="0"/>
              </a:spcAft>
              <a:buClr>
                <a:schemeClr val="dk2"/>
              </a:buClr>
              <a:buSzPts val="725"/>
              <a:buFont typeface="Arial"/>
              <a:buChar char="•"/>
              <a:defRPr b="0" i="0" sz="725" u="none" cap="none" strike="noStrike">
                <a:solidFill>
                  <a:schemeClr val="dk2"/>
                </a:solidFill>
                <a:latin typeface="IBM Plex Sans"/>
                <a:ea typeface="IBM Plex Sans"/>
                <a:cs typeface="IBM Plex Sans"/>
                <a:sym typeface="IBM Plex Sans"/>
              </a:defRPr>
            </a:lvl3pPr>
            <a:lvl4pPr indent="-274638" lvl="3" marL="1828800" marR="0" rtl="0" algn="l">
              <a:lnSpc>
                <a:spcPct val="106000"/>
              </a:lnSpc>
              <a:spcBef>
                <a:spcPts val="0"/>
              </a:spcBef>
              <a:spcAft>
                <a:spcPts val="0"/>
              </a:spcAft>
              <a:buClr>
                <a:schemeClr val="dk2"/>
              </a:buClr>
              <a:buSzPts val="725"/>
              <a:buFont typeface="Arial"/>
              <a:buChar char="•"/>
              <a:defRPr b="0" i="0" sz="725" u="none" cap="none" strike="noStrike">
                <a:solidFill>
                  <a:schemeClr val="dk2"/>
                </a:solidFill>
                <a:latin typeface="IBM Plex Sans"/>
                <a:ea typeface="IBM Plex Sans"/>
                <a:cs typeface="IBM Plex Sans"/>
                <a:sym typeface="IBM Plex Sans"/>
              </a:defRPr>
            </a:lvl4pPr>
            <a:lvl5pPr indent="-274638" lvl="4" marL="2286000" marR="0" rtl="0" algn="l">
              <a:lnSpc>
                <a:spcPct val="106000"/>
              </a:lnSpc>
              <a:spcBef>
                <a:spcPts val="0"/>
              </a:spcBef>
              <a:spcAft>
                <a:spcPts val="0"/>
              </a:spcAft>
              <a:buClr>
                <a:schemeClr val="dk2"/>
              </a:buClr>
              <a:buSzPts val="725"/>
              <a:buFont typeface="Arial"/>
              <a:buChar char="•"/>
              <a:defRPr b="0" i="0" sz="725" u="none" cap="none" strike="noStrike">
                <a:solidFill>
                  <a:schemeClr val="dk2"/>
                </a:solidFill>
                <a:latin typeface="IBM Plex Sans"/>
                <a:ea typeface="IBM Plex Sans"/>
                <a:cs typeface="IBM Plex Sans"/>
                <a:sym typeface="IBM Plex Sans"/>
              </a:defRPr>
            </a:lvl5pPr>
            <a:lvl6pPr indent="-322263" lvl="5" marL="2743200" marR="0" rtl="0" algn="l">
              <a:lnSpc>
                <a:spcPct val="90000"/>
              </a:lnSpc>
              <a:spcBef>
                <a:spcPts val="417"/>
              </a:spcBef>
              <a:spcAft>
                <a:spcPts val="0"/>
              </a:spcAft>
              <a:buClr>
                <a:schemeClr val="dk1"/>
              </a:buClr>
              <a:buSzPts val="1475"/>
              <a:buFont typeface="Arial"/>
              <a:buChar char="•"/>
              <a:defRPr b="0" i="0" sz="1475" u="none" cap="none" strike="noStrike">
                <a:solidFill>
                  <a:schemeClr val="dk1"/>
                </a:solidFill>
                <a:latin typeface="IBM Plex Sans"/>
                <a:ea typeface="IBM Plex Sans"/>
                <a:cs typeface="IBM Plex Sans"/>
                <a:sym typeface="IBM Plex Sans"/>
              </a:defRPr>
            </a:lvl6pPr>
            <a:lvl7pPr indent="-322263" lvl="6" marL="3200400" marR="0" rtl="0" algn="l">
              <a:lnSpc>
                <a:spcPct val="90000"/>
              </a:lnSpc>
              <a:spcBef>
                <a:spcPts val="417"/>
              </a:spcBef>
              <a:spcAft>
                <a:spcPts val="0"/>
              </a:spcAft>
              <a:buClr>
                <a:schemeClr val="dk1"/>
              </a:buClr>
              <a:buSzPts val="1475"/>
              <a:buFont typeface="Arial"/>
              <a:buChar char="•"/>
              <a:defRPr b="0" i="0" sz="1475" u="none" cap="none" strike="noStrike">
                <a:solidFill>
                  <a:schemeClr val="dk1"/>
                </a:solidFill>
                <a:latin typeface="IBM Plex Sans"/>
                <a:ea typeface="IBM Plex Sans"/>
                <a:cs typeface="IBM Plex Sans"/>
                <a:sym typeface="IBM Plex Sans"/>
              </a:defRPr>
            </a:lvl7pPr>
            <a:lvl8pPr indent="-322263" lvl="7" marL="3657600" marR="0" rtl="0" algn="l">
              <a:lnSpc>
                <a:spcPct val="90000"/>
              </a:lnSpc>
              <a:spcBef>
                <a:spcPts val="417"/>
              </a:spcBef>
              <a:spcAft>
                <a:spcPts val="0"/>
              </a:spcAft>
              <a:buClr>
                <a:schemeClr val="dk1"/>
              </a:buClr>
              <a:buSzPts val="1475"/>
              <a:buFont typeface="Arial"/>
              <a:buChar char="•"/>
              <a:defRPr b="0" i="0" sz="1475" u="none" cap="none" strike="noStrike">
                <a:solidFill>
                  <a:schemeClr val="dk1"/>
                </a:solidFill>
                <a:latin typeface="IBM Plex Sans"/>
                <a:ea typeface="IBM Plex Sans"/>
                <a:cs typeface="IBM Plex Sans"/>
                <a:sym typeface="IBM Plex Sans"/>
              </a:defRPr>
            </a:lvl8pPr>
            <a:lvl9pPr indent="-322263" lvl="8" marL="4114800" marR="0" rtl="0" algn="l">
              <a:lnSpc>
                <a:spcPct val="90000"/>
              </a:lnSpc>
              <a:spcBef>
                <a:spcPts val="417"/>
              </a:spcBef>
              <a:spcAft>
                <a:spcPts val="0"/>
              </a:spcAft>
              <a:buClr>
                <a:schemeClr val="dk1"/>
              </a:buClr>
              <a:buSzPts val="1475"/>
              <a:buFont typeface="Arial"/>
              <a:buChar char="•"/>
              <a:defRPr b="0" i="0" sz="1475" u="none" cap="none" strike="noStrike">
                <a:solidFill>
                  <a:schemeClr val="dk1"/>
                </a:solidFill>
                <a:latin typeface="IBM Plex Sans"/>
                <a:ea typeface="IBM Plex Sans"/>
                <a:cs typeface="IBM Plex Sans"/>
                <a:sym typeface="IBM Plex Sans"/>
              </a:defRPr>
            </a:lvl9pPr>
          </a:lstStyle>
          <a:p/>
        </p:txBody>
      </p:sp>
      <p:sp>
        <p:nvSpPr>
          <p:cNvPr id="11" name="Google Shape;11;p12"/>
          <p:cNvSpPr txBox="1"/>
          <p:nvPr>
            <p:ph idx="10" type="dt"/>
          </p:nvPr>
        </p:nvSpPr>
        <p:spPr>
          <a:xfrm>
            <a:off x="276685" y="10152285"/>
            <a:ext cx="1617485" cy="12823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82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2" name="Google Shape;12;p12"/>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82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3" name="Google Shape;13;p12"/>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825"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825"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825"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825"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825"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825"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825"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825"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825"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
        <p:nvSpPr>
          <p:cNvPr id="14" name="Google Shape;14;p12"/>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475"/>
              <a:buFont typeface="IBM Plex Sans"/>
              <a:buNone/>
              <a:defRPr b="1" i="0" sz="1475"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title"/>
          </p:nvPr>
        </p:nvSpPr>
        <p:spPr>
          <a:xfrm>
            <a:off x="411480" y="6237584"/>
            <a:ext cx="6737040" cy="126952"/>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900"/>
              <a:buFont typeface="IBM Plex Sans"/>
              <a:buNone/>
            </a:pPr>
            <a:r>
              <a:rPr lang="da-DK"/>
              <a:t>OPGØRELSE {{insert_year}}</a:t>
            </a:r>
            <a:endParaRPr/>
          </a:p>
        </p:txBody>
      </p:sp>
      <p:sp>
        <p:nvSpPr>
          <p:cNvPr id="45" name="Google Shape;45;p1"/>
          <p:cNvSpPr txBox="1"/>
          <p:nvPr>
            <p:ph idx="11" type="ftr"/>
          </p:nvPr>
        </p:nvSpPr>
        <p:spPr>
          <a:xfrm>
            <a:off x="411480" y="6707538"/>
            <a:ext cx="6737040" cy="234336"/>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da-DK"/>
              <a:t>{{company_name}}</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ph type="title"/>
          </p:nvPr>
        </p:nvSpPr>
        <p:spPr>
          <a:xfrm>
            <a:off x="411480" y="834189"/>
            <a:ext cx="6737040" cy="415482"/>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ESG opgørelse</a:t>
            </a:r>
            <a:r>
              <a:rPr b="0" lang="da-DK">
                <a:solidFill>
                  <a:srgbClr val="1B4528"/>
                </a:solidFill>
              </a:rPr>
              <a:t> </a:t>
            </a:r>
            <a:br>
              <a:rPr b="0" lang="da-DK">
                <a:solidFill>
                  <a:srgbClr val="1B4528"/>
                </a:solidFill>
              </a:rPr>
            </a:br>
            <a:endParaRPr b="0">
              <a:solidFill>
                <a:srgbClr val="1B4528"/>
              </a:solidFill>
            </a:endParaRPr>
          </a:p>
        </p:txBody>
      </p:sp>
      <p:sp>
        <p:nvSpPr>
          <p:cNvPr id="52" name="Google Shape;52;p2"/>
          <p:cNvSpPr txBox="1"/>
          <p:nvPr>
            <p:ph idx="1" type="body"/>
          </p:nvPr>
        </p:nvSpPr>
        <p:spPr>
          <a:xfrm>
            <a:off x="411480" y="877124"/>
            <a:ext cx="6598920" cy="4470221"/>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975"/>
              <a:buNone/>
            </a:pPr>
            <a:r>
              <a:t/>
            </a:r>
            <a:endParaRPr b="1" sz="975">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975"/>
              <a:buNone/>
            </a:pPr>
            <a:r>
              <a:t/>
            </a:r>
            <a:endParaRPr b="1" sz="975">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Generelle oplysninger				</a:t>
            </a:r>
            <a:endParaRPr sz="975">
              <a:solidFill>
                <a:srgbClr val="1B4528"/>
              </a:solidFill>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solidFill>
                  <a:schemeClr val="dk2"/>
                </a:solidFill>
                <a:latin typeface="IBM Plex Sans"/>
                <a:ea typeface="IBM Plex Sans"/>
                <a:cs typeface="IBM Plex Sans"/>
                <a:sym typeface="IBM Plex Sans"/>
              </a:rPr>
              <a:t>Indsatser, politikker og initiativer for omstilling til en mere bæredygtig økonomi	</a:t>
            </a:r>
            <a:endParaRPr b="1" sz="975">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Energiforbrug				</a:t>
            </a:r>
            <a:endParaRPr sz="975">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CO₂e udledning 				</a:t>
            </a:r>
            <a:endParaRPr sz="975">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Forurening af luft, vand og jord</a:t>
            </a:r>
            <a:r>
              <a:rPr lang="da-DK" sz="975">
                <a:latin typeface="IBM Plex Sans"/>
                <a:ea typeface="IBM Plex Sans"/>
                <a:cs typeface="IBM Plex Sans"/>
                <a:sym typeface="IBM Plex Sans"/>
              </a:rPr>
              <a:t>				</a:t>
            </a:r>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Biodiversitet</a:t>
            </a:r>
            <a:r>
              <a:rPr lang="da-DK" sz="975">
                <a:latin typeface="IBM Plex Sans"/>
                <a:ea typeface="IBM Plex Sans"/>
                <a:cs typeface="IBM Plex Sans"/>
                <a:sym typeface="IBM Plex Sans"/>
              </a:rPr>
              <a:t>				</a:t>
            </a:r>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Vand	</a:t>
            </a:r>
            <a:r>
              <a:rPr lang="da-DK" sz="975">
                <a:latin typeface="IBM Plex Sans"/>
                <a:ea typeface="IBM Plex Sans"/>
                <a:cs typeface="IBM Plex Sans"/>
                <a:sym typeface="IBM Plex Sans"/>
              </a:rPr>
              <a:t> 			</a:t>
            </a:r>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Ressourceforbrug, cirkulærøkonomi og affaldshåndtering</a:t>
            </a:r>
            <a:r>
              <a:rPr lang="da-DK" sz="975">
                <a:latin typeface="IBM Plex Sans"/>
                <a:ea typeface="IBM Plex Sans"/>
                <a:cs typeface="IBM Plex Sans"/>
                <a:sym typeface="IBM Plex Sans"/>
              </a:rPr>
              <a:t>				</a:t>
            </a:r>
            <a:endParaRPr sz="975">
              <a:solidFill>
                <a:srgbClr val="1B4528"/>
              </a:solidFill>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Egen arbejdsstyrke: Generelle karakteristika</a:t>
            </a:r>
            <a:r>
              <a:rPr lang="da-DK" sz="975">
                <a:latin typeface="IBM Plex Sans"/>
                <a:ea typeface="IBM Plex Sans"/>
                <a:cs typeface="IBM Plex Sans"/>
                <a:sym typeface="IBM Plex Sans"/>
              </a:rPr>
              <a:t>				</a:t>
            </a:r>
            <a:endParaRPr sz="975">
              <a:solidFill>
                <a:srgbClr val="1B4528"/>
              </a:solidFill>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Egen arbejdsstyrke: Sundhed og sikkerhed</a:t>
            </a:r>
            <a:r>
              <a:rPr lang="da-DK" sz="975">
                <a:latin typeface="IBM Plex Sans"/>
                <a:ea typeface="IBM Plex Sans"/>
                <a:cs typeface="IBM Plex Sans"/>
                <a:sym typeface="IBM Plex Sans"/>
              </a:rPr>
              <a:t>				</a:t>
            </a:r>
            <a:endParaRPr sz="975">
              <a:solidFill>
                <a:srgbClr val="1B4528"/>
              </a:solidFill>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Egen arbejdsstyrke: Vederlag, overenskomster og uddannelse</a:t>
            </a:r>
            <a:r>
              <a:rPr lang="da-DK" sz="975">
                <a:latin typeface="IBM Plex Sans"/>
                <a:ea typeface="IBM Plex Sans"/>
                <a:cs typeface="IBM Plex Sans"/>
                <a:sym typeface="IBM Plex Sans"/>
              </a:rPr>
              <a:t>		</a:t>
            </a:r>
            <a:endParaRPr sz="975">
              <a:solidFill>
                <a:srgbClr val="1B4528"/>
              </a:solidFill>
              <a:latin typeface="IBM Plex Sans"/>
              <a:ea typeface="IBM Plex Sans"/>
              <a:cs typeface="IBM Plex Sans"/>
              <a:sym typeface="IBM Plex Sans"/>
            </a:endParaRPr>
          </a:p>
          <a:p>
            <a:pPr indent="-190492" lvl="0" marL="190492" rtl="0" algn="l">
              <a:lnSpc>
                <a:spcPct val="150000"/>
              </a:lnSpc>
              <a:spcBef>
                <a:spcPts val="0"/>
              </a:spcBef>
              <a:spcAft>
                <a:spcPts val="0"/>
              </a:spcAft>
              <a:buClr>
                <a:schemeClr val="dk2"/>
              </a:buClr>
              <a:buSzPts val="975"/>
              <a:buFont typeface="IBM Plex Sans"/>
              <a:buAutoNum type="arabicPeriod"/>
            </a:pPr>
            <a:r>
              <a:rPr b="1" lang="da-DK" sz="975">
                <a:latin typeface="IBM Plex Sans"/>
                <a:ea typeface="IBM Plex Sans"/>
                <a:cs typeface="IBM Plex Sans"/>
                <a:sym typeface="IBM Plex Sans"/>
              </a:rPr>
              <a:t>Virksomhedsadfærd</a:t>
            </a:r>
            <a:r>
              <a:rPr lang="da-DK" sz="975">
                <a:latin typeface="IBM Plex Sans"/>
                <a:ea typeface="IBM Plex Sans"/>
                <a:cs typeface="IBM Plex Sans"/>
                <a:sym typeface="IBM Plex Sans"/>
              </a:rPr>
              <a:t>	 			</a:t>
            </a:r>
            <a:endParaRPr sz="975">
              <a:solidFill>
                <a:srgbClr val="1B4528"/>
              </a:solidFill>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75"/>
              <a:buNone/>
            </a:pPr>
            <a:r>
              <a:t/>
            </a:r>
            <a:endParaRPr sz="975">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75"/>
              <a:buNone/>
            </a:pPr>
            <a:r>
              <a:t/>
            </a:r>
            <a:endParaRPr sz="975">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725"/>
              <a:buNone/>
            </a:pPr>
            <a:r>
              <a:t/>
            </a:r>
            <a:endParaRPr>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725"/>
              <a:buNone/>
            </a:pPr>
            <a:r>
              <a:t/>
            </a:r>
            <a:endParaRPr>
              <a:latin typeface="IBM Plex Sans"/>
              <a:ea typeface="IBM Plex Sans"/>
              <a:cs typeface="IBM Plex Sans"/>
              <a:sym typeface="IBM Plex Sans"/>
            </a:endParaRPr>
          </a:p>
        </p:txBody>
      </p:sp>
      <p:sp>
        <p:nvSpPr>
          <p:cNvPr id="53" name="Google Shape;53;p2"/>
          <p:cNvSpPr txBox="1"/>
          <p:nvPr>
            <p:ph idx="11" type="ftr"/>
          </p:nvPr>
        </p:nvSpPr>
        <p:spPr>
          <a:xfrm>
            <a:off x="411480" y="365760"/>
            <a:ext cx="6737040"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a:p>
        </p:txBody>
      </p:sp>
      <p:sp>
        <p:nvSpPr>
          <p:cNvPr id="54" name="Google Shape;54;p2"/>
          <p:cNvSpPr txBox="1"/>
          <p:nvPr>
            <p:ph idx="12" type="sldNum"/>
          </p:nvPr>
        </p:nvSpPr>
        <p:spPr>
          <a:xfrm>
            <a:off x="3853152" y="10152285"/>
            <a:ext cx="3295368"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type="title"/>
          </p:nvPr>
        </p:nvSpPr>
        <p:spPr>
          <a:xfrm>
            <a:off x="411480" y="805890"/>
            <a:ext cx="6737040" cy="207741"/>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Grundlag for udarbejdelse (B1) </a:t>
            </a:r>
            <a:endParaRPr/>
          </a:p>
        </p:txBody>
      </p:sp>
      <p:sp>
        <p:nvSpPr>
          <p:cNvPr id="61" name="Google Shape;61;p3"/>
          <p:cNvSpPr txBox="1"/>
          <p:nvPr/>
        </p:nvSpPr>
        <p:spPr>
          <a:xfrm>
            <a:off x="411480" y="3496881"/>
            <a:ext cx="3295368" cy="143157"/>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725"/>
              <a:buFont typeface="Arial"/>
              <a:buNone/>
            </a:pPr>
            <a:r>
              <a:t/>
            </a:r>
            <a:endParaRPr b="0" i="0" sz="725" u="none" cap="none" strike="noStrike">
              <a:solidFill>
                <a:srgbClr val="1B4528"/>
              </a:solidFill>
              <a:latin typeface="IBM Plex Sans"/>
              <a:ea typeface="IBM Plex Sans"/>
              <a:cs typeface="IBM Plex Sans"/>
              <a:sym typeface="IBM Plex Sans"/>
            </a:endParaRPr>
          </a:p>
        </p:txBody>
      </p:sp>
      <p:graphicFrame>
        <p:nvGraphicFramePr>
          <p:cNvPr id="62" name="Google Shape;62;p3"/>
          <p:cNvGraphicFramePr/>
          <p:nvPr/>
        </p:nvGraphicFramePr>
        <p:xfrm>
          <a:off x="411480" y="5409549"/>
          <a:ext cx="3295375" cy="784656"/>
        </p:xfrm>
        <a:graphic>
          <a:graphicData uri="http://schemas.openxmlformats.org/drawingml/2006/table">
            <a:tbl>
              <a:tblPr firstRow="1">
                <a:noFill/>
                <a:tableStyleId>{E5686DB3-B821-445C-B3A6-515973651C61}</a:tableStyleId>
              </a:tblPr>
              <a:tblGrid>
                <a:gridCol w="1523875"/>
                <a:gridCol w="1771500"/>
              </a:tblGrid>
              <a:tr h="379239">
                <a:tc gridSpan="2">
                  <a:txBody>
                    <a:bodyPr/>
                    <a:lstStyle/>
                    <a:p>
                      <a:pPr indent="0" lvl="0" marL="0" marR="0" rtl="0" algn="l">
                        <a:spcBef>
                          <a:spcPts val="0"/>
                        </a:spcBef>
                        <a:spcAft>
                          <a:spcPts val="0"/>
                        </a:spcAft>
                        <a:buNone/>
                      </a:pPr>
                      <a:r>
                        <a:rPr b="1" lang="da-DK" sz="975" u="none" cap="none" strike="noStrike">
                          <a:solidFill>
                            <a:schemeClr val="dk2"/>
                          </a:solidFill>
                          <a:latin typeface="IBM Plex Sans"/>
                          <a:ea typeface="IBM Plex Sans"/>
                          <a:cs typeface="IBM Plex Sans"/>
                          <a:sym typeface="IBM Plex Sans"/>
                        </a:rPr>
                        <a:t>Oversigt over datterselskaber, der indgår i denne ESG-opgørelse </a:t>
                      </a:r>
                      <a:r>
                        <a:rPr b="0" lang="da-DK" sz="975" u="none" cap="none" strike="noStrike">
                          <a:solidFill>
                            <a:schemeClr val="dk2"/>
                          </a:solidFill>
                          <a:latin typeface="IBM Plex Sans"/>
                          <a:ea typeface="IBM Plex Sans"/>
                          <a:cs typeface="IBM Plex Sans"/>
                          <a:sym typeface="IBM Plex Sans"/>
                        </a:rPr>
                        <a:t>(pkt. 27d)</a:t>
                      </a:r>
                      <a:endParaRPr b="0" i="1" sz="975" u="none" cap="none" strike="noStrike">
                        <a:solidFill>
                          <a:schemeClr val="dk2"/>
                        </a:solidFill>
                        <a:latin typeface="IBM Plex Sans"/>
                        <a:ea typeface="IBM Plex Sans"/>
                        <a:cs typeface="IBM Plex Sans"/>
                        <a:sym typeface="IBM Plex Sans"/>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01042">
                <a:tc>
                  <a:txBody>
                    <a:bodyPr/>
                    <a:lstStyle/>
                    <a:p>
                      <a:pPr indent="0" lvl="0" marL="0" marR="0" rtl="0" algn="l">
                        <a:spcBef>
                          <a:spcPts val="0"/>
                        </a:spcBef>
                        <a:spcAft>
                          <a:spcPts val="0"/>
                        </a:spcAft>
                        <a:buNone/>
                      </a:pPr>
                      <a:r>
                        <a:rPr b="1" lang="da-DK" sz="975" u="none" cap="none" strike="noStrike">
                          <a:solidFill>
                            <a:schemeClr val="dk2"/>
                          </a:solidFill>
                          <a:latin typeface="IBM Plex Sans"/>
                          <a:ea typeface="IBM Plex Sans"/>
                          <a:cs typeface="IBM Plex Sans"/>
                          <a:sym typeface="IBM Plex Sans"/>
                        </a:rPr>
                        <a:t>Navn på datterselskab </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975" u="none" cap="none" strike="noStrike">
                          <a:solidFill>
                            <a:schemeClr val="dk2"/>
                          </a:solidFill>
                          <a:latin typeface="IBM Plex Sans"/>
                          <a:ea typeface="IBM Plex Sans"/>
                          <a:cs typeface="IBM Plex Sans"/>
                          <a:sym typeface="IBM Plex Sans"/>
                        </a:rPr>
                        <a:t>Adresse på datterselskab</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4375">
                <a:tc>
                  <a:txBody>
                    <a:bodyPr/>
                    <a:lstStyle/>
                    <a:p>
                      <a:pPr indent="0" lvl="0" marL="0" marR="0" rtl="0" algn="l">
                        <a:spcBef>
                          <a:spcPts val="0"/>
                        </a:spcBef>
                        <a:spcAft>
                          <a:spcPts val="0"/>
                        </a:spcAft>
                        <a:buClr>
                          <a:srgbClr val="1B4528"/>
                        </a:buClr>
                        <a:buSzPts val="975"/>
                        <a:buFont typeface="Inter"/>
                        <a:buNone/>
                      </a:pPr>
                      <a:r>
                        <a:rPr b="0" i="0" lang="da-DK" sz="975" u="none" cap="none" strike="noStrike">
                          <a:solidFill>
                            <a:srgbClr val="1B4528"/>
                          </a:solidFill>
                          <a:latin typeface="Inter"/>
                          <a:ea typeface="Inter"/>
                          <a:cs typeface="Inter"/>
                          <a:sym typeface="Inter"/>
                        </a:rPr>
                        <a:t>{{subsidiary}}</a:t>
                      </a:r>
                      <a:endParaRPr sz="975" u="none" cap="none" strike="noStrike"/>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975"/>
                        <a:buFont typeface="Inter"/>
                        <a:buNone/>
                      </a:pPr>
                      <a:r>
                        <a:rPr b="0" i="0" lang="da-DK" sz="975" u="none" cap="none" strike="noStrike">
                          <a:solidFill>
                            <a:srgbClr val="1B4528"/>
                          </a:solidFill>
                          <a:latin typeface="Inter"/>
                          <a:ea typeface="Inter"/>
                          <a:cs typeface="Inter"/>
                          <a:sym typeface="Inter"/>
                        </a:rPr>
                        <a:t>{{subsidiary_address}}</a:t>
                      </a:r>
                      <a:endParaRPr sz="975" u="none" cap="none" strike="noStrike"/>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3" name="Google Shape;63;p3"/>
          <p:cNvSpPr txBox="1"/>
          <p:nvPr>
            <p:ph idx="12" type="sldNum"/>
          </p:nvPr>
        </p:nvSpPr>
        <p:spPr>
          <a:xfrm>
            <a:off x="411480" y="10152285"/>
            <a:ext cx="6737040"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64" name="Google Shape;64;p3"/>
          <p:cNvSpPr txBox="1"/>
          <p:nvPr>
            <p:ph idx="11" type="ftr"/>
          </p:nvPr>
        </p:nvSpPr>
        <p:spPr>
          <a:xfrm>
            <a:off x="411480" y="365760"/>
            <a:ext cx="6737040"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graphicFrame>
        <p:nvGraphicFramePr>
          <p:cNvPr id="65" name="Google Shape;65;p3"/>
          <p:cNvGraphicFramePr/>
          <p:nvPr/>
        </p:nvGraphicFramePr>
        <p:xfrm>
          <a:off x="411480" y="4091258"/>
          <a:ext cx="3295375" cy="1293068"/>
        </p:xfrm>
        <a:graphic>
          <a:graphicData uri="http://schemas.openxmlformats.org/drawingml/2006/table">
            <a:tbl>
              <a:tblPr firstRow="1">
                <a:noFill/>
                <a:tableStyleId>{E5686DB3-B821-445C-B3A6-515973651C61}</a:tableStyleId>
              </a:tblPr>
              <a:tblGrid>
                <a:gridCol w="2775625"/>
                <a:gridCol w="519750"/>
              </a:tblGrid>
              <a:tr h="201042">
                <a:tc gridSpan="2">
                  <a:txBody>
                    <a:bodyPr/>
                    <a:lstStyle/>
                    <a:p>
                      <a:pPr indent="0" lvl="0" marL="0" marR="0" rtl="0" algn="l">
                        <a:spcBef>
                          <a:spcPts val="0"/>
                        </a:spcBef>
                        <a:spcAft>
                          <a:spcPts val="0"/>
                        </a:spcAft>
                        <a:buNone/>
                      </a:pPr>
                      <a:r>
                        <a:rPr b="1" lang="da-DK" sz="975" u="none" cap="none" strike="noStrike">
                          <a:solidFill>
                            <a:schemeClr val="dk2"/>
                          </a:solidFill>
                        </a:rPr>
                        <a:t>Individuel eller konsolideret rapportering</a:t>
                      </a:r>
                      <a:r>
                        <a:rPr b="0" lang="da-DK" sz="975" u="none" cap="none" strike="noStrike">
                          <a:solidFill>
                            <a:schemeClr val="dk2"/>
                          </a:solidFill>
                        </a:rPr>
                        <a:t> (pkt. 27c)</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539159">
                <a:tc>
                  <a:txBody>
                    <a:bodyPr/>
                    <a:lstStyle/>
                    <a:p>
                      <a:pPr indent="0" lvl="0" marL="0" marR="0" rtl="0" algn="l">
                        <a:lnSpc>
                          <a:spcPct val="100000"/>
                        </a:lnSpc>
                        <a:spcBef>
                          <a:spcPts val="0"/>
                        </a:spcBef>
                        <a:spcAft>
                          <a:spcPts val="0"/>
                        </a:spcAft>
                        <a:buClr>
                          <a:schemeClr val="dk2"/>
                        </a:buClr>
                        <a:buSzPts val="975"/>
                        <a:buFont typeface="IBM Plex Sans"/>
                        <a:buNone/>
                      </a:pPr>
                      <a:r>
                        <a:rPr b="0" lang="da-DK" sz="975">
                          <a:solidFill>
                            <a:schemeClr val="dk2"/>
                          </a:solidFill>
                          <a:latin typeface="IBM Plex Sans"/>
                          <a:ea typeface="IBM Plex Sans"/>
                          <a:cs typeface="IBM Plex Sans"/>
                          <a:sym typeface="IBM Plex Sans"/>
                        </a:rPr>
                        <a:t>Opgørelsen er udarbejdet på </a:t>
                      </a:r>
                      <a:r>
                        <a:rPr b="1" lang="da-DK" sz="975">
                          <a:solidFill>
                            <a:schemeClr val="dk2"/>
                          </a:solidFill>
                          <a:latin typeface="IBM Plex Sans"/>
                          <a:ea typeface="IBM Plex Sans"/>
                          <a:cs typeface="IBM Plex Sans"/>
                          <a:sym typeface="IBM Plex Sans"/>
                        </a:rPr>
                        <a:t>individuel basis </a:t>
                      </a:r>
                      <a:r>
                        <a:rPr b="0" lang="da-DK" sz="975">
                          <a:solidFill>
                            <a:schemeClr val="dk2"/>
                          </a:solidFill>
                          <a:latin typeface="IBM Plex Sans"/>
                          <a:ea typeface="IBM Plex Sans"/>
                          <a:cs typeface="IBM Plex Sans"/>
                          <a:sym typeface="IBM Plex Sans"/>
                        </a:rPr>
                        <a:t>(dvs. opgørelsen dækker ikke eventuelle datterselskaber)</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{{yes_subsidiary?}}</a:t>
                      </a:r>
                      <a:endParaRPr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552867">
                <a:tc>
                  <a:txBody>
                    <a:bodyPr/>
                    <a:lstStyle/>
                    <a:p>
                      <a:pPr indent="0" lvl="0" marL="0" marR="0" rtl="0" algn="l">
                        <a:lnSpc>
                          <a:spcPct val="100000"/>
                        </a:lnSpc>
                        <a:spcBef>
                          <a:spcPts val="0"/>
                        </a:spcBef>
                        <a:spcAft>
                          <a:spcPts val="0"/>
                        </a:spcAft>
                        <a:buClr>
                          <a:schemeClr val="dk2"/>
                        </a:buClr>
                        <a:buSzPts val="975"/>
                        <a:buFont typeface="IBM Plex Sans"/>
                        <a:buNone/>
                      </a:pPr>
                      <a:r>
                        <a:rPr b="0" lang="da-DK" sz="975">
                          <a:solidFill>
                            <a:schemeClr val="dk2"/>
                          </a:solidFill>
                          <a:latin typeface="IBM Plex Sans"/>
                          <a:ea typeface="IBM Plex Sans"/>
                          <a:cs typeface="IBM Plex Sans"/>
                          <a:sym typeface="IBM Plex Sans"/>
                        </a:rPr>
                        <a:t>Opgørelsen er udarbejdet på et </a:t>
                      </a:r>
                      <a:r>
                        <a:rPr b="1" lang="da-DK" sz="975">
                          <a:solidFill>
                            <a:schemeClr val="dk2"/>
                          </a:solidFill>
                          <a:latin typeface="IBM Plex Sans"/>
                          <a:ea typeface="IBM Plex Sans"/>
                          <a:cs typeface="IBM Plex Sans"/>
                          <a:sym typeface="IBM Plex Sans"/>
                        </a:rPr>
                        <a:t>konsolideret grundlag </a:t>
                      </a:r>
                      <a:r>
                        <a:rPr b="0" lang="da-DK" sz="975">
                          <a:solidFill>
                            <a:schemeClr val="dk2"/>
                          </a:solidFill>
                          <a:latin typeface="IBM Plex Sans"/>
                          <a:ea typeface="IBM Plex Sans"/>
                          <a:cs typeface="IBM Plex Sans"/>
                          <a:sym typeface="IBM Plex Sans"/>
                        </a:rPr>
                        <a:t>(dvs. opgørelsen omfatter virksomhedens datterselskaber)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{{no_subsidiary?}}</a:t>
                      </a:r>
                      <a:endParaRPr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66" name="Google Shape;66;p3"/>
          <p:cNvGraphicFramePr/>
          <p:nvPr/>
        </p:nvGraphicFramePr>
        <p:xfrm>
          <a:off x="411480" y="2459885"/>
          <a:ext cx="3295375" cy="1371270"/>
        </p:xfrm>
        <a:graphic>
          <a:graphicData uri="http://schemas.openxmlformats.org/drawingml/2006/table">
            <a:tbl>
              <a:tblPr firstRow="1">
                <a:noFill/>
                <a:tableStyleId>{E5686DB3-B821-445C-B3A6-515973651C61}</a:tableStyleId>
              </a:tblPr>
              <a:tblGrid>
                <a:gridCol w="2780625"/>
                <a:gridCol w="514750"/>
              </a:tblGrid>
              <a:tr h="374670">
                <a:tc gridSpan="2">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Basismodul, eller Basismodul +</a:t>
                      </a:r>
                      <a:r>
                        <a:rPr b="0" lang="da-DK" sz="975">
                          <a:solidFill>
                            <a:schemeClr val="dk2"/>
                          </a:solidFill>
                          <a:latin typeface="IBM Plex Sans"/>
                          <a:ea typeface="IBM Plex Sans"/>
                          <a:cs typeface="IBM Plex Sans"/>
                          <a:sym typeface="IBM Plex Sans"/>
                        </a:rPr>
                        <a:t> </a:t>
                      </a:r>
                      <a:r>
                        <a:rPr b="1" lang="da-DK" sz="975">
                          <a:solidFill>
                            <a:schemeClr val="dk2"/>
                          </a:solidFill>
                          <a:latin typeface="IBM Plex Sans"/>
                          <a:ea typeface="IBM Plex Sans"/>
                          <a:cs typeface="IBM Plex Sans"/>
                          <a:sym typeface="IBM Plex Sans"/>
                        </a:rPr>
                        <a:t>Udvidet Modul </a:t>
                      </a:r>
                      <a:r>
                        <a:rPr b="0" lang="da-DK" sz="975">
                          <a:solidFill>
                            <a:schemeClr val="dk2"/>
                          </a:solidFill>
                          <a:latin typeface="IBM Plex Sans"/>
                          <a:ea typeface="IBM Plex Sans"/>
                          <a:cs typeface="IBM Plex Sans"/>
                          <a:sym typeface="IBM Plex Sans"/>
                        </a:rPr>
                        <a:t>(pkt. 27a)</a:t>
                      </a:r>
                      <a:r>
                        <a:rPr b="1" lang="da-DK" sz="975">
                          <a:solidFill>
                            <a:schemeClr val="dk2"/>
                          </a:solidFill>
                          <a:latin typeface="IBM Plex Sans"/>
                          <a:ea typeface="IBM Plex Sans"/>
                          <a:cs typeface="IBM Plex Sans"/>
                          <a:sym typeface="IBM Plex Sans"/>
                        </a:rPr>
                        <a:t>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98300">
                <a:tc>
                  <a:txBody>
                    <a:bodyPr/>
                    <a:lstStyle/>
                    <a:p>
                      <a:pPr indent="0" lvl="0" marL="0" marR="0" rtl="0" algn="l">
                        <a:lnSpc>
                          <a:spcPct val="100000"/>
                        </a:lnSpc>
                        <a:spcBef>
                          <a:spcPts val="0"/>
                        </a:spcBef>
                        <a:spcAft>
                          <a:spcPts val="0"/>
                        </a:spcAft>
                        <a:buClr>
                          <a:schemeClr val="dk2"/>
                        </a:buClr>
                        <a:buSzPts val="975"/>
                        <a:buFont typeface="IBM Plex Sans"/>
                        <a:buNone/>
                      </a:pPr>
                      <a:r>
                        <a:rPr b="0" lang="da-DK" sz="975">
                          <a:solidFill>
                            <a:schemeClr val="dk2"/>
                          </a:solidFill>
                          <a:latin typeface="IBM Plex Sans"/>
                          <a:ea typeface="IBM Plex Sans"/>
                          <a:cs typeface="IBM Plex Sans"/>
                          <a:sym typeface="IBM Plex Sans"/>
                        </a:rPr>
                        <a:t>Opgørelsen er baseret på </a:t>
                      </a:r>
                      <a:r>
                        <a:rPr b="1" lang="da-DK" sz="975">
                          <a:solidFill>
                            <a:schemeClr val="dk2"/>
                          </a:solidFill>
                          <a:latin typeface="IBM Plex Sans"/>
                          <a:ea typeface="IBM Plex Sans"/>
                          <a:cs typeface="IBM Plex Sans"/>
                          <a:sym typeface="IBM Plex Sans"/>
                        </a:rPr>
                        <a:t>Basismodulet</a:t>
                      </a:r>
                      <a:r>
                        <a:rPr b="0" lang="da-DK" sz="975">
                          <a:solidFill>
                            <a:schemeClr val="dk2"/>
                          </a:solidFill>
                          <a:latin typeface="IBM Plex Sans"/>
                          <a:ea typeface="IBM Plex Sans"/>
                          <a:cs typeface="IBM Plex Sans"/>
                          <a:sym typeface="IBM Plex Sans"/>
                        </a:rPr>
                        <a:t> i den frivillige SMV-standard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{{basic_module?}}</a:t>
                      </a:r>
                      <a:endParaRPr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98300">
                <a:tc>
                  <a:txBody>
                    <a:bodyPr/>
                    <a:lstStyle/>
                    <a:p>
                      <a:pPr indent="0" lvl="0" marL="0" marR="0" rtl="0" algn="l">
                        <a:lnSpc>
                          <a:spcPct val="100000"/>
                        </a:lnSpc>
                        <a:spcBef>
                          <a:spcPts val="0"/>
                        </a:spcBef>
                        <a:spcAft>
                          <a:spcPts val="0"/>
                        </a:spcAft>
                        <a:buClr>
                          <a:schemeClr val="dk2"/>
                        </a:buClr>
                        <a:buSzPts val="975"/>
                        <a:buFont typeface="IBM Plex Sans"/>
                        <a:buNone/>
                      </a:pPr>
                      <a:r>
                        <a:rPr b="0" lang="da-DK" sz="975">
                          <a:solidFill>
                            <a:schemeClr val="dk2"/>
                          </a:solidFill>
                          <a:latin typeface="IBM Plex Sans"/>
                          <a:ea typeface="IBM Plex Sans"/>
                          <a:cs typeface="IBM Plex Sans"/>
                          <a:sym typeface="IBM Plex Sans"/>
                        </a:rPr>
                        <a:t>Opgørelsen er baseret på </a:t>
                      </a:r>
                      <a:r>
                        <a:rPr b="1" lang="da-DK" sz="975">
                          <a:solidFill>
                            <a:schemeClr val="dk2"/>
                          </a:solidFill>
                          <a:latin typeface="IBM Plex Sans"/>
                          <a:ea typeface="IBM Plex Sans"/>
                          <a:cs typeface="IBM Plex Sans"/>
                          <a:sym typeface="IBM Plex Sans"/>
                        </a:rPr>
                        <a:t>Basismodulet</a:t>
                      </a:r>
                      <a:r>
                        <a:rPr b="0" lang="da-DK" sz="975">
                          <a:solidFill>
                            <a:schemeClr val="dk2"/>
                          </a:solidFill>
                          <a:latin typeface="IBM Plex Sans"/>
                          <a:ea typeface="IBM Plex Sans"/>
                          <a:cs typeface="IBM Plex Sans"/>
                          <a:sym typeface="IBM Plex Sans"/>
                        </a:rPr>
                        <a:t> og </a:t>
                      </a:r>
                      <a:r>
                        <a:rPr b="1" lang="da-DK" sz="975">
                          <a:solidFill>
                            <a:schemeClr val="dk2"/>
                          </a:solidFill>
                          <a:latin typeface="IBM Plex Sans"/>
                          <a:ea typeface="IBM Plex Sans"/>
                          <a:cs typeface="IBM Plex Sans"/>
                          <a:sym typeface="IBM Plex Sans"/>
                        </a:rPr>
                        <a:t>Udvidet Modul </a:t>
                      </a:r>
                      <a:r>
                        <a:rPr b="0" lang="da-DK" sz="975">
                          <a:solidFill>
                            <a:schemeClr val="dk2"/>
                          </a:solidFill>
                          <a:latin typeface="IBM Plex Sans"/>
                          <a:ea typeface="IBM Plex Sans"/>
                          <a:cs typeface="IBM Plex Sans"/>
                          <a:sym typeface="IBM Plex Sans"/>
                        </a:rPr>
                        <a:t>i den frivillige SMV-standard</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{{comprehensive?}}</a:t>
                      </a:r>
                      <a:endParaRPr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67" name="Google Shape;67;p3"/>
          <p:cNvSpPr txBox="1"/>
          <p:nvPr/>
        </p:nvSpPr>
        <p:spPr>
          <a:xfrm>
            <a:off x="411480" y="1287528"/>
            <a:ext cx="6737040" cy="846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975"/>
              <a:buFont typeface="Inter"/>
              <a:buNone/>
            </a:pPr>
            <a:r>
              <a:rPr b="0" i="0" lang="da-DK" sz="975" u="none" cap="none" strike="noStrike">
                <a:solidFill>
                  <a:schemeClr val="dk2"/>
                </a:solidFill>
                <a:latin typeface="Inter"/>
                <a:ea typeface="Inter"/>
                <a:cs typeface="Inter"/>
                <a:sym typeface="Inter"/>
              </a:rPr>
              <a:t>Virksomheden har udarbejdet deres bæredygtighedsrapport gennem VS standarden, som følger en struktureret tilgang for at sikre, at de nødvendige oplysninger rapporteres standardiseret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og omsætning, antal ansatte samt oplysninger om virksomhedens primære driftsland og placeringen af andre væsentlige aktiver.</a:t>
            </a:r>
            <a:endParaRPr b="0" i="0" sz="975" u="none" cap="none" strike="noStrike">
              <a:solidFill>
                <a:schemeClr val="dk2"/>
              </a:solidFill>
              <a:latin typeface="IBM Plex Sans"/>
              <a:ea typeface="IBM Plex Sans"/>
              <a:cs typeface="IBM Plex Sans"/>
              <a:sym typeface="IBM Plex Sans"/>
            </a:endParaRPr>
          </a:p>
        </p:txBody>
      </p:sp>
      <p:graphicFrame>
        <p:nvGraphicFramePr>
          <p:cNvPr id="68" name="Google Shape;68;p3"/>
          <p:cNvGraphicFramePr/>
          <p:nvPr/>
        </p:nvGraphicFramePr>
        <p:xfrm>
          <a:off x="3853152" y="4091258"/>
          <a:ext cx="3295375" cy="2102948"/>
        </p:xfrm>
        <a:graphic>
          <a:graphicData uri="http://schemas.openxmlformats.org/drawingml/2006/table">
            <a:tbl>
              <a:tblPr firstRow="1">
                <a:noFill/>
                <a:tableStyleId>{E5686DB3-B821-445C-B3A6-515973651C61}</a:tableStyleId>
              </a:tblPr>
              <a:tblGrid>
                <a:gridCol w="1523875"/>
                <a:gridCol w="1771500"/>
              </a:tblGrid>
              <a:tr h="256034">
                <a:tc gridSpan="2">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Grundlæggende informationer om </a:t>
                      </a:r>
                      <a:r>
                        <a:rPr b="0" lang="da-DK" sz="975">
                          <a:solidFill>
                            <a:schemeClr val="dk2"/>
                          </a:solidFill>
                          <a:latin typeface="IBM Plex Sans"/>
                          <a:ea typeface="IBM Plex Sans"/>
                          <a:cs typeface="IBM Plex Sans"/>
                          <a:sym typeface="IBM Plex Sans"/>
                        </a:rPr>
                        <a:t> (pkt. 27e, i-v)</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93194">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Virksomhedsform</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{{branchekode}}</a:t>
                      </a:r>
                      <a:endParaRPr b="0" sz="975"/>
                    </a:p>
                  </a:txBody>
                  <a:tcPr marT="21175" marB="21175" marR="31750" marL="317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4055">
                <a:tc>
                  <a:txBody>
                    <a:bodyPr/>
                    <a:lstStyle/>
                    <a:p>
                      <a:pPr indent="0" lvl="0" marL="0" marR="0" rtl="0" algn="l">
                        <a:lnSpc>
                          <a:spcPct val="100000"/>
                        </a:lnSpc>
                        <a:spcBef>
                          <a:spcPts val="0"/>
                        </a:spcBef>
                        <a:spcAft>
                          <a:spcPts val="0"/>
                        </a:spcAft>
                        <a:buClr>
                          <a:schemeClr val="dk2"/>
                        </a:buClr>
                        <a:buSzPts val="975"/>
                        <a:buFont typeface="IBM Plex Sans"/>
                        <a:buNone/>
                      </a:pPr>
                      <a:r>
                        <a:rPr b="1" lang="da-DK" sz="975">
                          <a:solidFill>
                            <a:schemeClr val="dk2"/>
                          </a:solidFill>
                          <a:latin typeface="IBM Plex Sans"/>
                          <a:ea typeface="IBM Plex Sans"/>
                          <a:cs typeface="IBM Plex Sans"/>
                          <a:sym typeface="IBM Plex Sans"/>
                        </a:rPr>
                        <a:t>NACE sektor kode(r)</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{{NACE}}</a:t>
                      </a:r>
                      <a:endParaRPr sz="975"/>
                    </a:p>
                  </a:txBody>
                  <a:tcPr marT="21175" marB="21175" marR="31750" marL="317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11385">
                <a:tc>
                  <a:txBody>
                    <a:bodyPr/>
                    <a:lstStyle/>
                    <a:p>
                      <a:pPr indent="0" lvl="0" marL="0" marR="0" rtl="0" algn="l">
                        <a:lnSpc>
                          <a:spcPct val="100000"/>
                        </a:lnSpc>
                        <a:spcBef>
                          <a:spcPts val="0"/>
                        </a:spcBef>
                        <a:spcAft>
                          <a:spcPts val="0"/>
                        </a:spcAft>
                        <a:buClr>
                          <a:schemeClr val="dk2"/>
                        </a:buClr>
                        <a:buSzPts val="975"/>
                        <a:buFont typeface="IBM Plex Sans"/>
                        <a:buNone/>
                      </a:pPr>
                      <a:r>
                        <a:rPr b="1" lang="da-DK" sz="975">
                          <a:solidFill>
                            <a:schemeClr val="dk2"/>
                          </a:solidFill>
                          <a:latin typeface="IBM Plex Sans"/>
                          <a:ea typeface="IBM Plex Sans"/>
                          <a:cs typeface="IBM Plex Sans"/>
                          <a:sym typeface="IBM Plex Sans"/>
                        </a:rPr>
                        <a:t>Balancesum (i Euro eller dk)</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{{balance}}</a:t>
                      </a:r>
                      <a:endParaRPr sz="975"/>
                    </a:p>
                  </a:txBody>
                  <a:tcPr marT="21175" marB="21175" marR="31750" marL="317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2246">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Omsætning (i Euro eller dk)</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{{revenue}}</a:t>
                      </a:r>
                      <a:endParaRPr sz="975"/>
                    </a:p>
                  </a:txBody>
                  <a:tcPr marT="21175" marB="21175" marR="31750" marL="317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6034">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Antal ansatte </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{{total_employees}}</a:t>
                      </a:r>
                      <a:endParaRPr sz="975"/>
                    </a:p>
                  </a:txBody>
                  <a:tcPr marT="21175" marB="21175" marR="31750" marL="317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69" name="Google Shape;69;p3"/>
          <p:cNvGraphicFramePr/>
          <p:nvPr/>
        </p:nvGraphicFramePr>
        <p:xfrm>
          <a:off x="3853152" y="2463605"/>
          <a:ext cx="3295375" cy="1367550"/>
        </p:xfrm>
        <a:graphic>
          <a:graphicData uri="http://schemas.openxmlformats.org/drawingml/2006/table">
            <a:tbl>
              <a:tblPr firstRow="1">
                <a:noFill/>
                <a:tableStyleId>{E5686DB3-B821-445C-B3A6-515973651C61}</a:tableStyleId>
              </a:tblPr>
              <a:tblGrid>
                <a:gridCol w="1523875"/>
                <a:gridCol w="1771500"/>
              </a:tblGrid>
              <a:tr h="532164">
                <a:tc gridSpan="2">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ESG-opgørelsen indeholder udeladelser grundet sensitiv forretningsinformation </a:t>
                      </a:r>
                      <a:r>
                        <a:rPr b="0" lang="da-DK" sz="975">
                          <a:solidFill>
                            <a:schemeClr val="dk2"/>
                          </a:solidFill>
                          <a:latin typeface="IBM Plex Sans"/>
                          <a:ea typeface="IBM Plex Sans"/>
                          <a:cs typeface="IBM Plex Sans"/>
                          <a:sym typeface="IBM Plex Sans"/>
                        </a:rPr>
                        <a:t>(pkt. 27b)</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835386">
                <a:tc>
                  <a:txBody>
                    <a:bodyPr/>
                    <a:lstStyle/>
                    <a:p>
                      <a:pPr indent="0" lvl="0" marL="0" marR="0" rtl="0" algn="l">
                        <a:lnSpc>
                          <a:spcPct val="100000"/>
                        </a:lnSpc>
                        <a:spcBef>
                          <a:spcPts val="0"/>
                        </a:spcBef>
                        <a:spcAft>
                          <a:spcPts val="0"/>
                        </a:spcAft>
                        <a:buClr>
                          <a:schemeClr val="dk1"/>
                        </a:buClr>
                        <a:buSzPts val="725"/>
                        <a:buFont typeface="IBM Plex Sans"/>
                        <a:buNone/>
                      </a:pPr>
                      <a:r>
                        <a:t/>
                      </a:r>
                      <a:endParaRPr b="0" sz="725">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975"/>
                        <a:buFont typeface="IBM Plex Sans"/>
                        <a:buNone/>
                      </a:pPr>
                      <a:r>
                        <a:rPr b="0" lang="da-DK" sz="975">
                          <a:solidFill>
                            <a:schemeClr val="dk2"/>
                          </a:solidFill>
                          <a:latin typeface="IBM Plex Sans"/>
                          <a:ea typeface="IBM Plex Sans"/>
                          <a:cs typeface="IBM Plex Sans"/>
                          <a:sym typeface="IBM Plex Sans"/>
                        </a:rPr>
                        <a:t>Følgende oplysnings-punkter er udeladt</a:t>
                      </a:r>
                      <a:endParaRPr/>
                    </a:p>
                    <a:p>
                      <a:pPr indent="0" lvl="0" marL="0" marR="0" rtl="0" algn="l">
                        <a:spcBef>
                          <a:spcPts val="0"/>
                        </a:spcBef>
                        <a:spcAft>
                          <a:spcPts val="0"/>
                        </a:spcAft>
                        <a:buNone/>
                      </a:pPr>
                      <a:r>
                        <a:t/>
                      </a:r>
                      <a:endParaRPr b="1" sz="725">
                        <a:solidFill>
                          <a:schemeClr val="dk2"/>
                        </a:solidFill>
                        <a:latin typeface="IBM Plex Sans"/>
                        <a:ea typeface="IBM Plex Sans"/>
                        <a:cs typeface="IBM Plex Sans"/>
                        <a:sym typeface="IBM Plex Sans"/>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None/>
                      </a:pPr>
                      <a:r>
                        <a:rPr lang="da-DK" sz="975">
                          <a:solidFill>
                            <a:srgbClr val="1B4528"/>
                          </a:solidFill>
                          <a:latin typeface="IBM Plex Sans"/>
                          <a:ea typeface="IBM Plex Sans"/>
                          <a:cs typeface="IBM Plex Sans"/>
                          <a:sym typeface="IBM Plex Sans"/>
                        </a:rPr>
                        <a:t>{{confidentiality_info}}</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70" name="Google Shape;70;p3"/>
          <p:cNvSpPr/>
          <p:nvPr/>
        </p:nvSpPr>
        <p:spPr>
          <a:xfrm>
            <a:off x="411480" y="6507074"/>
            <a:ext cx="6737040" cy="193826"/>
          </a:xfrm>
          <a:prstGeom prst="rect">
            <a:avLst/>
          </a:prstGeom>
          <a:noFill/>
          <a:ln>
            <a:noFill/>
          </a:ln>
        </p:spPr>
      </p:sp>
      <p:graphicFrame>
        <p:nvGraphicFramePr>
          <p:cNvPr id="71" name="Google Shape;71;p3"/>
          <p:cNvGraphicFramePr/>
          <p:nvPr/>
        </p:nvGraphicFramePr>
        <p:xfrm>
          <a:off x="411480" y="9144051"/>
          <a:ext cx="6737050" cy="3000000"/>
        </p:xfrm>
        <a:graphic>
          <a:graphicData uri="http://schemas.openxmlformats.org/drawingml/2006/table">
            <a:tbl>
              <a:tblPr firstRow="1">
                <a:noFill/>
                <a:tableStyleId>{E5686DB3-B821-445C-B3A6-515973651C61}</a:tableStyleId>
              </a:tblPr>
              <a:tblGrid>
                <a:gridCol w="2316050"/>
                <a:gridCol w="2222875"/>
                <a:gridCol w="1172525"/>
                <a:gridCol w="1025600"/>
              </a:tblGrid>
              <a:tr h="210000">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Navn på ESG-certifikat/miljømærke </a:t>
                      </a:r>
                      <a:r>
                        <a:rPr b="0" lang="da-DK" sz="975">
                          <a:solidFill>
                            <a:schemeClr val="dk2"/>
                          </a:solidFill>
                          <a:latin typeface="IBM Plex Sans"/>
                          <a:ea typeface="IBM Plex Sans"/>
                          <a:cs typeface="IBM Plex Sans"/>
                          <a:sym typeface="IBM Plex Sans"/>
                        </a:rPr>
                        <a:t>(pkt. 28)</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Kort beskrivelse</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Dato for udstedelse/</a:t>
                      </a:r>
                      <a:endParaRPr/>
                    </a:p>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gyldighed</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Evt. rating</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10000">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{{certificate_or_ecolabel}}</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{{description_certificate}}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{{date_certicate}}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{{certiciate_possible_rating}}</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72" name="Google Shape;72;p3"/>
          <p:cNvGraphicFramePr/>
          <p:nvPr/>
        </p:nvGraphicFramePr>
        <p:xfrm>
          <a:off x="411480" y="7251210"/>
          <a:ext cx="6737025" cy="3000000"/>
        </p:xfrm>
        <a:graphic>
          <a:graphicData uri="http://schemas.openxmlformats.org/drawingml/2006/table">
            <a:tbl>
              <a:tblPr firstRow="1">
                <a:noFill/>
                <a:tableStyleId>{E5686DB3-B821-445C-B3A6-515973651C61}</a:tableStyleId>
              </a:tblPr>
              <a:tblGrid>
                <a:gridCol w="1227850"/>
                <a:gridCol w="1303850"/>
                <a:gridCol w="996275"/>
                <a:gridCol w="973625"/>
                <a:gridCol w="1079300"/>
                <a:gridCol w="1156125"/>
              </a:tblGrid>
              <a:tr h="270000">
                <a:tc gridSpan="6">
                  <a:txBody>
                    <a:bodyPr/>
                    <a:lstStyle/>
                    <a:p>
                      <a:pPr indent="0" lvl="0" marL="0" marR="0" rtl="0" algn="l">
                        <a:lnSpc>
                          <a:spcPct val="100000"/>
                        </a:lnSpc>
                        <a:spcBef>
                          <a:spcPts val="0"/>
                        </a:spcBef>
                        <a:spcAft>
                          <a:spcPts val="0"/>
                        </a:spcAft>
                        <a:buClr>
                          <a:schemeClr val="dk2"/>
                        </a:buClr>
                        <a:buSzPts val="975"/>
                        <a:buFont typeface="IBM Plex Sans"/>
                        <a:buNone/>
                      </a:pPr>
                      <a:r>
                        <a:rPr b="1" lang="da-DK" sz="975">
                          <a:solidFill>
                            <a:schemeClr val="dk2"/>
                          </a:solidFill>
                          <a:latin typeface="IBM Plex Sans"/>
                          <a:ea typeface="IBM Plex Sans"/>
                          <a:cs typeface="IBM Plex Sans"/>
                          <a:sym typeface="IBM Plex Sans"/>
                        </a:rPr>
                        <a:t>Adresser og geolokation på </a:t>
                      </a:r>
                      <a:r>
                        <a:rPr b="1" lang="da-DK" sz="975" u="none">
                          <a:solidFill>
                            <a:schemeClr val="dk2"/>
                          </a:solidFill>
                          <a:latin typeface="IBM Plex Sans"/>
                          <a:ea typeface="IBM Plex Sans"/>
                          <a:cs typeface="IBM Plex Sans"/>
                          <a:sym typeface="IBM Plex Sans"/>
                        </a:rPr>
                        <a:t>væsentlige</a:t>
                      </a:r>
                      <a:r>
                        <a:rPr b="1" lang="da-DK" sz="975">
                          <a:solidFill>
                            <a:schemeClr val="dk2"/>
                          </a:solidFill>
                          <a:latin typeface="IBM Plex Sans"/>
                          <a:ea typeface="IBM Plex Sans"/>
                          <a:cs typeface="IBM Plex Sans"/>
                          <a:sym typeface="IBM Plex Sans"/>
                        </a:rPr>
                        <a:t> aktiver og anlæg, som virksomheden</a:t>
                      </a:r>
                      <a:r>
                        <a:rPr b="0" lang="da-DK" sz="975">
                          <a:solidFill>
                            <a:schemeClr val="dk2"/>
                          </a:solidFill>
                          <a:latin typeface="IBM Plex Sans"/>
                          <a:ea typeface="IBM Plex Sans"/>
                          <a:cs typeface="IBM Plex Sans"/>
                          <a:sym typeface="IBM Plex Sans"/>
                        </a:rPr>
                        <a:t> </a:t>
                      </a:r>
                      <a:r>
                        <a:rPr b="1" lang="da-DK" sz="975">
                          <a:solidFill>
                            <a:schemeClr val="dk2"/>
                          </a:solidFill>
                          <a:latin typeface="IBM Plex Sans"/>
                          <a:ea typeface="IBM Plex Sans"/>
                          <a:cs typeface="IBM Plex Sans"/>
                          <a:sym typeface="IBM Plex Sans"/>
                        </a:rPr>
                        <a:t>ejer, lejer eller forvalter </a:t>
                      </a:r>
                      <a:r>
                        <a:rPr b="0" lang="da-DK" sz="975">
                          <a:solidFill>
                            <a:schemeClr val="dk2"/>
                          </a:solidFill>
                          <a:latin typeface="IBM Plex Sans"/>
                          <a:ea typeface="IBM Plex Sans"/>
                          <a:cs typeface="IBM Plex Sans"/>
                          <a:sym typeface="IBM Plex Sans"/>
                        </a:rPr>
                        <a:t>(pkt. 27e, vi, vii)</a:t>
                      </a:r>
                      <a:endParaRPr/>
                    </a:p>
                    <a:p>
                      <a:pPr indent="0" lvl="0" marL="0" marR="0" rtl="0" algn="l">
                        <a:lnSpc>
                          <a:spcPct val="100000"/>
                        </a:lnSpc>
                        <a:spcBef>
                          <a:spcPts val="0"/>
                        </a:spcBef>
                        <a:spcAft>
                          <a:spcPts val="0"/>
                        </a:spcAft>
                        <a:buClr>
                          <a:schemeClr val="dk1"/>
                        </a:buClr>
                        <a:buSzPts val="975"/>
                        <a:buFont typeface="IBM Plex Sans"/>
                        <a:buNone/>
                      </a:pPr>
                      <a:r>
                        <a:t/>
                      </a:r>
                      <a:endParaRPr b="1" sz="975">
                        <a:solidFill>
                          <a:schemeClr val="dk2"/>
                        </a:solidFill>
                        <a:latin typeface="IBM Plex Sans"/>
                        <a:ea typeface="IBM Plex Sans"/>
                        <a:cs typeface="IBM Plex Sans"/>
                        <a:sym typeface="IBM Plex Sans"/>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270000">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Sted</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Adresse</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Postnummer</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By</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Land</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Geolokation (koordinater)</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70000">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{{geolocation}}</a:t>
                      </a:r>
                      <a:endParaRPr b="0" sz="975"/>
                    </a:p>
                  </a:txBody>
                  <a:tcPr marT="10575" marB="10575" marR="15875" marL="158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{{geolocation_adress}}</a:t>
                      </a:r>
                      <a:endParaRPr b="0" sz="975"/>
                    </a:p>
                  </a:txBody>
                  <a:tcPr marT="10575" marB="10575" marR="15875" marL="158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{{geolocation_postcode}}</a:t>
                      </a:r>
                      <a:endParaRPr b="0" sz="975"/>
                    </a:p>
                  </a:txBody>
                  <a:tcPr marT="10575" marB="10575" marR="15875" marL="158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{{geolocation_city}}</a:t>
                      </a:r>
                      <a:endParaRPr b="0" sz="975"/>
                    </a:p>
                  </a:txBody>
                  <a:tcPr marT="10575" marB="10575" marR="15875" marL="158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{{geolocation_country}}</a:t>
                      </a:r>
                      <a:endParaRPr b="0" sz="975"/>
                    </a:p>
                  </a:txBody>
                  <a:tcPr marT="10575" marB="10575" marR="15875" marL="158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{{geolocation_coordinates}}</a:t>
                      </a:r>
                      <a:endParaRPr b="0" sz="975"/>
                    </a:p>
                  </a:txBody>
                  <a:tcPr marT="10575" marB="10575" marR="15875" marL="158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73" name="Google Shape;73;p3"/>
          <p:cNvSpPr txBox="1"/>
          <p:nvPr/>
        </p:nvSpPr>
        <p:spPr>
          <a:xfrm>
            <a:off x="411480" y="6538989"/>
            <a:ext cx="6737040" cy="5385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a-DK" sz="975" u="none" cap="none" strike="noStrike">
                <a:solidFill>
                  <a:schemeClr val="dk2"/>
                </a:solidFill>
                <a:latin typeface="Inter"/>
                <a:ea typeface="Inter"/>
                <a:cs typeface="Inter"/>
                <a:sym typeface="Inter"/>
              </a:rPr>
              <a:t>Nedenfor er en beskrivelse af virksomhedens geolokationer, samt hvor virksomheden opererer. Disse oplysninger kan anvendes til klimarelaterede risikozoner og giver oplysninger om virksomhedens anlæg, faciliteter og/eller hovedkvarter. Relevante bæredygtighedscertificeringer eller -mærker er også angivet, herunder udsteder af certificeringen, dato og eventuel rating.</a:t>
            </a:r>
            <a:endParaRPr b="0" i="0" sz="975" u="none" cap="none" strike="noStrike">
              <a:solidFill>
                <a:schemeClr val="dk2"/>
              </a:solidFill>
              <a:latin typeface="Inter"/>
              <a:ea typeface="Inter"/>
              <a:cs typeface="Inter"/>
              <a:sym typeface="Inter"/>
            </a:endParaRPr>
          </a:p>
        </p:txBody>
      </p:sp>
      <p:sp>
        <p:nvSpPr>
          <p:cNvPr id="74" name="Google Shape;74;p3"/>
          <p:cNvSpPr txBox="1"/>
          <p:nvPr/>
        </p:nvSpPr>
        <p:spPr>
          <a:xfrm>
            <a:off x="411480" y="8706648"/>
            <a:ext cx="6737040" cy="2308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a-DK" sz="975" u="none" cap="none" strike="noStrike">
                <a:solidFill>
                  <a:srgbClr val="487477"/>
                </a:solidFill>
                <a:latin typeface="Inter"/>
                <a:ea typeface="Inter"/>
                <a:cs typeface="Inter"/>
                <a:sym typeface="Inter"/>
              </a:rPr>
              <a:t>Virksomhedens certifikater og miljømærker er listet nedenfor.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411480" y="817033"/>
            <a:ext cx="6737040" cy="207741"/>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Indsatser, politikker og fremtidige initiativer for omstilling til en mere bæredygtig økonomi (B2)</a:t>
            </a:r>
            <a:endParaRPr/>
          </a:p>
        </p:txBody>
      </p:sp>
      <p:sp>
        <p:nvSpPr>
          <p:cNvPr id="81" name="Google Shape;81;p4"/>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graphicFrame>
        <p:nvGraphicFramePr>
          <p:cNvPr id="82" name="Google Shape;82;p4"/>
          <p:cNvGraphicFramePr/>
          <p:nvPr/>
        </p:nvGraphicFramePr>
        <p:xfrm>
          <a:off x="411480" y="2494291"/>
          <a:ext cx="3000000" cy="3000000"/>
        </p:xfrm>
        <a:graphic>
          <a:graphicData uri="http://schemas.openxmlformats.org/drawingml/2006/table">
            <a:tbl>
              <a:tblPr firstRow="1">
                <a:noFill/>
                <a:tableStyleId>{E5686DB3-B821-445C-B3A6-515973651C61}</a:tableStyleId>
              </a:tblPr>
              <a:tblGrid>
                <a:gridCol w="1204350"/>
                <a:gridCol w="1272050"/>
                <a:gridCol w="996200"/>
                <a:gridCol w="1394675"/>
                <a:gridCol w="1869775"/>
              </a:tblGrid>
              <a:tr h="39687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Område</a:t>
                      </a:r>
                      <a:endParaRPr/>
                    </a:p>
                    <a:p>
                      <a:pPr indent="0" lvl="0" marL="0" marR="0" rtl="0" algn="l">
                        <a:spcBef>
                          <a:spcPts val="0"/>
                        </a:spcBef>
                        <a:spcAft>
                          <a:spcPts val="0"/>
                        </a:spcAft>
                        <a:buNone/>
                      </a:pPr>
                      <a:r>
                        <a:rPr b="0" lang="da-DK" sz="975">
                          <a:solidFill>
                            <a:schemeClr val="dk2"/>
                          </a:solidFill>
                          <a:latin typeface="IBM Plex Sans"/>
                          <a:ea typeface="IBM Plex Sans"/>
                          <a:cs typeface="IBM Plex Sans"/>
                          <a:sym typeface="IBM Plex Sans"/>
                        </a:rPr>
                        <a:t>(pkt. 29a-d)</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Virksomheden har en konkret indsats eller politik på området</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Er politikken offentligt tilgængelig? </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Virksomheden har fremtidige initiativer og planer</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Virksomheden har konkrete målsætninger til at monitorere implementering af indsatser og politikker?</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53750">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Klimaforandringer</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{{climate_change_concrete}}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{{climate_change_publicly}}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{{climate_change_future}}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{{climate_change_plan}}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0800">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Forurening</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{{pollution_concrete}}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{{pollution_publicly}}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{{pollution_future}}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{{pollution_plan}}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62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Vand -og Havressourcer</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{{water_concrete}}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{{water_publicly}}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{{water_future}}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{{water_plan}}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62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Biodiversitet og Økosystemer</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{{biodiversity_concrete}}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{{biodiversity_publicly}}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{{biodiversity_future}}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{{biodiversity_plan}}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62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Cirkulær økonomi</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{{circular_concrete}}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{{circular_publicly}}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{{circular_future}}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{{circular_plan}}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62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Egen arbejdsstyrke</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{{workforce_concrete}}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{{workforce_publicly}}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{{workforce_future}}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{{workforce_plan}}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62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Arbejdere i værdikæden</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{{workers_concrete}}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{{workers_publicly}}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{{workers_future}}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{{workers_plan}}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62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Berørte samfund</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{{communities_concrete}}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{{communities_publicly}}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{{communities_future}}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{{communities_plan}}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62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Forbrugere og slutbrugere</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{{consumers_concrete}}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{{consumers_publicly}}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{{consumers_future}}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{{consumers_plan}}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625">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Virksomhedsledelse</a:t>
                      </a: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{{governance_concrete}}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{{governance_publicly}}</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{{governance_future}}</a:t>
                      </a:r>
                      <a:endParaRPr b="0" sz="975"/>
                    </a:p>
                  </a:txBody>
                  <a:tcPr marT="15875" marB="15875" marR="21175" marL="211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{{governance_plan}}</a:t>
                      </a:r>
                      <a:endParaRPr sz="1475">
                        <a:latin typeface="Inter"/>
                        <a:ea typeface="Inter"/>
                        <a:cs typeface="Inter"/>
                        <a:sym typeface="Inter"/>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83" name="Google Shape;83;p4"/>
          <p:cNvSpPr txBox="1"/>
          <p:nvPr/>
        </p:nvSpPr>
        <p:spPr>
          <a:xfrm>
            <a:off x="411480" y="1513504"/>
            <a:ext cx="6737040" cy="5385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975"/>
              <a:buFont typeface="Inter"/>
              <a:buNone/>
            </a:pPr>
            <a:r>
              <a:rPr b="0" i="0" lang="da-DK" sz="975" u="none" strike="noStrike">
                <a:solidFill>
                  <a:schemeClr val="dk2"/>
                </a:solidFill>
                <a:latin typeface="Inter"/>
                <a:ea typeface="Inter"/>
                <a:cs typeface="Inter"/>
                <a:sym typeface="Inter"/>
              </a:rPr>
              <a:t>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(JA/NEJ).</a:t>
            </a:r>
            <a:br>
              <a:rPr lang="da-DK" sz="975">
                <a:solidFill>
                  <a:schemeClr val="dk2"/>
                </a:solidFill>
                <a:latin typeface="IBM Plex Sans"/>
                <a:ea typeface="IBM Plex Sans"/>
                <a:cs typeface="IBM Plex Sans"/>
                <a:sym typeface="IBM Plex Sans"/>
              </a:rPr>
            </a:br>
            <a:endParaRPr sz="975">
              <a:solidFill>
                <a:schemeClr val="dk2"/>
              </a:solidFill>
              <a:latin typeface="IBM Plex Sans"/>
              <a:ea typeface="IBM Plex Sans"/>
              <a:cs typeface="IBM Plex Sans"/>
              <a:sym typeface="IBM Plex Sans"/>
            </a:endParaRPr>
          </a:p>
        </p:txBody>
      </p:sp>
      <p:sp>
        <p:nvSpPr>
          <p:cNvPr id="84" name="Google Shape;84;p4"/>
          <p:cNvSpPr txBox="1"/>
          <p:nvPr>
            <p:ph idx="12" type="sldNum"/>
          </p:nvPr>
        </p:nvSpPr>
        <p:spPr>
          <a:xfrm>
            <a:off x="411480" y="10152285"/>
            <a:ext cx="6737040"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Energiforbrug (B3)</a:t>
            </a:r>
            <a:endParaRPr/>
          </a:p>
        </p:txBody>
      </p:sp>
      <p:graphicFrame>
        <p:nvGraphicFramePr>
          <p:cNvPr id="91" name="Google Shape;91;p5"/>
          <p:cNvGraphicFramePr/>
          <p:nvPr/>
        </p:nvGraphicFramePr>
        <p:xfrm>
          <a:off x="411480" y="2059046"/>
          <a:ext cx="3000000" cy="3000000"/>
        </p:xfrm>
        <a:graphic>
          <a:graphicData uri="http://schemas.openxmlformats.org/drawingml/2006/table">
            <a:tbl>
              <a:tblPr firstRow="1">
                <a:noFill/>
                <a:tableStyleId>{E5686DB3-B821-445C-B3A6-515973651C61}</a:tableStyleId>
              </a:tblPr>
              <a:tblGrid>
                <a:gridCol w="1828425"/>
                <a:gridCol w="1697225"/>
                <a:gridCol w="1789850"/>
                <a:gridCol w="1421550"/>
              </a:tblGrid>
              <a:tr h="207725">
                <a:tc gridSpan="4">
                  <a:txBody>
                    <a:bodyPr/>
                    <a:lstStyle/>
                    <a:p>
                      <a:pPr indent="0" lvl="0" marL="0" marR="0" rtl="0" algn="ctr">
                        <a:lnSpc>
                          <a:spcPct val="106000"/>
                        </a:lnSpc>
                        <a:spcBef>
                          <a:spcPts val="0"/>
                        </a:spcBef>
                        <a:spcAft>
                          <a:spcPts val="0"/>
                        </a:spcAft>
                        <a:buClr>
                          <a:schemeClr val="dk2"/>
                        </a:buClr>
                        <a:buSzPts val="975"/>
                        <a:buFont typeface="IBM Plex Sans"/>
                        <a:buNone/>
                      </a:pPr>
                      <a:r>
                        <a:rPr b="1" lang="da-DK" sz="975">
                          <a:solidFill>
                            <a:schemeClr val="dk2"/>
                          </a:solidFill>
                        </a:rPr>
                        <a:t>Energiforbrug i MWh </a:t>
                      </a:r>
                      <a:r>
                        <a:rPr b="0" lang="da-DK" sz="975">
                          <a:solidFill>
                            <a:schemeClr val="dk2"/>
                          </a:solidFill>
                        </a:rPr>
                        <a:t>(pkt. 32)</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30250">
                <a:tc>
                  <a:txBody>
                    <a:bodyPr/>
                    <a:lstStyle/>
                    <a:p>
                      <a:pPr indent="0" lvl="0" marL="0" marR="0" rtl="0" algn="l">
                        <a:lnSpc>
                          <a:spcPct val="106000"/>
                        </a:lnSpc>
                        <a:spcBef>
                          <a:spcPts val="0"/>
                        </a:spcBef>
                        <a:spcAft>
                          <a:spcPts val="0"/>
                        </a:spcAft>
                        <a:buNone/>
                      </a:pPr>
                      <a:r>
                        <a:t/>
                      </a:r>
                      <a:endParaRPr b="1"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a-DK" sz="975">
                          <a:solidFill>
                            <a:schemeClr val="dk2"/>
                          </a:solidFill>
                        </a:rPr>
                        <a:t>Vedvarende energiforbrug</a:t>
                      </a:r>
                      <a:r>
                        <a:rPr b="1" lang="da-DK" sz="975">
                          <a:solidFill>
                            <a:schemeClr val="dk2"/>
                          </a:solidFill>
                        </a:rPr>
                        <a:t> (MWh)</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a-DK" sz="975">
                          <a:solidFill>
                            <a:schemeClr val="dk2"/>
                          </a:solidFill>
                        </a:rPr>
                        <a:t>Ikke-vedvarende energiforbrug</a:t>
                      </a:r>
                      <a:r>
                        <a:rPr b="1" lang="da-DK" sz="975">
                          <a:solidFill>
                            <a:schemeClr val="dk2"/>
                          </a:solidFill>
                        </a:rPr>
                        <a:t> (MWh)</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975"/>
                        <a:buFont typeface="IBM Plex Sans"/>
                        <a:buNone/>
                      </a:pPr>
                      <a:r>
                        <a:rPr b="1" lang="da-DK" sz="975">
                          <a:solidFill>
                            <a:schemeClr val="dk2"/>
                          </a:solidFill>
                        </a:rPr>
                        <a:t>Total energiforbrug (MWh)</a:t>
                      </a:r>
                      <a:endParaRPr/>
                    </a:p>
                    <a:p>
                      <a:pPr indent="0" lvl="0" marL="0" marR="0" rtl="0" algn="r">
                        <a:lnSpc>
                          <a:spcPct val="106000"/>
                        </a:lnSpc>
                        <a:spcBef>
                          <a:spcPts val="0"/>
                        </a:spcBef>
                        <a:spcAft>
                          <a:spcPts val="0"/>
                        </a:spcAft>
                        <a:buClr>
                          <a:srgbClr val="1B4528"/>
                        </a:buClr>
                        <a:buSzPts val="975"/>
                        <a:buFont typeface="IBM Plex Sans"/>
                        <a:buNone/>
                      </a:pPr>
                      <a:r>
                        <a:rPr b="1" lang="da-DK" sz="975">
                          <a:solidFill>
                            <a:srgbClr val="1B4528"/>
                          </a:solidFill>
                        </a:rPr>
                        <a:t>{{insert_year}}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0250">
                <a:tc>
                  <a:txBody>
                    <a:bodyPr/>
                    <a:lstStyle/>
                    <a:p>
                      <a:pPr indent="0" lvl="0" marL="0" marR="0" rtl="0" algn="l">
                        <a:lnSpc>
                          <a:spcPct val="106000"/>
                        </a:lnSpc>
                        <a:spcBef>
                          <a:spcPts val="0"/>
                        </a:spcBef>
                        <a:spcAft>
                          <a:spcPts val="0"/>
                        </a:spcAft>
                        <a:buNone/>
                      </a:pPr>
                      <a:r>
                        <a:rPr b="1" lang="da-DK" sz="975">
                          <a:solidFill>
                            <a:schemeClr val="dk2"/>
                          </a:solidFill>
                        </a:rPr>
                        <a:t>Elektricitet </a:t>
                      </a:r>
                      <a:r>
                        <a:rPr b="0" lang="da-DK" sz="975">
                          <a:solidFill>
                            <a:schemeClr val="dk2"/>
                          </a:solidFill>
                        </a:rPr>
                        <a:t>(som det fremgår af virksomhedens forbrugsregninger)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{{electricity_renewable}}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{{electricity_non_rewenable}}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{{total_electricity}}</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07725">
                <a:tc>
                  <a:txBody>
                    <a:bodyPr/>
                    <a:lstStyle/>
                    <a:p>
                      <a:pPr indent="0" lvl="0" marL="0" marR="0" rtl="0" algn="l">
                        <a:lnSpc>
                          <a:spcPct val="106000"/>
                        </a:lnSpc>
                        <a:spcBef>
                          <a:spcPts val="0"/>
                        </a:spcBef>
                        <a:spcAft>
                          <a:spcPts val="0"/>
                        </a:spcAft>
                        <a:buNone/>
                      </a:pPr>
                      <a:r>
                        <a:rPr b="1" lang="da-DK" sz="975">
                          <a:solidFill>
                            <a:schemeClr val="dk2"/>
                          </a:solidFill>
                        </a:rPr>
                        <a:t>Brændstoffer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{{fuel_renewable}}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{{fuel_non_rewenable}}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{{total_fuel}}</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07725">
                <a:tc>
                  <a:txBody>
                    <a:bodyPr/>
                    <a:lstStyle/>
                    <a:p>
                      <a:pPr indent="0" lvl="0" marL="0" marR="0" rtl="0" algn="l">
                        <a:lnSpc>
                          <a:spcPct val="106000"/>
                        </a:lnSpc>
                        <a:spcBef>
                          <a:spcPts val="0"/>
                        </a:spcBef>
                        <a:spcAft>
                          <a:spcPts val="0"/>
                        </a:spcAft>
                        <a:buNone/>
                      </a:pPr>
                      <a:r>
                        <a:rPr b="1" lang="da-DK" sz="975">
                          <a:solidFill>
                            <a:schemeClr val="dk2"/>
                          </a:solidFill>
                        </a:rPr>
                        <a:t>Andet (fx fjernvarme)</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{{district_heating_rewenable}}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{{district_heating_non_rewenable}}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{{total_district_heating}}</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07725">
                <a:tc>
                  <a:txBody>
                    <a:bodyPr/>
                    <a:lstStyle/>
                    <a:p>
                      <a:pPr indent="0" lvl="0" marL="0" marR="0" rtl="0" algn="l">
                        <a:lnSpc>
                          <a:spcPct val="106000"/>
                        </a:lnSpc>
                        <a:spcBef>
                          <a:spcPts val="0"/>
                        </a:spcBef>
                        <a:spcAft>
                          <a:spcPts val="0"/>
                        </a:spcAft>
                        <a:buNone/>
                      </a:pPr>
                      <a:r>
                        <a:rPr b="1" lang="da-DK" sz="975">
                          <a:solidFill>
                            <a:schemeClr val="dk2"/>
                          </a:solidFill>
                        </a:rPr>
                        <a:t>Total</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{{renewable_energy_total}}</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{{non_rewenable_energy_total}}</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BM Plex Sans"/>
                        <a:buNone/>
                      </a:pPr>
                      <a:r>
                        <a:rPr b="0" i="0" lang="da-DK" sz="975" u="none" strike="noStrike">
                          <a:solidFill>
                            <a:srgbClr val="1B4528"/>
                          </a:solidFill>
                          <a:latin typeface="IBM Plex Sans"/>
                          <a:ea typeface="IBM Plex Sans"/>
                          <a:cs typeface="IBM Plex Sans"/>
                          <a:sym typeface="IBM Plex Sans"/>
                        </a:rPr>
                        <a:t>{{total_energy_consumption}}</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92" name="Google Shape;92;p5"/>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93" name="Google Shape;93;p5"/>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94" name="Google Shape;94;p5"/>
          <p:cNvSpPr txBox="1"/>
          <p:nvPr/>
        </p:nvSpPr>
        <p:spPr>
          <a:xfrm>
            <a:off x="411480" y="1204910"/>
            <a:ext cx="6737040" cy="689402"/>
          </a:xfrm>
          <a:prstGeom prst="rect">
            <a:avLst/>
          </a:prstGeom>
          <a:noFill/>
          <a:ln>
            <a:noFill/>
          </a:ln>
        </p:spPr>
        <p:txBody>
          <a:bodyPr anchorCtr="0" anchor="t" bIns="38075" lIns="76175" spcFirstLastPara="1" rIns="76175" wrap="square" tIns="38075">
            <a:spAutoFit/>
          </a:bodyPr>
          <a:lstStyle/>
          <a:p>
            <a:pPr indent="0" lvl="0" marL="0" marR="0" rtl="0" algn="l">
              <a:spcBef>
                <a:spcPts val="0"/>
              </a:spcBef>
              <a:spcAft>
                <a:spcPts val="0"/>
              </a:spcAft>
              <a:buNone/>
            </a:pPr>
            <a:r>
              <a:rPr b="0" i="0" lang="da-DK" sz="975" u="none" strike="noStrike">
                <a:solidFill>
                  <a:schemeClr val="dk2"/>
                </a:solidFill>
                <a:latin typeface="Inter"/>
                <a:ea typeface="Inter"/>
                <a:cs typeface="Inter"/>
                <a:sym typeface="Inter"/>
              </a:rPr>
              <a:t>Dette afsnit angiver virksomhedens CO2-udledning fra energiforbrug og angiver vedvarende og ikke-vedvarende forbrug. </a:t>
            </a:r>
            <a:r>
              <a:rPr lang="da-DK" sz="975">
                <a:solidFill>
                  <a:schemeClr val="dk2"/>
                </a:solidFill>
                <a:latin typeface="Inter"/>
                <a:ea typeface="Inter"/>
                <a:cs typeface="Inter"/>
                <a:sym typeface="Inter"/>
              </a:rPr>
              <a:t>Udledningerne er oplyst ud fra </a:t>
            </a:r>
            <a:r>
              <a:rPr b="0" i="0" lang="da-DK" sz="975" u="none" strike="noStrike">
                <a:solidFill>
                  <a:schemeClr val="dk2"/>
                </a:solidFill>
                <a:latin typeface="Inter"/>
                <a:ea typeface="Inter"/>
                <a:cs typeface="Inter"/>
                <a:sym typeface="Inter"/>
              </a:rPr>
              <a:t>GHG-protokollens definitioner afhvad direkte og indirekte emissioner omfatter. </a:t>
            </a:r>
            <a:br>
              <a:rPr b="0" i="0" lang="da-DK" sz="975" u="none" strike="noStrike">
                <a:solidFill>
                  <a:schemeClr val="dk1"/>
                </a:solidFill>
                <a:latin typeface="Inter"/>
                <a:ea typeface="Inter"/>
                <a:cs typeface="Inter"/>
                <a:sym typeface="Inter"/>
              </a:rPr>
            </a:br>
            <a:br>
              <a:rPr lang="da-DK" sz="975">
                <a:solidFill>
                  <a:schemeClr val="dk1"/>
                </a:solidFill>
                <a:latin typeface="Inter"/>
                <a:ea typeface="Inter"/>
                <a:cs typeface="Inter"/>
                <a:sym typeface="Inter"/>
              </a:rPr>
            </a:br>
            <a:r>
              <a:rPr b="0" i="0" lang="da-DK" sz="650" u="none" strike="noStrike">
                <a:solidFill>
                  <a:schemeClr val="dk2"/>
                </a:solidFill>
                <a:latin typeface="Inter"/>
                <a:ea typeface="Inter"/>
                <a:cs typeface="Inter"/>
                <a:sym typeface="Inter"/>
              </a:rPr>
              <a:t> </a:t>
            </a:r>
            <a:endParaRPr b="0" i="0" sz="975" u="none" strike="noStrike">
              <a:solidFill>
                <a:schemeClr val="dk2"/>
              </a:solidFill>
              <a:latin typeface="Inter"/>
              <a:ea typeface="Inter"/>
              <a:cs typeface="Inter"/>
              <a:sym typeface="Inter"/>
            </a:endParaRPr>
          </a:p>
          <a:p>
            <a:pPr indent="0" lvl="0" marL="0" marR="0" rtl="0" algn="l">
              <a:spcBef>
                <a:spcPts val="0"/>
              </a:spcBef>
              <a:spcAft>
                <a:spcPts val="0"/>
              </a:spcAft>
              <a:buClr>
                <a:schemeClr val="dk1"/>
              </a:buClr>
              <a:buSzPts val="975"/>
              <a:buFont typeface="IBM Plex Sans"/>
              <a:buNone/>
            </a:pPr>
            <a:r>
              <a:t/>
            </a:r>
            <a:endParaRPr b="0" sz="975">
              <a:solidFill>
                <a:schemeClr val="dk2"/>
              </a:solidFill>
              <a:latin typeface="Inter"/>
              <a:ea typeface="Inter"/>
              <a:cs typeface="Inter"/>
              <a:sym typeface="Inter"/>
            </a:endParaRPr>
          </a:p>
          <a:p>
            <a:pPr indent="0" lvl="0" marL="0" marR="0" rtl="0" algn="l">
              <a:spcBef>
                <a:spcPts val="0"/>
              </a:spcBef>
              <a:spcAft>
                <a:spcPts val="0"/>
              </a:spcAft>
              <a:buClr>
                <a:schemeClr val="dk1"/>
              </a:buClr>
              <a:buSzPts val="1800"/>
              <a:buFont typeface="IBM Plex Sans"/>
              <a:buNone/>
            </a:pPr>
            <a:r>
              <a:t/>
            </a:r>
            <a:endParaRPr b="0" sz="18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325"/>
              <a:buFont typeface="IBM Plex Sans"/>
              <a:buNone/>
            </a:pPr>
            <a:r>
              <a:t/>
            </a:r>
            <a:endParaRPr sz="1325">
              <a:solidFill>
                <a:schemeClr val="dk2"/>
              </a:solidFill>
              <a:latin typeface="Inter"/>
              <a:ea typeface="Inter"/>
              <a:cs typeface="Inter"/>
              <a:sym typeface="Inter"/>
            </a:endParaRPr>
          </a:p>
          <a:p>
            <a:pPr indent="0" lvl="0" marL="0" marR="0" rtl="0" algn="l">
              <a:spcBef>
                <a:spcPts val="0"/>
              </a:spcBef>
              <a:spcAft>
                <a:spcPts val="0"/>
              </a:spcAft>
              <a:buClr>
                <a:schemeClr val="dk1"/>
              </a:buClr>
              <a:buSzPts val="1325"/>
              <a:buFont typeface="IBM Plex Sans"/>
              <a:buNone/>
            </a:pPr>
            <a:r>
              <a:t/>
            </a:r>
            <a:endParaRPr b="0" sz="1325">
              <a:solidFill>
                <a:schemeClr val="dk2"/>
              </a:solidFill>
              <a:latin typeface="Inter"/>
              <a:ea typeface="Inter"/>
              <a:cs typeface="Inter"/>
              <a:sym typeface="Inter"/>
            </a:endParaRPr>
          </a:p>
          <a:p>
            <a:pPr indent="0" lvl="0" marL="0" marR="0" rtl="0" algn="l">
              <a:spcBef>
                <a:spcPts val="0"/>
              </a:spcBef>
              <a:spcAft>
                <a:spcPts val="0"/>
              </a:spcAft>
              <a:buClr>
                <a:schemeClr val="dk1"/>
              </a:buClr>
              <a:buSzPts val="1325"/>
              <a:buFont typeface="IBM Plex Sans"/>
              <a:buNone/>
            </a:pPr>
            <a:r>
              <a:t/>
            </a:r>
            <a:endParaRPr sz="1325">
              <a:solidFill>
                <a:schemeClr val="dk2"/>
              </a:solidFill>
              <a:latin typeface="Inter"/>
              <a:ea typeface="Inter"/>
              <a:cs typeface="Inter"/>
              <a:sym typeface="Inter"/>
            </a:endParaRPr>
          </a:p>
          <a:p>
            <a:pPr indent="0" lvl="0" marL="0" marR="0" rtl="0" algn="l">
              <a:spcBef>
                <a:spcPts val="0"/>
              </a:spcBef>
              <a:spcAft>
                <a:spcPts val="0"/>
              </a:spcAft>
              <a:buClr>
                <a:schemeClr val="dk1"/>
              </a:buClr>
              <a:buSzPts val="1325"/>
              <a:buFont typeface="IBM Plex Sans"/>
              <a:buNone/>
            </a:pPr>
            <a:r>
              <a:t/>
            </a:r>
            <a:endParaRPr b="0" sz="1325">
              <a:solidFill>
                <a:schemeClr val="dk2"/>
              </a:solidFill>
              <a:latin typeface="Inter"/>
              <a:ea typeface="Inter"/>
              <a:cs typeface="Inter"/>
              <a:sym typeface="Inter"/>
            </a:endParaRPr>
          </a:p>
          <a:p>
            <a:pPr indent="0" lvl="0" marL="0" marR="0" rtl="0" algn="l">
              <a:spcBef>
                <a:spcPts val="0"/>
              </a:spcBef>
              <a:spcAft>
                <a:spcPts val="0"/>
              </a:spcAft>
              <a:buNone/>
            </a:pPr>
            <a:r>
              <a:t/>
            </a:r>
            <a:endParaRPr b="1" sz="1325">
              <a:solidFill>
                <a:schemeClr val="dk1"/>
              </a:solidFill>
              <a:latin typeface="IBM Plex Sans"/>
              <a:ea typeface="IBM Plex Sans"/>
              <a:cs typeface="IBM Plex Sans"/>
              <a:sym typeface="IBM Plex Sans"/>
            </a:endParaRPr>
          </a:p>
        </p:txBody>
      </p:sp>
      <p:graphicFrame>
        <p:nvGraphicFramePr>
          <p:cNvPr id="95" name="Google Shape;95;p5"/>
          <p:cNvGraphicFramePr/>
          <p:nvPr/>
        </p:nvGraphicFramePr>
        <p:xfrm>
          <a:off x="411480" y="6553529"/>
          <a:ext cx="3000000" cy="3000000"/>
        </p:xfrm>
        <a:graphic>
          <a:graphicData uri="http://schemas.openxmlformats.org/drawingml/2006/table">
            <a:tbl>
              <a:tblPr firstRow="1">
                <a:noFill/>
                <a:tableStyleId>{E5686DB3-B821-445C-B3A6-515973651C61}</a:tableStyleId>
              </a:tblPr>
              <a:tblGrid>
                <a:gridCol w="5333950"/>
                <a:gridCol w="1403075"/>
              </a:tblGrid>
              <a:tr h="226600">
                <a:tc>
                  <a:txBody>
                    <a:bodyPr/>
                    <a:lstStyle/>
                    <a:p>
                      <a:pPr indent="0" lvl="0" marL="0" marR="0" rtl="0" algn="l">
                        <a:lnSpc>
                          <a:spcPct val="106000"/>
                        </a:lnSpc>
                        <a:spcBef>
                          <a:spcPts val="0"/>
                        </a:spcBef>
                        <a:spcAft>
                          <a:spcPts val="0"/>
                        </a:spcAft>
                        <a:buNone/>
                      </a:pPr>
                      <a:r>
                        <a:rPr b="1" lang="da-DK" sz="975">
                          <a:solidFill>
                            <a:schemeClr val="dk2"/>
                          </a:solidFill>
                        </a:rPr>
                        <a:t>Udledning af drivhusgasser </a:t>
                      </a:r>
                      <a:r>
                        <a:rPr b="0" lang="da-DK" sz="975">
                          <a:solidFill>
                            <a:schemeClr val="dk2"/>
                          </a:solidFill>
                        </a:rPr>
                        <a:t>(pkt. 33)</a:t>
                      </a:r>
                      <a:endParaRPr b="1"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975"/>
                        <a:buFont typeface="IBM Plex Sans"/>
                        <a:buNone/>
                      </a:pPr>
                      <a:r>
                        <a:rPr b="1" lang="da-DK" sz="975">
                          <a:solidFill>
                            <a:schemeClr val="dk2"/>
                          </a:solidFill>
                        </a:rPr>
                        <a:t>År </a:t>
                      </a:r>
                      <a:r>
                        <a:rPr b="1" lang="da-DK" sz="975">
                          <a:solidFill>
                            <a:srgbClr val="1B4528"/>
                          </a:solidFill>
                          <a:latin typeface="Calibri"/>
                          <a:ea typeface="Calibri"/>
                          <a:cs typeface="Calibri"/>
                          <a:sym typeface="Calibri"/>
                        </a:rPr>
                        <a:t>{{insert_year}}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25650">
                <a:tc>
                  <a:txBody>
                    <a:bodyPr/>
                    <a:lstStyle/>
                    <a:p>
                      <a:pPr indent="0" lvl="0" marL="0" marR="0" rtl="0" algn="l">
                        <a:lnSpc>
                          <a:spcPct val="106000"/>
                        </a:lnSpc>
                        <a:spcBef>
                          <a:spcPts val="0"/>
                        </a:spcBef>
                        <a:spcAft>
                          <a:spcPts val="0"/>
                        </a:spcAft>
                        <a:buNone/>
                      </a:pPr>
                      <a:r>
                        <a:rPr b="1" lang="da-DK" sz="975">
                          <a:solidFill>
                            <a:schemeClr val="dk2"/>
                          </a:solidFill>
                        </a:rPr>
                        <a:t>Scope 1 CO₂e-udledninger</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{{scope1}}</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25650">
                <a:tc>
                  <a:txBody>
                    <a:bodyPr/>
                    <a:lstStyle/>
                    <a:p>
                      <a:pPr indent="0" lvl="0" marL="0" marR="0" rtl="0" algn="l">
                        <a:lnSpc>
                          <a:spcPct val="106000"/>
                        </a:lnSpc>
                        <a:spcBef>
                          <a:spcPts val="0"/>
                        </a:spcBef>
                        <a:spcAft>
                          <a:spcPts val="0"/>
                        </a:spcAft>
                        <a:buNone/>
                      </a:pPr>
                      <a:r>
                        <a:rPr b="1" lang="da-DK" sz="975">
                          <a:solidFill>
                            <a:schemeClr val="dk2"/>
                          </a:solidFill>
                        </a:rPr>
                        <a:t>Scope 2 CO₂e-udledninger (lokationsbaseret)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{{scope2}}</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25650">
                <a:tc>
                  <a:txBody>
                    <a:bodyPr/>
                    <a:lstStyle/>
                    <a:p>
                      <a:pPr indent="0" lvl="0" marL="0" marR="0" rtl="0" algn="l">
                        <a:lnSpc>
                          <a:spcPct val="106000"/>
                        </a:lnSpc>
                        <a:spcBef>
                          <a:spcPts val="0"/>
                        </a:spcBef>
                        <a:spcAft>
                          <a:spcPts val="0"/>
                        </a:spcAft>
                        <a:buNone/>
                      </a:pPr>
                      <a:r>
                        <a:rPr b="1" lang="da-DK" sz="975">
                          <a:solidFill>
                            <a:schemeClr val="dk2"/>
                          </a:solidFill>
                        </a:rPr>
                        <a:t>Total CO₂e-udledning fra scope 1 og scope 2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{{total_scope}}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97" name="B3 market-based (voluntary)"/>
          <p:cNvGraphicFramePr/>
          <p:nvPr/>
        </p:nvGraphicFramePr>
        <p:xfrm>
          <a:off x="411480" y="7630587"/>
          <a:ext cx="3000000" cy="451300"/>
        </p:xfrm>
        <a:graphic>
          <a:graphicData uri="http://schemas.openxmlformats.org/drawingml/2006/table">
            <a:tbl>
              <a:tblPr firstRow="0">
                <a:noFill/>
                <a:tableStyleId>{E5686DB3-B821-445C-B3A6-515973651C61}</a:tableStyleId>
              </a:tblPr>
              <a:tblGrid>
                <a:gridCol w="5333950"/>
                <a:gridCol w="1403075"/>
              </a:tblGrid>
              <a:tr h="225650">
                <a:tc>
                  <a:txBody>
                    <a:bodyPr/>
                    <a:lstStyle/>
                    <a:p>
                      <a:pPr indent="0" lvl="0" marL="0" marR="0" rtl="0" algn="l">
                        <a:lnSpc>
                          <a:spcPct val="106000"/>
                        </a:lnSpc>
                        <a:spcBef>
                          <a:spcPts val="0"/>
                        </a:spcBef>
                        <a:spcAft>
                          <a:spcPts val="0"/>
                        </a:spcAft>
                        <a:buNone/>
                      </a:pPr>
                      <a:r>
                        <a:rPr b="1" lang="da-DK" sz="975">
                          <a:solidFill>
                            <a:schemeClr val="dk2"/>
                          </a:solidFill>
                        </a:rPr>
                        <a:t>Scope 2 CO₂e-udledninger (markedsbaseret) (frivillig)</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{{scope1_marked}}</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25650">
                <a:tc>
                  <a:txBody>
                    <a:bodyPr/>
                    <a:lstStyle/>
                    <a:p>
                      <a:pPr indent="0" lvl="0" marL="0" marR="0" rtl="0" algn="l">
                        <a:lnSpc>
                          <a:spcPct val="106000"/>
                        </a:lnSpc>
                        <a:spcBef>
                          <a:spcPts val="0"/>
                        </a:spcBef>
                        <a:spcAft>
                          <a:spcPts val="0"/>
                        </a:spcAft>
                        <a:buNone/>
                      </a:pPr>
                      <a:r>
                        <a:rPr b="1" lang="da-DK" sz="975">
                          <a:solidFill>
                            <a:schemeClr val="dk2"/>
                          </a:solidFill>
                        </a:rPr>
                        <a:t>Total CO₂e-udledning fra scope 1 og scope 2 (markedsbaseret) (frivillig)</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{{scope2_marked}}</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96" name="Google Shape;96;p5"/>
          <p:cNvSpPr txBox="1"/>
          <p:nvPr/>
        </p:nvSpPr>
        <p:spPr>
          <a:xfrm>
            <a:off x="411480" y="4333689"/>
            <a:ext cx="6737040" cy="2194560"/>
          </a:xfrm>
          <a:prstGeom prst="rect">
            <a:avLst/>
          </a:prstGeom>
          <a:noFill/>
          <a:ln>
            <a:noFill/>
          </a:ln>
        </p:spPr>
        <p:txBody>
          <a:bodyPr anchorCtr="0" anchor="t" bIns="38075" lIns="76175" spcFirstLastPara="1" rIns="76175" wrap="square" tIns="38075">
            <a:spAutoFit/>
          </a:bodyPr>
          <a:lstStyle/>
          <a:p>
            <a:pPr indent="0" lvl="0" marL="0" marR="0" rtl="0" algn="l">
              <a:spcBef>
                <a:spcPts val="0"/>
              </a:spcBef>
              <a:spcAft>
                <a:spcPts val="0"/>
              </a:spcAft>
              <a:buNone/>
            </a:pPr>
            <a:br>
              <a:rPr b="1" lang="da-DK" sz="1800">
                <a:solidFill>
                  <a:schemeClr val="dk1"/>
                </a:solidFill>
                <a:latin typeface="IBM Plex Sans"/>
                <a:ea typeface="IBM Plex Sans"/>
                <a:cs typeface="IBM Plex Sans"/>
                <a:sym typeface="IBM Plex Sans"/>
              </a:rPr>
            </a:br>
            <a:r>
              <a:rPr b="1" i="0" lang="da-DK" sz="1800" u="none" strike="noStrike">
                <a:solidFill>
                  <a:schemeClr val="dk2"/>
                </a:solidFill>
                <a:latin typeface="IBM Plex Sans"/>
                <a:ea typeface="IBM Plex Sans"/>
                <a:cs typeface="IBM Plex Sans"/>
                <a:sym typeface="IBM Plex Sans"/>
              </a:rPr>
              <a:t>CO₂e-udledning (B3)</a:t>
            </a:r>
            <a:endParaRPr sz="1800">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lang="da-DK" sz="650">
                <a:solidFill>
                  <a:schemeClr val="dk1"/>
                </a:solidFill>
                <a:latin typeface="Inter"/>
                <a:ea typeface="Inter"/>
                <a:cs typeface="Inter"/>
                <a:sym typeface="Inter"/>
              </a:rPr>
              <a:t> </a:t>
            </a:r>
            <a:br>
              <a:rPr lang="da-DK" sz="975">
                <a:solidFill>
                  <a:schemeClr val="dk2"/>
                </a:solidFill>
                <a:latin typeface="Inter"/>
                <a:ea typeface="Inter"/>
                <a:cs typeface="Inter"/>
                <a:sym typeface="Inter"/>
              </a:rPr>
            </a:br>
            <a:r>
              <a:rPr b="0" i="0" lang="da-DK" sz="975" u="none" strike="noStrike">
                <a:solidFill>
                  <a:schemeClr val="dk2"/>
                </a:solidFill>
                <a:latin typeface="Inter"/>
                <a:ea typeface="Inter"/>
                <a:cs typeface="Inter"/>
                <a:sym typeface="Inter"/>
              </a:rPr>
              <a:t>Pkt. 33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r>
              <a:rPr lang="da-DK" sz="975">
                <a:solidFill>
                  <a:schemeClr val="dk2"/>
                </a:solidFill>
                <a:latin typeface="Inter"/>
                <a:ea typeface="Inter"/>
                <a:cs typeface="Inter"/>
                <a:sym typeface="Inter"/>
              </a:rPr>
              <a:t> </a:t>
            </a:r>
            <a:r>
              <a:rPr b="0" i="0" lang="da-DK" sz="975" u="none" strike="noStrike">
                <a:solidFill>
                  <a:schemeClr val="dk2"/>
                </a:solidFill>
                <a:latin typeface="Inter"/>
                <a:ea typeface="Inter"/>
                <a:cs typeface="Inter"/>
                <a:sym typeface="Inter"/>
              </a:rPr>
              <a:t>Scope 2</a:t>
            </a:r>
            <a:r>
              <a:rPr lang="da-DK" sz="975">
                <a:solidFill>
                  <a:schemeClr val="dk2"/>
                </a:solidFill>
                <a:latin typeface="Inter"/>
                <a:ea typeface="Inter"/>
                <a:cs typeface="Inter"/>
                <a:sym typeface="Inter"/>
              </a:rPr>
              <a:t> angiver i</a:t>
            </a:r>
            <a:r>
              <a:rPr b="0" i="0" lang="da-DK" sz="975" u="none" strike="noStrike">
                <a:solidFill>
                  <a:schemeClr val="dk2"/>
                </a:solidFill>
                <a:latin typeface="Inter"/>
                <a:ea typeface="Inter"/>
                <a:cs typeface="Inter"/>
                <a:sym typeface="Inter"/>
              </a:rPr>
              <a:t>ndirekte emissioner fra køb af elektricitet, som refererer til emissioner fra produktion af den el, damp, varme eller køling, som virksomheden køber og bruger. Selvom disse emissioner stammer fra energiproducenterne, tilskrives de virksomheden, fordi den forbruger energien.</a:t>
            </a:r>
            <a:endParaRPr b="0" sz="975">
              <a:solidFill>
                <a:schemeClr val="dk2"/>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6"/>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Forurening af luft, vand og jord (B4)</a:t>
            </a:r>
            <a:endParaRPr/>
          </a:p>
        </p:txBody>
      </p:sp>
      <p:graphicFrame>
        <p:nvGraphicFramePr>
          <p:cNvPr id="103" name="Google Shape;103;p6"/>
          <p:cNvGraphicFramePr/>
          <p:nvPr/>
        </p:nvGraphicFramePr>
        <p:xfrm>
          <a:off x="411480" y="1625932"/>
          <a:ext cx="6737025" cy="3000000"/>
        </p:xfrm>
        <a:graphic>
          <a:graphicData uri="http://schemas.openxmlformats.org/drawingml/2006/table">
            <a:tbl>
              <a:tblPr firstRow="1">
                <a:noFill/>
                <a:tableStyleId>{E5686DB3-B821-445C-B3A6-515973651C61}</a:tableStyleId>
              </a:tblPr>
              <a:tblGrid>
                <a:gridCol w="2134350"/>
                <a:gridCol w="2057900"/>
                <a:gridCol w="2544775"/>
              </a:tblGrid>
              <a:tr h="232850">
                <a:tc gridSpan="3">
                  <a:txBody>
                    <a:bodyPr/>
                    <a:lstStyle/>
                    <a:p>
                      <a:pPr indent="0" lvl="0" marL="0" marR="0" rtl="0" algn="l">
                        <a:lnSpc>
                          <a:spcPct val="106000"/>
                        </a:lnSpc>
                        <a:spcBef>
                          <a:spcPts val="0"/>
                        </a:spcBef>
                        <a:spcAft>
                          <a:spcPts val="0"/>
                        </a:spcAft>
                        <a:buNone/>
                      </a:pPr>
                      <a:r>
                        <a:rPr b="1" lang="da-DK" sz="824">
                          <a:solidFill>
                            <a:schemeClr val="dk2"/>
                          </a:solidFill>
                        </a:rPr>
                        <a:t>Forurening af luft, vand og jord </a:t>
                      </a:r>
                      <a:r>
                        <a:rPr b="0" lang="da-DK" sz="824">
                          <a:solidFill>
                            <a:schemeClr val="dk2"/>
                          </a:solidFill>
                        </a:rPr>
                        <a:t>(pkt. 34) </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32850">
                <a:tc>
                  <a:txBody>
                    <a:bodyPr/>
                    <a:lstStyle/>
                    <a:p>
                      <a:pPr indent="0" lvl="0" marL="0" marR="0" rtl="0" algn="l">
                        <a:lnSpc>
                          <a:spcPct val="106000"/>
                        </a:lnSpc>
                        <a:spcBef>
                          <a:spcPts val="0"/>
                        </a:spcBef>
                        <a:spcAft>
                          <a:spcPts val="0"/>
                        </a:spcAft>
                        <a:buClr>
                          <a:schemeClr val="dk2"/>
                        </a:buClr>
                        <a:buSzPts val="824"/>
                        <a:buFont typeface="IBM Plex Sans"/>
                        <a:buNone/>
                      </a:pPr>
                      <a:r>
                        <a:rPr b="1" lang="da-DK" sz="824">
                          <a:solidFill>
                            <a:schemeClr val="dk2"/>
                          </a:solidFill>
                        </a:rPr>
                        <a:t>Type af forurening </a:t>
                      </a:r>
                      <a:r>
                        <a:rPr b="0" lang="da-DK" sz="824">
                          <a:solidFill>
                            <a:schemeClr val="dk2"/>
                          </a:solidFill>
                        </a:rPr>
                        <a:t>(fx stof)</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a-DK" sz="824">
                          <a:solidFill>
                            <a:schemeClr val="dk2"/>
                          </a:solidFill>
                        </a:rPr>
                        <a:t>Hvor? </a:t>
                      </a:r>
                      <a:r>
                        <a:rPr b="0" lang="da-DK" sz="824">
                          <a:solidFill>
                            <a:schemeClr val="dk2"/>
                          </a:solidFill>
                        </a:rPr>
                        <a:t>(luft, vand, jord)</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a-DK" sz="824">
                          <a:solidFill>
                            <a:schemeClr val="dk2"/>
                          </a:solidFill>
                        </a:rPr>
                        <a:t>Omfang</a:t>
                      </a:r>
                      <a:endParaRPr b="0" sz="824">
                        <a:solidFill>
                          <a:srgbClr val="1B4528"/>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0925">
                <a:tc>
                  <a:txBody>
                    <a:bodyPr/>
                    <a:lstStyle/>
                    <a:p>
                      <a:pPr indent="0" lvl="0" marL="0" marR="0" rtl="0" algn="l">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{{type_of_pollution}}</a:t>
                      </a:r>
                      <a:endParaRPr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{{scope_pollution}}</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{{pollution_medium}}</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4" name="Google Shape;104;p6"/>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05" name="Google Shape;105;p6"/>
          <p:cNvSpPr txBox="1"/>
          <p:nvPr/>
        </p:nvSpPr>
        <p:spPr>
          <a:xfrm>
            <a:off x="411480" y="1192938"/>
            <a:ext cx="6737040" cy="384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824"/>
              <a:buFont typeface="Inter"/>
              <a:buNone/>
            </a:pPr>
            <a:r>
              <a:rPr b="0" i="0" lang="da-DK" sz="824" u="none" strike="noStrike">
                <a:solidFill>
                  <a:schemeClr val="dk2"/>
                </a:solidFill>
                <a:latin typeface="Inter"/>
                <a:ea typeface="Inter"/>
                <a:cs typeface="Inter"/>
                <a:sym typeface="Inter"/>
              </a:rPr>
              <a:t>Virksomheden rapporterer den samlede mængde af forurenende stoffer, der udledes fra deres anlæg. Rapportering om specifikke forurenende stoffer og deres mængder, der udledes til luft, vand og jord</a:t>
            </a:r>
            <a:r>
              <a:rPr lang="da-DK" sz="824">
                <a:solidFill>
                  <a:schemeClr val="dk2"/>
                </a:solidFill>
                <a:latin typeface="Inter"/>
                <a:ea typeface="Inter"/>
                <a:cs typeface="Inter"/>
                <a:sym typeface="Inter"/>
              </a:rPr>
              <a:t> er anført nedenfor.</a:t>
            </a:r>
            <a:endParaRPr/>
          </a:p>
        </p:txBody>
      </p:sp>
      <p:sp>
        <p:nvSpPr>
          <p:cNvPr id="106" name="Google Shape;106;p6"/>
          <p:cNvSpPr txBox="1"/>
          <p:nvPr/>
        </p:nvSpPr>
        <p:spPr>
          <a:xfrm>
            <a:off x="411480" y="2673447"/>
            <a:ext cx="6737040" cy="20774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247"/>
              <a:buFont typeface="IBM Plex Sans"/>
              <a:buNone/>
            </a:pPr>
            <a:r>
              <a:rPr b="1" lang="da-DK" sz="1247">
                <a:solidFill>
                  <a:schemeClr val="dk2"/>
                </a:solidFill>
                <a:latin typeface="IBM Plex Sans"/>
                <a:ea typeface="IBM Plex Sans"/>
                <a:cs typeface="IBM Plex Sans"/>
                <a:sym typeface="IBM Plex Sans"/>
              </a:rPr>
              <a:t>Biodiversitet (B5) </a:t>
            </a:r>
            <a:endParaRPr/>
          </a:p>
        </p:txBody>
      </p:sp>
      <p:graphicFrame>
        <p:nvGraphicFramePr>
          <p:cNvPr id="107" name="Google Shape;107;p6"/>
          <p:cNvGraphicFramePr/>
          <p:nvPr/>
        </p:nvGraphicFramePr>
        <p:xfrm>
          <a:off x="411480" y="3665551"/>
          <a:ext cx="6737025" cy="3000000"/>
        </p:xfrm>
        <a:graphic>
          <a:graphicData uri="http://schemas.openxmlformats.org/drawingml/2006/table">
            <a:tbl>
              <a:tblPr firstRow="1">
                <a:noFill/>
                <a:tableStyleId>{E5686DB3-B821-445C-B3A6-515973651C61}</a:tableStyleId>
              </a:tblPr>
              <a:tblGrid>
                <a:gridCol w="1223625"/>
                <a:gridCol w="1837800"/>
                <a:gridCol w="1837800"/>
                <a:gridCol w="1837800"/>
              </a:tblGrid>
              <a:tr h="192400">
                <a:tc gridSpan="4">
                  <a:txBody>
                    <a:bodyPr/>
                    <a:lstStyle/>
                    <a:p>
                      <a:pPr indent="0" lvl="0" marL="0" marR="0" rtl="0" algn="l">
                        <a:spcBef>
                          <a:spcPts val="0"/>
                        </a:spcBef>
                        <a:spcAft>
                          <a:spcPts val="0"/>
                        </a:spcAft>
                        <a:buNone/>
                      </a:pPr>
                      <a:r>
                        <a:rPr b="1" lang="da-DK" sz="824">
                          <a:solidFill>
                            <a:schemeClr val="dk2"/>
                          </a:solidFill>
                        </a:rPr>
                        <a:t>Områder i nærheden af eller i 'biodiversitetsfølsomme områder’, som virksomheden ejer, lejer eller forvalter </a:t>
                      </a:r>
                      <a:r>
                        <a:rPr b="0" lang="da-DK" sz="824">
                          <a:solidFill>
                            <a:schemeClr val="dk2"/>
                          </a:solidFill>
                        </a:rPr>
                        <a:t>(pkt. 35)</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287675">
                <a:tc>
                  <a:txBody>
                    <a:bodyPr/>
                    <a:lstStyle/>
                    <a:p>
                      <a:pPr indent="0" lvl="0" marL="0" marR="0" rtl="0" algn="l">
                        <a:spcBef>
                          <a:spcPts val="0"/>
                        </a:spcBef>
                        <a:spcAft>
                          <a:spcPts val="0"/>
                        </a:spcAft>
                        <a:buNone/>
                      </a:pPr>
                      <a:r>
                        <a:rPr b="1" lang="da-DK" sz="824">
                          <a:solidFill>
                            <a:schemeClr val="dk2"/>
                          </a:solidFill>
                        </a:rPr>
                        <a:t>Lokation</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824">
                          <a:solidFill>
                            <a:schemeClr val="dk2"/>
                          </a:solidFill>
                        </a:rPr>
                        <a:t>Areal opgjort i hektar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824">
                          <a:solidFill>
                            <a:schemeClr val="dk2"/>
                          </a:solidFill>
                        </a:rPr>
                        <a:t>Biodiversitetsfølsomt område</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824">
                          <a:solidFill>
                            <a:schemeClr val="dk2"/>
                          </a:solidFill>
                        </a:rPr>
                        <a:t>Specifikation: I nærheden af eller i et biodiversitetsfølsomt område</a:t>
                      </a:r>
                      <a:endParaRPr b="0" sz="824">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26350">
                <a:tc>
                  <a:txBody>
                    <a:bodyPr/>
                    <a:lstStyle/>
                    <a:p>
                      <a:pPr indent="0" lvl="0" marL="0" marR="0" rtl="0" algn="l">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{{country_location}}</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 {{area_hect}}</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{{area_name}}</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{{biosensitive_area}}</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8" name="Google Shape;108;p6"/>
          <p:cNvSpPr txBox="1"/>
          <p:nvPr/>
        </p:nvSpPr>
        <p:spPr>
          <a:xfrm>
            <a:off x="411480" y="2954463"/>
            <a:ext cx="6737040" cy="5385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824"/>
              <a:buFont typeface="Inter"/>
              <a:buNone/>
            </a:pPr>
            <a:r>
              <a:rPr b="0" i="0" lang="da-DK" sz="824" u="none" strike="noStrike">
                <a:solidFill>
                  <a:schemeClr val="dk2"/>
                </a:solidFill>
                <a:latin typeface="Inter"/>
                <a:ea typeface="Inter"/>
                <a:cs typeface="Inter"/>
                <a:sym typeface="Inter"/>
              </a:rPr>
              <a:t>Virksomhedens oplysninger vedrører de steder, den opererer på, som er placeret i eller i nærheden af biodiversitetsfølsomme områder. Biodiversitetsfølsomme områder defineres som sådanne i særlige naturbeskyttelsesbestemmelser på europæisk eller internationalt plan. Dette omfatter områder, der tilhører Natura 2000, UNESCO og vigtige biodiversitetsområder (KBA'er) samt andre beskyttede områder.</a:t>
            </a:r>
            <a:endParaRPr sz="824">
              <a:solidFill>
                <a:schemeClr val="dk2"/>
              </a:solidFill>
              <a:latin typeface="Inter"/>
              <a:ea typeface="Inter"/>
              <a:cs typeface="Inter"/>
              <a:sym typeface="Inter"/>
            </a:endParaRPr>
          </a:p>
        </p:txBody>
      </p:sp>
      <p:sp>
        <p:nvSpPr>
          <p:cNvPr id="109" name="Google Shape;109;p6"/>
          <p:cNvSpPr txBox="1"/>
          <p:nvPr/>
        </p:nvSpPr>
        <p:spPr>
          <a:xfrm>
            <a:off x="423976" y="4779343"/>
            <a:ext cx="6583504" cy="20774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247"/>
              <a:buFont typeface="IBM Plex Sans"/>
              <a:buNone/>
            </a:pPr>
            <a:r>
              <a:rPr b="1" lang="da-DK" sz="1247">
                <a:solidFill>
                  <a:schemeClr val="dk2"/>
                </a:solidFill>
                <a:latin typeface="IBM Plex Sans"/>
                <a:ea typeface="IBM Plex Sans"/>
                <a:cs typeface="IBM Plex Sans"/>
                <a:sym typeface="IBM Plex Sans"/>
              </a:rPr>
              <a:t>Vand (B6)</a:t>
            </a:r>
            <a:endParaRPr/>
          </a:p>
        </p:txBody>
      </p:sp>
      <p:graphicFrame>
        <p:nvGraphicFramePr>
          <p:cNvPr id="110" name="Google Shape;110;p6"/>
          <p:cNvGraphicFramePr/>
          <p:nvPr/>
        </p:nvGraphicFramePr>
        <p:xfrm>
          <a:off x="411480" y="5788087"/>
          <a:ext cx="3295350" cy="970863"/>
        </p:xfrm>
        <a:graphic>
          <a:graphicData uri="http://schemas.openxmlformats.org/drawingml/2006/table">
            <a:tbl>
              <a:tblPr firstRow="1">
                <a:noFill/>
                <a:tableStyleId>{E5686DB3-B821-445C-B3A6-515973651C61}</a:tableStyleId>
              </a:tblPr>
              <a:tblGrid>
                <a:gridCol w="2113975"/>
                <a:gridCol w="1181375"/>
              </a:tblGrid>
              <a:tr h="490001">
                <a:tc>
                  <a:txBody>
                    <a:bodyPr/>
                    <a:lstStyle/>
                    <a:p>
                      <a:pPr indent="0" lvl="0" marL="0" marR="0" rtl="0" algn="l">
                        <a:lnSpc>
                          <a:spcPct val="100000"/>
                        </a:lnSpc>
                        <a:spcBef>
                          <a:spcPts val="0"/>
                        </a:spcBef>
                        <a:spcAft>
                          <a:spcPts val="0"/>
                        </a:spcAft>
                        <a:buClr>
                          <a:schemeClr val="dk2"/>
                        </a:buClr>
                        <a:buSzPts val="824"/>
                        <a:buFont typeface="IBM Plex Sans"/>
                        <a:buNone/>
                      </a:pPr>
                      <a:r>
                        <a:rPr b="1" lang="da-DK" sz="824">
                          <a:solidFill>
                            <a:schemeClr val="dk2"/>
                          </a:solidFill>
                        </a:rPr>
                        <a:t>Vandudtag </a:t>
                      </a:r>
                      <a:r>
                        <a:rPr b="0" lang="da-DK" sz="824">
                          <a:solidFill>
                            <a:schemeClr val="dk2"/>
                          </a:solidFill>
                        </a:rPr>
                        <a:t>(pkt. 36)</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824"/>
                        <a:buFont typeface="IBM Plex Sans"/>
                        <a:buNone/>
                      </a:pPr>
                      <a:r>
                        <a:rPr b="1" lang="da-DK" sz="824">
                          <a:solidFill>
                            <a:schemeClr val="dk2"/>
                          </a:solidFill>
                        </a:rPr>
                        <a:t>År </a:t>
                      </a:r>
                      <a:r>
                        <a:rPr b="1" lang="da-DK" sz="824">
                          <a:solidFill>
                            <a:srgbClr val="1B4528"/>
                          </a:solidFill>
                        </a:rPr>
                        <a:t>{{insert_year}}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80862">
                <a:tc>
                  <a:txBody>
                    <a:bodyPr/>
                    <a:lstStyle/>
                    <a:p>
                      <a:pPr indent="0" lvl="0" marL="0" marR="0" rtl="0" algn="l">
                        <a:spcBef>
                          <a:spcPts val="0"/>
                        </a:spcBef>
                        <a:spcAft>
                          <a:spcPts val="0"/>
                        </a:spcAft>
                        <a:buNone/>
                      </a:pPr>
                      <a:r>
                        <a:rPr b="0" lang="da-DK" sz="824">
                          <a:solidFill>
                            <a:schemeClr val="dk2"/>
                          </a:solidFill>
                        </a:rPr>
                        <a:t>Samlet for alle lokationer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824"/>
                        <a:buFont typeface="IBM Plex Sans"/>
                        <a:buNone/>
                      </a:pPr>
                      <a:r>
                        <a:rPr b="0" i="0" lang="da-DK" sz="824" u="none" cap="none" strike="noStrike">
                          <a:solidFill>
                            <a:srgbClr val="1B4528"/>
                          </a:solidFill>
                          <a:latin typeface="IBM Plex Sans"/>
                          <a:ea typeface="IBM Plex Sans"/>
                          <a:cs typeface="IBM Plex Sans"/>
                          <a:sym typeface="IBM Plex Sans"/>
                        </a:rPr>
                        <a:t>{{total_withdrawal}}</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11" name="Google Shape;111;p6"/>
          <p:cNvGraphicFramePr/>
          <p:nvPr/>
        </p:nvGraphicFramePr>
        <p:xfrm>
          <a:off x="3853152" y="5788086"/>
          <a:ext cx="3295375" cy="970864"/>
        </p:xfrm>
        <a:graphic>
          <a:graphicData uri="http://schemas.openxmlformats.org/drawingml/2006/table">
            <a:tbl>
              <a:tblPr firstRow="1">
                <a:noFill/>
                <a:tableStyleId>{E5686DB3-B821-445C-B3A6-515973651C61}</a:tableStyleId>
              </a:tblPr>
              <a:tblGrid>
                <a:gridCol w="2217450"/>
                <a:gridCol w="1077925"/>
              </a:tblGrid>
              <a:tr h="329064">
                <a:tc>
                  <a:txBody>
                    <a:bodyPr/>
                    <a:lstStyle/>
                    <a:p>
                      <a:pPr indent="0" lvl="0" marL="0" marR="0" rtl="0" algn="l">
                        <a:lnSpc>
                          <a:spcPct val="100000"/>
                        </a:lnSpc>
                        <a:spcBef>
                          <a:spcPts val="0"/>
                        </a:spcBef>
                        <a:spcAft>
                          <a:spcPts val="0"/>
                        </a:spcAft>
                        <a:buClr>
                          <a:schemeClr val="dk2"/>
                        </a:buClr>
                        <a:buSzPts val="824"/>
                        <a:buFont typeface="IBM Plex Sans"/>
                        <a:buNone/>
                      </a:pPr>
                      <a:r>
                        <a:rPr b="1" lang="da-DK" sz="824">
                          <a:solidFill>
                            <a:schemeClr val="dk2"/>
                          </a:solidFill>
                        </a:rPr>
                        <a:t>Vandforbrug </a:t>
                      </a:r>
                      <a:r>
                        <a:rPr b="0" lang="da-DK" sz="824">
                          <a:solidFill>
                            <a:schemeClr val="dk2"/>
                          </a:solidFill>
                        </a:rPr>
                        <a:t>(pkt. 37)</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824"/>
                        <a:buFont typeface="IBM Plex Sans"/>
                        <a:buNone/>
                      </a:pPr>
                      <a:r>
                        <a:rPr b="1" lang="da-DK" sz="824">
                          <a:solidFill>
                            <a:schemeClr val="dk2"/>
                          </a:solidFill>
                        </a:rPr>
                        <a:t>År </a:t>
                      </a:r>
                      <a:r>
                        <a:rPr b="1" lang="da-DK" sz="824">
                          <a:solidFill>
                            <a:srgbClr val="1B4528"/>
                          </a:solidFill>
                        </a:rPr>
                        <a:t>{{insert_year}}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98675">
                <a:tc>
                  <a:txBody>
                    <a:bodyPr/>
                    <a:lstStyle/>
                    <a:p>
                      <a:pPr indent="0" lvl="0" marL="0" marR="0" rtl="0" algn="l">
                        <a:spcBef>
                          <a:spcPts val="0"/>
                        </a:spcBef>
                        <a:spcAft>
                          <a:spcPts val="0"/>
                        </a:spcAft>
                        <a:buNone/>
                      </a:pPr>
                      <a:r>
                        <a:rPr b="0" lang="da-DK" sz="824">
                          <a:solidFill>
                            <a:schemeClr val="dk2"/>
                          </a:solidFill>
                        </a:rPr>
                        <a:t>Samlet for alle lokationer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{{consumption_total}}</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43125">
                <a:tc>
                  <a:txBody>
                    <a:bodyPr/>
                    <a:lstStyle/>
                    <a:p>
                      <a:pPr indent="0" lvl="0" marL="0" marR="0" rtl="0" algn="l">
                        <a:lnSpc>
                          <a:spcPct val="100000"/>
                        </a:lnSpc>
                        <a:spcBef>
                          <a:spcPts val="0"/>
                        </a:spcBef>
                        <a:spcAft>
                          <a:spcPts val="0"/>
                        </a:spcAft>
                        <a:buClr>
                          <a:schemeClr val="dk2"/>
                        </a:buClr>
                        <a:buSzPts val="824"/>
                        <a:buFont typeface="IBM Plex Sans"/>
                        <a:buNone/>
                      </a:pPr>
                      <a:r>
                        <a:rPr b="0" lang="da-DK" sz="824">
                          <a:solidFill>
                            <a:schemeClr val="dk2"/>
                          </a:solidFill>
                        </a:rPr>
                        <a:t>Fra lokationer i områder med mangel på vand (højt vandstress)</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{{consumption_waterstress}}</a:t>
                      </a:r>
                      <a:endParaRPr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2" name="Google Shape;112;p6"/>
          <p:cNvSpPr txBox="1"/>
          <p:nvPr/>
        </p:nvSpPr>
        <p:spPr>
          <a:xfrm>
            <a:off x="411480" y="5110046"/>
            <a:ext cx="6737040" cy="384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824"/>
              <a:buFont typeface="Inter"/>
              <a:buNone/>
            </a:pPr>
            <a:r>
              <a:rPr b="0" i="0" lang="da-DK" sz="824" u="none" strike="noStrike">
                <a:solidFill>
                  <a:schemeClr val="dk2"/>
                </a:solidFill>
                <a:latin typeface="Inter"/>
                <a:ea typeface="Inter"/>
                <a:cs typeface="Inter"/>
                <a:sym typeface="Inter"/>
              </a:rPr>
              <a:t>Vandudtaget er den mængde vand, der anvendes af virksomheden, hvorunder </a:t>
            </a:r>
            <a:r>
              <a:rPr lang="da-DK" sz="824">
                <a:solidFill>
                  <a:schemeClr val="dk2"/>
                </a:solidFill>
                <a:latin typeface="Inter"/>
                <a:ea typeface="Inter"/>
                <a:cs typeface="Inter"/>
                <a:sym typeface="Inter"/>
              </a:rPr>
              <a:t>forbruget angiver vand der </a:t>
            </a:r>
            <a:r>
              <a:rPr b="0" i="0" lang="da-DK" sz="824" u="none" strike="noStrike">
                <a:solidFill>
                  <a:schemeClr val="dk2"/>
                </a:solidFill>
                <a:latin typeface="Inter"/>
                <a:ea typeface="Inter"/>
                <a:cs typeface="Inter"/>
                <a:sym typeface="Inter"/>
              </a:rPr>
              <a:t>ikke udledes eller planlægges udledt tilbage til vandmiljøet eller til en tredjepart. I dette afsnit oplyses virksomhedens samlede vandudtag. Virksomhedens vandforbrug</a:t>
            </a:r>
            <a:r>
              <a:rPr lang="da-DK" sz="824">
                <a:solidFill>
                  <a:schemeClr val="dk2"/>
                </a:solidFill>
                <a:latin typeface="Inter"/>
                <a:ea typeface="Inter"/>
                <a:cs typeface="Inter"/>
                <a:sym typeface="Inter"/>
              </a:rPr>
              <a:t> </a:t>
            </a:r>
            <a:r>
              <a:rPr b="0" i="0" lang="da-DK" sz="824" u="none" strike="noStrike">
                <a:solidFill>
                  <a:schemeClr val="dk2"/>
                </a:solidFill>
                <a:latin typeface="Inter"/>
                <a:ea typeface="Inter"/>
                <a:cs typeface="Inter"/>
                <a:sym typeface="Inter"/>
              </a:rPr>
              <a:t>og vandudledning fra områder med høj vandstress er anført nedenfor.</a:t>
            </a:r>
            <a:endParaRPr b="0" sz="824">
              <a:solidFill>
                <a:schemeClr val="dk2"/>
              </a:solidFill>
              <a:latin typeface="Inter"/>
              <a:ea typeface="Inter"/>
              <a:cs typeface="Inter"/>
              <a:sym typeface="Inter"/>
            </a:endParaRPr>
          </a:p>
        </p:txBody>
      </p:sp>
      <p:sp>
        <p:nvSpPr>
          <p:cNvPr id="113" name="Google Shape;113;p6"/>
          <p:cNvSpPr txBox="1"/>
          <p:nvPr/>
        </p:nvSpPr>
        <p:spPr>
          <a:xfrm>
            <a:off x="411480" y="7180614"/>
            <a:ext cx="6737040" cy="20774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247"/>
              <a:buFont typeface="IBM Plex Sans"/>
              <a:buNone/>
            </a:pPr>
            <a:r>
              <a:rPr b="1" lang="da-DK" sz="1247">
                <a:solidFill>
                  <a:schemeClr val="dk2"/>
                </a:solidFill>
                <a:latin typeface="IBM Plex Sans"/>
                <a:ea typeface="IBM Plex Sans"/>
                <a:cs typeface="IBM Plex Sans"/>
                <a:sym typeface="IBM Plex Sans"/>
              </a:rPr>
              <a:t>Ressourceforbrug, cirkulær økonomi og affaldshåndtering (B7) </a:t>
            </a:r>
            <a:endParaRPr/>
          </a:p>
        </p:txBody>
      </p:sp>
      <p:graphicFrame>
        <p:nvGraphicFramePr>
          <p:cNvPr id="114" name="Google Shape;114;p6"/>
          <p:cNvGraphicFramePr/>
          <p:nvPr/>
        </p:nvGraphicFramePr>
        <p:xfrm>
          <a:off x="3853152" y="7601126"/>
          <a:ext cx="3295375" cy="3000000"/>
        </p:xfrm>
        <a:graphic>
          <a:graphicData uri="http://schemas.openxmlformats.org/drawingml/2006/table">
            <a:tbl>
              <a:tblPr firstRow="1">
                <a:noFill/>
                <a:tableStyleId>{E5686DB3-B821-445C-B3A6-515973651C61}</a:tableStyleId>
              </a:tblPr>
              <a:tblGrid>
                <a:gridCol w="1303675"/>
                <a:gridCol w="1013050"/>
                <a:gridCol w="978650"/>
              </a:tblGrid>
              <a:tr h="224575">
                <a:tc gridSpan="3">
                  <a:txBody>
                    <a:bodyPr/>
                    <a:lstStyle/>
                    <a:p>
                      <a:pPr indent="0" lvl="0" marL="0" marR="0" rtl="0" algn="l">
                        <a:lnSpc>
                          <a:spcPct val="100000"/>
                        </a:lnSpc>
                        <a:spcBef>
                          <a:spcPts val="0"/>
                        </a:spcBef>
                        <a:spcAft>
                          <a:spcPts val="0"/>
                        </a:spcAft>
                        <a:buClr>
                          <a:schemeClr val="dk2"/>
                        </a:buClr>
                        <a:buSzPts val="824"/>
                        <a:buFont typeface="IBM Plex Sans"/>
                        <a:buNone/>
                      </a:pPr>
                      <a:r>
                        <a:rPr b="1" lang="da-DK" sz="824">
                          <a:solidFill>
                            <a:schemeClr val="dk2"/>
                          </a:solidFill>
                        </a:rPr>
                        <a:t>Oplysning om anvendelse af principper fra cirkulær økonomi </a:t>
                      </a:r>
                      <a:r>
                        <a:rPr b="0" lang="da-DK" sz="824">
                          <a:solidFill>
                            <a:schemeClr val="dk2"/>
                          </a:solidFill>
                        </a:rPr>
                        <a:t>(pkt. 38)</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24325">
                <a:tc rowSpan="2">
                  <a:txBody>
                    <a:bodyPr/>
                    <a:lstStyle/>
                    <a:p>
                      <a:pPr indent="0" lvl="0" marL="0" marR="0" rtl="0" algn="l">
                        <a:spcBef>
                          <a:spcPts val="0"/>
                        </a:spcBef>
                        <a:spcAft>
                          <a:spcPts val="0"/>
                        </a:spcAft>
                        <a:buNone/>
                      </a:pPr>
                      <a:r>
                        <a:rPr b="0" lang="da-DK" sz="824">
                          <a:solidFill>
                            <a:schemeClr val="dk2"/>
                          </a:solidFill>
                        </a:rPr>
                        <a:t>Min virksomhed anvender principper fra cirkulær økonomi</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824">
                          <a:solidFill>
                            <a:schemeClr val="dk2"/>
                          </a:solidFill>
                        </a:rPr>
                        <a:t>Ja</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824">
                          <a:solidFill>
                            <a:schemeClr val="dk2"/>
                          </a:solidFill>
                        </a:rPr>
                        <a:t>Nej</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5900">
                <a:tc vMerge="1"/>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{{circular_economy_princples_yes}}</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824"/>
                        <a:buFont typeface="Inter"/>
                        <a:buNone/>
                      </a:pPr>
                      <a:r>
                        <a:rPr b="0" i="0" lang="da-DK" sz="824" u="none" strike="noStrike">
                          <a:solidFill>
                            <a:srgbClr val="1B4528"/>
                          </a:solidFill>
                          <a:latin typeface="Inter"/>
                          <a:ea typeface="Inter"/>
                          <a:cs typeface="Inter"/>
                          <a:sym typeface="Inter"/>
                        </a:rPr>
                        <a:t>{{circular_economy_princples_no?}}</a:t>
                      </a:r>
                      <a:endParaRPr b="0" sz="824"/>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5" name="Google Shape;115;p6"/>
          <p:cNvSpPr txBox="1"/>
          <p:nvPr/>
        </p:nvSpPr>
        <p:spPr>
          <a:xfrm>
            <a:off x="411480" y="7584104"/>
            <a:ext cx="3295368" cy="692470"/>
          </a:xfrm>
          <a:prstGeom prst="rect">
            <a:avLst/>
          </a:prstGeom>
          <a:noFill/>
          <a:ln>
            <a:noFill/>
          </a:ln>
        </p:spPr>
        <p:txBody>
          <a:bodyPr anchorCtr="0" anchor="t" bIns="38075" lIns="76175" spcFirstLastPara="1" rIns="76175" wrap="square" tIns="38075">
            <a:spAutoFit/>
          </a:bodyPr>
          <a:lstStyle/>
          <a:p>
            <a:pPr indent="0" lvl="0" marL="0" marR="0" rtl="0" algn="l">
              <a:spcBef>
                <a:spcPts val="0"/>
              </a:spcBef>
              <a:spcAft>
                <a:spcPts val="0"/>
              </a:spcAft>
              <a:buClr>
                <a:schemeClr val="dk2"/>
              </a:buClr>
              <a:buSzPts val="824"/>
              <a:buFont typeface="Inter"/>
              <a:buNone/>
            </a:pPr>
            <a:r>
              <a:rPr b="0" i="0" lang="da-DK" sz="824" u="none" strike="noStrike">
                <a:solidFill>
                  <a:schemeClr val="dk2"/>
                </a:solidFill>
                <a:latin typeface="Inter"/>
                <a:ea typeface="Inter"/>
                <a:cs typeface="Inter"/>
                <a:sym typeface="Inter"/>
              </a:rPr>
              <a:t>Dette informationskrav angiver information om hvorvidt virksomheden</a:t>
            </a:r>
            <a:r>
              <a:rPr lang="da-DK" sz="824">
                <a:solidFill>
                  <a:schemeClr val="dk2"/>
                </a:solidFill>
                <a:latin typeface="Inter"/>
                <a:ea typeface="Inter"/>
                <a:cs typeface="Inter"/>
                <a:sym typeface="Inter"/>
              </a:rPr>
              <a:t> anvender principper for cirkulær økonomi. Herunder, om der er principper i anvendelse når det kommer til reduktion af affald og forurening samt fokus på cirkulære produkter og materialer.</a:t>
            </a:r>
            <a:endParaRPr/>
          </a:p>
        </p:txBody>
      </p:sp>
      <p:graphicFrame>
        <p:nvGraphicFramePr>
          <p:cNvPr id="116" name="Google Shape;116;p6"/>
          <p:cNvGraphicFramePr/>
          <p:nvPr/>
        </p:nvGraphicFramePr>
        <p:xfrm>
          <a:off x="411480" y="8712369"/>
          <a:ext cx="6737050" cy="3000000"/>
        </p:xfrm>
        <a:graphic>
          <a:graphicData uri="http://schemas.openxmlformats.org/drawingml/2006/table">
            <a:tbl>
              <a:tblPr firstRow="1">
                <a:noFill/>
                <a:tableStyleId>{E5686DB3-B821-445C-B3A6-515973651C61}</a:tableStyleId>
              </a:tblPr>
              <a:tblGrid>
                <a:gridCol w="6737050"/>
              </a:tblGrid>
              <a:tr h="156125">
                <a:tc>
                  <a:txBody>
                    <a:bodyPr/>
                    <a:lstStyle/>
                    <a:p>
                      <a:pPr indent="0" lvl="0" marL="0" marR="0" rtl="0" algn="l">
                        <a:spcBef>
                          <a:spcPts val="0"/>
                        </a:spcBef>
                        <a:spcAft>
                          <a:spcPts val="0"/>
                        </a:spcAft>
                        <a:buNone/>
                      </a:pPr>
                      <a:r>
                        <a:rPr b="1" lang="da-DK" sz="824">
                          <a:solidFill>
                            <a:schemeClr val="dk2"/>
                          </a:solidFill>
                        </a:rPr>
                        <a:t>Beskrivelse af, hvordan virksomheden arbejder med principper fra cirkulær økonomi </a:t>
                      </a:r>
                      <a:r>
                        <a:rPr b="0" lang="da-DK" sz="824">
                          <a:solidFill>
                            <a:schemeClr val="dk2"/>
                          </a:solidFill>
                        </a:rPr>
                        <a:t>(pkt. 38 fortsat)</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86625">
                <a:tc>
                  <a:txBody>
                    <a:bodyPr/>
                    <a:lstStyle/>
                    <a:p>
                      <a:pPr indent="0" lvl="0" marL="0" marR="0" rtl="0" algn="l">
                        <a:spcBef>
                          <a:spcPts val="0"/>
                        </a:spcBef>
                        <a:spcAft>
                          <a:spcPts val="0"/>
                        </a:spcAft>
                        <a:buNone/>
                      </a:pPr>
                      <a:r>
                        <a:rPr b="0" lang="da-DK" sz="824">
                          <a:solidFill>
                            <a:srgbClr val="1B4528"/>
                          </a:solidFill>
                          <a:latin typeface="IBM Plex Sans"/>
                          <a:ea typeface="IBM Plex Sans"/>
                          <a:cs typeface="IBM Plex Sans"/>
                          <a:sym typeface="IBM Plex Sans"/>
                        </a:rPr>
                        <a:t>{{description_of_circular_economies}}</a:t>
                      </a:r>
                      <a:endParaRPr/>
                    </a:p>
                    <a:p>
                      <a:pPr indent="0" lvl="0" marL="0" marR="0" rtl="0" algn="l">
                        <a:spcBef>
                          <a:spcPts val="0"/>
                        </a:spcBef>
                        <a:spcAft>
                          <a:spcPts val="0"/>
                        </a:spcAft>
                        <a:buNone/>
                      </a:pPr>
                      <a:r>
                        <a:t/>
                      </a:r>
                      <a:endParaRPr b="0" sz="824">
                        <a:solidFill>
                          <a:srgbClr val="1B4528"/>
                        </a:solidFill>
                        <a:latin typeface="IBM Plex Sans"/>
                        <a:ea typeface="IBM Plex Sans"/>
                        <a:cs typeface="IBM Plex Sans"/>
                        <a:sym typeface="IBM Plex Sans"/>
                      </a:endParaRPr>
                    </a:p>
                  </a:txBody>
                  <a:tcPr marT="30000" marB="30000" marR="45000" marL="45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17" name="Google Shape;117;p6"/>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Ressourceforbrug, cirkulær økonomi og affaldshåndtering (B7) – fortsat</a:t>
            </a:r>
            <a:endParaRPr/>
          </a:p>
        </p:txBody>
      </p:sp>
      <p:graphicFrame>
        <p:nvGraphicFramePr>
          <p:cNvPr id="124" name="Google Shape;124;p7"/>
          <p:cNvGraphicFramePr/>
          <p:nvPr/>
        </p:nvGraphicFramePr>
        <p:xfrm>
          <a:off x="411480" y="2279479"/>
          <a:ext cx="3000000" cy="3000000"/>
        </p:xfrm>
        <a:graphic>
          <a:graphicData uri="http://schemas.openxmlformats.org/drawingml/2006/table">
            <a:tbl>
              <a:tblPr firstRow="1">
                <a:noFill/>
                <a:tableStyleId>{E5686DB3-B821-445C-B3A6-515973651C61}</a:tableStyleId>
              </a:tblPr>
              <a:tblGrid>
                <a:gridCol w="2044250"/>
                <a:gridCol w="2284250"/>
                <a:gridCol w="2267500"/>
              </a:tblGrid>
              <a:tr h="273825">
                <a:tc gridSpan="3">
                  <a:txBody>
                    <a:bodyPr/>
                    <a:lstStyle/>
                    <a:p>
                      <a:pPr indent="0" lvl="0" marL="0" marR="0" rtl="0" algn="ctr">
                        <a:spcBef>
                          <a:spcPts val="0"/>
                        </a:spcBef>
                        <a:spcAft>
                          <a:spcPts val="0"/>
                        </a:spcAft>
                        <a:buNone/>
                      </a:pPr>
                      <a:r>
                        <a:rPr b="1" lang="da-DK" sz="975">
                          <a:solidFill>
                            <a:schemeClr val="dk2"/>
                          </a:solidFill>
                        </a:rPr>
                        <a:t>Samlet mængde affald årligt</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86350">
                <a:tc>
                  <a:txBody>
                    <a:bodyPr/>
                    <a:lstStyle/>
                    <a:p>
                      <a:pPr indent="0" lvl="0" marL="0" marR="0" rtl="0" algn="l">
                        <a:spcBef>
                          <a:spcPts val="0"/>
                        </a:spcBef>
                        <a:spcAft>
                          <a:spcPts val="0"/>
                        </a:spcAft>
                        <a:buNone/>
                      </a:pPr>
                      <a:r>
                        <a:t/>
                      </a:r>
                      <a:endParaRPr b="1"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75">
                          <a:solidFill>
                            <a:schemeClr val="dk2"/>
                          </a:solidFill>
                        </a:rPr>
                        <a:t>Samlet mængde affald </a:t>
                      </a:r>
                      <a:r>
                        <a:rPr b="0" lang="da-DK" sz="975">
                          <a:solidFill>
                            <a:schemeClr val="dk2"/>
                          </a:solidFill>
                        </a:rPr>
                        <a:t>(pkt. 39a)</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75">
                          <a:solidFill>
                            <a:schemeClr val="dk2"/>
                          </a:solidFill>
                        </a:rPr>
                        <a:t>Affald der omdirigeres til genanvendelse eller forberedelse mhp. genbrug </a:t>
                      </a:r>
                      <a:r>
                        <a:rPr b="0" lang="da-DK" sz="975">
                          <a:solidFill>
                            <a:schemeClr val="dk2"/>
                          </a:solidFill>
                        </a:rPr>
                        <a:t>(pkt. 39b)</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4050">
                <a:tc>
                  <a:txBody>
                    <a:bodyPr/>
                    <a:lstStyle/>
                    <a:p>
                      <a:pPr indent="0" lvl="0" marL="0" marR="0" rtl="0" algn="l">
                        <a:lnSpc>
                          <a:spcPct val="100000"/>
                        </a:lnSpc>
                        <a:spcBef>
                          <a:spcPts val="0"/>
                        </a:spcBef>
                        <a:spcAft>
                          <a:spcPts val="0"/>
                        </a:spcAft>
                        <a:buClr>
                          <a:schemeClr val="dk2"/>
                        </a:buClr>
                        <a:buSzPts val="975"/>
                        <a:buFont typeface="IBM Plex Sans"/>
                        <a:buNone/>
                      </a:pPr>
                      <a:r>
                        <a:rPr b="1" lang="da-DK" sz="975">
                          <a:solidFill>
                            <a:schemeClr val="dk2"/>
                          </a:solidFill>
                        </a:rPr>
                        <a:t>Ikke-farligt affald </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94725">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{{Type_af_affald}}</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{{kg_tons_total}}</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{{genbrug_kg_tons}}</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2225">
                <a:tc>
                  <a:txBody>
                    <a:bodyPr/>
                    <a:lstStyle/>
                    <a:p>
                      <a:pPr indent="0" lvl="0" marL="0" marR="0" rtl="0" algn="l">
                        <a:spcBef>
                          <a:spcPts val="0"/>
                        </a:spcBef>
                        <a:spcAft>
                          <a:spcPts val="0"/>
                        </a:spcAft>
                        <a:buNone/>
                      </a:pPr>
                      <a:r>
                        <a:rPr b="1" lang="da-DK" sz="975">
                          <a:solidFill>
                            <a:schemeClr val="dk2"/>
                          </a:solidFill>
                        </a:rPr>
                        <a:t>Farligt affald</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975">
                        <a:solidFill>
                          <a:schemeClr val="dk2"/>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94725">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{{Type_af_affald_farlig}}</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{{farlig_kg_tons}}</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{{farlig_genbrug_kg_tons}}</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25" name="Google Shape;125;p7"/>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26" name="Google Shape;126;p7"/>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27" name="Google Shape;127;p7"/>
          <p:cNvSpPr txBox="1"/>
          <p:nvPr/>
        </p:nvSpPr>
        <p:spPr>
          <a:xfrm>
            <a:off x="411480" y="1436370"/>
            <a:ext cx="6737040" cy="3847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975"/>
              <a:buFont typeface="Inter"/>
              <a:buNone/>
            </a:pPr>
            <a:r>
              <a:rPr b="0" i="0" lang="da-DK" sz="975" u="none" strike="noStrike">
                <a:solidFill>
                  <a:schemeClr val="dk2"/>
                </a:solidFill>
                <a:latin typeface="Inter"/>
                <a:ea typeface="Inter"/>
                <a:cs typeface="Inter"/>
                <a:sym typeface="Inter"/>
              </a:rPr>
              <a:t>Følgende afsnit angiver oplysninger om materialeforbrug og affaldshåndtering. Oplysningerne er relateret til cirkulær økonomi og angiver virksomhedens samlede årlige affaldsproduktion (farligt/ikke-farligt) er fordelt og ligeledes anføres mængderne af væsentlige materialer. </a:t>
            </a:r>
            <a:endParaRPr sz="975">
              <a:solidFill>
                <a:schemeClr val="dk2"/>
              </a:solidFill>
              <a:latin typeface="Inter"/>
              <a:ea typeface="Inter"/>
              <a:cs typeface="Inter"/>
              <a:sym typeface="Inter"/>
            </a:endParaRPr>
          </a:p>
        </p:txBody>
      </p:sp>
      <p:graphicFrame>
        <p:nvGraphicFramePr>
          <p:cNvPr id="128" name="Google Shape;128;p7"/>
          <p:cNvGraphicFramePr/>
          <p:nvPr/>
        </p:nvGraphicFramePr>
        <p:xfrm>
          <a:off x="415509" y="4169114"/>
          <a:ext cx="3000000" cy="3000000"/>
        </p:xfrm>
        <a:graphic>
          <a:graphicData uri="http://schemas.openxmlformats.org/drawingml/2006/table">
            <a:tbl>
              <a:tblPr firstRow="1">
                <a:noFill/>
                <a:tableStyleId>{E5686DB3-B821-445C-B3A6-515973651C61}</a:tableStyleId>
              </a:tblPr>
              <a:tblGrid>
                <a:gridCol w="4223950"/>
                <a:gridCol w="2359550"/>
              </a:tblGrid>
              <a:tr h="360550">
                <a:tc>
                  <a:txBody>
                    <a:bodyPr/>
                    <a:lstStyle/>
                    <a:p>
                      <a:pPr indent="0" lvl="0" marL="0" marR="0" rtl="0" algn="l">
                        <a:spcBef>
                          <a:spcPts val="0"/>
                        </a:spcBef>
                        <a:spcAft>
                          <a:spcPts val="0"/>
                        </a:spcAft>
                        <a:buNone/>
                      </a:pPr>
                      <a:r>
                        <a:rPr b="1" lang="da-DK" sz="975">
                          <a:solidFill>
                            <a:schemeClr val="dk2"/>
                          </a:solidFill>
                        </a:rPr>
                        <a:t>Væsentlige materialer </a:t>
                      </a:r>
                      <a:r>
                        <a:rPr b="0" lang="da-DK" sz="975">
                          <a:solidFill>
                            <a:schemeClr val="dk2"/>
                          </a:solidFill>
                        </a:rPr>
                        <a:t>(pkt. 39c)</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75">
                          <a:solidFill>
                            <a:schemeClr val="dk2"/>
                          </a:solidFill>
                        </a:rPr>
                        <a:t>Årligt masse-flow </a:t>
                      </a:r>
                      <a:r>
                        <a:rPr b="1" lang="da-DK" sz="975">
                          <a:solidFill>
                            <a:srgbClr val="1B4528"/>
                          </a:solidFill>
                        </a:rPr>
                        <a:t>{{insert_year}}</a:t>
                      </a:r>
                      <a:endParaRPr b="0" sz="975">
                        <a:solidFill>
                          <a:srgbClr val="1B4528"/>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81375">
                <a:tc>
                  <a:txBody>
                    <a:bodyPr/>
                    <a:lstStyle/>
                    <a:p>
                      <a:pPr indent="0" lvl="0" marL="0" marR="0" rtl="0" algn="l">
                        <a:spcBef>
                          <a:spcPts val="0"/>
                        </a:spcBef>
                        <a:spcAft>
                          <a:spcPts val="0"/>
                        </a:spcAft>
                        <a:buNone/>
                      </a:pPr>
                      <a:r>
                        <a:rPr b="0" i="0" lang="da-DK" sz="975" u="none" strike="noStrike">
                          <a:solidFill>
                            <a:srgbClr val="1B4528"/>
                          </a:solidFill>
                          <a:latin typeface="Inter"/>
                          <a:ea typeface="Inter"/>
                          <a:cs typeface="Inter"/>
                          <a:sym typeface="Inter"/>
                        </a:rPr>
                        <a:t>{{significant_material}}</a:t>
                      </a:r>
                      <a:endParaRPr b="0" sz="975">
                        <a:solidFill>
                          <a:srgbClr val="1B4528"/>
                        </a:solidFill>
                        <a:latin typeface="Inter"/>
                        <a:ea typeface="Inter"/>
                        <a:cs typeface="Inter"/>
                        <a:sym typeface="Inte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{{significant_material_unit}}</a:t>
                      </a:r>
                      <a:endParaRPr b="0" i="0" sz="975" u="none" strike="noStrike">
                        <a:solidFill>
                          <a:srgbClr val="000000"/>
                        </a:solidFill>
                        <a:latin typeface="Inter"/>
                        <a:ea typeface="Inter"/>
                        <a:cs typeface="Inter"/>
                        <a:sym typeface="Inte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8"/>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Egen arbejdsstyrke: Generelle karakteristika (B8) </a:t>
            </a:r>
            <a:endParaRPr/>
          </a:p>
        </p:txBody>
      </p:sp>
      <p:graphicFrame>
        <p:nvGraphicFramePr>
          <p:cNvPr id="135" name="Google Shape;135;p8"/>
          <p:cNvGraphicFramePr/>
          <p:nvPr/>
        </p:nvGraphicFramePr>
        <p:xfrm>
          <a:off x="411480" y="2164682"/>
          <a:ext cx="3295350" cy="1684333"/>
        </p:xfrm>
        <a:graphic>
          <a:graphicData uri="http://schemas.openxmlformats.org/drawingml/2006/table">
            <a:tbl>
              <a:tblPr firstRow="1">
                <a:noFill/>
                <a:tableStyleId>{E5686DB3-B821-445C-B3A6-515973651C61}</a:tableStyleId>
              </a:tblPr>
              <a:tblGrid>
                <a:gridCol w="1647675"/>
                <a:gridCol w="1647675"/>
              </a:tblGrid>
              <a:tr h="549973">
                <a:tc>
                  <a:txBody>
                    <a:bodyPr/>
                    <a:lstStyle/>
                    <a:p>
                      <a:pPr indent="0" lvl="0" marL="0" marR="0" rtl="0" algn="l">
                        <a:spcBef>
                          <a:spcPts val="0"/>
                        </a:spcBef>
                        <a:spcAft>
                          <a:spcPts val="0"/>
                        </a:spcAft>
                        <a:buNone/>
                      </a:pPr>
                      <a:r>
                        <a:rPr b="1" lang="da-DK" sz="975">
                          <a:solidFill>
                            <a:schemeClr val="dk2"/>
                          </a:solidFill>
                        </a:rPr>
                        <a:t>Kontrakttype </a:t>
                      </a:r>
                      <a:r>
                        <a:rPr b="0" lang="da-DK" sz="975">
                          <a:solidFill>
                            <a:schemeClr val="dk2"/>
                          </a:solidFill>
                        </a:rPr>
                        <a:t>(pkt. 40a)</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75">
                          <a:solidFill>
                            <a:schemeClr val="dk2"/>
                          </a:solidFill>
                        </a:rPr>
                        <a:t>Antal ansatte (antal personer eller fuldtidsækvivalenter)</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5074">
                <a:tc>
                  <a:txBody>
                    <a:bodyPr/>
                    <a:lstStyle/>
                    <a:p>
                      <a:pPr indent="0" lvl="0" marL="0" marR="0" rtl="0" algn="l">
                        <a:spcBef>
                          <a:spcPts val="0"/>
                        </a:spcBef>
                        <a:spcAft>
                          <a:spcPts val="0"/>
                        </a:spcAft>
                        <a:buNone/>
                      </a:pPr>
                      <a:r>
                        <a:rPr b="0" lang="da-DK" sz="975">
                          <a:solidFill>
                            <a:schemeClr val="dk2"/>
                          </a:solidFill>
                        </a:rPr>
                        <a:t>Midlertidig ansættelse</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{{temporary}}</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84212">
                <a:tc>
                  <a:txBody>
                    <a:bodyPr/>
                    <a:lstStyle/>
                    <a:p>
                      <a:pPr indent="0" lvl="0" marL="0" marR="0" rtl="0" algn="l">
                        <a:spcBef>
                          <a:spcPts val="0"/>
                        </a:spcBef>
                        <a:spcAft>
                          <a:spcPts val="0"/>
                        </a:spcAft>
                        <a:buNone/>
                      </a:pPr>
                      <a:r>
                        <a:rPr b="0" lang="da-DK" sz="975">
                          <a:solidFill>
                            <a:schemeClr val="dk2"/>
                          </a:solidFill>
                        </a:rPr>
                        <a:t>Fastansættelse</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{{fulltime}}</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75074">
                <a:tc>
                  <a:txBody>
                    <a:bodyPr/>
                    <a:lstStyle/>
                    <a:p>
                      <a:pPr indent="0" lvl="0" marL="0" marR="0" rtl="0" algn="l">
                        <a:spcBef>
                          <a:spcPts val="0"/>
                        </a:spcBef>
                        <a:spcAft>
                          <a:spcPts val="0"/>
                        </a:spcAft>
                        <a:buNone/>
                      </a:pPr>
                      <a:r>
                        <a:rPr b="0" lang="da-DK" sz="975">
                          <a:solidFill>
                            <a:schemeClr val="dk2"/>
                          </a:solidFill>
                        </a:rPr>
                        <a:t>Totalt antal ansatte</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{{total_employees}}</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36" name="Google Shape;136;p8"/>
          <p:cNvGraphicFramePr/>
          <p:nvPr/>
        </p:nvGraphicFramePr>
        <p:xfrm>
          <a:off x="3853152" y="2164686"/>
          <a:ext cx="3295350" cy="1684329"/>
        </p:xfrm>
        <a:graphic>
          <a:graphicData uri="http://schemas.openxmlformats.org/drawingml/2006/table">
            <a:tbl>
              <a:tblPr firstRow="1">
                <a:noFill/>
                <a:tableStyleId>{E5686DB3-B821-445C-B3A6-515973651C61}</a:tableStyleId>
              </a:tblPr>
              <a:tblGrid>
                <a:gridCol w="1647675"/>
                <a:gridCol w="1647675"/>
              </a:tblGrid>
              <a:tr h="484329">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Køn</a:t>
                      </a:r>
                      <a:r>
                        <a:rPr b="0" lang="da-DK" sz="975">
                          <a:solidFill>
                            <a:schemeClr val="dk2"/>
                          </a:solidFill>
                          <a:latin typeface="IBM Plex Sans"/>
                          <a:ea typeface="IBM Plex Sans"/>
                          <a:cs typeface="IBM Plex Sans"/>
                          <a:sym typeface="IBM Plex Sans"/>
                        </a:rPr>
                        <a:t> (pkt. 40b)</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75">
                          <a:solidFill>
                            <a:schemeClr val="dk2"/>
                          </a:solidFill>
                          <a:latin typeface="IBM Plex Sans"/>
                          <a:ea typeface="IBM Plex Sans"/>
                          <a:cs typeface="IBM Plex Sans"/>
                          <a:sym typeface="IBM Plex Sans"/>
                        </a:rPr>
                        <a:t>Antal ansatte (antal personer eller fuldtidsækvivalenter)</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40000">
                <a:tc>
                  <a:txBody>
                    <a:bodyPr/>
                    <a:lstStyle/>
                    <a:p>
                      <a:pPr indent="0" lvl="0" marL="0" marR="0" rtl="0" algn="l">
                        <a:spcBef>
                          <a:spcPts val="0"/>
                        </a:spcBef>
                        <a:spcAft>
                          <a:spcPts val="0"/>
                        </a:spcAft>
                        <a:buNone/>
                      </a:pPr>
                      <a:r>
                        <a:rPr b="0" lang="da-DK" sz="975">
                          <a:solidFill>
                            <a:schemeClr val="dk2"/>
                          </a:solidFill>
                          <a:latin typeface="IBM Plex Sans"/>
                          <a:ea typeface="IBM Plex Sans"/>
                          <a:cs typeface="IBM Plex Sans"/>
                          <a:sym typeface="IBM Plex Sans"/>
                        </a:rPr>
                        <a:t>Mand</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{{men}}</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0000">
                <a:tc>
                  <a:txBody>
                    <a:bodyPr/>
                    <a:lstStyle/>
                    <a:p>
                      <a:pPr indent="0" lvl="0" marL="0" marR="0" rtl="0" algn="l">
                        <a:spcBef>
                          <a:spcPts val="0"/>
                        </a:spcBef>
                        <a:spcAft>
                          <a:spcPts val="0"/>
                        </a:spcAft>
                        <a:buNone/>
                      </a:pPr>
                      <a:r>
                        <a:rPr b="0" lang="da-DK" sz="975">
                          <a:solidFill>
                            <a:schemeClr val="dk2"/>
                          </a:solidFill>
                          <a:latin typeface="IBM Plex Sans"/>
                          <a:ea typeface="IBM Plex Sans"/>
                          <a:cs typeface="IBM Plex Sans"/>
                          <a:sym typeface="IBM Plex Sans"/>
                        </a:rPr>
                        <a:t>Kvinde</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{{women}}</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0000">
                <a:tc>
                  <a:txBody>
                    <a:bodyPr/>
                    <a:lstStyle/>
                    <a:p>
                      <a:pPr indent="0" lvl="0" marL="0" marR="0" rtl="0" algn="l">
                        <a:spcBef>
                          <a:spcPts val="0"/>
                        </a:spcBef>
                        <a:spcAft>
                          <a:spcPts val="0"/>
                        </a:spcAft>
                        <a:buNone/>
                      </a:pPr>
                      <a:r>
                        <a:rPr b="0" lang="da-DK" sz="975">
                          <a:solidFill>
                            <a:schemeClr val="dk2"/>
                          </a:solidFill>
                          <a:latin typeface="IBM Plex Sans"/>
                          <a:ea typeface="IBM Plex Sans"/>
                          <a:cs typeface="IBM Plex Sans"/>
                          <a:sym typeface="IBM Plex Sans"/>
                        </a:rPr>
                        <a:t>Andet</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{{others}}</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0000">
                <a:tc>
                  <a:txBody>
                    <a:bodyPr/>
                    <a:lstStyle/>
                    <a:p>
                      <a:pPr indent="0" lvl="0" marL="0" marR="0" rtl="0" algn="l">
                        <a:spcBef>
                          <a:spcPts val="0"/>
                        </a:spcBef>
                        <a:spcAft>
                          <a:spcPts val="0"/>
                        </a:spcAft>
                        <a:buNone/>
                      </a:pPr>
                      <a:r>
                        <a:rPr b="0" lang="da-DK" sz="975">
                          <a:solidFill>
                            <a:schemeClr val="dk2"/>
                          </a:solidFill>
                          <a:latin typeface="IBM Plex Sans"/>
                          <a:ea typeface="IBM Plex Sans"/>
                          <a:cs typeface="IBM Plex Sans"/>
                          <a:sym typeface="IBM Plex Sans"/>
                        </a:rPr>
                        <a:t>Ikke registreret</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{{not_registeret}}</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0000">
                <a:tc>
                  <a:txBody>
                    <a:bodyPr/>
                    <a:lstStyle/>
                    <a:p>
                      <a:pPr indent="0" lvl="0" marL="0" marR="0" rtl="0" algn="l">
                        <a:spcBef>
                          <a:spcPts val="0"/>
                        </a:spcBef>
                        <a:spcAft>
                          <a:spcPts val="0"/>
                        </a:spcAft>
                        <a:buNone/>
                      </a:pPr>
                      <a:r>
                        <a:rPr b="0" lang="da-DK" sz="975">
                          <a:solidFill>
                            <a:schemeClr val="dk2"/>
                          </a:solidFill>
                          <a:latin typeface="IBM Plex Sans"/>
                          <a:ea typeface="IBM Plex Sans"/>
                          <a:cs typeface="IBM Plex Sans"/>
                          <a:sym typeface="IBM Plex Sans"/>
                        </a:rPr>
                        <a:t>Totalt antal ansatte</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{{total_employees}}</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37" name="Google Shape;137;p8"/>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38" name="Google Shape;138;p8"/>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39" name="Google Shape;139;p8"/>
          <p:cNvSpPr txBox="1"/>
          <p:nvPr/>
        </p:nvSpPr>
        <p:spPr>
          <a:xfrm>
            <a:off x="411480" y="1189771"/>
            <a:ext cx="6737040" cy="6924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5595D"/>
              </a:buClr>
              <a:buSzPts val="975"/>
              <a:buFont typeface="Inter"/>
              <a:buNone/>
            </a:pPr>
            <a:r>
              <a:rPr b="0" i="0" lang="da-DK" sz="975" u="none" strike="noStrike">
                <a:solidFill>
                  <a:srgbClr val="25595D"/>
                </a:solidFill>
                <a:latin typeface="Inter"/>
                <a:ea typeface="Inter"/>
                <a:cs typeface="Inter"/>
                <a:sym typeface="Inter"/>
              </a:rPr>
              <a:t>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b="0" sz="975">
              <a:solidFill>
                <a:schemeClr val="dk1"/>
              </a:solidFill>
              <a:latin typeface="Inter"/>
              <a:ea typeface="Inter"/>
              <a:cs typeface="Inter"/>
              <a:sym typeface="Inter"/>
            </a:endParaRPr>
          </a:p>
          <a:p>
            <a:pPr indent="0" lvl="0" marL="0" marR="0" rtl="0" algn="l">
              <a:spcBef>
                <a:spcPts val="0"/>
              </a:spcBef>
              <a:spcAft>
                <a:spcPts val="0"/>
              </a:spcAft>
              <a:buClr>
                <a:schemeClr val="dk1"/>
              </a:buClr>
              <a:buSzPts val="975"/>
              <a:buFont typeface="Inter"/>
              <a:buNone/>
            </a:pPr>
            <a:br>
              <a:rPr lang="da-DK" sz="975">
                <a:solidFill>
                  <a:schemeClr val="dk1"/>
                </a:solidFill>
                <a:latin typeface="Inter"/>
                <a:ea typeface="Inter"/>
                <a:cs typeface="Inter"/>
                <a:sym typeface="Inter"/>
              </a:rPr>
            </a:br>
            <a:endParaRPr sz="975">
              <a:solidFill>
                <a:schemeClr val="dk1"/>
              </a:solidFill>
              <a:latin typeface="Inter"/>
              <a:ea typeface="Inter"/>
              <a:cs typeface="Inter"/>
              <a:sym typeface="Inter"/>
            </a:endParaRPr>
          </a:p>
        </p:txBody>
      </p:sp>
      <p:graphicFrame>
        <p:nvGraphicFramePr>
          <p:cNvPr id="140" name="Google Shape;140;p8"/>
          <p:cNvGraphicFramePr/>
          <p:nvPr/>
        </p:nvGraphicFramePr>
        <p:xfrm>
          <a:off x="411480" y="4271445"/>
          <a:ext cx="6737050" cy="3000000"/>
        </p:xfrm>
        <a:graphic>
          <a:graphicData uri="http://schemas.openxmlformats.org/drawingml/2006/table">
            <a:tbl>
              <a:tblPr firstRow="1">
                <a:noFill/>
                <a:tableStyleId>{E5686DB3-B821-445C-B3A6-515973651C61}</a:tableStyleId>
              </a:tblPr>
              <a:tblGrid>
                <a:gridCol w="3601475"/>
                <a:gridCol w="3135575"/>
              </a:tblGrid>
              <a:tr h="240000">
                <a:tc>
                  <a:txBody>
                    <a:bodyPr/>
                    <a:lstStyle/>
                    <a:p>
                      <a:pPr indent="0" lvl="0" marL="0" marR="0" rtl="0" algn="l">
                        <a:spcBef>
                          <a:spcPts val="0"/>
                        </a:spcBef>
                        <a:spcAft>
                          <a:spcPts val="0"/>
                        </a:spcAft>
                        <a:buNone/>
                      </a:pPr>
                      <a:r>
                        <a:rPr b="1" lang="da-DK" sz="975">
                          <a:solidFill>
                            <a:schemeClr val="dk2"/>
                          </a:solidFill>
                        </a:rPr>
                        <a:t>Land (hvor ansættelseskontrakten er indgået) </a:t>
                      </a:r>
                      <a:r>
                        <a:rPr b="0" lang="da-DK" sz="975">
                          <a:solidFill>
                            <a:schemeClr val="dk2"/>
                          </a:solidFill>
                        </a:rPr>
                        <a:t>(pkt. 40c)</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975">
                          <a:solidFill>
                            <a:schemeClr val="dk2"/>
                          </a:solidFill>
                        </a:rPr>
                        <a:t>Antal ansatte (antal personer eller fuldtidsækvivalenter)</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40000">
                <a:tc>
                  <a:txBody>
                    <a:bodyPr/>
                    <a:lstStyle/>
                    <a:p>
                      <a:pPr indent="0" lvl="0" marL="0" marR="0" rtl="0" algn="l">
                        <a:spcBef>
                          <a:spcPts val="0"/>
                        </a:spcBef>
                        <a:spcAft>
                          <a:spcPts val="0"/>
                        </a:spcAft>
                        <a:buNone/>
                      </a:pPr>
                      <a:r>
                        <a:rPr b="0" lang="da-DK" sz="975">
                          <a:solidFill>
                            <a:schemeClr val="dk2"/>
                          </a:solidFill>
                        </a:rPr>
                        <a:t>Danmark</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{{Denmark}}</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0000">
                <a:tc>
                  <a:txBody>
                    <a:bodyPr/>
                    <a:lstStyle/>
                    <a:p>
                      <a:pPr indent="0" lvl="0" marL="0" marR="0" rtl="0" algn="l">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{{Land_b}}</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a:t>
                      </a:r>
                      <a:r>
                        <a:rPr b="0" i="0" lang="da-DK" sz="975" u="none" strike="noStrike">
                          <a:solidFill>
                            <a:srgbClr val="1B4528"/>
                          </a:solidFill>
                        </a:rPr>
                        <a:t>FTE_eller_antal_personer_land_b</a:t>
                      </a:r>
                      <a:r>
                        <a:rPr b="0" i="0" lang="da-DK" sz="975" u="none" strike="noStrike">
                          <a:solidFill>
                            <a:srgbClr val="1B4528"/>
                          </a:solidFill>
                          <a:latin typeface="Inter"/>
                          <a:ea typeface="Inter"/>
                          <a:cs typeface="Inter"/>
                          <a:sym typeface="Inter"/>
                        </a:rPr>
                        <a:t>}}</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0000">
                <a:tc>
                  <a:txBody>
                    <a:bodyPr/>
                    <a:lstStyle/>
                    <a:p>
                      <a:pPr indent="0" lvl="0" marL="0" marR="0" rtl="0" algn="l">
                        <a:spcBef>
                          <a:spcPts val="0"/>
                        </a:spcBef>
                        <a:spcAft>
                          <a:spcPts val="0"/>
                        </a:spcAft>
                        <a:buNone/>
                      </a:pPr>
                      <a:r>
                        <a:rPr b="0" lang="da-DK" sz="975">
                          <a:solidFill>
                            <a:schemeClr val="dk2"/>
                          </a:solidFill>
                        </a:rPr>
                        <a:t>Totalt antal ansatte</a:t>
                      </a:r>
                      <a:endParaRPr/>
                    </a:p>
                  </a:txBody>
                  <a:tcPr marT="18000" marB="18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{{Total_out_of_countries}}</a:t>
                      </a:r>
                      <a:endParaRPr b="0" sz="975"/>
                    </a:p>
                  </a:txBody>
                  <a:tcPr marT="10575" marB="105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Egen arbejdsstyrke: Sundhed og sikkerhed (B9)</a:t>
            </a:r>
            <a:endParaRPr/>
          </a:p>
        </p:txBody>
      </p:sp>
      <p:graphicFrame>
        <p:nvGraphicFramePr>
          <p:cNvPr id="146" name="Google Shape;146;p9"/>
          <p:cNvGraphicFramePr/>
          <p:nvPr/>
        </p:nvGraphicFramePr>
        <p:xfrm>
          <a:off x="411480" y="2566049"/>
          <a:ext cx="3295375" cy="1069180"/>
        </p:xfrm>
        <a:graphic>
          <a:graphicData uri="http://schemas.openxmlformats.org/drawingml/2006/table">
            <a:tbl>
              <a:tblPr firstRow="1">
                <a:noFill/>
                <a:tableStyleId>{E5686DB3-B821-445C-B3A6-515973651C61}</a:tableStyleId>
              </a:tblPr>
              <a:tblGrid>
                <a:gridCol w="1824875"/>
                <a:gridCol w="1470500"/>
              </a:tblGrid>
              <a:tr h="356393">
                <a:tc>
                  <a:txBody>
                    <a:bodyPr/>
                    <a:lstStyle/>
                    <a:p>
                      <a:pPr indent="0" lvl="0" marL="0" marR="0" rtl="0" algn="l">
                        <a:lnSpc>
                          <a:spcPct val="100000"/>
                        </a:lnSpc>
                        <a:spcBef>
                          <a:spcPts val="0"/>
                        </a:spcBef>
                        <a:spcAft>
                          <a:spcPts val="0"/>
                        </a:spcAft>
                        <a:buClr>
                          <a:schemeClr val="dk2"/>
                        </a:buClr>
                        <a:buSzPts val="975"/>
                        <a:buFont typeface="IBM Plex Sans"/>
                        <a:buNone/>
                      </a:pPr>
                      <a:r>
                        <a:rPr b="1" lang="da-DK" sz="975">
                          <a:solidFill>
                            <a:schemeClr val="dk2"/>
                          </a:solidFill>
                        </a:rPr>
                        <a:t>Registrerede arbejdsulykker </a:t>
                      </a:r>
                      <a:r>
                        <a:rPr b="0" lang="da-DK" sz="975">
                          <a:solidFill>
                            <a:schemeClr val="dk2"/>
                          </a:solidFill>
                        </a:rPr>
                        <a:t>(pkt. 41a)</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975"/>
                        <a:buFont typeface="IBM Plex Sans"/>
                        <a:buNone/>
                      </a:pPr>
                      <a:r>
                        <a:rPr b="1" lang="da-DK" sz="975">
                          <a:solidFill>
                            <a:schemeClr val="dk2"/>
                          </a:solidFill>
                        </a:rPr>
                        <a:t>År</a:t>
                      </a:r>
                      <a:r>
                        <a:rPr b="1" lang="da-DK" sz="975">
                          <a:solidFill>
                            <a:srgbClr val="1B4528"/>
                          </a:solidFill>
                          <a:latin typeface="Calibri"/>
                          <a:ea typeface="Calibri"/>
                          <a:cs typeface="Calibri"/>
                          <a:sym typeface="Calibri"/>
                        </a:rPr>
                        <a:t> {{insert_year}}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56393">
                <a:tc>
                  <a:txBody>
                    <a:bodyPr/>
                    <a:lstStyle/>
                    <a:p>
                      <a:pPr indent="0" lvl="0" marL="0" marR="0" rtl="0" algn="l">
                        <a:spcBef>
                          <a:spcPts val="0"/>
                        </a:spcBef>
                        <a:spcAft>
                          <a:spcPts val="0"/>
                        </a:spcAft>
                        <a:buNone/>
                      </a:pPr>
                      <a:r>
                        <a:rPr b="0" lang="da-DK" sz="975">
                          <a:solidFill>
                            <a:schemeClr val="dk2"/>
                          </a:solidFill>
                        </a:rPr>
                        <a:t>Antal</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975"/>
                        <a:buFont typeface="Inter"/>
                        <a:buNone/>
                      </a:pPr>
                      <a:r>
                        <a:rPr b="0" i="0" lang="da-DK" sz="975" u="none" cap="none" strike="noStrike">
                          <a:solidFill>
                            <a:srgbClr val="1B4528"/>
                          </a:solidFill>
                          <a:latin typeface="Inter"/>
                          <a:ea typeface="Inter"/>
                          <a:cs typeface="Inter"/>
                          <a:sym typeface="Inter"/>
                        </a:rPr>
                        <a:t>{{indsat_antal_accidents}}</a:t>
                      </a:r>
                      <a:endParaRPr b="0" i="0" sz="975" u="none" cap="none" strike="noStrike">
                        <a:solidFill>
                          <a:srgbClr val="1B4528"/>
                        </a:solidFill>
                        <a:latin typeface="Inter"/>
                        <a:ea typeface="Inter"/>
                        <a:cs typeface="Inter"/>
                        <a:sym typeface="Inte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6393">
                <a:tc>
                  <a:txBody>
                    <a:bodyPr/>
                    <a:lstStyle/>
                    <a:p>
                      <a:pPr indent="0" lvl="0" marL="0" marR="0" rtl="0" algn="l">
                        <a:spcBef>
                          <a:spcPts val="0"/>
                        </a:spcBef>
                        <a:spcAft>
                          <a:spcPts val="0"/>
                        </a:spcAft>
                        <a:buNone/>
                      </a:pPr>
                      <a:r>
                        <a:rPr b="0" lang="da-DK" sz="975">
                          <a:solidFill>
                            <a:schemeClr val="dk2"/>
                          </a:solidFill>
                        </a:rPr>
                        <a:t>Frekvens</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975"/>
                        <a:buFont typeface="Inter"/>
                        <a:buNone/>
                      </a:pPr>
                      <a:r>
                        <a:rPr b="0" i="0" lang="da-DK" sz="975" u="none" cap="none" strike="noStrike">
                          <a:solidFill>
                            <a:srgbClr val="1B4528"/>
                          </a:solidFill>
                          <a:latin typeface="Inter"/>
                          <a:ea typeface="Inter"/>
                          <a:cs typeface="Inter"/>
                          <a:sym typeface="Inter"/>
                        </a:rPr>
                        <a:t>{{indsat_accidents_frequents}}</a:t>
                      </a:r>
                      <a:endParaRPr b="0" i="0" sz="975" u="none" cap="none" strike="noStrike">
                        <a:solidFill>
                          <a:srgbClr val="1B4528"/>
                        </a:solidFill>
                        <a:latin typeface="Inter"/>
                        <a:ea typeface="Inter"/>
                        <a:cs typeface="Inter"/>
                        <a:sym typeface="Inte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47" name="Google Shape;147;p9"/>
          <p:cNvGraphicFramePr/>
          <p:nvPr/>
        </p:nvGraphicFramePr>
        <p:xfrm>
          <a:off x="3853152" y="2566050"/>
          <a:ext cx="3295375" cy="1069179"/>
        </p:xfrm>
        <a:graphic>
          <a:graphicData uri="http://schemas.openxmlformats.org/drawingml/2006/table">
            <a:tbl>
              <a:tblPr firstRow="1">
                <a:noFill/>
                <a:tableStyleId>{E5686DB3-B821-445C-B3A6-515973651C61}</a:tableStyleId>
              </a:tblPr>
              <a:tblGrid>
                <a:gridCol w="2276425"/>
                <a:gridCol w="1018950"/>
              </a:tblGrid>
              <a:tr h="303314">
                <a:tc>
                  <a:txBody>
                    <a:bodyPr/>
                    <a:lstStyle/>
                    <a:p>
                      <a:pPr indent="0" lvl="0" marL="0" marR="0" rtl="0" algn="l">
                        <a:lnSpc>
                          <a:spcPct val="100000"/>
                        </a:lnSpc>
                        <a:spcBef>
                          <a:spcPts val="0"/>
                        </a:spcBef>
                        <a:spcAft>
                          <a:spcPts val="0"/>
                        </a:spcAft>
                        <a:buClr>
                          <a:schemeClr val="dk2"/>
                        </a:buClr>
                        <a:buSzPts val="975"/>
                        <a:buFont typeface="IBM Plex Sans"/>
                        <a:buNone/>
                      </a:pPr>
                      <a:r>
                        <a:rPr b="1" lang="da-DK" sz="975">
                          <a:solidFill>
                            <a:schemeClr val="dk2"/>
                          </a:solidFill>
                        </a:rPr>
                        <a:t>Arbejdsrelaterede dødsfald </a:t>
                      </a:r>
                      <a:r>
                        <a:rPr b="0" lang="da-DK" sz="975">
                          <a:solidFill>
                            <a:schemeClr val="dk2"/>
                          </a:solidFill>
                        </a:rPr>
                        <a:t>(pkt. 41b)</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975"/>
                        <a:buFont typeface="IBM Plex Sans"/>
                        <a:buNone/>
                      </a:pPr>
                      <a:r>
                        <a:rPr b="1" lang="da-DK" sz="975">
                          <a:solidFill>
                            <a:schemeClr val="dk2"/>
                          </a:solidFill>
                        </a:rPr>
                        <a:t>År</a:t>
                      </a:r>
                      <a:r>
                        <a:rPr b="1" lang="da-DK" sz="975">
                          <a:solidFill>
                            <a:srgbClr val="1B4528"/>
                          </a:solidFill>
                          <a:latin typeface="Calibri"/>
                          <a:ea typeface="Calibri"/>
                          <a:cs typeface="Calibri"/>
                          <a:sym typeface="Calibri"/>
                        </a:rPr>
                        <a:t> {{insert_year}}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82932">
                <a:tc>
                  <a:txBody>
                    <a:bodyPr/>
                    <a:lstStyle/>
                    <a:p>
                      <a:pPr indent="0" lvl="0" marL="0" marR="0" rtl="0" algn="l">
                        <a:spcBef>
                          <a:spcPts val="0"/>
                        </a:spcBef>
                        <a:spcAft>
                          <a:spcPts val="0"/>
                        </a:spcAft>
                        <a:buNone/>
                      </a:pPr>
                      <a:r>
                        <a:rPr b="0" lang="da-DK" sz="975">
                          <a:solidFill>
                            <a:schemeClr val="dk2"/>
                          </a:solidFill>
                        </a:rPr>
                        <a:t>Som følge af arbejdsskade/-ulykke</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975"/>
                        <a:buFont typeface="Inter"/>
                        <a:buNone/>
                      </a:pPr>
                      <a:r>
                        <a:rPr b="0" i="0" lang="da-DK" sz="975" u="none" cap="none" strike="noStrike">
                          <a:solidFill>
                            <a:srgbClr val="1B4528"/>
                          </a:solidFill>
                          <a:latin typeface="Inter"/>
                          <a:ea typeface="Inter"/>
                          <a:cs typeface="Inter"/>
                          <a:sym typeface="Inter"/>
                        </a:rPr>
                        <a:t>{{deaths_by_accidents}}</a:t>
                      </a:r>
                      <a:endParaRPr b="0" i="0" sz="975" u="none" cap="none" strike="noStrike">
                        <a:solidFill>
                          <a:srgbClr val="1B4528"/>
                        </a:solidFill>
                        <a:latin typeface="Inter"/>
                        <a:ea typeface="Inter"/>
                        <a:cs typeface="Inter"/>
                        <a:sym typeface="Inte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82932">
                <a:tc>
                  <a:txBody>
                    <a:bodyPr/>
                    <a:lstStyle/>
                    <a:p>
                      <a:pPr indent="0" lvl="0" marL="0" marR="0" rtl="0" algn="l">
                        <a:spcBef>
                          <a:spcPts val="0"/>
                        </a:spcBef>
                        <a:spcAft>
                          <a:spcPts val="0"/>
                        </a:spcAft>
                        <a:buNone/>
                      </a:pPr>
                      <a:r>
                        <a:rPr b="0" lang="da-DK" sz="975">
                          <a:solidFill>
                            <a:schemeClr val="dk2"/>
                          </a:solidFill>
                        </a:rPr>
                        <a:t>Som følge af arbejdsrelateret dårligt helbred</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975"/>
                        <a:buFont typeface="Inter"/>
                        <a:buNone/>
                      </a:pPr>
                      <a:r>
                        <a:rPr b="0" i="0" lang="da-DK" sz="975" u="none" cap="none" strike="noStrike">
                          <a:solidFill>
                            <a:srgbClr val="1B4528"/>
                          </a:solidFill>
                          <a:latin typeface="Inter"/>
                          <a:ea typeface="Inter"/>
                          <a:cs typeface="Inter"/>
                          <a:sym typeface="Inter"/>
                        </a:rPr>
                        <a:t>{{deaths_by_health}}</a:t>
                      </a:r>
                      <a:endParaRPr b="0" i="0" sz="975" u="none" cap="none" strike="noStrike">
                        <a:solidFill>
                          <a:srgbClr val="1B4528"/>
                        </a:solidFill>
                        <a:latin typeface="Inter"/>
                        <a:ea typeface="Inter"/>
                        <a:cs typeface="Inter"/>
                        <a:sym typeface="Inte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48" name="Google Shape;148;p9"/>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49" name="Google Shape;149;p9"/>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50" name="Google Shape;150;p9"/>
          <p:cNvSpPr txBox="1"/>
          <p:nvPr/>
        </p:nvSpPr>
        <p:spPr>
          <a:xfrm>
            <a:off x="411480" y="1499447"/>
            <a:ext cx="6737040" cy="6924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975"/>
              <a:buFont typeface="Inter"/>
              <a:buNone/>
            </a:pPr>
            <a:r>
              <a:rPr b="0" i="0" lang="da-DK" sz="975" u="none" strike="noStrike">
                <a:solidFill>
                  <a:schemeClr val="dk2"/>
                </a:solidFill>
                <a:latin typeface="Inter"/>
                <a:ea typeface="Inter"/>
                <a:cs typeface="Inter"/>
                <a:sym typeface="Inter"/>
              </a:rPr>
              <a:t>Virksomheden har givet oplysninger om antallet af registrerede arbejdsulykker og arbejdsrelaterede dødsfald for følgende specifikationer: Antal og hyppighed. Derudover, om arbejdsrelaterede dødsfald skyldes arbejdsskader/arbejdsulykker eller dårligt helbred.</a:t>
            </a:r>
            <a:endParaRPr b="0" sz="975">
              <a:solidFill>
                <a:schemeClr val="dk2"/>
              </a:solidFill>
              <a:latin typeface="Inter"/>
              <a:ea typeface="Inter"/>
              <a:cs typeface="Inter"/>
              <a:sym typeface="Inter"/>
            </a:endParaRPr>
          </a:p>
          <a:p>
            <a:pPr indent="0" lvl="0" marL="0" marR="0" rtl="0" algn="l">
              <a:spcBef>
                <a:spcPts val="0"/>
              </a:spcBef>
              <a:spcAft>
                <a:spcPts val="0"/>
              </a:spcAft>
              <a:buClr>
                <a:schemeClr val="dk2"/>
              </a:buClr>
              <a:buSzPts val="975"/>
              <a:buFont typeface="Inter"/>
              <a:buNone/>
            </a:pPr>
            <a:br>
              <a:rPr lang="da-DK" sz="975">
                <a:solidFill>
                  <a:schemeClr val="dk2"/>
                </a:solidFill>
                <a:latin typeface="Inter"/>
                <a:ea typeface="Inter"/>
                <a:cs typeface="Inter"/>
                <a:sym typeface="Inter"/>
              </a:rPr>
            </a:br>
            <a:endParaRPr sz="975">
              <a:solidFill>
                <a:schemeClr val="dk2"/>
              </a:solidFill>
              <a:latin typeface="Inter"/>
              <a:ea typeface="Inter"/>
              <a:cs typeface="Inter"/>
              <a:sym typeface="Inter"/>
            </a:endParaRPr>
          </a:p>
        </p:txBody>
      </p:sp>
      <p:sp>
        <p:nvSpPr>
          <p:cNvPr id="151" name="Google Shape;151;p9"/>
          <p:cNvSpPr txBox="1"/>
          <p:nvPr/>
        </p:nvSpPr>
        <p:spPr>
          <a:xfrm>
            <a:off x="411480" y="4523168"/>
            <a:ext cx="6737040" cy="20774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475"/>
              <a:buFont typeface="IBM Plex Sans"/>
              <a:buNone/>
            </a:pPr>
            <a:r>
              <a:rPr b="1" lang="da-DK" sz="1475">
                <a:solidFill>
                  <a:schemeClr val="dk2"/>
                </a:solidFill>
                <a:latin typeface="IBM Plex Sans"/>
                <a:ea typeface="IBM Plex Sans"/>
                <a:cs typeface="IBM Plex Sans"/>
                <a:sym typeface="IBM Plex Sans"/>
              </a:rPr>
              <a:t>Egen arbejdsstyrke: Vederlag, overenskomster og uddannelse (B10)</a:t>
            </a:r>
            <a:endParaRPr/>
          </a:p>
        </p:txBody>
      </p:sp>
      <p:graphicFrame>
        <p:nvGraphicFramePr>
          <p:cNvPr id="152" name="Google Shape;152;p9"/>
          <p:cNvGraphicFramePr/>
          <p:nvPr/>
        </p:nvGraphicFramePr>
        <p:xfrm>
          <a:off x="3853152" y="6184477"/>
          <a:ext cx="3295350" cy="1011525"/>
        </p:xfrm>
        <a:graphic>
          <a:graphicData uri="http://schemas.openxmlformats.org/drawingml/2006/table">
            <a:tbl>
              <a:tblPr firstRow="1">
                <a:noFill/>
                <a:tableStyleId>{E5686DB3-B821-445C-B3A6-515973651C61}</a:tableStyleId>
              </a:tblPr>
              <a:tblGrid>
                <a:gridCol w="2292975"/>
                <a:gridCol w="1002375"/>
              </a:tblGrid>
              <a:tr h="447450">
                <a:tc rowSpan="2">
                  <a:txBody>
                    <a:bodyPr/>
                    <a:lstStyle/>
                    <a:p>
                      <a:pPr indent="0" lvl="0" marL="0" marR="0" rtl="0" algn="l">
                        <a:lnSpc>
                          <a:spcPct val="100000"/>
                        </a:lnSpc>
                        <a:spcBef>
                          <a:spcPts val="0"/>
                        </a:spcBef>
                        <a:spcAft>
                          <a:spcPts val="0"/>
                        </a:spcAft>
                        <a:buClr>
                          <a:schemeClr val="dk2"/>
                        </a:buClr>
                        <a:buSzPts val="975"/>
                        <a:buFont typeface="IBM Plex Sans"/>
                        <a:buNone/>
                      </a:pPr>
                      <a:r>
                        <a:rPr b="1" lang="da-DK" sz="975">
                          <a:solidFill>
                            <a:schemeClr val="dk2"/>
                          </a:solidFill>
                        </a:rPr>
                        <a:t>Lønforskel mellem mandlige og kvindelige ansatte </a:t>
                      </a:r>
                      <a:r>
                        <a:rPr b="0" lang="da-DK" sz="975">
                          <a:solidFill>
                            <a:schemeClr val="dk2"/>
                          </a:solidFill>
                        </a:rPr>
                        <a:t>(pkt. 42b)</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975"/>
                        <a:buFont typeface="IBM Plex Sans"/>
                        <a:buNone/>
                      </a:pPr>
                      <a:r>
                        <a:rPr b="1" lang="da-DK" sz="975">
                          <a:solidFill>
                            <a:schemeClr val="dk2"/>
                          </a:solidFill>
                        </a:rPr>
                        <a:t>År</a:t>
                      </a:r>
                      <a:r>
                        <a:rPr b="1" lang="da-DK" sz="975">
                          <a:solidFill>
                            <a:srgbClr val="1B4528"/>
                          </a:solidFill>
                          <a:latin typeface="Calibri"/>
                          <a:ea typeface="Calibri"/>
                          <a:cs typeface="Calibri"/>
                          <a:sym typeface="Calibri"/>
                        </a:rPr>
                        <a:t> </a:t>
                      </a:r>
                      <a:r>
                        <a:rPr b="1" lang="da-DK" sz="975">
                          <a:solidFill>
                            <a:srgbClr val="1B4528"/>
                          </a:solidFill>
                        </a:rPr>
                        <a:t>{{insert_year}}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64075">
                <a:tc vMerge="1"/>
                <a:tc>
                  <a:txBody>
                    <a:bodyPr/>
                    <a:lstStyle/>
                    <a:p>
                      <a:pPr indent="0" lvl="0" marL="0" marR="0" rtl="0" algn="r">
                        <a:spcBef>
                          <a:spcPts val="0"/>
                        </a:spcBef>
                        <a:spcAft>
                          <a:spcPts val="0"/>
                        </a:spcAft>
                        <a:buNone/>
                      </a:pPr>
                      <a:r>
                        <a:rPr b="0" lang="da-DK" sz="975">
                          <a:solidFill>
                            <a:srgbClr val="1B4528"/>
                          </a:solidFill>
                        </a:rPr>
                        <a:t>{{indsat_procentvise_lonforskel}}</a:t>
                      </a:r>
                      <a:endParaRPr/>
                    </a:p>
                  </a:txBody>
                  <a:tcPr marT="30000" marB="30000" marR="30000" marL="30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3" name="Google Shape;153;p9"/>
          <p:cNvGraphicFramePr/>
          <p:nvPr/>
        </p:nvGraphicFramePr>
        <p:xfrm>
          <a:off x="411480" y="6184480"/>
          <a:ext cx="3295375" cy="1014350"/>
        </p:xfrm>
        <a:graphic>
          <a:graphicData uri="http://schemas.openxmlformats.org/drawingml/2006/table">
            <a:tbl>
              <a:tblPr firstRow="1">
                <a:noFill/>
                <a:tableStyleId>{E5686DB3-B821-445C-B3A6-515973651C61}</a:tableStyleId>
              </a:tblPr>
              <a:tblGrid>
                <a:gridCol w="1807925"/>
                <a:gridCol w="762800"/>
                <a:gridCol w="724650"/>
              </a:tblGrid>
              <a:tr h="356393">
                <a:tc>
                  <a:txBody>
                    <a:bodyPr/>
                    <a:lstStyle/>
                    <a:p>
                      <a:pPr indent="0" lvl="0" marL="0" marR="0" rtl="0" algn="l">
                        <a:spcBef>
                          <a:spcPts val="0"/>
                        </a:spcBef>
                        <a:spcAft>
                          <a:spcPts val="0"/>
                        </a:spcAft>
                        <a:buNone/>
                      </a:pPr>
                      <a:r>
                        <a:rPr b="1" lang="da-DK" sz="975">
                          <a:solidFill>
                            <a:schemeClr val="dk2"/>
                          </a:solidFill>
                        </a:rPr>
                        <a:t>Oplysninger om minimumsløn </a:t>
                      </a:r>
                      <a:r>
                        <a:rPr b="0" lang="da-DK" sz="975">
                          <a:solidFill>
                            <a:schemeClr val="dk2"/>
                          </a:solidFill>
                        </a:rPr>
                        <a:t>(42a)</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975">
                          <a:solidFill>
                            <a:schemeClr val="dk2"/>
                          </a:solidFill>
                        </a:rPr>
                        <a:t>Ja</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975">
                          <a:solidFill>
                            <a:schemeClr val="dk2"/>
                          </a:solidFill>
                        </a:rPr>
                        <a:t>Nej</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57957">
                <a:tc>
                  <a:txBody>
                    <a:bodyPr/>
                    <a:lstStyle/>
                    <a:p>
                      <a:pPr indent="0" lvl="0" marL="0" marR="0" rtl="0" algn="l">
                        <a:spcBef>
                          <a:spcPts val="0"/>
                        </a:spcBef>
                        <a:spcAft>
                          <a:spcPts val="0"/>
                        </a:spcAft>
                        <a:buNone/>
                      </a:pPr>
                      <a:r>
                        <a:rPr b="0" lang="da-DK" sz="975">
                          <a:solidFill>
                            <a:schemeClr val="dk2"/>
                          </a:solidFill>
                        </a:rPr>
                        <a:t>I virksomheden modtager alle ansatte en løn, der som minimum er på niveau med minimumslønnen </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{{minumum_wage_yes?}}</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{{minimum_wage_no?}}</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4" name="Google Shape;154;p9"/>
          <p:cNvGraphicFramePr/>
          <p:nvPr/>
        </p:nvGraphicFramePr>
        <p:xfrm>
          <a:off x="411480" y="7680581"/>
          <a:ext cx="3295375" cy="956831"/>
        </p:xfrm>
        <a:graphic>
          <a:graphicData uri="http://schemas.openxmlformats.org/drawingml/2006/table">
            <a:tbl>
              <a:tblPr firstRow="1">
                <a:noFill/>
                <a:tableStyleId>{E5686DB3-B821-445C-B3A6-515973651C61}</a:tableStyleId>
              </a:tblPr>
              <a:tblGrid>
                <a:gridCol w="1821125"/>
                <a:gridCol w="1474250"/>
              </a:tblGrid>
              <a:tr h="454225">
                <a:tc>
                  <a:txBody>
                    <a:bodyPr/>
                    <a:lstStyle/>
                    <a:p>
                      <a:pPr indent="0" lvl="0" marL="0" marR="0" rtl="0" algn="l">
                        <a:lnSpc>
                          <a:spcPct val="100000"/>
                        </a:lnSpc>
                        <a:spcBef>
                          <a:spcPts val="0"/>
                        </a:spcBef>
                        <a:spcAft>
                          <a:spcPts val="0"/>
                        </a:spcAft>
                        <a:buClr>
                          <a:schemeClr val="dk2"/>
                        </a:buClr>
                        <a:buSzPts val="975"/>
                        <a:buFont typeface="IBM Plex Sans"/>
                        <a:buNone/>
                      </a:pPr>
                      <a:r>
                        <a:rPr b="1" lang="da-DK" sz="975">
                          <a:solidFill>
                            <a:schemeClr val="dk2"/>
                          </a:solidFill>
                        </a:rPr>
                        <a:t>Kollektiv overenskomst </a:t>
                      </a:r>
                      <a:r>
                        <a:rPr b="0" lang="da-DK" sz="975">
                          <a:solidFill>
                            <a:schemeClr val="dk2"/>
                          </a:solidFill>
                        </a:rPr>
                        <a:t>(pkt. 42c)</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975"/>
                        <a:buFont typeface="IBM Plex Sans"/>
                        <a:buNone/>
                      </a:pPr>
                      <a:r>
                        <a:rPr b="1" lang="da-DK" sz="975">
                          <a:solidFill>
                            <a:schemeClr val="dk2"/>
                          </a:solidFill>
                        </a:rPr>
                        <a:t>År</a:t>
                      </a:r>
                      <a:r>
                        <a:rPr b="1" lang="da-DK" sz="975">
                          <a:solidFill>
                            <a:srgbClr val="1B4528"/>
                          </a:solidFill>
                          <a:latin typeface="Calibri"/>
                          <a:ea typeface="Calibri"/>
                          <a:cs typeface="Calibri"/>
                          <a:sym typeface="Calibri"/>
                        </a:rPr>
                        <a:t> {{insert_year}}</a:t>
                      </a:r>
                      <a:endParaRPr b="1" sz="975">
                        <a:solidFill>
                          <a:srgbClr val="1B4528"/>
                        </a:solidFill>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02606">
                <a:tc>
                  <a:txBody>
                    <a:bodyPr/>
                    <a:lstStyle/>
                    <a:p>
                      <a:pPr indent="0" lvl="0" marL="0" marR="0" rtl="0" algn="l">
                        <a:lnSpc>
                          <a:spcPct val="100000"/>
                        </a:lnSpc>
                        <a:spcBef>
                          <a:spcPts val="0"/>
                        </a:spcBef>
                        <a:spcAft>
                          <a:spcPts val="0"/>
                        </a:spcAft>
                        <a:buClr>
                          <a:schemeClr val="dk2"/>
                        </a:buClr>
                        <a:buSzPts val="975"/>
                        <a:buFont typeface="IBM Plex Sans"/>
                        <a:buNone/>
                      </a:pPr>
                      <a:r>
                        <a:rPr b="0" lang="da-DK" sz="975">
                          <a:solidFill>
                            <a:schemeClr val="dk2"/>
                          </a:solidFill>
                        </a:rPr>
                        <a:t>Procentvis ansatte, der er dækket af en kollektiv overenskomst</a:t>
                      </a:r>
                      <a:endParaRPr b="0" i="0" sz="975" u="none" cap="none" strike="noStrike">
                        <a:solidFill>
                          <a:srgbClr val="1B4528"/>
                        </a:solidFill>
                        <a:latin typeface="IBM Plex Sans"/>
                        <a:ea typeface="IBM Plex Sans"/>
                        <a:cs typeface="IBM Plex Sans"/>
                        <a:sym typeface="IBM Plex Sans"/>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lnSpc>
                          <a:spcPct val="100000"/>
                        </a:lnSpc>
                        <a:spcBef>
                          <a:spcPts val="0"/>
                        </a:spcBef>
                        <a:spcAft>
                          <a:spcPts val="0"/>
                        </a:spcAft>
                        <a:buClr>
                          <a:srgbClr val="1B4528"/>
                        </a:buClr>
                        <a:buSzPts val="975"/>
                        <a:buFont typeface="IBM Plex Sans"/>
                        <a:buNone/>
                      </a:pPr>
                      <a:r>
                        <a:rPr b="0" i="0" lang="da-DK" sz="975" u="none" cap="none" strike="noStrike">
                          <a:solidFill>
                            <a:srgbClr val="1B4528"/>
                          </a:solidFill>
                          <a:latin typeface="IBM Plex Sans"/>
                          <a:ea typeface="IBM Plex Sans"/>
                          <a:cs typeface="IBM Plex Sans"/>
                          <a:sym typeface="IBM Plex Sans"/>
                        </a:rPr>
                        <a:t>{{indsat_procentvis_ansatte}}</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5" name="Google Shape;155;p9"/>
          <p:cNvGraphicFramePr/>
          <p:nvPr/>
        </p:nvGraphicFramePr>
        <p:xfrm>
          <a:off x="3853152" y="7680580"/>
          <a:ext cx="3295375" cy="956832"/>
        </p:xfrm>
        <a:graphic>
          <a:graphicData uri="http://schemas.openxmlformats.org/drawingml/2006/table">
            <a:tbl>
              <a:tblPr firstRow="1">
                <a:noFill/>
                <a:tableStyleId>{E5686DB3-B821-445C-B3A6-515973651C61}</a:tableStyleId>
              </a:tblPr>
              <a:tblGrid>
                <a:gridCol w="2294250"/>
                <a:gridCol w="1001125"/>
              </a:tblGrid>
              <a:tr h="442997">
                <a:tc>
                  <a:txBody>
                    <a:bodyPr/>
                    <a:lstStyle/>
                    <a:p>
                      <a:pPr indent="0" lvl="0" marL="0" marR="0" rtl="0" algn="l">
                        <a:spcBef>
                          <a:spcPts val="0"/>
                        </a:spcBef>
                        <a:spcAft>
                          <a:spcPts val="0"/>
                        </a:spcAft>
                        <a:buNone/>
                      </a:pPr>
                      <a:r>
                        <a:rPr b="1" lang="da-DK" sz="975">
                          <a:solidFill>
                            <a:schemeClr val="dk2"/>
                          </a:solidFill>
                        </a:rPr>
                        <a:t>Uddannelsestimer i gennemsnit pr. ansat </a:t>
                      </a:r>
                      <a:r>
                        <a:rPr b="0" lang="da-DK" sz="975">
                          <a:solidFill>
                            <a:schemeClr val="dk2"/>
                          </a:solidFill>
                        </a:rPr>
                        <a:t>(pkt. 42d)</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975"/>
                        <a:buFont typeface="IBM Plex Sans"/>
                        <a:buNone/>
                      </a:pPr>
                      <a:r>
                        <a:rPr b="1" lang="da-DK" sz="975">
                          <a:solidFill>
                            <a:schemeClr val="dk2"/>
                          </a:solidFill>
                        </a:rPr>
                        <a:t>År</a:t>
                      </a:r>
                      <a:r>
                        <a:rPr b="1" lang="da-DK" sz="975">
                          <a:solidFill>
                            <a:srgbClr val="1B4528"/>
                          </a:solidFill>
                          <a:latin typeface="Calibri"/>
                          <a:ea typeface="Calibri"/>
                          <a:cs typeface="Calibri"/>
                          <a:sym typeface="Calibri"/>
                        </a:rPr>
                        <a:t> {{insert_year}}</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13835">
                <a:tc>
                  <a:txBody>
                    <a:bodyPr/>
                    <a:lstStyle/>
                    <a:p>
                      <a:pPr indent="0" lvl="0" marL="0" marR="0" rtl="0" algn="l">
                        <a:spcBef>
                          <a:spcPts val="0"/>
                        </a:spcBef>
                        <a:spcAft>
                          <a:spcPts val="0"/>
                        </a:spcAft>
                        <a:buNone/>
                      </a:pPr>
                      <a:r>
                        <a:rPr b="0" lang="da-DK" sz="975">
                          <a:solidFill>
                            <a:schemeClr val="dk2"/>
                          </a:solidFill>
                        </a:rPr>
                        <a:t>Time(r) pr. ansat</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{{gennemsnitstimer}}</a:t>
                      </a:r>
                      <a:endParaRPr b="0" sz="975"/>
                    </a:p>
                  </a:txBody>
                  <a:tcPr marT="15875" marB="15875" marR="15875" marL="158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56" name="Google Shape;156;p9"/>
          <p:cNvSpPr txBox="1"/>
          <p:nvPr/>
        </p:nvSpPr>
        <p:spPr>
          <a:xfrm>
            <a:off x="411480" y="5104448"/>
            <a:ext cx="6737040" cy="846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975"/>
              <a:buFont typeface="Inter"/>
              <a:buNone/>
            </a:pPr>
            <a:r>
              <a:rPr b="0" i="0" lang="da-DK" sz="975" u="none" strike="noStrike">
                <a:solidFill>
                  <a:schemeClr val="dk2"/>
                </a:solidFill>
                <a:latin typeface="Inter"/>
                <a:ea typeface="Inter"/>
                <a:cs typeface="Inter"/>
                <a:sym typeface="Inter"/>
              </a:rPr>
              <a:t>Virksomheden har angivet oplysninger om minimumsløn samt oplyst procentdelen af medarbejdere, der er omfattet af kollektive overenskomster, og det gennemsnitlige antal uddannelsestimer pr. medarbejder pr. år, opdelt efter køn. Hvis virksomheden allerede i henhold til EU-lovgivningen 8 eller andre nationale bestemmelser er forpligtet til at indberette den procentvise lønforskel mellem sine kvindelige og mandlige medarbejdere, skal den oplyse dette.</a:t>
            </a:r>
            <a:endParaRPr/>
          </a:p>
          <a:p>
            <a:pPr indent="0" lvl="0" marL="0" marR="0" rtl="0" algn="l">
              <a:spcBef>
                <a:spcPts val="0"/>
              </a:spcBef>
              <a:spcAft>
                <a:spcPts val="0"/>
              </a:spcAft>
              <a:buClr>
                <a:schemeClr val="dk2"/>
              </a:buClr>
              <a:buSzPts val="975"/>
              <a:buFont typeface="Inter"/>
              <a:buNone/>
            </a:pPr>
            <a:br>
              <a:rPr lang="da-DK" sz="975">
                <a:solidFill>
                  <a:schemeClr val="dk2"/>
                </a:solidFill>
                <a:latin typeface="Inter"/>
                <a:ea typeface="Inter"/>
                <a:cs typeface="Inter"/>
                <a:sym typeface="Inter"/>
              </a:rPr>
            </a:br>
            <a:endParaRPr sz="975">
              <a:solidFill>
                <a:schemeClr val="dk2"/>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423976" y="751839"/>
            <a:ext cx="6583504" cy="207741"/>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400"/>
              <a:buFont typeface="IBM Plex Sans"/>
              <a:buNone/>
            </a:pPr>
            <a:r>
              <a:rPr lang="da-DK"/>
              <a:t>Virksomhedsadfærd: Antal domme og bøder i relation til korruption &amp; bestikkelse (B11) </a:t>
            </a:r>
            <a:endParaRPr/>
          </a:p>
        </p:txBody>
      </p:sp>
      <p:graphicFrame>
        <p:nvGraphicFramePr>
          <p:cNvPr id="163" name="Google Shape;163;p10"/>
          <p:cNvGraphicFramePr/>
          <p:nvPr/>
        </p:nvGraphicFramePr>
        <p:xfrm>
          <a:off x="411480" y="2556047"/>
          <a:ext cx="3000000" cy="3000000"/>
        </p:xfrm>
        <a:graphic>
          <a:graphicData uri="http://schemas.openxmlformats.org/drawingml/2006/table">
            <a:tbl>
              <a:tblPr firstRow="1">
                <a:noFill/>
                <a:tableStyleId>{E5686DB3-B821-445C-B3A6-515973651C61}</a:tableStyleId>
              </a:tblPr>
              <a:tblGrid>
                <a:gridCol w="2245675"/>
                <a:gridCol w="2245675"/>
                <a:gridCol w="2245675"/>
              </a:tblGrid>
              <a:tr h="255000">
                <a:tc rowSpan="2">
                  <a:txBody>
                    <a:bodyPr/>
                    <a:lstStyle/>
                    <a:p>
                      <a:pPr indent="0" lvl="0" marL="0" marR="0" rtl="0" algn="l">
                        <a:spcBef>
                          <a:spcPts val="0"/>
                        </a:spcBef>
                        <a:spcAft>
                          <a:spcPts val="0"/>
                        </a:spcAft>
                        <a:buNone/>
                      </a:pPr>
                      <a:r>
                        <a:rPr b="1" lang="da-DK" sz="975">
                          <a:solidFill>
                            <a:schemeClr val="dk2"/>
                          </a:solidFill>
                        </a:rPr>
                        <a:t>Korruption og bestikkelse </a:t>
                      </a:r>
                      <a:r>
                        <a:rPr b="0" lang="da-DK" sz="975">
                          <a:solidFill>
                            <a:schemeClr val="dk2"/>
                          </a:solidFill>
                        </a:rPr>
                        <a:t>(pkt. 43)</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da-DK" sz="975">
                          <a:solidFill>
                            <a:schemeClr val="dk2"/>
                          </a:solidFill>
                        </a:rPr>
                        <a:t>Antal domme</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975">
                          <a:solidFill>
                            <a:schemeClr val="dk2"/>
                          </a:solidFill>
                        </a:rPr>
                        <a:t>Samlede bødestørrelse</a:t>
                      </a:r>
                      <a:endParaRPr/>
                    </a:p>
                  </a:txBody>
                  <a:tcPr marT="30000" marB="30000" marR="45000" marL="45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5000">
                <a:tc vMerge="1"/>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{{domme}}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975"/>
                        <a:buFont typeface="Inter"/>
                        <a:buNone/>
                      </a:pPr>
                      <a:r>
                        <a:rPr b="0" i="0" lang="da-DK" sz="975" u="none" strike="noStrike">
                          <a:solidFill>
                            <a:srgbClr val="1B4528"/>
                          </a:solidFill>
                          <a:latin typeface="Inter"/>
                          <a:ea typeface="Inter"/>
                          <a:cs typeface="Inter"/>
                          <a:sym typeface="Inter"/>
                        </a:rPr>
                        <a:t>{{samlet_bodestorrelse}}</a:t>
                      </a:r>
                      <a:endParaRPr b="0" sz="975"/>
                    </a:p>
                  </a:txBody>
                  <a:tcPr marT="15875" marB="15875" marR="21175" marL="211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4" name="Google Shape;164;p10"/>
          <p:cNvSpPr txBox="1"/>
          <p:nvPr>
            <p:ph idx="12" type="sldNum"/>
          </p:nvPr>
        </p:nvSpPr>
        <p:spPr>
          <a:xfrm>
            <a:off x="5531035" y="10152285"/>
            <a:ext cx="1617485"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65" name="Google Shape;165;p10"/>
          <p:cNvSpPr txBox="1"/>
          <p:nvPr>
            <p:ph idx="11" type="ftr"/>
          </p:nvPr>
        </p:nvSpPr>
        <p:spPr>
          <a:xfrm>
            <a:off x="5000661" y="365760"/>
            <a:ext cx="2147858"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sp>
        <p:nvSpPr>
          <p:cNvPr id="166" name="Google Shape;166;p10"/>
          <p:cNvSpPr txBox="1"/>
          <p:nvPr/>
        </p:nvSpPr>
        <p:spPr>
          <a:xfrm>
            <a:off x="411480" y="1445509"/>
            <a:ext cx="6737040" cy="846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975"/>
              <a:buFont typeface="Inter"/>
              <a:buNone/>
            </a:pPr>
            <a:r>
              <a:rPr b="0" i="0" lang="da-DK" sz="975" u="none" strike="noStrike">
                <a:solidFill>
                  <a:schemeClr val="dk2"/>
                </a:solidFill>
                <a:latin typeface="Inter"/>
                <a:ea typeface="Inter"/>
                <a:cs typeface="Inter"/>
                <a:sym typeface="Inter"/>
              </a:rPr>
              <a:t>Virksomheden har angivet overtrædelser af anti-korruptions- og anti-bestikkelseslove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 og er anført nedenfor.</a:t>
            </a:r>
            <a:endParaRPr b="0" sz="975">
              <a:solidFill>
                <a:schemeClr val="dk2"/>
              </a:solidFill>
              <a:latin typeface="Inter"/>
              <a:ea typeface="Inter"/>
              <a:cs typeface="Inter"/>
              <a:sym typeface="Inter"/>
            </a:endParaRPr>
          </a:p>
          <a:p>
            <a:pPr indent="0" lvl="0" marL="0" marR="0" rtl="0" algn="l">
              <a:spcBef>
                <a:spcPts val="0"/>
              </a:spcBef>
              <a:spcAft>
                <a:spcPts val="0"/>
              </a:spcAft>
              <a:buClr>
                <a:schemeClr val="dk2"/>
              </a:buClr>
              <a:buSzPts val="975"/>
              <a:buFont typeface="Inter"/>
              <a:buNone/>
            </a:pPr>
            <a:br>
              <a:rPr lang="da-DK" sz="975">
                <a:solidFill>
                  <a:schemeClr val="dk2"/>
                </a:solidFill>
                <a:latin typeface="Inter"/>
                <a:ea typeface="Inter"/>
                <a:cs typeface="Inter"/>
                <a:sym typeface="Inter"/>
              </a:rPr>
            </a:br>
            <a:endParaRPr sz="975">
              <a:solidFill>
                <a:schemeClr val="dk2"/>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ph idx="1" type="body"/>
          </p:nvPr>
        </p:nvSpPr>
        <p:spPr>
          <a:xfrm>
            <a:off x="411480" y="6007478"/>
            <a:ext cx="6737040" cy="861898"/>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FFFFFF"/>
              </a:buClr>
              <a:buSzPts val="1475"/>
              <a:buNone/>
            </a:pPr>
            <a:r>
              <a:rPr b="1" lang="da-DK" sz="1475">
                <a:solidFill>
                  <a:srgbClr val="FFFFFF"/>
                </a:solidFill>
                <a:latin typeface="IBM Plex Sans"/>
                <a:ea typeface="IBM Plex Sans"/>
                <a:cs typeface="IBM Plex Sans"/>
                <a:sym typeface="IBM Plex Sans"/>
              </a:rPr>
              <a:t>{{company_name}}</a:t>
            </a:r>
            <a:endParaRPr/>
          </a:p>
          <a:p>
            <a:pPr indent="0" lvl="0" marL="0" rtl="0" algn="ctr">
              <a:lnSpc>
                <a:spcPct val="100000"/>
              </a:lnSpc>
              <a:spcBef>
                <a:spcPts val="167"/>
              </a:spcBef>
              <a:spcAft>
                <a:spcPts val="0"/>
              </a:spcAft>
              <a:buClr>
                <a:srgbClr val="FFFFFF"/>
              </a:buClr>
              <a:buSzPts val="1475"/>
              <a:buNone/>
            </a:pPr>
            <a:r>
              <a:rPr b="1" lang="da-DK" sz="1475">
                <a:solidFill>
                  <a:srgbClr val="FFFFFF"/>
                </a:solidFill>
                <a:latin typeface="IBM Plex Sans"/>
                <a:ea typeface="IBM Plex Sans"/>
                <a:cs typeface="IBM Plex Sans"/>
                <a:sym typeface="IBM Plex Sans"/>
              </a:rPr>
              <a:t>{{insert_year}}</a:t>
            </a:r>
            <a:br>
              <a:rPr b="1" lang="da-DK" sz="1475">
                <a:solidFill>
                  <a:srgbClr val="FFFFFF"/>
                </a:solidFill>
                <a:latin typeface="IBM Plex Sans"/>
                <a:ea typeface="IBM Plex Sans"/>
                <a:cs typeface="IBM Plex Sans"/>
                <a:sym typeface="IBM Plex Sans"/>
              </a:rPr>
            </a:br>
            <a:endParaRPr sz="1475"/>
          </a:p>
        </p:txBody>
      </p:sp>
      <p:sp>
        <p:nvSpPr>
          <p:cNvPr id="172" name="Google Shape;172;p11"/>
          <p:cNvSpPr txBox="1"/>
          <p:nvPr>
            <p:ph idx="12" type="sldNum"/>
          </p:nvPr>
        </p:nvSpPr>
        <p:spPr>
          <a:xfrm>
            <a:off x="411480" y="10152285"/>
            <a:ext cx="6737040" cy="12823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dc:creator>Amanda Simonsen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