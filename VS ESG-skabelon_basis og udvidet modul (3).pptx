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4"/>
  </p:sldMasterIdLst>
  <p:notesMasterIdLst>
    <p:notesMasterId r:id="rId30"/>
  </p:notesMasterIdLst>
  <p:sldIdLst>
    <p:sldId id="258" r:id="rId5"/>
    <p:sldId id="331" r:id="rId6"/>
    <p:sldId id="355" r:id="rId7"/>
    <p:sldId id="326" r:id="rId8"/>
    <p:sldId id="314" r:id="rId9"/>
    <p:sldId id="327" r:id="rId10"/>
    <p:sldId id="316" r:id="rId11"/>
    <p:sldId id="297" r:id="rId12"/>
    <p:sldId id="300" r:id="rId13"/>
    <p:sldId id="301" r:id="rId14"/>
    <p:sldId id="302" r:id="rId15"/>
    <p:sldId id="307" r:id="rId16"/>
    <p:sldId id="335" r:id="rId17"/>
    <p:sldId id="334" r:id="rId18"/>
    <p:sldId id="337" r:id="rId19"/>
    <p:sldId id="339" r:id="rId20"/>
    <p:sldId id="340" r:id="rId21"/>
    <p:sldId id="352" r:id="rId22"/>
    <p:sldId id="356" r:id="rId23"/>
    <p:sldId id="345" r:id="rId24"/>
    <p:sldId id="359" r:id="rId25"/>
    <p:sldId id="342" r:id="rId26"/>
    <p:sldId id="343" r:id="rId27"/>
    <p:sldId id="348" r:id="rId28"/>
    <p:sldId id="272" r:id="rId29"/>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Forfatter" initials="A" userId="Author" providerId="AD"/>
  <p188:author id="{5A717729-70A1-A95A-729B-0270D7318E5A}" name="Amanda Simonsen" initials="AS" userId="S::amanda.simonsen@cphchangery.dk::11aad7e9-3369-4d2e-bd33-a826dd209a06" providerId="AD"/>
  <p188:author id="{95582667-6102-27E7-ED8E-01A166EB4B6B}" name="Guest User" initials="GU" userId="Guest User" providerId="Windows Live"/>
  <p188:author id="{D710FB69-54CF-AFDB-ADF5-2ED737B81BDA}" name="Nicolai Petersen" initials="NP" userId="6925884bbfe4e3a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7477"/>
    <a:srgbClr val="D1DAD4"/>
    <a:srgbClr val="0000FF"/>
    <a:srgbClr val="1B4529"/>
    <a:srgbClr val="FFFF99"/>
    <a:srgbClr val="1B24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383CF3-0F17-4DA7-AC5F-396DF6463070}" v="36" dt="2026-08-04T20:47:23.299"/>
    <p1510:client id="{9CB8CBE5-AFE3-AE0A-C576-FD9E7262F5DA}" v="153" dt="2026-08-05T15:04:12.209"/>
    <p1510:client id="{9F9C41D0-6860-4C95-9D1A-3405FEFCCBF5}" v="50" dt="2026-08-06T18:05:27.1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IBM Plex Sans" panose="020B0503050203000203" pitchFamily="34" charset="0"/>
              </a:defRPr>
            </a:lvl1pPr>
          </a:lstStyle>
          <a:p>
            <a:endParaRPr lang="da-DK"/>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IBM Plex Sans" panose="020B0503050203000203" pitchFamily="34" charset="0"/>
              </a:defRPr>
            </a:lvl1pPr>
          </a:lstStyle>
          <a:p>
            <a:fld id="{12DFE416-DAD6-D749-857D-2E29C861AEBD}" type="datetimeFigureOut">
              <a:rPr lang="da-DK" smtClean="0"/>
              <a:pPr/>
              <a:t>06-08-2026</a:t>
            </a:fld>
            <a:endParaRPr lang="da-DK"/>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IBM Plex Sans" panose="020B0503050203000203" pitchFamily="34" charset="0"/>
              </a:defRPr>
            </a:lvl1pPr>
          </a:lstStyle>
          <a:p>
            <a:endParaRPr lang="da-DK"/>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IBM Plex Sans" panose="020B0503050203000203" pitchFamily="34" charset="0"/>
              </a:defRPr>
            </a:lvl1pPr>
          </a:lstStyle>
          <a:p>
            <a:fld id="{45BFCFCE-5A78-CB4C-8592-F27D9484E3BD}" type="slidenum">
              <a:rPr lang="da-DK" smtClean="0"/>
              <a:pPr/>
              <a:t>‹nr.›</a:t>
            </a:fld>
            <a:endParaRPr lang="da-DK"/>
          </a:p>
        </p:txBody>
      </p:sp>
    </p:spTree>
    <p:extLst>
      <p:ext uri="{BB962C8B-B14F-4D97-AF65-F5344CB8AC3E}">
        <p14:creationId xmlns:p14="http://schemas.microsoft.com/office/powerpoint/2010/main" val="2960237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IBM Plex Sans" panose="020B0503050203000203" pitchFamily="34" charset="0"/>
        <a:ea typeface="+mn-ea"/>
        <a:cs typeface="+mn-cs"/>
      </a:defRPr>
    </a:lvl1pPr>
    <a:lvl2pPr marL="457200" algn="l" defTabSz="914400" rtl="0" eaLnBrk="1" latinLnBrk="0" hangingPunct="1">
      <a:defRPr sz="1200" kern="1200">
        <a:solidFill>
          <a:schemeClr val="tx1"/>
        </a:solidFill>
        <a:latin typeface="IBM Plex Sans" panose="020B0503050203000203" pitchFamily="34" charset="0"/>
        <a:ea typeface="+mn-ea"/>
        <a:cs typeface="+mn-cs"/>
      </a:defRPr>
    </a:lvl2pPr>
    <a:lvl3pPr marL="914400" algn="l" defTabSz="914400" rtl="0" eaLnBrk="1" latinLnBrk="0" hangingPunct="1">
      <a:defRPr sz="1200" kern="1200">
        <a:solidFill>
          <a:schemeClr val="tx1"/>
        </a:solidFill>
        <a:latin typeface="IBM Plex Sans" panose="020B0503050203000203" pitchFamily="34" charset="0"/>
        <a:ea typeface="+mn-ea"/>
        <a:cs typeface="+mn-cs"/>
      </a:defRPr>
    </a:lvl3pPr>
    <a:lvl4pPr marL="1371600" algn="l" defTabSz="914400" rtl="0" eaLnBrk="1" latinLnBrk="0" hangingPunct="1">
      <a:defRPr sz="1200" kern="1200">
        <a:solidFill>
          <a:schemeClr val="tx1"/>
        </a:solidFill>
        <a:latin typeface="IBM Plex Sans" panose="020B0503050203000203" pitchFamily="34" charset="0"/>
        <a:ea typeface="+mn-ea"/>
        <a:cs typeface="+mn-cs"/>
      </a:defRPr>
    </a:lvl4pPr>
    <a:lvl5pPr marL="1828800" algn="l" defTabSz="914400" rtl="0" eaLnBrk="1" latinLnBrk="0" hangingPunct="1">
      <a:defRPr sz="1200" kern="1200">
        <a:solidFill>
          <a:schemeClr val="tx1"/>
        </a:solidFill>
        <a:latin typeface="IBM Plex Sans"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1</a:t>
            </a:fld>
            <a:endParaRPr lang="da-DK"/>
          </a:p>
        </p:txBody>
      </p:sp>
    </p:spTree>
    <p:extLst>
      <p:ext uri="{BB962C8B-B14F-4D97-AF65-F5344CB8AC3E}">
        <p14:creationId xmlns:p14="http://schemas.microsoft.com/office/powerpoint/2010/main" val="804952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2</a:t>
            </a:fld>
            <a:endParaRPr lang="da-DK"/>
          </a:p>
        </p:txBody>
      </p:sp>
    </p:spTree>
    <p:extLst>
      <p:ext uri="{BB962C8B-B14F-4D97-AF65-F5344CB8AC3E}">
        <p14:creationId xmlns:p14="http://schemas.microsoft.com/office/powerpoint/2010/main" val="3631039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3</a:t>
            </a:fld>
            <a:endParaRPr lang="da-DK"/>
          </a:p>
        </p:txBody>
      </p:sp>
    </p:spTree>
    <p:extLst>
      <p:ext uri="{BB962C8B-B14F-4D97-AF65-F5344CB8AC3E}">
        <p14:creationId xmlns:p14="http://schemas.microsoft.com/office/powerpoint/2010/main" val="3059604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4</a:t>
            </a:fld>
            <a:endParaRPr lang="da-DK"/>
          </a:p>
        </p:txBody>
      </p:sp>
    </p:spTree>
    <p:extLst>
      <p:ext uri="{BB962C8B-B14F-4D97-AF65-F5344CB8AC3E}">
        <p14:creationId xmlns:p14="http://schemas.microsoft.com/office/powerpoint/2010/main" val="33859973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a:t>Fjernet: </a:t>
            </a:r>
            <a:r>
              <a:rPr lang="en-GB" sz="1200" b="0" i="0" u="none" strike="noStrike" kern="1200">
                <a:solidFill>
                  <a:schemeClr val="tx1"/>
                </a:solidFill>
                <a:effectLst/>
                <a:latin typeface="IBM Plex Sans" panose="020B0503050203000203" pitchFamily="34" charset="0"/>
                <a:ea typeface="+mn-ea"/>
                <a:cs typeface="+mn-cs"/>
              </a:rPr>
              <a:t>{{documents_B2}}</a:t>
            </a:r>
          </a:p>
          <a:p>
            <a:r>
              <a:rPr lang="en-GB" sz="1200" b="0" i="0" u="none" strike="noStrike" kern="1200" err="1">
                <a:solidFill>
                  <a:schemeClr val="tx1"/>
                </a:solidFill>
                <a:effectLst/>
                <a:latin typeface="IBM Plex Sans" panose="020B0503050203000203" pitchFamily="34" charset="0"/>
                <a:ea typeface="+mn-ea"/>
                <a:cs typeface="+mn-cs"/>
              </a:rPr>
              <a:t>Tilføjet</a:t>
            </a:r>
            <a:r>
              <a:rPr lang="en-GB" sz="1200" b="0" i="0" u="none" strike="noStrike" kern="1200">
                <a:solidFill>
                  <a:schemeClr val="tx1"/>
                </a:solidFill>
                <a:effectLst/>
                <a:latin typeface="IBM Plex Sans" panose="020B0503050203000203" pitchFamily="34" charset="0"/>
                <a:ea typeface="+mn-ea"/>
                <a:cs typeface="+mn-cs"/>
              </a:rPr>
              <a:t>: </a:t>
            </a:r>
            <a:r>
              <a:rPr lang="en-GB" sz="1200" b="0" i="0" u="none" strike="noStrike" kern="1200" err="1">
                <a:solidFill>
                  <a:schemeClr val="tx1"/>
                </a:solidFill>
                <a:effectLst/>
                <a:latin typeface="IBM Plex Sans" panose="020B0503050203000203" pitchFamily="34" charset="0"/>
                <a:ea typeface="+mn-ea"/>
                <a:cs typeface="+mn-cs"/>
              </a:rPr>
              <a:t>kolonne</a:t>
            </a:r>
            <a:r>
              <a:rPr lang="en-GB" sz="1200" b="0" i="0" u="none" strike="noStrike" kern="1200">
                <a:solidFill>
                  <a:schemeClr val="tx1"/>
                </a:solidFill>
                <a:effectLst/>
                <a:latin typeface="IBM Plex Sans" panose="020B0503050203000203" pitchFamily="34" charset="0"/>
                <a:ea typeface="+mn-ea"/>
                <a:cs typeface="+mn-cs"/>
              </a:rPr>
              <a:t> om </a:t>
            </a:r>
            <a:r>
              <a:rPr lang="en-GB" sz="1200" b="0" i="0" u="none" strike="noStrike" kern="1200" err="1">
                <a:solidFill>
                  <a:schemeClr val="tx1"/>
                </a:solidFill>
                <a:effectLst/>
                <a:latin typeface="IBM Plex Sans" panose="020B0503050203000203" pitchFamily="34" charset="0"/>
                <a:ea typeface="+mn-ea"/>
                <a:cs typeface="+mn-cs"/>
              </a:rPr>
              <a:t>monitorering</a:t>
            </a:r>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5</a:t>
            </a:fld>
            <a:endParaRPr lang="da-DK"/>
          </a:p>
        </p:txBody>
      </p:sp>
    </p:spTree>
    <p:extLst>
      <p:ext uri="{BB962C8B-B14F-4D97-AF65-F5344CB8AC3E}">
        <p14:creationId xmlns:p14="http://schemas.microsoft.com/office/powerpoint/2010/main" val="3400092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da-DK"/>
          </a:p>
        </p:txBody>
      </p:sp>
      <p:sp>
        <p:nvSpPr>
          <p:cNvPr id="3" name="Pladsholder til noter 2"/>
          <p:cNvSpPr>
            <a:spLocks noGrp="1"/>
          </p:cNvSpPr>
          <p:nvPr>
            <p:ph type="body" idx="1"/>
          </p:nvPr>
        </p:nvSpPr>
        <p:spPr/>
        <p:txBody>
          <a:bodyPr/>
          <a:lstStyle/>
          <a:p>
            <a:pPr rtl="0"/>
            <a:r>
              <a:rPr lang="da-DK"/>
              <a:t>Fjernet: </a:t>
            </a:r>
            <a:r>
              <a:rPr lang="en-GB" sz="1200" b="0" i="0" u="none" strike="noStrike" kern="1200">
                <a:solidFill>
                  <a:schemeClr val="tx1"/>
                </a:solidFill>
                <a:effectLst/>
                <a:latin typeface="IBM Plex Sans" panose="020B0503050203000203" pitchFamily="34" charset="0"/>
                <a:ea typeface="+mn-ea"/>
                <a:cs typeface="+mn-cs"/>
              </a:rPr>
              <a:t>{{Insert_CO2e_intensity}}</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a-DK" smtClean="0"/>
              <a:pPr/>
              <a:t>6</a:t>
            </a:fld>
            <a:endParaRPr lang="da-DK"/>
          </a:p>
        </p:txBody>
      </p:sp>
    </p:spTree>
    <p:extLst>
      <p:ext uri="{BB962C8B-B14F-4D97-AF65-F5344CB8AC3E}">
        <p14:creationId xmlns:p14="http://schemas.microsoft.com/office/powerpoint/2010/main" val="3098348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da-DK"/>
              <a:t>Fjernet: </a:t>
            </a:r>
            <a:r>
              <a:rPr lang="en-GB" sz="1200" b="0" i="0" u="none" strike="noStrike" kern="1200">
                <a:solidFill>
                  <a:schemeClr val="tx1"/>
                </a:solidFill>
                <a:effectLst/>
                <a:latin typeface="IBM Plex Sans" panose="020B0503050203000203" pitchFamily="34" charset="0"/>
                <a:ea typeface="+mn-ea"/>
                <a:cs typeface="+mn-cs"/>
              </a:rPr>
              <a:t>{{uploaded_documents_B4}}</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a-DK" smtClean="0"/>
              <a:pPr/>
              <a:t>7</a:t>
            </a:fld>
            <a:endParaRPr lang="da-DK"/>
          </a:p>
        </p:txBody>
      </p:sp>
    </p:spTree>
    <p:extLst>
      <p:ext uri="{BB962C8B-B14F-4D97-AF65-F5344CB8AC3E}">
        <p14:creationId xmlns:p14="http://schemas.microsoft.com/office/powerpoint/2010/main" val="2474281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da-DK"/>
              <a:t>Fjernet: </a:t>
            </a:r>
            <a:r>
              <a:rPr lang="en-GB" sz="1200" b="0" i="0" u="none" strike="noStrike" kern="1200">
                <a:solidFill>
                  <a:schemeClr val="tx1"/>
                </a:solidFill>
                <a:effectLst/>
                <a:latin typeface="IBM Plex Sans" panose="020B0503050203000203" pitchFamily="34" charset="0"/>
                <a:ea typeface="+mn-ea"/>
                <a:cs typeface="+mn-cs"/>
              </a:rPr>
              <a:t>{{</a:t>
            </a:r>
            <a:r>
              <a:rPr lang="en-GB" sz="1200" b="0" i="0" u="none" strike="noStrike" kern="1200" err="1">
                <a:solidFill>
                  <a:schemeClr val="tx1"/>
                </a:solidFill>
                <a:effectLst/>
                <a:latin typeface="IBM Plex Sans" panose="020B0503050203000203" pitchFamily="34" charset="0"/>
                <a:ea typeface="+mn-ea"/>
                <a:cs typeface="+mn-cs"/>
              </a:rPr>
              <a:t>waterstress_withdrawal</a:t>
            </a:r>
            <a:r>
              <a:rPr lang="en-GB" sz="1200" b="0" i="0" u="none" strike="noStrike" kern="1200">
                <a:solidFill>
                  <a:schemeClr val="tx1"/>
                </a:solidFill>
                <a:effectLst/>
                <a:latin typeface="IBM Plex Sans" panose="020B0503050203000203" pitchFamily="34" charset="0"/>
                <a:ea typeface="+mn-ea"/>
                <a:cs typeface="+mn-cs"/>
              </a:rPr>
              <a:t>}}</a:t>
            </a:r>
            <a:endParaRPr lang="en-GB" b="0">
              <a:effectLst/>
            </a:endParaRPr>
          </a:p>
          <a:p>
            <a:br>
              <a:rPr lang="en-GB"/>
            </a:br>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8</a:t>
            </a:fld>
            <a:endParaRPr lang="da-DK"/>
          </a:p>
        </p:txBody>
      </p:sp>
    </p:spTree>
    <p:extLst>
      <p:ext uri="{BB962C8B-B14F-4D97-AF65-F5344CB8AC3E}">
        <p14:creationId xmlns:p14="http://schemas.microsoft.com/office/powerpoint/2010/main" val="3112050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da-DK"/>
          </a:p>
        </p:txBody>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pPr/>
              <a:t>9</a:t>
            </a:fld>
            <a:endParaRPr lang="da-DK"/>
          </a:p>
        </p:txBody>
      </p:sp>
    </p:spTree>
    <p:extLst>
      <p:ext uri="{BB962C8B-B14F-4D97-AF65-F5344CB8AC3E}">
        <p14:creationId xmlns:p14="http://schemas.microsoft.com/office/powerpoint/2010/main" val="2243809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da-DK"/>
              <a:t>Fjernet: </a:t>
            </a:r>
            <a:r>
              <a:rPr lang="en-GB" sz="1200" b="0" i="0" u="none" strike="noStrike" kern="1200">
                <a:solidFill>
                  <a:schemeClr val="tx1"/>
                </a:solidFill>
                <a:effectLst/>
                <a:latin typeface="IBM Plex Sans" panose="020B0503050203000203" pitchFamily="34" charset="0"/>
                <a:ea typeface="+mn-ea"/>
                <a:cs typeface="+mn-cs"/>
              </a:rPr>
              <a:t>{{</a:t>
            </a:r>
            <a:r>
              <a:rPr lang="en-GB" sz="1200" b="0" i="0" u="none" strike="noStrike" kern="1200" err="1">
                <a:solidFill>
                  <a:schemeClr val="tx1"/>
                </a:solidFill>
                <a:effectLst/>
                <a:latin typeface="IBM Plex Sans" panose="020B0503050203000203" pitchFamily="34" charset="0"/>
                <a:ea typeface="+mn-ea"/>
                <a:cs typeface="+mn-cs"/>
              </a:rPr>
              <a:t>omsatningsrate</a:t>
            </a:r>
            <a:r>
              <a:rPr lang="en-GB" sz="1200" b="0" i="0" u="none" strike="noStrike" kern="1200">
                <a:solidFill>
                  <a:schemeClr val="tx1"/>
                </a:solidFill>
                <a:effectLst/>
                <a:latin typeface="IBM Plex Sans" panose="020B0503050203000203" pitchFamily="34" charset="0"/>
                <a:ea typeface="+mn-ea"/>
                <a:cs typeface="+mn-cs"/>
              </a:rPr>
              <a:t>}}</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a-DK" smtClean="0"/>
              <a:pPr/>
              <a:t>10</a:t>
            </a:fld>
            <a:endParaRPr lang="da-DK"/>
          </a:p>
        </p:txBody>
      </p:sp>
    </p:spTree>
    <p:extLst>
      <p:ext uri="{BB962C8B-B14F-4D97-AF65-F5344CB8AC3E}">
        <p14:creationId xmlns:p14="http://schemas.microsoft.com/office/powerpoint/2010/main" val="40643826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da-DK"/>
          </a:p>
        </p:txBody>
      </p:sp>
      <p:sp>
        <p:nvSpPr>
          <p:cNvPr id="3" name="Pladsholder til noter 2"/>
          <p:cNvSpPr>
            <a:spLocks noGrp="1"/>
          </p:cNvSpPr>
          <p:nvPr>
            <p:ph type="body" idx="1"/>
          </p:nvPr>
        </p:nvSpPr>
        <p:spPr/>
        <p:txBody>
          <a:bodyPr/>
          <a:lstStyle/>
          <a:p>
            <a:pPr rtl="0" eaLnBrk="1" fontAlgn="ctr" latinLnBrk="0" hangingPunct="1"/>
            <a:r>
              <a:rPr lang="da-DK" b="0">
                <a:effectLst/>
              </a:rPr>
              <a:t>Fjernet: </a:t>
            </a:r>
            <a:r>
              <a:rPr lang="da-DK" sz="1200" b="0" i="0" u="none" strike="noStrike" kern="1200">
                <a:solidFill>
                  <a:schemeClr val="tx1"/>
                </a:solidFill>
                <a:effectLst/>
                <a:latin typeface="IBM Plex Sans" panose="020B0503050203000203" pitchFamily="34" charset="0"/>
                <a:ea typeface="+mn-ea"/>
                <a:cs typeface="+mn-cs"/>
              </a:rPr>
              <a:t>{{</a:t>
            </a:r>
            <a:r>
              <a:rPr lang="da-DK" sz="1200" b="0" i="0" u="none" strike="noStrike" kern="1200" err="1">
                <a:solidFill>
                  <a:schemeClr val="tx1"/>
                </a:solidFill>
                <a:effectLst/>
                <a:latin typeface="IBM Plex Sans" panose="020B0503050203000203" pitchFamily="34" charset="0"/>
                <a:ea typeface="+mn-ea"/>
                <a:cs typeface="+mn-cs"/>
              </a:rPr>
              <a:t>men_gennemsnitstimer</a:t>
            </a:r>
            <a:r>
              <a:rPr lang="da-DK" sz="1200" b="0" i="0" u="none" strike="noStrike" kern="1200">
                <a:solidFill>
                  <a:schemeClr val="tx1"/>
                </a:solidFill>
                <a:effectLst/>
                <a:latin typeface="IBM Plex Sans" panose="020B0503050203000203" pitchFamily="34" charset="0"/>
                <a:ea typeface="+mn-ea"/>
                <a:cs typeface="+mn-cs"/>
              </a:rPr>
              <a:t>}}</a:t>
            </a:r>
            <a:endParaRPr lang="en-GB" sz="1200" b="0" i="0" u="none" strike="noStrike" kern="1200">
              <a:solidFill>
                <a:schemeClr val="tx1"/>
              </a:solidFill>
              <a:effectLst/>
              <a:latin typeface="IBM Plex Sans" panose="020B0503050203000203" pitchFamily="34" charset="0"/>
              <a:ea typeface="+mn-ea"/>
              <a:cs typeface="+mn-cs"/>
            </a:endParaRPr>
          </a:p>
          <a:p>
            <a:pPr rtl="0" eaLnBrk="1" fontAlgn="ctr" latinLnBrk="0" hangingPunct="1"/>
            <a:r>
              <a:rPr lang="da-DK" sz="1200" b="0" i="0" u="none" strike="noStrike" kern="1200">
                <a:solidFill>
                  <a:schemeClr val="tx1"/>
                </a:solidFill>
                <a:effectLst/>
                <a:latin typeface="IBM Plex Sans" panose="020B0503050203000203" pitchFamily="34" charset="0"/>
                <a:ea typeface="+mn-ea"/>
                <a:cs typeface="+mn-cs"/>
              </a:rPr>
              <a:t>{{</a:t>
            </a:r>
            <a:r>
              <a:rPr lang="da-DK" sz="1200" b="0" i="0" u="none" strike="noStrike" kern="1200" err="1">
                <a:solidFill>
                  <a:schemeClr val="tx1"/>
                </a:solidFill>
                <a:effectLst/>
                <a:latin typeface="IBM Plex Sans" panose="020B0503050203000203" pitchFamily="34" charset="0"/>
                <a:ea typeface="+mn-ea"/>
                <a:cs typeface="+mn-cs"/>
              </a:rPr>
              <a:t>women_gennemsnitstimer</a:t>
            </a:r>
            <a:r>
              <a:rPr lang="da-DK" sz="1200" b="0" i="0" u="none" strike="noStrike" kern="1200">
                <a:solidFill>
                  <a:schemeClr val="tx1"/>
                </a:solidFill>
                <a:effectLst/>
                <a:latin typeface="IBM Plex Sans" panose="020B0503050203000203" pitchFamily="34" charset="0"/>
                <a:ea typeface="+mn-ea"/>
                <a:cs typeface="+mn-cs"/>
              </a:rPr>
              <a:t>}}</a:t>
            </a:r>
            <a:endParaRPr lang="en-GB" sz="1200" b="0" i="0" u="none" strike="noStrike" kern="1200">
              <a:solidFill>
                <a:schemeClr val="tx1"/>
              </a:solidFill>
              <a:effectLst/>
              <a:latin typeface="IBM Plex Sans" panose="020B0503050203000203" pitchFamily="34" charset="0"/>
              <a:ea typeface="+mn-ea"/>
              <a:cs typeface="+mn-cs"/>
            </a:endParaRPr>
          </a:p>
          <a:p>
            <a:pPr rtl="0" eaLnBrk="1" fontAlgn="ctr" latinLnBrk="0" hangingPunct="1"/>
            <a:r>
              <a:rPr lang="da-DK" sz="1200" b="0" i="0" u="none" strike="noStrike" kern="1200">
                <a:solidFill>
                  <a:schemeClr val="tx1"/>
                </a:solidFill>
                <a:effectLst/>
                <a:latin typeface="IBM Plex Sans" panose="020B0503050203000203" pitchFamily="34" charset="0"/>
                <a:ea typeface="+mn-ea"/>
                <a:cs typeface="+mn-cs"/>
              </a:rPr>
              <a:t>{{</a:t>
            </a:r>
            <a:r>
              <a:rPr lang="da-DK" sz="1200" b="0" i="0" u="none" strike="noStrike" kern="1200" err="1">
                <a:solidFill>
                  <a:schemeClr val="tx1"/>
                </a:solidFill>
                <a:effectLst/>
                <a:latin typeface="IBM Plex Sans" panose="020B0503050203000203" pitchFamily="34" charset="0"/>
                <a:ea typeface="+mn-ea"/>
                <a:cs typeface="+mn-cs"/>
              </a:rPr>
              <a:t>other_gennemsnitstimer</a:t>
            </a:r>
            <a:r>
              <a:rPr lang="da-DK" sz="1200" b="0" i="0" u="none" strike="noStrike" kern="1200">
                <a:solidFill>
                  <a:schemeClr val="tx1"/>
                </a:solidFill>
                <a:effectLst/>
                <a:latin typeface="IBM Plex Sans" panose="020B0503050203000203" pitchFamily="34" charset="0"/>
                <a:ea typeface="+mn-ea"/>
                <a:cs typeface="+mn-cs"/>
              </a:rPr>
              <a:t>}}</a:t>
            </a:r>
            <a:endParaRPr lang="en-GB" sz="1200" b="0" i="0" u="none" strike="noStrike" kern="1200">
              <a:solidFill>
                <a:schemeClr val="tx1"/>
              </a:solidFill>
              <a:effectLst/>
              <a:latin typeface="IBM Plex Sans" panose="020B0503050203000203" pitchFamily="34" charset="0"/>
              <a:ea typeface="+mn-ea"/>
              <a:cs typeface="+mn-cs"/>
            </a:endParaRPr>
          </a:p>
          <a:p>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a-DK" smtClean="0"/>
              <a:pPr/>
              <a:t>11</a:t>
            </a:fld>
            <a:endParaRPr lang="da-DK"/>
          </a:p>
        </p:txBody>
      </p:sp>
    </p:spTree>
    <p:extLst>
      <p:ext uri="{BB962C8B-B14F-4D97-AF65-F5344CB8AC3E}">
        <p14:creationId xmlns:p14="http://schemas.microsoft.com/office/powerpoint/2010/main" val="35998746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12</a:t>
            </a:fld>
            <a:endParaRPr lang="da-DK"/>
          </a:p>
        </p:txBody>
      </p:sp>
    </p:spTree>
    <p:extLst>
      <p:ext uri="{BB962C8B-B14F-4D97-AF65-F5344CB8AC3E}">
        <p14:creationId xmlns:p14="http://schemas.microsoft.com/office/powerpoint/2010/main" val="3061253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13</a:t>
            </a:fld>
            <a:endParaRPr lang="da-DK"/>
          </a:p>
        </p:txBody>
      </p:sp>
    </p:spTree>
    <p:extLst>
      <p:ext uri="{BB962C8B-B14F-4D97-AF65-F5344CB8AC3E}">
        <p14:creationId xmlns:p14="http://schemas.microsoft.com/office/powerpoint/2010/main" val="3222916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14</a:t>
            </a:fld>
            <a:endParaRPr lang="da-DK"/>
          </a:p>
        </p:txBody>
      </p:sp>
    </p:spTree>
    <p:extLst>
      <p:ext uri="{BB962C8B-B14F-4D97-AF65-F5344CB8AC3E}">
        <p14:creationId xmlns:p14="http://schemas.microsoft.com/office/powerpoint/2010/main" val="19230645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15</a:t>
            </a:fld>
            <a:endParaRPr lang="da-DK"/>
          </a:p>
        </p:txBody>
      </p:sp>
    </p:spTree>
    <p:extLst>
      <p:ext uri="{BB962C8B-B14F-4D97-AF65-F5344CB8AC3E}">
        <p14:creationId xmlns:p14="http://schemas.microsoft.com/office/powerpoint/2010/main" val="31252046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16</a:t>
            </a:fld>
            <a:endParaRPr lang="da-DK"/>
          </a:p>
        </p:txBody>
      </p:sp>
    </p:spTree>
    <p:extLst>
      <p:ext uri="{BB962C8B-B14F-4D97-AF65-F5344CB8AC3E}">
        <p14:creationId xmlns:p14="http://schemas.microsoft.com/office/powerpoint/2010/main" val="36580621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17</a:t>
            </a:fld>
            <a:endParaRPr lang="da-DK"/>
          </a:p>
        </p:txBody>
      </p:sp>
    </p:spTree>
    <p:extLst>
      <p:ext uri="{BB962C8B-B14F-4D97-AF65-F5344CB8AC3E}">
        <p14:creationId xmlns:p14="http://schemas.microsoft.com/office/powerpoint/2010/main" val="38426451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da-DK"/>
          </a:p>
        </p:txBody>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pPr/>
              <a:t>18</a:t>
            </a:fld>
            <a:endParaRPr lang="da-DK"/>
          </a:p>
        </p:txBody>
      </p:sp>
    </p:spTree>
    <p:extLst>
      <p:ext uri="{BB962C8B-B14F-4D97-AF65-F5344CB8AC3E}">
        <p14:creationId xmlns:p14="http://schemas.microsoft.com/office/powerpoint/2010/main" val="29765479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da-DK"/>
          </a:p>
        </p:txBody>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pPr/>
              <a:t>19</a:t>
            </a:fld>
            <a:endParaRPr lang="da-DK"/>
          </a:p>
        </p:txBody>
      </p:sp>
    </p:spTree>
    <p:extLst>
      <p:ext uri="{BB962C8B-B14F-4D97-AF65-F5344CB8AC3E}">
        <p14:creationId xmlns:p14="http://schemas.microsoft.com/office/powerpoint/2010/main" val="29765479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da-DK"/>
              <a:t>Tilføjet fra B8: </a:t>
            </a:r>
            <a:r>
              <a:rPr lang="en-GB" sz="1200" b="0" i="0" u="none" strike="noStrike" kern="1200">
                <a:solidFill>
                  <a:schemeClr val="tx1"/>
                </a:solidFill>
                <a:effectLst/>
                <a:latin typeface="IBM Plex Sans" panose="020B0503050203000203" pitchFamily="34" charset="0"/>
                <a:ea typeface="+mn-ea"/>
                <a:cs typeface="+mn-cs"/>
              </a:rPr>
              <a:t>{{</a:t>
            </a:r>
            <a:r>
              <a:rPr lang="en-GB" sz="1200" b="0" i="0" u="none" strike="noStrike" kern="1200" err="1">
                <a:solidFill>
                  <a:schemeClr val="tx1"/>
                </a:solidFill>
                <a:effectLst/>
                <a:latin typeface="IBM Plex Sans" panose="020B0503050203000203" pitchFamily="34" charset="0"/>
                <a:ea typeface="+mn-ea"/>
                <a:cs typeface="+mn-cs"/>
              </a:rPr>
              <a:t>omsatningsrate</a:t>
            </a:r>
            <a:r>
              <a:rPr lang="en-GB" sz="1200" b="0" i="0" u="none" strike="noStrike" kern="1200">
                <a:solidFill>
                  <a:schemeClr val="tx1"/>
                </a:solidFill>
                <a:effectLst/>
                <a:latin typeface="IBM Plex Sans" panose="020B0503050203000203" pitchFamily="34" charset="0"/>
                <a:ea typeface="+mn-ea"/>
                <a:cs typeface="+mn-cs"/>
              </a:rPr>
              <a:t>}}</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a-DK" smtClean="0"/>
              <a:pPr/>
              <a:t>20</a:t>
            </a:fld>
            <a:endParaRPr lang="da-DK"/>
          </a:p>
        </p:txBody>
      </p:sp>
    </p:spTree>
    <p:extLst>
      <p:ext uri="{BB962C8B-B14F-4D97-AF65-F5344CB8AC3E}">
        <p14:creationId xmlns:p14="http://schemas.microsoft.com/office/powerpoint/2010/main" val="39423708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a:t>Fjernet: EU benchmark </a:t>
            </a:r>
            <a:r>
              <a:rPr lang="da-DK" err="1"/>
              <a:t>exclusion</a:t>
            </a:r>
            <a:endParaRPr lang="da-DK"/>
          </a:p>
          <a:p>
            <a:r>
              <a:rPr lang="da-DK"/>
              <a:t>Fjernet: </a:t>
            </a:r>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23</a:t>
            </a:fld>
            <a:endParaRPr lang="da-DK"/>
          </a:p>
        </p:txBody>
      </p:sp>
    </p:spTree>
    <p:extLst>
      <p:ext uri="{BB962C8B-B14F-4D97-AF65-F5344CB8AC3E}">
        <p14:creationId xmlns:p14="http://schemas.microsoft.com/office/powerpoint/2010/main" val="2905105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templat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2E31B1D-D5FA-1144-A6D9-FDFA19DD3A3B}"/>
              </a:ext>
            </a:extLst>
          </p:cNvPr>
          <p:cNvSpPr>
            <a:spLocks noGrp="1"/>
          </p:cNvSpPr>
          <p:nvPr>
            <p:ph type="body" sz="quarter" idx="14"/>
          </p:nvPr>
        </p:nvSpPr>
        <p:spPr>
          <a:xfrm>
            <a:off x="508000" y="1015788"/>
            <a:ext cx="3513138" cy="5328285"/>
          </a:xfrm>
        </p:spPr>
        <p:txBody>
          <a:bodyPr/>
          <a:lstStyle>
            <a:lvl1pPr marL="0" indent="0">
              <a:buNone/>
              <a:defRPr/>
            </a:lvl1pPr>
          </a:lstStyle>
          <a:p>
            <a:pPr lvl="0"/>
            <a:r>
              <a:rPr lang="da-DK" noProof="0" err="1"/>
              <a:t>Click</a:t>
            </a:r>
            <a:r>
              <a:rPr lang="da-DK" noProof="0"/>
              <a:t> to </a:t>
            </a:r>
            <a:r>
              <a:rPr lang="da-DK" noProof="0" err="1"/>
              <a:t>edit</a:t>
            </a:r>
            <a:r>
              <a:rPr lang="da-DK" noProof="0"/>
              <a:t> Master </a:t>
            </a:r>
            <a:r>
              <a:rPr lang="da-DK" noProof="0" err="1"/>
              <a:t>text</a:t>
            </a:r>
            <a:r>
              <a:rPr lang="da-DK" noProof="0"/>
              <a:t> styles</a:t>
            </a:r>
          </a:p>
        </p:txBody>
      </p:sp>
      <p:sp>
        <p:nvSpPr>
          <p:cNvPr id="11" name="Text Placeholder 9">
            <a:extLst>
              <a:ext uri="{FF2B5EF4-FFF2-40B4-BE49-F238E27FC236}">
                <a16:creationId xmlns:a16="http://schemas.microsoft.com/office/drawing/2014/main" id="{F1EF6F5B-4C89-A089-DA32-6A1686CD0B74}"/>
              </a:ext>
            </a:extLst>
          </p:cNvPr>
          <p:cNvSpPr>
            <a:spLocks noGrp="1"/>
          </p:cNvSpPr>
          <p:nvPr>
            <p:ph type="body" sz="quarter" idx="15"/>
          </p:nvPr>
        </p:nvSpPr>
        <p:spPr>
          <a:xfrm>
            <a:off x="4338638" y="1015789"/>
            <a:ext cx="3513137" cy="5328284"/>
          </a:xfrm>
        </p:spPr>
        <p:txBody>
          <a:bodyPr/>
          <a:lstStyle>
            <a:lvl1pPr marL="0" indent="0">
              <a:buNone/>
              <a:defRPr/>
            </a:lvl1pPr>
          </a:lstStyle>
          <a:p>
            <a:pPr lvl="0"/>
            <a:r>
              <a:rPr lang="da-DK" noProof="0" err="1"/>
              <a:t>Click</a:t>
            </a:r>
            <a:r>
              <a:rPr lang="da-DK" noProof="0"/>
              <a:t> to </a:t>
            </a:r>
            <a:r>
              <a:rPr lang="da-DK" noProof="0" err="1"/>
              <a:t>edit</a:t>
            </a:r>
            <a:r>
              <a:rPr lang="da-DK" noProof="0"/>
              <a:t> Master </a:t>
            </a:r>
            <a:r>
              <a:rPr lang="da-DK" noProof="0" err="1"/>
              <a:t>text</a:t>
            </a:r>
            <a:r>
              <a:rPr lang="da-DK" noProof="0"/>
              <a:t> styles</a:t>
            </a:r>
          </a:p>
        </p:txBody>
      </p:sp>
      <p:sp>
        <p:nvSpPr>
          <p:cNvPr id="2" name="Title 1">
            <a:extLst>
              <a:ext uri="{FF2B5EF4-FFF2-40B4-BE49-F238E27FC236}">
                <a16:creationId xmlns:a16="http://schemas.microsoft.com/office/drawing/2014/main" id="{4149F0AB-3484-3BD8-5F17-C0910484351A}"/>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3469057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side med billedebaggr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FE10D728-2F8E-9A79-A793-8FA18EC9AE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2854" y="2136228"/>
            <a:ext cx="1394622" cy="2068689"/>
          </a:xfrm>
          <a:prstGeom prst="rect">
            <a:avLst/>
          </a:prstGeom>
        </p:spPr>
      </p:pic>
      <p:pic>
        <p:nvPicPr>
          <p:cNvPr id="3" name="Grafik 2">
            <a:extLst>
              <a:ext uri="{FF2B5EF4-FFF2-40B4-BE49-F238E27FC236}">
                <a16:creationId xmlns:a16="http://schemas.microsoft.com/office/drawing/2014/main" id="{AE996835-EDFE-BE3E-C688-CC762B1E391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13220" y="2085593"/>
            <a:ext cx="1781124" cy="2156098"/>
          </a:xfrm>
          <a:prstGeom prst="rect">
            <a:avLst/>
          </a:prstGeom>
        </p:spPr>
      </p:pic>
      <p:pic>
        <p:nvPicPr>
          <p:cNvPr id="4" name="Grafik 3">
            <a:extLst>
              <a:ext uri="{FF2B5EF4-FFF2-40B4-BE49-F238E27FC236}">
                <a16:creationId xmlns:a16="http://schemas.microsoft.com/office/drawing/2014/main" id="{A9BBDDF2-8BA5-B125-BDA8-EC3EA874D96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03319" y="2085593"/>
            <a:ext cx="1658004" cy="2210671"/>
          </a:xfrm>
          <a:prstGeom prst="rect">
            <a:avLst/>
          </a:prstGeom>
        </p:spPr>
      </p:pic>
      <p:sp>
        <p:nvSpPr>
          <p:cNvPr id="7" name="Footer Placeholder 6">
            <a:extLst>
              <a:ext uri="{FF2B5EF4-FFF2-40B4-BE49-F238E27FC236}">
                <a16:creationId xmlns:a16="http://schemas.microsoft.com/office/drawing/2014/main" id="{85E44590-AE8B-6098-6E3A-22BBF073CF8E}"/>
              </a:ext>
            </a:extLst>
          </p:cNvPr>
          <p:cNvSpPr>
            <a:spLocks noGrp="1"/>
          </p:cNvSpPr>
          <p:nvPr>
            <p:ph type="ftr" sz="quarter" idx="15"/>
          </p:nvPr>
        </p:nvSpPr>
        <p:spPr>
          <a:xfrm>
            <a:off x="3503727" y="4971382"/>
            <a:ext cx="5176690" cy="281214"/>
          </a:xfrm>
        </p:spPr>
        <p:txBody>
          <a:bodyPr/>
          <a:lstStyle>
            <a:lvl1pPr algn="ctr">
              <a:defRPr sz="1400">
                <a:solidFill>
                  <a:schemeClr val="bg1"/>
                </a:solidFill>
              </a:defRPr>
            </a:lvl1pPr>
          </a:lstStyle>
          <a:p>
            <a:r>
              <a:rPr lang="da-DK"/>
              <a:t>KLIK FOR AT INDSÆTTE FIRMANAVN</a:t>
            </a:r>
          </a:p>
        </p:txBody>
      </p:sp>
      <p:sp>
        <p:nvSpPr>
          <p:cNvPr id="5" name="Titel 4">
            <a:extLst>
              <a:ext uri="{FF2B5EF4-FFF2-40B4-BE49-F238E27FC236}">
                <a16:creationId xmlns:a16="http://schemas.microsoft.com/office/drawing/2014/main" id="{A3676786-DF78-2A13-71BF-8354606B0D04}"/>
              </a:ext>
            </a:extLst>
          </p:cNvPr>
          <p:cNvSpPr>
            <a:spLocks noGrp="1"/>
          </p:cNvSpPr>
          <p:nvPr>
            <p:ph type="title" hasCustomPrompt="1"/>
          </p:nvPr>
        </p:nvSpPr>
        <p:spPr>
          <a:xfrm>
            <a:off x="1079500" y="4619652"/>
            <a:ext cx="10033000" cy="182736"/>
          </a:xfrm>
        </p:spPr>
        <p:txBody>
          <a:bodyPr/>
          <a:lstStyle>
            <a:lvl1pPr algn="ctr">
              <a:defRPr sz="1100" spc="300">
                <a:solidFill>
                  <a:schemeClr val="bg1"/>
                </a:solidFill>
              </a:defRPr>
            </a:lvl1pPr>
          </a:lstStyle>
          <a:p>
            <a:r>
              <a:rPr lang="da-DK"/>
              <a:t>INDSÆT TITEL</a:t>
            </a:r>
          </a:p>
        </p:txBody>
      </p:sp>
    </p:spTree>
    <p:extLst>
      <p:ext uri="{BB962C8B-B14F-4D97-AF65-F5344CB8AC3E}">
        <p14:creationId xmlns:p14="http://schemas.microsoft.com/office/powerpoint/2010/main" val="2290891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SG opgørels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9358A1A1-81A1-00B9-5F3F-17B9B899E502}"/>
              </a:ext>
            </a:extLst>
          </p:cNvPr>
          <p:cNvSpPr>
            <a:spLocks noGrp="1"/>
          </p:cNvSpPr>
          <p:nvPr>
            <p:ph type="body" sz="quarter" idx="17"/>
          </p:nvPr>
        </p:nvSpPr>
        <p:spPr>
          <a:xfrm>
            <a:off x="518599" y="985520"/>
            <a:ext cx="4558013" cy="5364480"/>
          </a:xfrm>
        </p:spPr>
        <p:txBody>
          <a:bodyPr/>
          <a:lstStyle>
            <a:lvl1pPr marL="0" indent="0">
              <a:lnSpc>
                <a:spcPct val="129000"/>
              </a:lnSpc>
              <a:spcAft>
                <a:spcPts val="0"/>
              </a:spcAft>
              <a:buNone/>
              <a:tabLst>
                <a:tab pos="288000" algn="l"/>
                <a:tab pos="468000" algn="l"/>
                <a:tab pos="4104000" algn="r"/>
              </a:tabLst>
              <a:defRPr sz="900">
                <a:solidFill>
                  <a:schemeClr val="tx2"/>
                </a:solidFill>
              </a:defRPr>
            </a:lvl1pPr>
          </a:lstStyle>
          <a:p>
            <a:pPr lvl="0"/>
            <a:r>
              <a:rPr lang="da-DK" noProof="0" err="1"/>
              <a:t>Click</a:t>
            </a:r>
            <a:r>
              <a:rPr lang="da-DK" noProof="0"/>
              <a:t> to </a:t>
            </a:r>
            <a:r>
              <a:rPr lang="da-DK" noProof="0" err="1"/>
              <a:t>edit</a:t>
            </a:r>
            <a:r>
              <a:rPr lang="da-DK" noProof="0"/>
              <a:t> Master </a:t>
            </a:r>
            <a:r>
              <a:rPr lang="da-DK" noProof="0" err="1"/>
              <a:t>text</a:t>
            </a:r>
            <a:r>
              <a:rPr lang="da-DK" noProof="0"/>
              <a:t> styles</a:t>
            </a:r>
          </a:p>
        </p:txBody>
      </p:sp>
      <p:sp>
        <p:nvSpPr>
          <p:cNvPr id="2" name="Text Placeholder 9">
            <a:extLst>
              <a:ext uri="{FF2B5EF4-FFF2-40B4-BE49-F238E27FC236}">
                <a16:creationId xmlns:a16="http://schemas.microsoft.com/office/drawing/2014/main" id="{DDD3249A-9EA8-2D06-EED5-368B4A02469F}"/>
              </a:ext>
            </a:extLst>
          </p:cNvPr>
          <p:cNvSpPr>
            <a:spLocks noGrp="1"/>
          </p:cNvSpPr>
          <p:nvPr>
            <p:ph type="body" sz="quarter" idx="20"/>
          </p:nvPr>
        </p:nvSpPr>
        <p:spPr>
          <a:xfrm>
            <a:off x="6472011" y="979593"/>
            <a:ext cx="4558013" cy="5364479"/>
          </a:xfrm>
        </p:spPr>
        <p:txBody>
          <a:bodyPr/>
          <a:lstStyle>
            <a:lvl1pPr marL="0" indent="0">
              <a:lnSpc>
                <a:spcPct val="129000"/>
              </a:lnSpc>
              <a:spcAft>
                <a:spcPts val="0"/>
              </a:spcAft>
              <a:buNone/>
              <a:tabLst>
                <a:tab pos="288000" algn="l"/>
                <a:tab pos="468000" algn="l"/>
                <a:tab pos="4104000" algn="r"/>
              </a:tabLst>
              <a:defRPr sz="900">
                <a:solidFill>
                  <a:schemeClr val="tx2"/>
                </a:solidFill>
              </a:defRPr>
            </a:lvl1pPr>
          </a:lstStyle>
          <a:p>
            <a:pPr lvl="0"/>
            <a:r>
              <a:rPr lang="da-DK" noProof="0" err="1"/>
              <a:t>Click</a:t>
            </a:r>
            <a:r>
              <a:rPr lang="da-DK" noProof="0"/>
              <a:t> to </a:t>
            </a:r>
            <a:r>
              <a:rPr lang="da-DK" noProof="0" err="1"/>
              <a:t>edit</a:t>
            </a:r>
            <a:r>
              <a:rPr lang="da-DK" noProof="0"/>
              <a:t> Master </a:t>
            </a:r>
            <a:r>
              <a:rPr lang="da-DK" noProof="0" err="1"/>
              <a:t>text</a:t>
            </a:r>
            <a:r>
              <a:rPr lang="da-DK" noProof="0"/>
              <a:t> styles</a:t>
            </a:r>
          </a:p>
        </p:txBody>
      </p:sp>
      <p:sp>
        <p:nvSpPr>
          <p:cNvPr id="6" name="Footer Placeholder 5">
            <a:extLst>
              <a:ext uri="{FF2B5EF4-FFF2-40B4-BE49-F238E27FC236}">
                <a16:creationId xmlns:a16="http://schemas.microsoft.com/office/drawing/2014/main" id="{CB27BA12-0C2B-874F-CB3D-A69B54828ED2}"/>
              </a:ext>
            </a:extLst>
          </p:cNvPr>
          <p:cNvSpPr>
            <a:spLocks noGrp="1"/>
          </p:cNvSpPr>
          <p:nvPr>
            <p:ph type="ftr" sz="quarter" idx="22"/>
          </p:nvPr>
        </p:nvSpPr>
        <p:spPr/>
        <p:txBody>
          <a:bodyPr/>
          <a:lstStyle/>
          <a:p>
            <a:r>
              <a:rPr lang="da-DK"/>
              <a:t>KLIK FOR AT INDSÆTTE FIRMANAVN</a:t>
            </a:r>
          </a:p>
        </p:txBody>
      </p:sp>
      <p:sp>
        <p:nvSpPr>
          <p:cNvPr id="8" name="Slide Number Placeholder 7">
            <a:extLst>
              <a:ext uri="{FF2B5EF4-FFF2-40B4-BE49-F238E27FC236}">
                <a16:creationId xmlns:a16="http://schemas.microsoft.com/office/drawing/2014/main" id="{A28E22E3-1CE9-39F0-37B9-6694C2F99A83}"/>
              </a:ext>
            </a:extLst>
          </p:cNvPr>
          <p:cNvSpPr>
            <a:spLocks noGrp="1"/>
          </p:cNvSpPr>
          <p:nvPr>
            <p:ph type="sldNum" sz="quarter" idx="23"/>
          </p:nvPr>
        </p:nvSpPr>
        <p:spPr/>
        <p:txBody>
          <a:bodyPr/>
          <a:lstStyle/>
          <a:p>
            <a:fld id="{5A0D23CF-C5A3-5445-819D-C647D180BB4B}" type="slidenum">
              <a:rPr lang="da-DK" smtClean="0"/>
              <a:pPr/>
              <a:t>‹nr.›</a:t>
            </a:fld>
            <a:endParaRPr lang="da-DK"/>
          </a:p>
        </p:txBody>
      </p:sp>
      <p:sp>
        <p:nvSpPr>
          <p:cNvPr id="9" name="Title 8">
            <a:extLst>
              <a:ext uri="{FF2B5EF4-FFF2-40B4-BE49-F238E27FC236}">
                <a16:creationId xmlns:a16="http://schemas.microsoft.com/office/drawing/2014/main" id="{9EC510F1-C32E-301D-A9BE-CDD982DBFB2C}"/>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2992085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AB499-BDA0-E170-C4FB-7C73F109F59F}"/>
              </a:ext>
            </a:extLst>
          </p:cNvPr>
          <p:cNvSpPr>
            <a:spLocks noGrp="1"/>
          </p:cNvSpPr>
          <p:nvPr>
            <p:ph type="title"/>
          </p:nvPr>
        </p:nvSpPr>
        <p:spPr/>
        <p:txBody>
          <a:bodyPr/>
          <a:lstStyle/>
          <a:p>
            <a:r>
              <a:rPr lang="da-DK" noProof="0" err="1"/>
              <a:t>Click</a:t>
            </a:r>
            <a:r>
              <a:rPr lang="da-DK" noProof="0"/>
              <a:t> to </a:t>
            </a:r>
            <a:r>
              <a:rPr lang="da-DK" noProof="0" err="1"/>
              <a:t>edit</a:t>
            </a:r>
            <a:r>
              <a:rPr lang="da-DK" noProof="0"/>
              <a:t> Master </a:t>
            </a:r>
            <a:r>
              <a:rPr lang="da-DK" noProof="0" err="1"/>
              <a:t>title</a:t>
            </a:r>
            <a:r>
              <a:rPr lang="da-DK" noProof="0"/>
              <a:t> style</a:t>
            </a:r>
          </a:p>
        </p:txBody>
      </p:sp>
      <p:sp>
        <p:nvSpPr>
          <p:cNvPr id="3" name="Date Placeholder 2">
            <a:extLst>
              <a:ext uri="{FF2B5EF4-FFF2-40B4-BE49-F238E27FC236}">
                <a16:creationId xmlns:a16="http://schemas.microsoft.com/office/drawing/2014/main" id="{85623CC7-2A44-6728-81B8-5D1C36C8A523}"/>
              </a:ext>
            </a:extLst>
          </p:cNvPr>
          <p:cNvSpPr>
            <a:spLocks noGrp="1"/>
          </p:cNvSpPr>
          <p:nvPr>
            <p:ph type="dt" sz="half" idx="10"/>
          </p:nvPr>
        </p:nvSpPr>
        <p:spPr/>
        <p:txBody>
          <a:bodyPr/>
          <a:lstStyle/>
          <a:p>
            <a:endParaRPr lang="da-DK" noProof="0"/>
          </a:p>
        </p:txBody>
      </p:sp>
      <p:sp>
        <p:nvSpPr>
          <p:cNvPr id="4" name="Footer Placeholder 3">
            <a:extLst>
              <a:ext uri="{FF2B5EF4-FFF2-40B4-BE49-F238E27FC236}">
                <a16:creationId xmlns:a16="http://schemas.microsoft.com/office/drawing/2014/main" id="{2B78E23B-9CAA-A290-D3B6-2404D06EC1A2}"/>
              </a:ext>
            </a:extLst>
          </p:cNvPr>
          <p:cNvSpPr>
            <a:spLocks noGrp="1"/>
          </p:cNvSpPr>
          <p:nvPr>
            <p:ph type="ftr" sz="quarter" idx="11"/>
          </p:nvPr>
        </p:nvSpPr>
        <p:spPr/>
        <p:txBody>
          <a:bodyPr/>
          <a:lstStyle/>
          <a:p>
            <a:r>
              <a:rPr lang="da-DK" noProof="0"/>
              <a:t>KLIK FOR AT INDSÆTTE FIRMANAVN</a:t>
            </a:r>
          </a:p>
        </p:txBody>
      </p:sp>
      <p:sp>
        <p:nvSpPr>
          <p:cNvPr id="5" name="Slide Number Placeholder 4">
            <a:extLst>
              <a:ext uri="{FF2B5EF4-FFF2-40B4-BE49-F238E27FC236}">
                <a16:creationId xmlns:a16="http://schemas.microsoft.com/office/drawing/2014/main" id="{A316B95B-509A-04EA-4971-5BB7A30A29F3}"/>
              </a:ext>
            </a:extLst>
          </p:cNvPr>
          <p:cNvSpPr>
            <a:spLocks noGrp="1"/>
          </p:cNvSpPr>
          <p:nvPr>
            <p:ph type="sldNum" sz="quarter" idx="12"/>
          </p:nvPr>
        </p:nvSpPr>
        <p:spPr/>
        <p:txBody>
          <a:bodyPr/>
          <a:lstStyle/>
          <a:p>
            <a:fld id="{5A0D23CF-C5A3-5445-819D-C647D180BB4B}" type="slidenum">
              <a:rPr lang="da-DK" noProof="0" smtClean="0"/>
              <a:pPr/>
              <a:t>‹nr.›</a:t>
            </a:fld>
            <a:endParaRPr lang="da-DK" noProof="0"/>
          </a:p>
        </p:txBody>
      </p:sp>
    </p:spTree>
    <p:extLst>
      <p:ext uri="{BB962C8B-B14F-4D97-AF65-F5344CB8AC3E}">
        <p14:creationId xmlns:p14="http://schemas.microsoft.com/office/powerpoint/2010/main" val="1832852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fslutningsslide">
    <p:bg>
      <p:bgPr>
        <a:solidFill>
          <a:srgbClr val="1B4529"/>
        </a:solidFill>
        <a:effectLst/>
      </p:bgPr>
    </p:bg>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5FF3099D-2911-2DC2-30C9-600914A49C92}"/>
              </a:ext>
            </a:extLst>
          </p:cNvPr>
          <p:cNvSpPr>
            <a:spLocks noGrp="1"/>
          </p:cNvSpPr>
          <p:nvPr>
            <p:ph idx="1" hasCustomPrompt="1"/>
          </p:nvPr>
        </p:nvSpPr>
        <p:spPr>
          <a:xfrm>
            <a:off x="1079500" y="1587501"/>
            <a:ext cx="10033000" cy="1460499"/>
          </a:xfrm>
          <a:solidFill>
            <a:srgbClr val="1B4529"/>
          </a:solidFill>
        </p:spPr>
        <p:txBody>
          <a:bodyPr>
            <a:normAutofit/>
          </a:bodyPr>
          <a:lstStyle>
            <a:lvl1pPr marL="0" indent="0">
              <a:lnSpc>
                <a:spcPct val="100000"/>
              </a:lnSpc>
              <a:spcBef>
                <a:spcPts val="200"/>
              </a:spcBef>
              <a:buFontTx/>
              <a:buNone/>
              <a:defRPr sz="1100">
                <a:solidFill>
                  <a:schemeClr val="bg1"/>
                </a:solidFill>
              </a:defRPr>
            </a:lvl1pPr>
            <a:lvl2pPr marL="180000" indent="0">
              <a:buFontTx/>
              <a:buNone/>
              <a:defRPr sz="1100">
                <a:solidFill>
                  <a:schemeClr val="bg1"/>
                </a:solidFill>
              </a:defRPr>
            </a:lvl2pPr>
            <a:lvl3pPr marL="504000" indent="-162000">
              <a:defRPr sz="1100">
                <a:solidFill>
                  <a:schemeClr val="bg1"/>
                </a:solidFill>
              </a:defRPr>
            </a:lvl3pPr>
            <a:lvl4pPr marL="702000" indent="-162000">
              <a:defRPr sz="1100">
                <a:solidFill>
                  <a:schemeClr val="bg1"/>
                </a:solidFill>
              </a:defRPr>
            </a:lvl4pPr>
            <a:lvl5pPr marL="864000" indent="-162000">
              <a:defRPr sz="1100">
                <a:solidFill>
                  <a:schemeClr val="bg1"/>
                </a:solidFill>
              </a:defRPr>
            </a:lvl5pPr>
          </a:lstStyle>
          <a:p>
            <a:pPr lvl="0"/>
            <a:r>
              <a:rPr lang="da-DK" noProof="0"/>
              <a:t>Indsæt virksomhedsinformation</a:t>
            </a:r>
          </a:p>
        </p:txBody>
      </p:sp>
      <p:sp>
        <p:nvSpPr>
          <p:cNvPr id="4" name="Title 3">
            <a:extLst>
              <a:ext uri="{FF2B5EF4-FFF2-40B4-BE49-F238E27FC236}">
                <a16:creationId xmlns:a16="http://schemas.microsoft.com/office/drawing/2014/main" id="{6DF97A03-6A5A-CE52-A825-964660171C82}"/>
              </a:ext>
            </a:extLst>
          </p:cNvPr>
          <p:cNvSpPr>
            <a:spLocks noGrp="1"/>
          </p:cNvSpPr>
          <p:nvPr>
            <p:ph type="title"/>
          </p:nvPr>
        </p:nvSpPr>
        <p:spPr/>
        <p:txBody>
          <a:bodyPr/>
          <a:lstStyle>
            <a:lvl1pPr>
              <a:defRPr>
                <a:solidFill>
                  <a:schemeClr val="bg1"/>
                </a:solidFill>
              </a:defRPr>
            </a:lvl1pPr>
          </a:lstStyle>
          <a:p>
            <a:r>
              <a:rPr lang="da-DK" noProof="0" err="1"/>
              <a:t>Click</a:t>
            </a:r>
            <a:r>
              <a:rPr lang="da-DK" noProof="0"/>
              <a:t> to </a:t>
            </a:r>
            <a:r>
              <a:rPr lang="da-DK" noProof="0" err="1"/>
              <a:t>edit</a:t>
            </a:r>
            <a:r>
              <a:rPr lang="da-DK" noProof="0"/>
              <a:t> Master </a:t>
            </a:r>
            <a:r>
              <a:rPr lang="da-DK" noProof="0" err="1"/>
              <a:t>title</a:t>
            </a:r>
            <a:r>
              <a:rPr lang="da-DK" noProof="0"/>
              <a:t> style</a:t>
            </a:r>
          </a:p>
        </p:txBody>
      </p:sp>
      <p:sp>
        <p:nvSpPr>
          <p:cNvPr id="10" name="Footer Placeholder 9">
            <a:extLst>
              <a:ext uri="{FF2B5EF4-FFF2-40B4-BE49-F238E27FC236}">
                <a16:creationId xmlns:a16="http://schemas.microsoft.com/office/drawing/2014/main" id="{C0ED9E13-9DB5-7219-D300-DD32B15B25DA}"/>
              </a:ext>
            </a:extLst>
          </p:cNvPr>
          <p:cNvSpPr>
            <a:spLocks noGrp="1"/>
          </p:cNvSpPr>
          <p:nvPr>
            <p:ph type="ftr" sz="quarter" idx="15"/>
          </p:nvPr>
        </p:nvSpPr>
        <p:spPr/>
        <p:txBody>
          <a:bodyPr/>
          <a:lstStyle>
            <a:lvl1pPr>
              <a:defRPr>
                <a:solidFill>
                  <a:schemeClr val="bg1"/>
                </a:solidFill>
              </a:defRPr>
            </a:lvl1pPr>
          </a:lstStyle>
          <a:p>
            <a:r>
              <a:rPr lang="da-DK" noProof="0"/>
              <a:t>KLIK FOR AT INDSÆTTE FIRMANAVN</a:t>
            </a:r>
          </a:p>
        </p:txBody>
      </p:sp>
      <p:sp>
        <p:nvSpPr>
          <p:cNvPr id="11" name="Slide Number Placeholder 10">
            <a:extLst>
              <a:ext uri="{FF2B5EF4-FFF2-40B4-BE49-F238E27FC236}">
                <a16:creationId xmlns:a16="http://schemas.microsoft.com/office/drawing/2014/main" id="{85AA5A7D-770A-67C5-6EFF-8AD1F28FC232}"/>
              </a:ext>
            </a:extLst>
          </p:cNvPr>
          <p:cNvSpPr>
            <a:spLocks noGrp="1"/>
          </p:cNvSpPr>
          <p:nvPr>
            <p:ph type="sldNum" sz="quarter" idx="16"/>
          </p:nvPr>
        </p:nvSpPr>
        <p:spPr/>
        <p:txBody>
          <a:bodyPr/>
          <a:lstStyle>
            <a:lvl1pPr>
              <a:defRPr>
                <a:solidFill>
                  <a:schemeClr val="bg1">
                    <a:alpha val="70000"/>
                  </a:schemeClr>
                </a:solidFill>
              </a:defRPr>
            </a:lvl1pPr>
          </a:lstStyle>
          <a:p>
            <a:fld id="{5A0D23CF-C5A3-5445-819D-C647D180BB4B}" type="slidenum">
              <a:rPr lang="da-DK" noProof="0" smtClean="0"/>
              <a:pPr/>
              <a:t>‹nr.›</a:t>
            </a:fld>
            <a:endParaRPr lang="da-DK" noProof="0"/>
          </a:p>
        </p:txBody>
      </p:sp>
    </p:spTree>
    <p:extLst>
      <p:ext uri="{BB962C8B-B14F-4D97-AF65-F5344CB8AC3E}">
        <p14:creationId xmlns:p14="http://schemas.microsoft.com/office/powerpoint/2010/main" val="2348340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3B61CC4E-F6A2-4C3F-CE7B-BB195B240393}"/>
              </a:ext>
            </a:extLst>
          </p:cNvPr>
          <p:cNvSpPr>
            <a:spLocks noGrp="1"/>
          </p:cNvSpPr>
          <p:nvPr>
            <p:ph type="body" idx="1"/>
          </p:nvPr>
        </p:nvSpPr>
        <p:spPr>
          <a:xfrm>
            <a:off x="518599" y="1015999"/>
            <a:ext cx="11165399" cy="5328073"/>
          </a:xfrm>
          <a:prstGeom prst="rect">
            <a:avLst/>
          </a:prstGeom>
        </p:spPr>
        <p:txBody>
          <a:bodyPr vert="horz" lIns="0" tIns="0" rIns="0" bIns="0" rtlCol="0">
            <a:noAutofit/>
          </a:bodyPr>
          <a:lstStyle/>
          <a:p>
            <a:pPr lvl="0"/>
            <a:r>
              <a:rPr lang="da-DK" noProof="0"/>
              <a:t>Klik for at redigere teksttypografierne i masteren</a:t>
            </a:r>
          </a:p>
          <a:p>
            <a:pPr lvl="1"/>
            <a:r>
              <a:rPr lang="da-DK" noProof="0"/>
              <a:t>Andet niveau</a:t>
            </a:r>
          </a:p>
          <a:p>
            <a:pPr lvl="2"/>
            <a:r>
              <a:rPr lang="da-DK" noProof="0"/>
              <a:t>Tredje niveau</a:t>
            </a:r>
          </a:p>
          <a:p>
            <a:pPr lvl="3"/>
            <a:r>
              <a:rPr lang="da-DK" noProof="0"/>
              <a:t>Fjerde niveau</a:t>
            </a:r>
          </a:p>
          <a:p>
            <a:pPr lvl="4"/>
            <a:r>
              <a:rPr lang="da-DK" noProof="0"/>
              <a:t>Femte niveau</a:t>
            </a:r>
          </a:p>
        </p:txBody>
      </p:sp>
      <p:sp>
        <p:nvSpPr>
          <p:cNvPr id="4" name="Pladsholder til dato 3">
            <a:extLst>
              <a:ext uri="{FF2B5EF4-FFF2-40B4-BE49-F238E27FC236}">
                <a16:creationId xmlns:a16="http://schemas.microsoft.com/office/drawing/2014/main" id="{8550164C-751B-845B-9F9B-5F2B4F1FB4E6}"/>
              </a:ext>
            </a:extLst>
          </p:cNvPr>
          <p:cNvSpPr>
            <a:spLocks noGrp="1"/>
          </p:cNvSpPr>
          <p:nvPr>
            <p:ph type="dt" sz="half" idx="2"/>
          </p:nvPr>
        </p:nvSpPr>
        <p:spPr>
          <a:xfrm>
            <a:off x="268800" y="6450239"/>
            <a:ext cx="2743200" cy="153888"/>
          </a:xfrm>
          <a:prstGeom prst="rect">
            <a:avLst/>
          </a:prstGeom>
        </p:spPr>
        <p:txBody>
          <a:bodyPr vert="horz" lIns="0" tIns="0" rIns="0" bIns="0" rtlCol="0" anchor="t" anchorCtr="0">
            <a:noAutofit/>
          </a:bodyPr>
          <a:lstStyle>
            <a:lvl1pPr algn="l">
              <a:defRPr sz="1000">
                <a:solidFill>
                  <a:srgbClr val="5F7D69"/>
                </a:solidFill>
                <a:latin typeface="IBM Plex Sans" panose="020B0503050203000203" pitchFamily="34" charset="0"/>
              </a:defRPr>
            </a:lvl1pPr>
          </a:lstStyle>
          <a:p>
            <a:endParaRPr lang="da-DK"/>
          </a:p>
        </p:txBody>
      </p:sp>
      <p:sp>
        <p:nvSpPr>
          <p:cNvPr id="5" name="Pladsholder til sidefod 4">
            <a:extLst>
              <a:ext uri="{FF2B5EF4-FFF2-40B4-BE49-F238E27FC236}">
                <a16:creationId xmlns:a16="http://schemas.microsoft.com/office/drawing/2014/main" id="{7AB68935-0A2D-A618-8989-FB93D31273FE}"/>
              </a:ext>
            </a:extLst>
          </p:cNvPr>
          <p:cNvSpPr>
            <a:spLocks noGrp="1"/>
          </p:cNvSpPr>
          <p:nvPr>
            <p:ph type="ftr" sz="quarter" idx="3"/>
          </p:nvPr>
        </p:nvSpPr>
        <p:spPr>
          <a:xfrm>
            <a:off x="8280504" y="224972"/>
            <a:ext cx="3642695" cy="153888"/>
          </a:xfrm>
          <a:prstGeom prst="rect">
            <a:avLst/>
          </a:prstGeom>
        </p:spPr>
        <p:txBody>
          <a:bodyPr vert="horz" lIns="0" tIns="0" rIns="0" bIns="0" rtlCol="0" anchor="t" anchorCtr="0">
            <a:noAutofit/>
          </a:bodyPr>
          <a:lstStyle>
            <a:lvl1pPr algn="r">
              <a:defRPr sz="1000" b="1">
                <a:solidFill>
                  <a:srgbClr val="5F7D69"/>
                </a:solidFill>
                <a:latin typeface="IBM Plex Sans" panose="020B0503050203000203" pitchFamily="34" charset="0"/>
              </a:defRPr>
            </a:lvl1pPr>
          </a:lstStyle>
          <a:p>
            <a:r>
              <a:rPr lang="da-DK"/>
              <a:t>KLIK FOR AT INDSÆTTE FIRMANAVN</a:t>
            </a:r>
          </a:p>
        </p:txBody>
      </p:sp>
      <p:sp>
        <p:nvSpPr>
          <p:cNvPr id="6" name="Pladsholder til slidenummer 5">
            <a:extLst>
              <a:ext uri="{FF2B5EF4-FFF2-40B4-BE49-F238E27FC236}">
                <a16:creationId xmlns:a16="http://schemas.microsoft.com/office/drawing/2014/main" id="{77E57B8E-CD4B-57B4-607F-20E2BE60DB5F}"/>
              </a:ext>
            </a:extLst>
          </p:cNvPr>
          <p:cNvSpPr>
            <a:spLocks noGrp="1"/>
          </p:cNvSpPr>
          <p:nvPr>
            <p:ph type="sldNum" sz="quarter" idx="4"/>
          </p:nvPr>
        </p:nvSpPr>
        <p:spPr>
          <a:xfrm>
            <a:off x="9180000" y="6450239"/>
            <a:ext cx="2743200" cy="153888"/>
          </a:xfrm>
          <a:prstGeom prst="rect">
            <a:avLst/>
          </a:prstGeom>
        </p:spPr>
        <p:txBody>
          <a:bodyPr vert="horz" lIns="0" tIns="0" rIns="0" bIns="0" rtlCol="0" anchor="t" anchorCtr="0">
            <a:noAutofit/>
          </a:bodyPr>
          <a:lstStyle>
            <a:lvl1pPr algn="r">
              <a:defRPr sz="1000">
                <a:solidFill>
                  <a:schemeClr val="tx2">
                    <a:alpha val="70000"/>
                  </a:schemeClr>
                </a:solidFill>
                <a:latin typeface="IBM Plex Sans" panose="020B0503050203000203" pitchFamily="34" charset="0"/>
              </a:defRPr>
            </a:lvl1pPr>
          </a:lstStyle>
          <a:p>
            <a:fld id="{5A0D23CF-C5A3-5445-819D-C647D180BB4B}" type="slidenum">
              <a:rPr lang="da-DK" smtClean="0"/>
              <a:pPr/>
              <a:t>‹nr.›</a:t>
            </a:fld>
            <a:endParaRPr lang="da-DK"/>
          </a:p>
        </p:txBody>
      </p:sp>
      <p:sp>
        <p:nvSpPr>
          <p:cNvPr id="7" name="Title Placeholder 6">
            <a:extLst>
              <a:ext uri="{FF2B5EF4-FFF2-40B4-BE49-F238E27FC236}">
                <a16:creationId xmlns:a16="http://schemas.microsoft.com/office/drawing/2014/main" id="{8788DFCC-4D37-4C1B-5213-E1D68A373009}"/>
              </a:ext>
            </a:extLst>
          </p:cNvPr>
          <p:cNvSpPr>
            <a:spLocks noGrp="1"/>
          </p:cNvSpPr>
          <p:nvPr>
            <p:ph type="title"/>
          </p:nvPr>
        </p:nvSpPr>
        <p:spPr>
          <a:xfrm>
            <a:off x="518600" y="513927"/>
            <a:ext cx="11165400" cy="249299"/>
          </a:xfrm>
          <a:prstGeom prst="rect">
            <a:avLst/>
          </a:prstGeom>
        </p:spPr>
        <p:txBody>
          <a:bodyPr vert="horz" wrap="square" lIns="0" tIns="0" rIns="0" bIns="0" rtlCol="0" anchor="t" anchorCtr="0">
            <a:spAutoFit/>
          </a:bodyPr>
          <a:lstStyle/>
          <a:p>
            <a:r>
              <a:rPr lang="da-DK" noProof="0"/>
              <a:t>Klik for at redigere titeltypografien i masteren</a:t>
            </a:r>
          </a:p>
        </p:txBody>
      </p:sp>
    </p:spTree>
    <p:extLst>
      <p:ext uri="{BB962C8B-B14F-4D97-AF65-F5344CB8AC3E}">
        <p14:creationId xmlns:p14="http://schemas.microsoft.com/office/powerpoint/2010/main" val="3535313756"/>
      </p:ext>
    </p:extLst>
  </p:cSld>
  <p:clrMap bg1="lt1" tx1="dk1" bg2="lt2" tx2="dk2" accent1="accent1" accent2="accent2" accent3="accent3" accent4="accent4" accent5="accent5" accent6="accent6" hlink="hlink" folHlink="folHlink"/>
  <p:sldLayoutIdLst>
    <p:sldLayoutId id="2147483678" r:id="rId1"/>
    <p:sldLayoutId id="2147483681" r:id="rId2"/>
    <p:sldLayoutId id="2147483694" r:id="rId3"/>
    <p:sldLayoutId id="2147483696" r:id="rId4"/>
    <p:sldLayoutId id="2147483690" r:id="rId5"/>
  </p:sldLayoutIdLst>
  <p:hf hdr="0" dt="0"/>
  <p:txStyles>
    <p:titleStyle>
      <a:lvl1pPr algn="l" defTabSz="914400" rtl="0" eaLnBrk="1" latinLnBrk="0" hangingPunct="1">
        <a:lnSpc>
          <a:spcPct val="90000"/>
        </a:lnSpc>
        <a:spcBef>
          <a:spcPct val="0"/>
        </a:spcBef>
        <a:buNone/>
        <a:defRPr sz="1800" b="1" kern="1200" spc="-10" baseline="0">
          <a:solidFill>
            <a:schemeClr val="tx2"/>
          </a:solidFill>
          <a:latin typeface="+mj-lt"/>
          <a:ea typeface="+mj-ea"/>
          <a:cs typeface="+mj-cs"/>
        </a:defRPr>
      </a:lvl1pPr>
    </p:titleStyle>
    <p:bodyStyle>
      <a:lvl1pPr marL="72000" indent="-72000" algn="l" defTabSz="914400" rtl="0" eaLnBrk="1" latinLnBrk="0" hangingPunct="1">
        <a:lnSpc>
          <a:spcPct val="106000"/>
        </a:lnSpc>
        <a:spcBef>
          <a:spcPts val="0"/>
        </a:spcBef>
        <a:buFont typeface="Arial" panose="020B0604020202020204" pitchFamily="34" charset="0"/>
        <a:buChar char="•"/>
        <a:defRPr sz="900" b="0" kern="1200" spc="-10" baseline="0">
          <a:solidFill>
            <a:schemeClr val="tx2"/>
          </a:solidFill>
          <a:latin typeface="+mn-lt"/>
          <a:ea typeface="+mn-ea"/>
          <a:cs typeface="+mn-cs"/>
        </a:defRPr>
      </a:lvl1pPr>
      <a:lvl2pPr marL="144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2pPr>
      <a:lvl3pPr marL="216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3pPr>
      <a:lvl4pPr marL="288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4pPr>
      <a:lvl5pPr marL="360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20" userDrawn="1">
          <p15:clr>
            <a:srgbClr val="F26B43"/>
          </p15:clr>
        </p15:guide>
        <p15:guide id="4" pos="2533" userDrawn="1">
          <p15:clr>
            <a:srgbClr val="F26B43"/>
          </p15:clr>
        </p15:guide>
        <p15:guide id="5" pos="2733" userDrawn="1">
          <p15:clr>
            <a:srgbClr val="F26B43"/>
          </p15:clr>
        </p15:guide>
        <p15:guide id="6" pos="4946" userDrawn="1">
          <p15:clr>
            <a:srgbClr val="F26B43"/>
          </p15:clr>
        </p15:guide>
        <p15:guide id="7" pos="5146" userDrawn="1">
          <p15:clr>
            <a:srgbClr val="F26B43"/>
          </p15:clr>
        </p15:guide>
        <p15:guide id="8" pos="7360" userDrawn="1">
          <p15:clr>
            <a:srgbClr val="F26B43"/>
          </p15:clr>
        </p15:guide>
        <p15:guide id="9" orient="horz" userDrawn="1">
          <p15:clr>
            <a:srgbClr val="F26B43"/>
          </p15:clr>
        </p15:guide>
        <p15:guide id="10" orient="horz" pos="4320" userDrawn="1">
          <p15:clr>
            <a:srgbClr val="F26B43"/>
          </p15:clr>
        </p15:guide>
        <p15:guide id="11" orient="horz" pos="320" userDrawn="1">
          <p15:clr>
            <a:srgbClr val="F26B43"/>
          </p15:clr>
        </p15:guide>
        <p15:guide id="12" orient="horz" pos="4000" userDrawn="1">
          <p15:clr>
            <a:srgbClr val="F26B43"/>
          </p15:clr>
        </p15:guide>
        <p15:guide id="13" orient="horz" pos="6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92A8525A-459C-C975-663E-23EF33D3BFBC}"/>
              </a:ext>
            </a:extLst>
          </p:cNvPr>
          <p:cNvSpPr>
            <a:spLocks noGrp="1"/>
          </p:cNvSpPr>
          <p:nvPr>
            <p:ph type="title"/>
          </p:nvPr>
        </p:nvSpPr>
        <p:spPr>
          <a:xfrm>
            <a:off x="1079500" y="4619652"/>
            <a:ext cx="10033000" cy="152349"/>
          </a:xfrm>
        </p:spPr>
        <p:txBody>
          <a:bodyPr/>
          <a:lstStyle/>
          <a:p>
            <a:r>
              <a:rPr lang="da-DK" noProof="0"/>
              <a:t>OPGØRELSE {{</a:t>
            </a:r>
            <a:r>
              <a:rPr lang="da-DK" noProof="0" err="1"/>
              <a:t>insert_year</a:t>
            </a:r>
            <a:r>
              <a:rPr lang="da-DK" noProof="0"/>
              <a:t>}}</a:t>
            </a:r>
          </a:p>
        </p:txBody>
      </p:sp>
      <p:sp>
        <p:nvSpPr>
          <p:cNvPr id="4" name="Footer Placeholder 3">
            <a:extLst>
              <a:ext uri="{FF2B5EF4-FFF2-40B4-BE49-F238E27FC236}">
                <a16:creationId xmlns:a16="http://schemas.microsoft.com/office/drawing/2014/main" id="{734E8629-539E-87AE-7B49-CC26832ADCE2}"/>
              </a:ext>
            </a:extLst>
          </p:cNvPr>
          <p:cNvSpPr>
            <a:spLocks noGrp="1"/>
          </p:cNvSpPr>
          <p:nvPr>
            <p:ph type="ftr" sz="quarter" idx="15"/>
          </p:nvPr>
        </p:nvSpPr>
        <p:spPr>
          <a:xfrm>
            <a:off x="3503727" y="4971382"/>
            <a:ext cx="5176690" cy="281214"/>
          </a:xfrm>
        </p:spPr>
        <p:txBody>
          <a:bodyPr/>
          <a:lstStyle/>
          <a:p>
            <a:r>
              <a:rPr lang="da-DK" noProof="0"/>
              <a:t>{{</a:t>
            </a:r>
            <a:r>
              <a:rPr lang="da-DK" noProof="0" err="1"/>
              <a:t>company_name</a:t>
            </a:r>
            <a:r>
              <a:rPr lang="da-DK" noProof="0"/>
              <a:t>}}</a:t>
            </a:r>
            <a:endParaRPr lang="da-DK" b="0" noProof="0"/>
          </a:p>
        </p:txBody>
      </p:sp>
    </p:spTree>
    <p:extLst>
      <p:ext uri="{BB962C8B-B14F-4D97-AF65-F5344CB8AC3E}">
        <p14:creationId xmlns:p14="http://schemas.microsoft.com/office/powerpoint/2010/main" val="2428557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1FDDEE7-C270-1824-E7E0-80B15F3FDDC2}"/>
              </a:ext>
            </a:extLst>
          </p:cNvPr>
          <p:cNvSpPr>
            <a:spLocks noGrp="1"/>
          </p:cNvSpPr>
          <p:nvPr>
            <p:ph type="title"/>
          </p:nvPr>
        </p:nvSpPr>
        <p:spPr>
          <a:xfrm>
            <a:off x="518600" y="513927"/>
            <a:ext cx="11165400" cy="498598"/>
          </a:xfrm>
        </p:spPr>
        <p:txBody>
          <a:bodyPr/>
          <a:lstStyle/>
          <a:p>
            <a:r>
              <a:rPr lang="da-DK" noProof="0"/>
              <a:t>ESG opgørelse</a:t>
            </a:r>
            <a:r>
              <a:rPr lang="da-DK" b="0" noProof="0">
                <a:solidFill>
                  <a:schemeClr val="accent2"/>
                </a:solidFill>
                <a:ea typeface="+mn-ea"/>
                <a:cs typeface="+mn-cs"/>
              </a:rPr>
              <a:t> </a:t>
            </a:r>
            <a:br>
              <a:rPr lang="da-DK" b="0" noProof="0">
                <a:solidFill>
                  <a:schemeClr val="accent2"/>
                </a:solidFill>
                <a:ea typeface="+mn-ea"/>
                <a:cs typeface="+mn-cs"/>
              </a:rPr>
            </a:br>
            <a:endParaRPr lang="da-DK" b="0" noProof="0">
              <a:solidFill>
                <a:schemeClr val="accent2"/>
              </a:solidFill>
              <a:ea typeface="+mn-ea"/>
              <a:cs typeface="+mn-cs"/>
            </a:endParaRPr>
          </a:p>
        </p:txBody>
      </p:sp>
      <p:sp>
        <p:nvSpPr>
          <p:cNvPr id="4" name="Text Placeholder 2">
            <a:extLst>
              <a:ext uri="{FF2B5EF4-FFF2-40B4-BE49-F238E27FC236}">
                <a16:creationId xmlns:a16="http://schemas.microsoft.com/office/drawing/2014/main" id="{34D83B42-66BB-638E-55C1-84FD1F7A8354}"/>
              </a:ext>
            </a:extLst>
          </p:cNvPr>
          <p:cNvSpPr>
            <a:spLocks noGrp="1"/>
          </p:cNvSpPr>
          <p:nvPr>
            <p:ph type="body" sz="quarter" idx="17"/>
          </p:nvPr>
        </p:nvSpPr>
        <p:spPr>
          <a:xfrm>
            <a:off x="518597" y="985520"/>
            <a:ext cx="7845473" cy="5364480"/>
          </a:xfrm>
        </p:spPr>
        <p:txBody>
          <a:bodyPr/>
          <a:lstStyle/>
          <a:p>
            <a:pPr>
              <a:lnSpc>
                <a:spcPct val="150000"/>
              </a:lnSpc>
              <a:tabLst>
                <a:tab pos="287338" algn="l"/>
                <a:tab pos="466725" algn="l"/>
                <a:tab pos="4484688" algn="r"/>
              </a:tabLst>
            </a:pPr>
            <a:endParaRPr lang="da-DK" sz="1200" b="1" noProof="0">
              <a:latin typeface="+mj-lt"/>
            </a:endParaRPr>
          </a:p>
          <a:p>
            <a:pPr>
              <a:lnSpc>
                <a:spcPct val="150000"/>
              </a:lnSpc>
              <a:tabLst>
                <a:tab pos="287338" algn="l"/>
                <a:tab pos="466725" algn="l"/>
                <a:tab pos="4484688" algn="r"/>
              </a:tabLst>
            </a:pPr>
            <a:endParaRPr lang="da-DK" sz="1200" b="1" noProof="0">
              <a:latin typeface="+mj-lt"/>
            </a:endParaRPr>
          </a:p>
          <a:p>
            <a:pPr marL="228600" indent="-266400">
              <a:lnSpc>
                <a:spcPct val="150000"/>
              </a:lnSpc>
              <a:buFont typeface="+mj-lt"/>
              <a:buAutoNum type="arabicPeriod"/>
              <a:tabLst>
                <a:tab pos="287338" algn="l"/>
                <a:tab pos="466725" algn="l"/>
                <a:tab pos="4484688" algn="r"/>
              </a:tabLst>
            </a:pPr>
            <a:r>
              <a:rPr lang="da-DK" sz="1200" b="1" noProof="0">
                <a:latin typeface="+mj-lt"/>
              </a:rPr>
              <a:t>Generelle oplysninger				</a:t>
            </a:r>
            <a:endParaRPr lang="da-DK" sz="1200" noProof="0">
              <a:solidFill>
                <a:schemeClr val="accent2"/>
              </a:solidFill>
              <a:latin typeface="+mj-lt"/>
            </a:endParaRPr>
          </a:p>
          <a:p>
            <a:pPr marL="228600" indent="-266400">
              <a:lnSpc>
                <a:spcPct val="150000"/>
              </a:lnSpc>
              <a:buFont typeface="+mj-lt"/>
              <a:buAutoNum type="arabicPeriod"/>
              <a:tabLst>
                <a:tab pos="287338" algn="l"/>
                <a:tab pos="466725" algn="l"/>
                <a:tab pos="4484688" algn="r"/>
              </a:tabLst>
            </a:pPr>
            <a:r>
              <a:rPr lang="da-DK" sz="1200" b="1" kern="1200" spc="-10" noProof="0">
                <a:solidFill>
                  <a:schemeClr val="tx2"/>
                </a:solidFill>
                <a:latin typeface="+mn-lt"/>
                <a:ea typeface="+mn-ea"/>
                <a:cs typeface="+mn-cs"/>
              </a:rPr>
              <a:t>Indsatser, politikker og initiativer for omstilling til en mere bæredygtig økonomi	</a:t>
            </a:r>
            <a:endParaRPr lang="da-DK" sz="1200" b="1" noProof="0">
              <a:latin typeface="+mj-lt"/>
            </a:endParaRPr>
          </a:p>
          <a:p>
            <a:pPr marL="228600" indent="-266400">
              <a:lnSpc>
                <a:spcPct val="150000"/>
              </a:lnSpc>
              <a:buFont typeface="+mj-lt"/>
              <a:buAutoNum type="arabicPeriod"/>
              <a:tabLst>
                <a:tab pos="287338" algn="l"/>
                <a:tab pos="466725" algn="l"/>
                <a:tab pos="4484688" algn="r"/>
              </a:tabLst>
            </a:pPr>
            <a:r>
              <a:rPr lang="da-DK" sz="1200" b="1" noProof="0">
                <a:latin typeface="+mj-lt"/>
              </a:rPr>
              <a:t>Energiforbrug				</a:t>
            </a:r>
            <a:endParaRPr lang="da-DK" sz="1200" noProof="0">
              <a:latin typeface="+mj-lt"/>
            </a:endParaRPr>
          </a:p>
          <a:p>
            <a:pPr marL="228600" indent="-266400">
              <a:lnSpc>
                <a:spcPct val="150000"/>
              </a:lnSpc>
              <a:buFont typeface="+mj-lt"/>
              <a:buAutoNum type="arabicPeriod"/>
              <a:tabLst>
                <a:tab pos="287338" algn="l"/>
                <a:tab pos="466725" algn="l"/>
                <a:tab pos="4484688" algn="r"/>
              </a:tabLst>
            </a:pPr>
            <a:r>
              <a:rPr lang="da-DK" sz="1200" b="1" noProof="0" err="1">
                <a:latin typeface="+mj-lt"/>
              </a:rPr>
              <a:t>CO₂e</a:t>
            </a:r>
            <a:r>
              <a:rPr lang="da-DK" sz="1200" b="1" noProof="0">
                <a:latin typeface="+mj-lt"/>
              </a:rPr>
              <a:t> udledning 				</a:t>
            </a:r>
            <a:endParaRPr lang="da-DK" sz="1200" noProof="0">
              <a:latin typeface="+mj-lt"/>
            </a:endParaRPr>
          </a:p>
          <a:p>
            <a:pPr marL="228600" indent="-266400">
              <a:lnSpc>
                <a:spcPct val="150000"/>
              </a:lnSpc>
              <a:buFont typeface="+mj-lt"/>
              <a:buAutoNum type="arabicPeriod"/>
              <a:tabLst>
                <a:tab pos="287338" algn="l"/>
                <a:tab pos="466725" algn="l"/>
                <a:tab pos="4484688" algn="r"/>
              </a:tabLst>
            </a:pPr>
            <a:r>
              <a:rPr lang="da-DK" sz="1200" b="1" noProof="0">
                <a:latin typeface="+mj-lt"/>
              </a:rPr>
              <a:t>Forurening af luft, vand og jord</a:t>
            </a:r>
            <a:r>
              <a:rPr lang="da-DK" sz="1200" noProof="0">
                <a:latin typeface="+mj-lt"/>
              </a:rPr>
              <a:t>				</a:t>
            </a:r>
          </a:p>
          <a:p>
            <a:pPr marL="228600" indent="-266400">
              <a:lnSpc>
                <a:spcPct val="150000"/>
              </a:lnSpc>
              <a:buFont typeface="+mj-lt"/>
              <a:buAutoNum type="arabicPeriod"/>
              <a:tabLst>
                <a:tab pos="287338" algn="l"/>
                <a:tab pos="466725" algn="l"/>
                <a:tab pos="4484688" algn="r"/>
              </a:tabLst>
            </a:pPr>
            <a:r>
              <a:rPr lang="da-DK" sz="1200" b="1" noProof="0">
                <a:latin typeface="+mj-lt"/>
              </a:rPr>
              <a:t>Biodiversitet</a:t>
            </a:r>
            <a:r>
              <a:rPr lang="da-DK" sz="1200" noProof="0">
                <a:latin typeface="+mj-lt"/>
              </a:rPr>
              <a:t>				</a:t>
            </a:r>
          </a:p>
          <a:p>
            <a:pPr marL="228600" indent="-266400">
              <a:lnSpc>
                <a:spcPct val="150000"/>
              </a:lnSpc>
              <a:buFont typeface="+mj-lt"/>
              <a:buAutoNum type="arabicPeriod"/>
              <a:tabLst>
                <a:tab pos="287338" algn="l"/>
                <a:tab pos="466725" algn="l"/>
                <a:tab pos="4484688" algn="r"/>
              </a:tabLst>
            </a:pPr>
            <a:r>
              <a:rPr lang="da-DK" sz="1200" b="1" noProof="0">
                <a:latin typeface="+mj-lt"/>
              </a:rPr>
              <a:t>Vand	</a:t>
            </a:r>
            <a:r>
              <a:rPr lang="da-DK" sz="1200" noProof="0">
                <a:latin typeface="+mj-lt"/>
              </a:rPr>
              <a:t> 			</a:t>
            </a:r>
          </a:p>
          <a:p>
            <a:pPr marL="228600" indent="-266400">
              <a:lnSpc>
                <a:spcPct val="150000"/>
              </a:lnSpc>
              <a:buFont typeface="+mj-lt"/>
              <a:buAutoNum type="arabicPeriod"/>
              <a:tabLst>
                <a:tab pos="287338" algn="l"/>
                <a:tab pos="466725" algn="l"/>
                <a:tab pos="4484688" algn="r"/>
              </a:tabLst>
            </a:pPr>
            <a:r>
              <a:rPr lang="da-DK" sz="1200" b="1" noProof="0">
                <a:latin typeface="+mj-lt"/>
              </a:rPr>
              <a:t>Ressourceforbrug, cirkulærøkonomi og affaldshåndtering</a:t>
            </a:r>
            <a:r>
              <a:rPr lang="da-DK" sz="1200" noProof="0">
                <a:latin typeface="+mj-lt"/>
              </a:rPr>
              <a:t>				</a:t>
            </a:r>
            <a:endParaRPr lang="da-DK" sz="1200" noProof="0">
              <a:solidFill>
                <a:schemeClr val="accent2"/>
              </a:solidFill>
              <a:latin typeface="+mj-lt"/>
            </a:endParaRPr>
          </a:p>
          <a:p>
            <a:pPr marL="228600" indent="-266400">
              <a:lnSpc>
                <a:spcPct val="150000"/>
              </a:lnSpc>
              <a:buFont typeface="+mj-lt"/>
              <a:buAutoNum type="arabicPeriod"/>
              <a:tabLst>
                <a:tab pos="287338" algn="l"/>
                <a:tab pos="466725" algn="l"/>
                <a:tab pos="4484688" algn="r"/>
              </a:tabLst>
            </a:pPr>
            <a:r>
              <a:rPr lang="da-DK" sz="1200" b="1" noProof="0">
                <a:latin typeface="+mj-lt"/>
              </a:rPr>
              <a:t>Egen arbejdsstyrke: Generelle karakteristika</a:t>
            </a:r>
            <a:r>
              <a:rPr lang="da-DK" sz="1200" noProof="0">
                <a:latin typeface="+mj-lt"/>
              </a:rPr>
              <a:t>				</a:t>
            </a:r>
            <a:endParaRPr lang="da-DK" sz="1200" noProof="0">
              <a:solidFill>
                <a:schemeClr val="accent2"/>
              </a:solidFill>
              <a:latin typeface="+mj-lt"/>
            </a:endParaRPr>
          </a:p>
          <a:p>
            <a:pPr marL="228600" indent="-266400">
              <a:lnSpc>
                <a:spcPct val="150000"/>
              </a:lnSpc>
              <a:buFont typeface="+mj-lt"/>
              <a:buAutoNum type="arabicPeriod"/>
              <a:tabLst>
                <a:tab pos="287338" algn="l"/>
                <a:tab pos="466725" algn="l"/>
                <a:tab pos="4484688" algn="r"/>
              </a:tabLst>
            </a:pPr>
            <a:r>
              <a:rPr lang="da-DK" sz="1200" b="1" noProof="0">
                <a:latin typeface="+mj-lt"/>
              </a:rPr>
              <a:t>Egen arbejdsstyrke: Sundhed og sikkerhed</a:t>
            </a:r>
            <a:r>
              <a:rPr lang="da-DK" sz="1200" noProof="0">
                <a:latin typeface="+mj-lt"/>
              </a:rPr>
              <a:t>				</a:t>
            </a:r>
            <a:endParaRPr lang="da-DK" sz="1200" noProof="0">
              <a:solidFill>
                <a:schemeClr val="accent2"/>
              </a:solidFill>
              <a:latin typeface="+mj-lt"/>
            </a:endParaRPr>
          </a:p>
          <a:p>
            <a:pPr marL="228600" indent="-266400">
              <a:lnSpc>
                <a:spcPct val="150000"/>
              </a:lnSpc>
              <a:buFont typeface="+mj-lt"/>
              <a:buAutoNum type="arabicPeriod"/>
              <a:tabLst>
                <a:tab pos="287338" algn="l"/>
                <a:tab pos="466725" algn="l"/>
                <a:tab pos="4484688" algn="r"/>
              </a:tabLst>
            </a:pPr>
            <a:r>
              <a:rPr lang="da-DK" sz="1200" b="1" noProof="0">
                <a:latin typeface="+mj-lt"/>
              </a:rPr>
              <a:t>Egen arbejdsstyrke: Vederlag, overenskomster og uddannelse</a:t>
            </a:r>
            <a:r>
              <a:rPr lang="da-DK" sz="1200" noProof="0">
                <a:latin typeface="+mj-lt"/>
              </a:rPr>
              <a:t>		</a:t>
            </a:r>
            <a:endParaRPr lang="da-DK" sz="1200" noProof="0">
              <a:solidFill>
                <a:schemeClr val="accent2"/>
              </a:solidFill>
              <a:latin typeface="+mj-lt"/>
            </a:endParaRPr>
          </a:p>
          <a:p>
            <a:pPr marL="228600" indent="-266400">
              <a:lnSpc>
                <a:spcPct val="150000"/>
              </a:lnSpc>
              <a:buFont typeface="+mj-lt"/>
              <a:buAutoNum type="arabicPeriod"/>
              <a:tabLst>
                <a:tab pos="287338" algn="l"/>
                <a:tab pos="466725" algn="l"/>
                <a:tab pos="4484688" algn="r"/>
              </a:tabLst>
            </a:pPr>
            <a:r>
              <a:rPr lang="da-DK" sz="1200" b="1" noProof="0">
                <a:latin typeface="+mj-lt"/>
              </a:rPr>
              <a:t>Virksomhedsadfærd</a:t>
            </a:r>
            <a:r>
              <a:rPr lang="da-DK" sz="1200" noProof="0">
                <a:latin typeface="+mj-lt"/>
              </a:rPr>
              <a:t>	 			</a:t>
            </a:r>
            <a:endParaRPr lang="da-DK" sz="1200" noProof="0">
              <a:solidFill>
                <a:schemeClr val="accent2"/>
              </a:solidFill>
              <a:latin typeface="+mj-lt"/>
            </a:endParaRPr>
          </a:p>
          <a:p>
            <a:pPr>
              <a:tabLst>
                <a:tab pos="287338" algn="l"/>
                <a:tab pos="466725" algn="l"/>
                <a:tab pos="4484688" algn="r"/>
              </a:tabLst>
            </a:pPr>
            <a:endParaRPr lang="da-DK" sz="1200" noProof="0">
              <a:latin typeface="+mj-lt"/>
            </a:endParaRPr>
          </a:p>
          <a:p>
            <a:pPr>
              <a:tabLst>
                <a:tab pos="287338" algn="l"/>
                <a:tab pos="466725" algn="l"/>
                <a:tab pos="4484688" algn="r"/>
              </a:tabLst>
            </a:pPr>
            <a:endParaRPr lang="da-DK" sz="1200" noProof="0">
              <a:latin typeface="+mj-lt"/>
            </a:endParaRPr>
          </a:p>
          <a:p>
            <a:pPr>
              <a:tabLst>
                <a:tab pos="287338" algn="l"/>
                <a:tab pos="466725" algn="l"/>
                <a:tab pos="4484688" algn="r"/>
              </a:tabLst>
            </a:pPr>
            <a:endParaRPr lang="da-DK" noProof="0">
              <a:latin typeface="+mj-lt"/>
            </a:endParaRPr>
          </a:p>
          <a:p>
            <a:pPr>
              <a:tabLst>
                <a:tab pos="287338" algn="l"/>
                <a:tab pos="466725" algn="l"/>
                <a:tab pos="4484688" algn="r"/>
              </a:tabLst>
            </a:pPr>
            <a:endParaRPr lang="da-DK" noProof="0">
              <a:latin typeface="+mj-lt"/>
            </a:endParaRPr>
          </a:p>
        </p:txBody>
      </p:sp>
      <p:sp>
        <p:nvSpPr>
          <p:cNvPr id="5" name="Footer Placeholder 4">
            <a:extLst>
              <a:ext uri="{FF2B5EF4-FFF2-40B4-BE49-F238E27FC236}">
                <a16:creationId xmlns:a16="http://schemas.microsoft.com/office/drawing/2014/main" id="{663AAC2A-0E1A-03B9-5DD7-E396252E7CF3}"/>
              </a:ext>
              <a:ext uri="{C183D7F6-B498-43B3-948B-1728B52AA6E4}">
                <adec:decorative xmlns:adec="http://schemas.microsoft.com/office/drawing/2017/decorative" val="1"/>
              </a:ext>
            </a:extLst>
          </p:cNvPr>
          <p:cNvSpPr>
            <a:spLocks noGrp="1"/>
          </p:cNvSpPr>
          <p:nvPr>
            <p:ph type="ftr" sz="quarter" idx="22"/>
          </p:nvPr>
        </p:nvSpPr>
        <p:spPr>
          <a:xfrm>
            <a:off x="8280504" y="224972"/>
            <a:ext cx="3642695" cy="153888"/>
          </a:xfrm>
        </p:spPr>
        <p:txBody>
          <a:bodyPr/>
          <a:lstStyle/>
          <a:p>
            <a:r>
              <a:rPr lang="da-DK" noProof="0"/>
              <a:t>{{</a:t>
            </a:r>
            <a:r>
              <a:rPr lang="da-DK" noProof="0" err="1"/>
              <a:t>company_name</a:t>
            </a:r>
            <a:r>
              <a:rPr lang="da-DK" noProof="0"/>
              <a:t>}}</a:t>
            </a:r>
          </a:p>
        </p:txBody>
      </p:sp>
      <p:sp>
        <p:nvSpPr>
          <p:cNvPr id="2" name="Slide Number Placeholder 5">
            <a:extLst>
              <a:ext uri="{FF2B5EF4-FFF2-40B4-BE49-F238E27FC236}">
                <a16:creationId xmlns:a16="http://schemas.microsoft.com/office/drawing/2014/main" id="{EAF64D3B-AE78-BA15-5D3D-CEE3410664A0}"/>
              </a:ext>
              <a:ext uri="{C183D7F6-B498-43B3-948B-1728B52AA6E4}">
                <adec:decorative xmlns:adec="http://schemas.microsoft.com/office/drawing/2017/decorative" val="1"/>
              </a:ext>
            </a:extLst>
          </p:cNvPr>
          <p:cNvSpPr>
            <a:spLocks noGrp="1"/>
          </p:cNvSpPr>
          <p:nvPr>
            <p:ph type="sldNum" sz="quarter" idx="23"/>
          </p:nvPr>
        </p:nvSpPr>
        <p:spPr>
          <a:xfrm>
            <a:off x="9180000" y="6450239"/>
            <a:ext cx="2743200" cy="153888"/>
          </a:xfrm>
        </p:spPr>
        <p:txBody>
          <a:bodyPr/>
          <a:lstStyle/>
          <a:p>
            <a:fld id="{5A0D23CF-C5A3-5445-819D-C647D180BB4B}" type="slidenum">
              <a:rPr lang="da-DK" noProof="0" smtClean="0"/>
              <a:pPr/>
              <a:t>2</a:t>
            </a:fld>
            <a:endParaRPr lang="da-DK" noProof="0"/>
          </a:p>
        </p:txBody>
      </p:sp>
    </p:spTree>
    <p:extLst>
      <p:ext uri="{BB962C8B-B14F-4D97-AF65-F5344CB8AC3E}">
        <p14:creationId xmlns:p14="http://schemas.microsoft.com/office/powerpoint/2010/main" val="1720570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518600" y="513927"/>
            <a:ext cx="11165400" cy="249299"/>
          </a:xfrm>
        </p:spPr>
        <p:txBody>
          <a:bodyPr/>
          <a:lstStyle/>
          <a:p>
            <a:r>
              <a:rPr lang="da-DK" noProof="0"/>
              <a:t>Grundlag for udarbejdelse (B1) </a:t>
            </a:r>
          </a:p>
        </p:txBody>
      </p:sp>
      <p:sp>
        <p:nvSpPr>
          <p:cNvPr id="15" name="Text Placeholder 2">
            <a:extLst>
              <a:ext uri="{FF2B5EF4-FFF2-40B4-BE49-F238E27FC236}">
                <a16:creationId xmlns:a16="http://schemas.microsoft.com/office/drawing/2014/main" id="{BACC1DA0-DFDE-C844-7562-0528953EC068}"/>
              </a:ext>
            </a:extLst>
          </p:cNvPr>
          <p:cNvSpPr txBox="1">
            <a:spLocks/>
          </p:cNvSpPr>
          <p:nvPr/>
        </p:nvSpPr>
        <p:spPr>
          <a:xfrm>
            <a:off x="508000" y="2965249"/>
            <a:ext cx="3513138" cy="171795"/>
          </a:xfrm>
          <a:prstGeom prst="rect">
            <a:avLst/>
          </a:prstGeom>
        </p:spPr>
        <p:txBody>
          <a:bodyPr lIns="0" tIns="0" rIns="0" bIns="0"/>
          <a:lstStyle>
            <a:lvl1pPr marL="72000" indent="-72000" algn="l" defTabSz="914400" rtl="0" eaLnBrk="1" latinLnBrk="0" hangingPunct="1">
              <a:lnSpc>
                <a:spcPct val="106000"/>
              </a:lnSpc>
              <a:spcBef>
                <a:spcPts val="0"/>
              </a:spcBef>
              <a:buFont typeface="Arial" panose="020B0604020202020204" pitchFamily="34" charset="0"/>
              <a:buChar char="•"/>
              <a:defRPr sz="900" b="0" kern="1200" spc="-10" baseline="0">
                <a:solidFill>
                  <a:schemeClr val="tx2"/>
                </a:solidFill>
                <a:latin typeface="+mn-lt"/>
                <a:ea typeface="+mn-ea"/>
                <a:cs typeface="+mn-cs"/>
              </a:defRPr>
            </a:lvl1pPr>
            <a:lvl2pPr marL="144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2pPr>
            <a:lvl3pPr marL="216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3pPr>
            <a:lvl4pPr marL="288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4pPr>
            <a:lvl5pPr marL="360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da-DK" noProof="0">
              <a:solidFill>
                <a:schemeClr val="accent2"/>
              </a:solidFill>
            </a:endParaRPr>
          </a:p>
        </p:txBody>
      </p:sp>
      <p:graphicFrame>
        <p:nvGraphicFramePr>
          <p:cNvPr id="16" name="Table 2">
            <a:extLst>
              <a:ext uri="{FF2B5EF4-FFF2-40B4-BE49-F238E27FC236}">
                <a16:creationId xmlns:a16="http://schemas.microsoft.com/office/drawing/2014/main" id="{693470FC-B633-430A-0791-18B9C81D050C}"/>
              </a:ext>
            </a:extLst>
          </p:cNvPr>
          <p:cNvGraphicFramePr>
            <a:graphicFrameLocks noGrp="1"/>
          </p:cNvGraphicFramePr>
          <p:nvPr>
            <p:extLst>
              <p:ext uri="{D42A27DB-BD31-4B8C-83A1-F6EECF244321}">
                <p14:modId xmlns:p14="http://schemas.microsoft.com/office/powerpoint/2010/main" val="2265538126"/>
              </p:ext>
            </p:extLst>
          </p:nvPr>
        </p:nvGraphicFramePr>
        <p:xfrm>
          <a:off x="518599" y="5090156"/>
          <a:ext cx="7354375" cy="1297654"/>
        </p:xfrm>
        <a:graphic>
          <a:graphicData uri="http://schemas.openxmlformats.org/drawingml/2006/table">
            <a:tbl>
              <a:tblPr firstRow="1">
                <a:tableStyleId>{2A488322-F2BA-4B5B-9748-0D474271808F}</a:tableStyleId>
              </a:tblPr>
              <a:tblGrid>
                <a:gridCol w="3400867">
                  <a:extLst>
                    <a:ext uri="{9D8B030D-6E8A-4147-A177-3AD203B41FA5}">
                      <a16:colId xmlns:a16="http://schemas.microsoft.com/office/drawing/2014/main" val="1902117154"/>
                    </a:ext>
                  </a:extLst>
                </a:gridCol>
                <a:gridCol w="3953508">
                  <a:extLst>
                    <a:ext uri="{9D8B030D-6E8A-4147-A177-3AD203B41FA5}">
                      <a16:colId xmlns:a16="http://schemas.microsoft.com/office/drawing/2014/main" val="1904521774"/>
                    </a:ext>
                  </a:extLst>
                </a:gridCol>
              </a:tblGrid>
              <a:tr h="306958">
                <a:tc gridSpan="2">
                  <a:txBody>
                    <a:bodyPr/>
                    <a:lstStyle/>
                    <a:p>
                      <a:pPr marL="0" algn="l" defTabSz="914400" rtl="0" eaLnBrk="1" latinLnBrk="0" hangingPunct="1"/>
                      <a:r>
                        <a:rPr lang="da-DK" sz="1200" b="1" kern="1200" spc="-10" noProof="0">
                          <a:solidFill>
                            <a:schemeClr val="tx2"/>
                          </a:solidFill>
                          <a:latin typeface="+mn-lt"/>
                          <a:ea typeface="+mn-ea"/>
                          <a:cs typeface="+mn-cs"/>
                        </a:rPr>
                        <a:t>Oversigt over datterselskaber, der indgår i denne ESG-opgørelse </a:t>
                      </a:r>
                      <a:r>
                        <a:rPr lang="da-DK" sz="1200" b="0" kern="1200" spc="-10" noProof="0">
                          <a:solidFill>
                            <a:schemeClr val="tx2"/>
                          </a:solidFill>
                          <a:latin typeface="+mn-lt"/>
                          <a:ea typeface="+mn-ea"/>
                          <a:cs typeface="+mn-cs"/>
                        </a:rPr>
                        <a:t>(pkt. 27d)</a:t>
                      </a:r>
                      <a:endParaRPr lang="da-DK" sz="1200" b="0" i="1"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a:p>
                  </a:txBody>
                  <a:tcPr/>
                </a:tc>
                <a:extLst>
                  <a:ext uri="{0D108BD9-81ED-4DB2-BD59-A6C34878D82A}">
                    <a16:rowId xmlns:a16="http://schemas.microsoft.com/office/drawing/2014/main" val="625231048"/>
                  </a:ext>
                </a:extLst>
              </a:tr>
              <a:tr h="177074">
                <a:tc>
                  <a:txBody>
                    <a:bodyPr/>
                    <a:lstStyle/>
                    <a:p>
                      <a:pPr algn="l"/>
                      <a:r>
                        <a:rPr lang="da-DK" sz="1200" b="1" kern="1200" spc="-10" noProof="0">
                          <a:solidFill>
                            <a:schemeClr val="tx2"/>
                          </a:solidFill>
                          <a:latin typeface="+mn-lt"/>
                          <a:ea typeface="+mn-ea"/>
                          <a:cs typeface="+mn-cs"/>
                        </a:rPr>
                        <a:t>Navn på datterselskab </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1200" b="1" kern="1200" spc="-10" noProof="0">
                          <a:solidFill>
                            <a:schemeClr val="tx2"/>
                          </a:solidFill>
                          <a:latin typeface="+mn-lt"/>
                          <a:ea typeface="+mn-ea"/>
                          <a:cs typeface="+mn-cs"/>
                        </a:rPr>
                        <a:t>Adresse på datterselskab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245272">
                <a:tc>
                  <a:txBody>
                    <a:bodyPr/>
                    <a:lstStyle/>
                    <a:p>
                      <a:pPr rtl="0" fontAlgn="t">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subsidiary</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subsidiary_address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45272">
                <a:tc>
                  <a:txBody>
                    <a:bodyPr/>
                    <a:lstStyle/>
                    <a:p>
                      <a:pPr rtl="0" fontAlgn="t">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subsidiary</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subsidiary_address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45272">
                <a:tc>
                  <a:txBody>
                    <a:bodyPr/>
                    <a:lstStyle/>
                    <a:p>
                      <a:pPr rtl="0" fontAlgn="t">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subsidiary</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subsidiary_address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9180000" y="6450239"/>
            <a:ext cx="2743200" cy="153888"/>
          </a:xfrm>
        </p:spPr>
        <p:txBody>
          <a:bodyPr/>
          <a:lstStyle/>
          <a:p>
            <a:fld id="{5A0D23CF-C5A3-5445-819D-C647D180BB4B}" type="slidenum">
              <a:rPr lang="da-DK" noProof="0" smtClean="0"/>
              <a:pPr/>
              <a:t>3</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8280504" y="224972"/>
            <a:ext cx="3642695" cy="153888"/>
          </a:xfrm>
        </p:spPr>
        <p:txBody>
          <a:bodyPr/>
          <a:lstStyle/>
          <a:p>
            <a:r>
              <a:rPr lang="da-DK" noProof="0"/>
              <a:t>{{</a:t>
            </a:r>
            <a:r>
              <a:rPr lang="da-DK" noProof="0" err="1"/>
              <a:t>company_name</a:t>
            </a:r>
            <a:r>
              <a:rPr lang="da-DK" noProof="0"/>
              <a:t>}}</a:t>
            </a:r>
            <a:endParaRPr lang="da-DK" b="0" noProof="0"/>
          </a:p>
          <a:p>
            <a:br>
              <a:rPr lang="da-DK" noProof="0"/>
            </a:br>
            <a:endParaRPr lang="da-DK" noProof="0"/>
          </a:p>
        </p:txBody>
      </p:sp>
      <p:graphicFrame>
        <p:nvGraphicFramePr>
          <p:cNvPr id="2" name="Table 12">
            <a:extLst>
              <a:ext uri="{FF2B5EF4-FFF2-40B4-BE49-F238E27FC236}">
                <a16:creationId xmlns:a16="http://schemas.microsoft.com/office/drawing/2014/main" id="{AA61E98C-E974-CA6B-E7E0-7ED257077648}"/>
              </a:ext>
            </a:extLst>
          </p:cNvPr>
          <p:cNvGraphicFramePr>
            <a:graphicFrameLocks noGrp="1"/>
          </p:cNvGraphicFramePr>
          <p:nvPr>
            <p:extLst>
              <p:ext uri="{D42A27DB-BD31-4B8C-83A1-F6EECF244321}">
                <p14:modId xmlns:p14="http://schemas.microsoft.com/office/powerpoint/2010/main" val="3344848158"/>
              </p:ext>
            </p:extLst>
          </p:nvPr>
        </p:nvGraphicFramePr>
        <p:xfrm>
          <a:off x="518599" y="3862384"/>
          <a:ext cx="7354375" cy="1130400"/>
        </p:xfrm>
        <a:graphic>
          <a:graphicData uri="http://schemas.openxmlformats.org/drawingml/2006/table">
            <a:tbl>
              <a:tblPr firstRow="1">
                <a:tableStyleId>{2A488322-F2BA-4B5B-9748-0D474271808F}</a:tableStyleId>
              </a:tblPr>
              <a:tblGrid>
                <a:gridCol w="6194435">
                  <a:extLst>
                    <a:ext uri="{9D8B030D-6E8A-4147-A177-3AD203B41FA5}">
                      <a16:colId xmlns:a16="http://schemas.microsoft.com/office/drawing/2014/main" val="2698153288"/>
                    </a:ext>
                  </a:extLst>
                </a:gridCol>
                <a:gridCol w="1159940">
                  <a:extLst>
                    <a:ext uri="{9D8B030D-6E8A-4147-A177-3AD203B41FA5}">
                      <a16:colId xmlns:a16="http://schemas.microsoft.com/office/drawing/2014/main" val="2119413191"/>
                    </a:ext>
                  </a:extLst>
                </a:gridCol>
              </a:tblGrid>
              <a:tr h="205694">
                <a:tc gridSpan="2">
                  <a:txBody>
                    <a:bodyPr/>
                    <a:lstStyle/>
                    <a:p>
                      <a:r>
                        <a:rPr lang="da-DK" sz="1200" b="1" noProof="0">
                          <a:solidFill>
                            <a:schemeClr val="tx2"/>
                          </a:solidFill>
                        </a:rPr>
                        <a:t>Individuel eller konsolideret rapportering</a:t>
                      </a:r>
                      <a:r>
                        <a:rPr lang="da-DK" sz="1200" b="0" noProof="0">
                          <a:solidFill>
                            <a:schemeClr val="tx2"/>
                          </a:solidFill>
                        </a:rPr>
                        <a:t> (pkt. 27c)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9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942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0" kern="1200" spc="-10" noProof="0">
                          <a:solidFill>
                            <a:schemeClr val="tx2"/>
                          </a:solidFill>
                          <a:latin typeface="+mn-lt"/>
                          <a:ea typeface="+mn-ea"/>
                          <a:cs typeface="+mn-cs"/>
                        </a:rPr>
                        <a:t>Opgørelsen er udarbejdet på </a:t>
                      </a:r>
                      <a:r>
                        <a:rPr lang="da-DK" sz="1200" b="1" kern="1200" spc="-10" noProof="0">
                          <a:solidFill>
                            <a:schemeClr val="tx2"/>
                          </a:solidFill>
                          <a:latin typeface="+mn-lt"/>
                          <a:ea typeface="+mn-ea"/>
                          <a:cs typeface="+mn-cs"/>
                        </a:rPr>
                        <a:t>individuel basis </a:t>
                      </a:r>
                      <a:r>
                        <a:rPr lang="da-DK" sz="1200" b="0" kern="1200" spc="-10" noProof="0">
                          <a:solidFill>
                            <a:schemeClr val="tx2"/>
                          </a:solidFill>
                          <a:latin typeface="+mn-lt"/>
                          <a:ea typeface="+mn-ea"/>
                          <a:cs typeface="+mn-cs"/>
                        </a:rPr>
                        <a:t>(dvs. opgørelsen dækker ikke eventuelle datterselskaber)</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yes_subsidiary</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2942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0" kern="1200" spc="-10" noProof="0">
                          <a:solidFill>
                            <a:schemeClr val="tx2"/>
                          </a:solidFill>
                          <a:latin typeface="+mn-lt"/>
                          <a:ea typeface="+mn-ea"/>
                          <a:cs typeface="+mn-cs"/>
                        </a:rPr>
                        <a:t>Opgørelsen er udarbejdet på et </a:t>
                      </a:r>
                      <a:r>
                        <a:rPr lang="da-DK" sz="1200" b="1" kern="1200" spc="-10" noProof="0">
                          <a:solidFill>
                            <a:schemeClr val="tx2"/>
                          </a:solidFill>
                          <a:latin typeface="+mn-lt"/>
                          <a:ea typeface="+mn-ea"/>
                          <a:cs typeface="+mn-cs"/>
                        </a:rPr>
                        <a:t>konsolideret grundlag </a:t>
                      </a:r>
                      <a:r>
                        <a:rPr lang="da-DK" sz="1200" b="0" kern="1200" spc="-10" noProof="0">
                          <a:solidFill>
                            <a:schemeClr val="tx2"/>
                          </a:solidFill>
                          <a:latin typeface="+mn-lt"/>
                          <a:ea typeface="+mn-ea"/>
                          <a:cs typeface="+mn-cs"/>
                        </a:rPr>
                        <a:t>(dvs. opgørelsen omfatter virksomhedens datterselskaber) </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no_subsidiary</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graphicFrame>
        <p:nvGraphicFramePr>
          <p:cNvPr id="8" name="Table 12">
            <a:extLst>
              <a:ext uri="{FF2B5EF4-FFF2-40B4-BE49-F238E27FC236}">
                <a16:creationId xmlns:a16="http://schemas.microsoft.com/office/drawing/2014/main" id="{C0F79360-A773-09D0-5119-A3FDBC3F6D97}"/>
              </a:ext>
            </a:extLst>
          </p:cNvPr>
          <p:cNvGraphicFramePr>
            <a:graphicFrameLocks noGrp="1"/>
          </p:cNvGraphicFramePr>
          <p:nvPr>
            <p:extLst>
              <p:ext uri="{D42A27DB-BD31-4B8C-83A1-F6EECF244321}">
                <p14:modId xmlns:p14="http://schemas.microsoft.com/office/powerpoint/2010/main" val="1534085072"/>
              </p:ext>
            </p:extLst>
          </p:nvPr>
        </p:nvGraphicFramePr>
        <p:xfrm>
          <a:off x="518600" y="2284438"/>
          <a:ext cx="7354375" cy="1331331"/>
        </p:xfrm>
        <a:graphic>
          <a:graphicData uri="http://schemas.openxmlformats.org/drawingml/2006/table">
            <a:tbl>
              <a:tblPr firstRow="1">
                <a:tableStyleId>{2A488322-F2BA-4B5B-9748-0D474271808F}</a:tableStyleId>
              </a:tblPr>
              <a:tblGrid>
                <a:gridCol w="6205585">
                  <a:extLst>
                    <a:ext uri="{9D8B030D-6E8A-4147-A177-3AD203B41FA5}">
                      <a16:colId xmlns:a16="http://schemas.microsoft.com/office/drawing/2014/main" val="2698153288"/>
                    </a:ext>
                  </a:extLst>
                </a:gridCol>
                <a:gridCol w="1148790">
                  <a:extLst>
                    <a:ext uri="{9D8B030D-6E8A-4147-A177-3AD203B41FA5}">
                      <a16:colId xmlns:a16="http://schemas.microsoft.com/office/drawing/2014/main" val="2119413191"/>
                    </a:ext>
                  </a:extLst>
                </a:gridCol>
              </a:tblGrid>
              <a:tr h="391190">
                <a:tc gridSpan="2">
                  <a:txBody>
                    <a:bodyPr/>
                    <a:lstStyle/>
                    <a:p>
                      <a:r>
                        <a:rPr lang="da-DK" sz="1200" b="1" kern="1200" spc="-10" noProof="0" err="1">
                          <a:solidFill>
                            <a:schemeClr val="tx2"/>
                          </a:solidFill>
                          <a:latin typeface="+mn-lt"/>
                          <a:ea typeface="+mn-ea"/>
                          <a:cs typeface="+mn-cs"/>
                        </a:rPr>
                        <a:t>Basismodul</a:t>
                      </a:r>
                      <a:r>
                        <a:rPr lang="da-DK" sz="1200" b="1" kern="1200" spc="-10" noProof="0">
                          <a:solidFill>
                            <a:schemeClr val="tx2"/>
                          </a:solidFill>
                          <a:latin typeface="+mn-lt"/>
                          <a:ea typeface="+mn-ea"/>
                          <a:cs typeface="+mn-cs"/>
                        </a:rPr>
                        <a:t>, eller </a:t>
                      </a:r>
                      <a:r>
                        <a:rPr lang="da-DK" sz="1200" b="1" kern="1200" spc="-10" noProof="0" err="1">
                          <a:solidFill>
                            <a:schemeClr val="tx2"/>
                          </a:solidFill>
                          <a:latin typeface="+mn-lt"/>
                          <a:ea typeface="+mn-ea"/>
                          <a:cs typeface="+mn-cs"/>
                        </a:rPr>
                        <a:t>Basismodul</a:t>
                      </a:r>
                      <a:r>
                        <a:rPr lang="da-DK" sz="1200" b="1" kern="1200" spc="-10" noProof="0">
                          <a:solidFill>
                            <a:schemeClr val="tx2"/>
                          </a:solidFill>
                          <a:latin typeface="+mn-lt"/>
                          <a:ea typeface="+mn-ea"/>
                          <a:cs typeface="+mn-cs"/>
                        </a:rPr>
                        <a:t> +</a:t>
                      </a:r>
                      <a:r>
                        <a:rPr lang="da-DK" sz="1200" b="0" kern="1200" spc="-10" noProof="0">
                          <a:solidFill>
                            <a:schemeClr val="tx2"/>
                          </a:solidFill>
                          <a:latin typeface="+mn-lt"/>
                          <a:ea typeface="+mn-ea"/>
                          <a:cs typeface="+mn-cs"/>
                        </a:rPr>
                        <a:t> </a:t>
                      </a:r>
                      <a:r>
                        <a:rPr lang="da-DK" sz="1200" b="1" kern="1200" spc="-10" noProof="0">
                          <a:solidFill>
                            <a:schemeClr val="tx2"/>
                          </a:solidFill>
                          <a:latin typeface="+mn-lt"/>
                          <a:ea typeface="+mn-ea"/>
                          <a:cs typeface="+mn-cs"/>
                        </a:rPr>
                        <a:t>Udvidet Modul </a:t>
                      </a:r>
                      <a:r>
                        <a:rPr lang="da-DK" sz="1200" b="0" kern="1200" spc="-10" noProof="0">
                          <a:solidFill>
                            <a:schemeClr val="tx2"/>
                          </a:solidFill>
                          <a:latin typeface="+mn-lt"/>
                          <a:ea typeface="+mn-ea"/>
                          <a:cs typeface="+mn-cs"/>
                        </a:rPr>
                        <a:t>(pkt. 27a)</a:t>
                      </a:r>
                      <a:r>
                        <a:rPr lang="da-DK" sz="1200" b="1" kern="1200" spc="-10" noProof="0">
                          <a:solidFill>
                            <a:schemeClr val="tx2"/>
                          </a:solidFill>
                          <a:latin typeface="+mn-lt"/>
                          <a:ea typeface="+mn-ea"/>
                          <a:cs typeface="+mn-cs"/>
                        </a:rPr>
                        <a:t> </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9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088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0" kern="1200" spc="-10" noProof="0">
                          <a:solidFill>
                            <a:schemeClr val="tx2"/>
                          </a:solidFill>
                          <a:latin typeface="+mn-lt"/>
                          <a:ea typeface="+mn-ea"/>
                          <a:cs typeface="+mn-cs"/>
                        </a:rPr>
                        <a:t>Opgørelsen er baseret på </a:t>
                      </a:r>
                      <a:r>
                        <a:rPr lang="da-DK" sz="1200" b="1" kern="1200" spc="-10" noProof="0">
                          <a:solidFill>
                            <a:schemeClr val="tx2"/>
                          </a:solidFill>
                          <a:latin typeface="+mn-lt"/>
                          <a:ea typeface="+mn-ea"/>
                          <a:cs typeface="+mn-cs"/>
                        </a:rPr>
                        <a:t>Basismodulet</a:t>
                      </a:r>
                      <a:r>
                        <a:rPr lang="da-DK" sz="1200" b="0" kern="1200" spc="-10" noProof="0">
                          <a:solidFill>
                            <a:schemeClr val="tx2"/>
                          </a:solidFill>
                          <a:latin typeface="+mn-lt"/>
                          <a:ea typeface="+mn-ea"/>
                          <a:cs typeface="+mn-cs"/>
                        </a:rPr>
                        <a:t> i den frivillige SMV-standard </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basic_module</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5312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0" kern="1200" spc="-10" noProof="0">
                          <a:solidFill>
                            <a:schemeClr val="tx2"/>
                          </a:solidFill>
                          <a:latin typeface="+mn-lt"/>
                          <a:ea typeface="+mn-ea"/>
                          <a:cs typeface="+mn-cs"/>
                        </a:rPr>
                        <a:t>Opgørelsen er baseret på </a:t>
                      </a:r>
                      <a:r>
                        <a:rPr lang="da-DK" sz="1200" b="1" kern="1200" spc="-10" noProof="0">
                          <a:solidFill>
                            <a:schemeClr val="tx2"/>
                          </a:solidFill>
                          <a:latin typeface="+mn-lt"/>
                          <a:ea typeface="+mn-ea"/>
                          <a:cs typeface="+mn-cs"/>
                        </a:rPr>
                        <a:t>Basismodulet</a:t>
                      </a:r>
                      <a:r>
                        <a:rPr lang="da-DK" sz="1200" b="0" kern="1200" spc="-10" noProof="0">
                          <a:solidFill>
                            <a:schemeClr val="tx2"/>
                          </a:solidFill>
                          <a:latin typeface="+mn-lt"/>
                          <a:ea typeface="+mn-ea"/>
                          <a:cs typeface="+mn-cs"/>
                        </a:rPr>
                        <a:t> og </a:t>
                      </a:r>
                      <a:r>
                        <a:rPr lang="da-DK" sz="1200" b="1" kern="1200" spc="-10" noProof="0">
                          <a:solidFill>
                            <a:schemeClr val="tx2"/>
                          </a:solidFill>
                          <a:latin typeface="+mn-lt"/>
                          <a:ea typeface="+mn-ea"/>
                          <a:cs typeface="+mn-cs"/>
                        </a:rPr>
                        <a:t>Udvidet Modul </a:t>
                      </a:r>
                      <a:r>
                        <a:rPr lang="da-DK" sz="1200" b="0" kern="1200" spc="-10" noProof="0">
                          <a:solidFill>
                            <a:schemeClr val="tx2"/>
                          </a:solidFill>
                          <a:latin typeface="+mn-lt"/>
                          <a:ea typeface="+mn-ea"/>
                          <a:cs typeface="+mn-cs"/>
                        </a:rPr>
                        <a:t>i den frivillige SMV-standard</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comprehensive</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sp>
        <p:nvSpPr>
          <p:cNvPr id="10" name="Tekstfelt 9">
            <a:extLst>
              <a:ext uri="{FF2B5EF4-FFF2-40B4-BE49-F238E27FC236}">
                <a16:creationId xmlns:a16="http://schemas.microsoft.com/office/drawing/2014/main" id="{08CE8BB8-760E-14A7-E273-1C19DEAB1C88}"/>
              </a:ext>
            </a:extLst>
          </p:cNvPr>
          <p:cNvSpPr txBox="1"/>
          <p:nvPr/>
        </p:nvSpPr>
        <p:spPr>
          <a:xfrm>
            <a:off x="508000" y="1016000"/>
            <a:ext cx="11165400" cy="1015663"/>
          </a:xfrm>
          <a:prstGeom prst="rect">
            <a:avLst/>
          </a:prstGeom>
          <a:noFill/>
        </p:spPr>
        <p:txBody>
          <a:bodyPr wrap="square">
            <a:spAutoFit/>
          </a:bodyPr>
          <a:lstStyle/>
          <a:p>
            <a:pPr rtl="0">
              <a:buNone/>
            </a:pPr>
            <a:r>
              <a:rPr lang="da-DK" sz="1200" b="0" i="0" u="none" strike="noStrike" noProof="0">
                <a:solidFill>
                  <a:schemeClr val="tx2"/>
                </a:solidFill>
                <a:effectLst/>
                <a:latin typeface="Inter"/>
              </a:rPr>
              <a:t>Virksomheden har udarbejdet deres bæredygtighedsrapport gennem VS standarden, som følger en struktureret tilgang for at sikre, at de nødvendige oplysninger rapporteres standardiseret og gennemsigtigt. Rapporten afspejles af de bæredygtighedsmoduler, der er udvalgt og dækket af virksomheden. Derudover er det angivet, om bæredygtighedsrapporten udarbejdes på individuel basis (kun virksomhedens egne data) eller på konsolideret basis. Dette afsnit indeholder grundlæggende oplysninger om virksomheden, f.eks. dens retlige form, NACE-sektorkode(r), balancestørrelse og omsætning, antal ansatte samt oplysninger om virksomhedens primære driftsland og placeringen af andre væsentlige aktiver.</a:t>
            </a:r>
            <a:endParaRPr lang="da-DK" sz="1200" b="0" noProof="0">
              <a:solidFill>
                <a:schemeClr val="tx2"/>
              </a:solidFill>
              <a:effectLst/>
            </a:endParaRPr>
          </a:p>
        </p:txBody>
      </p:sp>
      <p:graphicFrame>
        <p:nvGraphicFramePr>
          <p:cNvPr id="13" name="Table 2">
            <a:extLst>
              <a:ext uri="{FF2B5EF4-FFF2-40B4-BE49-F238E27FC236}">
                <a16:creationId xmlns:a16="http://schemas.microsoft.com/office/drawing/2014/main" id="{34E7B75C-B2E3-1B8A-2080-FEF363E738AC}"/>
              </a:ext>
            </a:extLst>
          </p:cNvPr>
          <p:cNvGraphicFramePr>
            <a:graphicFrameLocks noGrp="1"/>
          </p:cNvGraphicFramePr>
          <p:nvPr>
            <p:extLst>
              <p:ext uri="{D42A27DB-BD31-4B8C-83A1-F6EECF244321}">
                <p14:modId xmlns:p14="http://schemas.microsoft.com/office/powerpoint/2010/main" val="1997386540"/>
              </p:ext>
            </p:extLst>
          </p:nvPr>
        </p:nvGraphicFramePr>
        <p:xfrm>
          <a:off x="8169275" y="3862384"/>
          <a:ext cx="3504125" cy="2519530"/>
        </p:xfrm>
        <a:graphic>
          <a:graphicData uri="http://schemas.openxmlformats.org/drawingml/2006/table">
            <a:tbl>
              <a:tblPr firstRow="1">
                <a:tableStyleId>{2A488322-F2BA-4B5B-9748-0D474271808F}</a:tableStyleId>
              </a:tblPr>
              <a:tblGrid>
                <a:gridCol w="1620405">
                  <a:extLst>
                    <a:ext uri="{9D8B030D-6E8A-4147-A177-3AD203B41FA5}">
                      <a16:colId xmlns:a16="http://schemas.microsoft.com/office/drawing/2014/main" val="1902117154"/>
                    </a:ext>
                  </a:extLst>
                </a:gridCol>
                <a:gridCol w="1883720">
                  <a:extLst>
                    <a:ext uri="{9D8B030D-6E8A-4147-A177-3AD203B41FA5}">
                      <a16:colId xmlns:a16="http://schemas.microsoft.com/office/drawing/2014/main" val="1904521774"/>
                    </a:ext>
                  </a:extLst>
                </a:gridCol>
              </a:tblGrid>
              <a:tr h="247918">
                <a:tc gridSpan="2">
                  <a:txBody>
                    <a:bodyPr/>
                    <a:lstStyle/>
                    <a:p>
                      <a:pPr algn="l"/>
                      <a:r>
                        <a:rPr lang="da-DK" sz="1200" b="1" kern="1200" spc="-10" noProof="0">
                          <a:solidFill>
                            <a:schemeClr val="tx2"/>
                          </a:solidFill>
                          <a:latin typeface="+mn-lt"/>
                          <a:ea typeface="+mn-ea"/>
                          <a:cs typeface="+mn-cs"/>
                        </a:rPr>
                        <a:t>Grundlæggende informationer om </a:t>
                      </a:r>
                      <a:r>
                        <a:rPr lang="da-DK" sz="1200" b="0" kern="1200" spc="-10" noProof="0">
                          <a:solidFill>
                            <a:schemeClr val="tx2"/>
                          </a:solidFill>
                          <a:latin typeface="+mn-lt"/>
                          <a:ea typeface="+mn-ea"/>
                          <a:cs typeface="+mn-cs"/>
                        </a:rPr>
                        <a:t> (pkt. 27e, i-v)</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702937">
                <a:tc>
                  <a:txBody>
                    <a:bodyPr/>
                    <a:lstStyle/>
                    <a:p>
                      <a:pPr algn="l"/>
                      <a:r>
                        <a:rPr lang="da-DK" sz="1200" b="1" kern="1200" spc="-10" noProof="0">
                          <a:solidFill>
                            <a:schemeClr val="tx2"/>
                          </a:solidFill>
                          <a:latin typeface="+mn-lt"/>
                          <a:ea typeface="+mn-ea"/>
                          <a:cs typeface="+mn-cs"/>
                        </a:rPr>
                        <a:t>Virksomhedsform</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{{branchekode}}</a:t>
                      </a:r>
                      <a:endParaRPr lang="da-DK" sz="1200" b="0" noProof="0">
                        <a:effectLst/>
                      </a:endParaRPr>
                    </a:p>
                  </a:txBody>
                  <a:tcPr marL="38100" marR="38100" marT="25400" marB="254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4313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spc="-10" noProof="0">
                          <a:solidFill>
                            <a:schemeClr val="tx2"/>
                          </a:solidFill>
                          <a:latin typeface="+mn-lt"/>
                          <a:ea typeface="+mn-ea"/>
                          <a:cs typeface="+mn-cs"/>
                        </a:rPr>
                        <a:t>NACE sektor kode(r)</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{{NACE}}</a:t>
                      </a:r>
                      <a:endParaRPr lang="da-DK" sz="1200" noProof="0">
                        <a:effectLst/>
                      </a:endParaRPr>
                    </a:p>
                  </a:txBody>
                  <a:tcPr marL="38100" marR="38100" marT="25400" marB="254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258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spc="-10" noProof="0">
                          <a:solidFill>
                            <a:schemeClr val="tx2"/>
                          </a:solidFill>
                          <a:latin typeface="+mn-lt"/>
                          <a:ea typeface="+mn-ea"/>
                          <a:cs typeface="+mn-cs"/>
                        </a:rPr>
                        <a:t>Balancesum (i Euro eller dk)</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{{balance}}</a:t>
                      </a:r>
                      <a:endParaRPr lang="da-DK" sz="1200" noProof="0">
                        <a:effectLst/>
                      </a:endParaRPr>
                    </a:p>
                  </a:txBody>
                  <a:tcPr marL="38100" marR="38100" marT="25400" marB="254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425802">
                <a:tc>
                  <a:txBody>
                    <a:bodyPr/>
                    <a:lstStyle/>
                    <a:p>
                      <a:pPr algn="l"/>
                      <a:r>
                        <a:rPr lang="da-DK" sz="1200" b="1" kern="1200" spc="-10" noProof="0">
                          <a:solidFill>
                            <a:schemeClr val="tx2"/>
                          </a:solidFill>
                          <a:latin typeface="+mn-lt"/>
                          <a:ea typeface="+mn-ea"/>
                          <a:cs typeface="+mn-cs"/>
                        </a:rPr>
                        <a:t>Omsætning (i Euro eller dk)</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{{revenue}}</a:t>
                      </a:r>
                      <a:endParaRPr lang="da-DK" sz="1200" noProof="0">
                        <a:effectLst/>
                      </a:endParaRPr>
                    </a:p>
                  </a:txBody>
                  <a:tcPr marL="38100" marR="38100" marT="25400" marB="254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75682954"/>
                  </a:ext>
                </a:extLst>
              </a:tr>
              <a:tr h="247918">
                <a:tc>
                  <a:txBody>
                    <a:bodyPr/>
                    <a:lstStyle/>
                    <a:p>
                      <a:pPr algn="l"/>
                      <a:r>
                        <a:rPr lang="da-DK" sz="1200" b="1" kern="1200" spc="-10" noProof="0">
                          <a:solidFill>
                            <a:schemeClr val="tx2"/>
                          </a:solidFill>
                          <a:latin typeface="+mn-lt"/>
                          <a:ea typeface="+mn-ea"/>
                          <a:cs typeface="+mn-cs"/>
                        </a:rPr>
                        <a:t>Antal ansatte </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{{total_employees}}</a:t>
                      </a:r>
                      <a:endParaRPr lang="da-DK" sz="1200" noProof="0">
                        <a:effectLst/>
                      </a:endParaRPr>
                    </a:p>
                  </a:txBody>
                  <a:tcPr marL="38100" marR="38100" marT="25400" marB="254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78571433"/>
                  </a:ext>
                </a:extLst>
              </a:tr>
            </a:tbl>
          </a:graphicData>
        </a:graphic>
      </p:graphicFrame>
      <p:graphicFrame>
        <p:nvGraphicFramePr>
          <p:cNvPr id="17" name="Tabel 16">
            <a:extLst>
              <a:ext uri="{FF2B5EF4-FFF2-40B4-BE49-F238E27FC236}">
                <a16:creationId xmlns:a16="http://schemas.microsoft.com/office/drawing/2014/main" id="{13BBF8C9-04F7-33C5-AAA0-F953F0D5DFD7}"/>
              </a:ext>
            </a:extLst>
          </p:cNvPr>
          <p:cNvGraphicFramePr>
            <a:graphicFrameLocks noGrp="1"/>
          </p:cNvGraphicFramePr>
          <p:nvPr>
            <p:extLst>
              <p:ext uri="{D42A27DB-BD31-4B8C-83A1-F6EECF244321}">
                <p14:modId xmlns:p14="http://schemas.microsoft.com/office/powerpoint/2010/main" val="1169491624"/>
              </p:ext>
            </p:extLst>
          </p:nvPr>
        </p:nvGraphicFramePr>
        <p:xfrm>
          <a:off x="8169275" y="2286881"/>
          <a:ext cx="3504125" cy="1331330"/>
        </p:xfrm>
        <a:graphic>
          <a:graphicData uri="http://schemas.openxmlformats.org/drawingml/2006/table">
            <a:tbl>
              <a:tblPr firstRow="1">
                <a:tableStyleId>{2A488322-F2BA-4B5B-9748-0D474271808F}</a:tableStyleId>
              </a:tblPr>
              <a:tblGrid>
                <a:gridCol w="1620405">
                  <a:extLst>
                    <a:ext uri="{9D8B030D-6E8A-4147-A177-3AD203B41FA5}">
                      <a16:colId xmlns:a16="http://schemas.microsoft.com/office/drawing/2014/main" val="613205895"/>
                    </a:ext>
                  </a:extLst>
                </a:gridCol>
                <a:gridCol w="1883720">
                  <a:extLst>
                    <a:ext uri="{9D8B030D-6E8A-4147-A177-3AD203B41FA5}">
                      <a16:colId xmlns:a16="http://schemas.microsoft.com/office/drawing/2014/main" val="2415866723"/>
                    </a:ext>
                  </a:extLst>
                </a:gridCol>
              </a:tblGrid>
              <a:tr h="498649">
                <a:tc gridSpan="2">
                  <a:txBody>
                    <a:bodyPr/>
                    <a:lstStyle/>
                    <a:p>
                      <a:pPr algn="l"/>
                      <a:r>
                        <a:rPr lang="da-DK" sz="1200" b="1" kern="1200" spc="-10" noProof="0">
                          <a:solidFill>
                            <a:schemeClr val="tx2"/>
                          </a:solidFill>
                          <a:latin typeface="+mn-lt"/>
                          <a:ea typeface="+mn-ea"/>
                          <a:cs typeface="+mn-cs"/>
                        </a:rPr>
                        <a:t>ESG-opgørelsen indeholder udeladelser grundet sensitiv forretningsinformation </a:t>
                      </a:r>
                      <a:r>
                        <a:rPr lang="da-DK" sz="1200" b="0" kern="1200" spc="-10" noProof="0">
                          <a:solidFill>
                            <a:schemeClr val="tx2"/>
                          </a:solidFill>
                          <a:latin typeface="+mn-lt"/>
                          <a:ea typeface="+mn-ea"/>
                          <a:cs typeface="+mn-cs"/>
                        </a:rPr>
                        <a:t>(pkt. 27b)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76069134"/>
                  </a:ext>
                </a:extLst>
              </a:tr>
              <a:tr h="8326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a-DK" sz="1200" b="0" kern="1200" spc="-10" noProof="0">
                          <a:solidFill>
                            <a:schemeClr val="tx2"/>
                          </a:solidFill>
                          <a:latin typeface="+mn-lt"/>
                          <a:ea typeface="+mn-ea"/>
                          <a:cs typeface="+mn-cs"/>
                        </a:rPr>
                        <a:t>Følgende oplysnings-punkter er udeladt</a:t>
                      </a:r>
                    </a:p>
                    <a:p>
                      <a:pPr algn="l"/>
                      <a:endParaRPr lang="da-DK" sz="900" b="1"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200" noProof="0">
                          <a:solidFill>
                            <a:schemeClr val="accent2"/>
                          </a:solidFill>
                          <a:latin typeface="+mn-lt"/>
                          <a:cs typeface="Calibri" panose="020F0502020204030204" pitchFamily="34" charset="0"/>
                        </a:rPr>
                        <a:t>{{</a:t>
                      </a:r>
                      <a:r>
                        <a:rPr lang="da-DK" sz="1200" noProof="0" err="1">
                          <a:solidFill>
                            <a:schemeClr val="accent2"/>
                          </a:solidFill>
                          <a:latin typeface="+mn-lt"/>
                          <a:cs typeface="Calibri" panose="020F0502020204030204" pitchFamily="34" charset="0"/>
                        </a:rPr>
                        <a:t>confidentiality_info</a:t>
                      </a:r>
                      <a:r>
                        <a:rPr lang="da-DK" sz="1200" noProof="0">
                          <a:solidFill>
                            <a:schemeClr val="accent2"/>
                          </a:solidFill>
                          <a:latin typeface="+mn-lt"/>
                          <a:cs typeface="Calibri" panose="020F0502020204030204" pitchFamily="34" charset="0"/>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74898051"/>
                  </a:ext>
                </a:extLst>
              </a:tr>
            </a:tbl>
          </a:graphicData>
        </a:graphic>
      </p:graphicFrame>
    </p:spTree>
    <p:extLst>
      <p:ext uri="{BB962C8B-B14F-4D97-AF65-F5344CB8AC3E}">
        <p14:creationId xmlns:p14="http://schemas.microsoft.com/office/powerpoint/2010/main" val="4169988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518600" y="513927"/>
            <a:ext cx="11165400" cy="249299"/>
          </a:xfrm>
        </p:spPr>
        <p:txBody>
          <a:bodyPr/>
          <a:lstStyle/>
          <a:p>
            <a:r>
              <a:rPr lang="da-DK" noProof="0"/>
              <a:t>Grundlag for udarbejdelse (B1) - fortsat</a:t>
            </a:r>
          </a:p>
        </p:txBody>
      </p:sp>
      <p:pic>
        <p:nvPicPr>
          <p:cNvPr id="11" name="Graphic 10">
            <a:extLst>
              <a:ext uri="{FF2B5EF4-FFF2-40B4-BE49-F238E27FC236}">
                <a16:creationId xmlns:a16="http://schemas.microsoft.com/office/drawing/2014/main" id="{EC0A4FD9-CD66-4681-595B-4557A461B42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8979" y="1108695"/>
            <a:ext cx="207455" cy="232601"/>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9180000" y="6450239"/>
            <a:ext cx="2743200" cy="153888"/>
          </a:xfrm>
        </p:spPr>
        <p:txBody>
          <a:bodyPr/>
          <a:lstStyle/>
          <a:p>
            <a:fld id="{5A0D23CF-C5A3-5445-819D-C647D180BB4B}" type="slidenum">
              <a:rPr lang="da-DK" noProof="0" smtClean="0"/>
              <a:pPr/>
              <a:t>4</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8280504" y="224972"/>
            <a:ext cx="3642695" cy="153888"/>
          </a:xfrm>
        </p:spPr>
        <p:txBody>
          <a:bodyPr/>
          <a:lstStyle/>
          <a:p>
            <a:r>
              <a:rPr lang="da-DK" noProof="0"/>
              <a:t>{{</a:t>
            </a:r>
            <a:r>
              <a:rPr lang="da-DK" noProof="0" err="1"/>
              <a:t>company_name</a:t>
            </a:r>
            <a:r>
              <a:rPr lang="da-DK" noProof="0"/>
              <a:t>}}</a:t>
            </a:r>
            <a:endParaRPr lang="da-DK" b="0" noProof="0"/>
          </a:p>
          <a:p>
            <a:endParaRPr lang="da-DK" noProof="0"/>
          </a:p>
        </p:txBody>
      </p:sp>
      <p:graphicFrame>
        <p:nvGraphicFramePr>
          <p:cNvPr id="2" name="Tabel 1">
            <a:extLst>
              <a:ext uri="{FF2B5EF4-FFF2-40B4-BE49-F238E27FC236}">
                <a16:creationId xmlns:a16="http://schemas.microsoft.com/office/drawing/2014/main" id="{7A907455-9CB7-376B-6B21-2E615B3A35EE}"/>
              </a:ext>
            </a:extLst>
          </p:cNvPr>
          <p:cNvGraphicFramePr>
            <a:graphicFrameLocks noGrp="1"/>
          </p:cNvGraphicFramePr>
          <p:nvPr>
            <p:extLst>
              <p:ext uri="{D42A27DB-BD31-4B8C-83A1-F6EECF244321}">
                <p14:modId xmlns:p14="http://schemas.microsoft.com/office/powerpoint/2010/main" val="748584387"/>
              </p:ext>
            </p:extLst>
          </p:nvPr>
        </p:nvGraphicFramePr>
        <p:xfrm>
          <a:off x="515952" y="5116019"/>
          <a:ext cx="11197672" cy="841620"/>
        </p:xfrm>
        <a:graphic>
          <a:graphicData uri="http://schemas.openxmlformats.org/drawingml/2006/table">
            <a:tbl>
              <a:tblPr firstRow="1">
                <a:tableStyleId>{2A488322-F2BA-4B5B-9748-0D474271808F}</a:tableStyleId>
              </a:tblPr>
              <a:tblGrid>
                <a:gridCol w="3849511">
                  <a:extLst>
                    <a:ext uri="{9D8B030D-6E8A-4147-A177-3AD203B41FA5}">
                      <a16:colId xmlns:a16="http://schemas.microsoft.com/office/drawing/2014/main" val="3746818765"/>
                    </a:ext>
                  </a:extLst>
                </a:gridCol>
                <a:gridCol w="3694653">
                  <a:extLst>
                    <a:ext uri="{9D8B030D-6E8A-4147-A177-3AD203B41FA5}">
                      <a16:colId xmlns:a16="http://schemas.microsoft.com/office/drawing/2014/main" val="465692987"/>
                    </a:ext>
                  </a:extLst>
                </a:gridCol>
                <a:gridCol w="1948869">
                  <a:extLst>
                    <a:ext uri="{9D8B030D-6E8A-4147-A177-3AD203B41FA5}">
                      <a16:colId xmlns:a16="http://schemas.microsoft.com/office/drawing/2014/main" val="857047578"/>
                    </a:ext>
                  </a:extLst>
                </a:gridCol>
                <a:gridCol w="1704639">
                  <a:extLst>
                    <a:ext uri="{9D8B030D-6E8A-4147-A177-3AD203B41FA5}">
                      <a16:colId xmlns:a16="http://schemas.microsoft.com/office/drawing/2014/main" val="1742107540"/>
                    </a:ext>
                  </a:extLst>
                </a:gridCol>
              </a:tblGrid>
              <a:tr h="252000">
                <a:tc>
                  <a:txBody>
                    <a:bodyPr/>
                    <a:lstStyle/>
                    <a:p>
                      <a:r>
                        <a:rPr lang="da-DK" sz="1200" b="1" kern="1200" spc="-10" noProof="0">
                          <a:solidFill>
                            <a:schemeClr val="tx2"/>
                          </a:solidFill>
                          <a:latin typeface="+mn-lt"/>
                          <a:ea typeface="+mn-ea"/>
                          <a:cs typeface="+mn-cs"/>
                        </a:rPr>
                        <a:t>Navn på ESG-certifikat/miljømærke </a:t>
                      </a:r>
                      <a:r>
                        <a:rPr lang="da-DK" sz="1200" b="0" kern="1200" spc="-10" noProof="0">
                          <a:solidFill>
                            <a:schemeClr val="tx2"/>
                          </a:solidFill>
                          <a:latin typeface="+mn-lt"/>
                          <a:ea typeface="+mn-ea"/>
                          <a:cs typeface="+mn-cs"/>
                        </a:rPr>
                        <a:t>(pkt. 28)</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1200" b="1" kern="1200" spc="-10" noProof="0">
                          <a:solidFill>
                            <a:schemeClr val="tx2"/>
                          </a:solidFill>
                          <a:latin typeface="+mn-lt"/>
                          <a:ea typeface="+mn-ea"/>
                          <a:cs typeface="+mn-cs"/>
                        </a:rPr>
                        <a:t>Kort beskrivelse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1200" b="1" kern="1200" spc="-10" noProof="0">
                          <a:solidFill>
                            <a:schemeClr val="tx2"/>
                          </a:solidFill>
                          <a:latin typeface="+mn-lt"/>
                          <a:ea typeface="+mn-ea"/>
                          <a:cs typeface="+mn-cs"/>
                        </a:rPr>
                        <a:t>Dato for udstedelse/</a:t>
                      </a:r>
                    </a:p>
                    <a:p>
                      <a:pPr algn="l"/>
                      <a:r>
                        <a:rPr lang="da-DK" sz="1200" b="1" kern="1200" spc="-10" noProof="0">
                          <a:solidFill>
                            <a:schemeClr val="tx2"/>
                          </a:solidFill>
                          <a:latin typeface="+mn-lt"/>
                          <a:ea typeface="+mn-ea"/>
                          <a:cs typeface="+mn-cs"/>
                        </a:rPr>
                        <a:t>gyldighed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1200" b="1" kern="1200" spc="-10" noProof="0">
                          <a:solidFill>
                            <a:schemeClr val="tx2"/>
                          </a:solidFill>
                          <a:latin typeface="+mn-lt"/>
                          <a:ea typeface="+mn-ea"/>
                          <a:cs typeface="+mn-cs"/>
                        </a:rPr>
                        <a:t>Evt. rating</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613430332"/>
                  </a:ext>
                </a:extLst>
              </a:tr>
              <a:tr h="252000">
                <a:tc>
                  <a:txBody>
                    <a:bodyPr/>
                    <a:lstStyle/>
                    <a:p>
                      <a:pPr rtl="0" fontAlgn="ctr">
                        <a:buNone/>
                      </a:pPr>
                      <a:r>
                        <a:rPr lang="da-DK" sz="1200" b="0" i="0" u="none" strike="noStrike" noProof="0">
                          <a:solidFill>
                            <a:srgbClr val="2D55FF"/>
                          </a:solidFill>
                          <a:effectLst/>
                          <a:latin typeface="Inter"/>
                        </a:rPr>
                        <a:t>{{certificate_or_ecolabel}}</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a-DK" sz="1200" b="0" i="0" u="none" strike="noStrike" noProof="0">
                          <a:solidFill>
                            <a:srgbClr val="2D55FF"/>
                          </a:solidFill>
                          <a:effectLst/>
                          <a:latin typeface="Inter"/>
                        </a:rPr>
                        <a:t>{{description_certificate}}</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a-DK" sz="1200" b="0" i="0" u="none" strike="noStrike" noProof="0">
                          <a:solidFill>
                            <a:srgbClr val="2D55FF"/>
                          </a:solidFill>
                          <a:effectLst/>
                          <a:latin typeface="Inter"/>
                        </a:rPr>
                        <a:t>{{date_certicate}}</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a-DK" sz="1200" b="0" i="0" u="none" strike="noStrike" noProof="0">
                          <a:solidFill>
                            <a:srgbClr val="2D55FF"/>
                          </a:solidFill>
                          <a:effectLst/>
                          <a:latin typeface="Inter"/>
                        </a:rPr>
                        <a:t>{{certiciate_possible_rating}}</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5006062"/>
                  </a:ext>
                </a:extLst>
              </a:tr>
            </a:tbl>
          </a:graphicData>
        </a:graphic>
      </p:graphicFrame>
      <p:graphicFrame>
        <p:nvGraphicFramePr>
          <p:cNvPr id="10" name="Tabel 9">
            <a:extLst>
              <a:ext uri="{FF2B5EF4-FFF2-40B4-BE49-F238E27FC236}">
                <a16:creationId xmlns:a16="http://schemas.microsoft.com/office/drawing/2014/main" id="{AA9D6142-7148-BA87-D929-D03B1323ACFD}"/>
              </a:ext>
            </a:extLst>
          </p:cNvPr>
          <p:cNvGraphicFramePr>
            <a:graphicFrameLocks noGrp="1"/>
          </p:cNvGraphicFramePr>
          <p:nvPr>
            <p:extLst>
              <p:ext uri="{D42A27DB-BD31-4B8C-83A1-F6EECF244321}">
                <p14:modId xmlns:p14="http://schemas.microsoft.com/office/powerpoint/2010/main" val="2461615557"/>
              </p:ext>
            </p:extLst>
          </p:nvPr>
        </p:nvGraphicFramePr>
        <p:xfrm>
          <a:off x="534502" y="1788146"/>
          <a:ext cx="11141546" cy="1199520"/>
        </p:xfrm>
        <a:graphic>
          <a:graphicData uri="http://schemas.openxmlformats.org/drawingml/2006/table">
            <a:tbl>
              <a:tblPr firstRow="1">
                <a:tableStyleId>{2A488322-F2BA-4B5B-9748-0D474271808F}</a:tableStyleId>
              </a:tblPr>
              <a:tblGrid>
                <a:gridCol w="2030586">
                  <a:extLst>
                    <a:ext uri="{9D8B030D-6E8A-4147-A177-3AD203B41FA5}">
                      <a16:colId xmlns:a16="http://schemas.microsoft.com/office/drawing/2014/main" val="2041236584"/>
                    </a:ext>
                  </a:extLst>
                </a:gridCol>
                <a:gridCol w="2156287">
                  <a:extLst>
                    <a:ext uri="{9D8B030D-6E8A-4147-A177-3AD203B41FA5}">
                      <a16:colId xmlns:a16="http://schemas.microsoft.com/office/drawing/2014/main" val="2637180759"/>
                    </a:ext>
                  </a:extLst>
                </a:gridCol>
                <a:gridCol w="1647611">
                  <a:extLst>
                    <a:ext uri="{9D8B030D-6E8A-4147-A177-3AD203B41FA5}">
                      <a16:colId xmlns:a16="http://schemas.microsoft.com/office/drawing/2014/main" val="1126871569"/>
                    </a:ext>
                  </a:extLst>
                </a:gridCol>
                <a:gridCol w="1610162">
                  <a:extLst>
                    <a:ext uri="{9D8B030D-6E8A-4147-A177-3AD203B41FA5}">
                      <a16:colId xmlns:a16="http://schemas.microsoft.com/office/drawing/2014/main" val="573454477"/>
                    </a:ext>
                  </a:extLst>
                </a:gridCol>
                <a:gridCol w="1784912">
                  <a:extLst>
                    <a:ext uri="{9D8B030D-6E8A-4147-A177-3AD203B41FA5}">
                      <a16:colId xmlns:a16="http://schemas.microsoft.com/office/drawing/2014/main" val="3277283369"/>
                    </a:ext>
                  </a:extLst>
                </a:gridCol>
                <a:gridCol w="1911988">
                  <a:extLst>
                    <a:ext uri="{9D8B030D-6E8A-4147-A177-3AD203B41FA5}">
                      <a16:colId xmlns:a16="http://schemas.microsoft.com/office/drawing/2014/main" val="3975353283"/>
                    </a:ext>
                  </a:extLst>
                </a:gridCol>
              </a:tblGrid>
              <a:tr h="324000">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spc="-10" noProof="0">
                          <a:solidFill>
                            <a:schemeClr val="tx2"/>
                          </a:solidFill>
                          <a:latin typeface="+mn-lt"/>
                          <a:ea typeface="+mn-ea"/>
                          <a:cs typeface="+mn-cs"/>
                        </a:rPr>
                        <a:t>Adresser og geolokation på </a:t>
                      </a:r>
                      <a:r>
                        <a:rPr lang="da-DK" sz="1200" b="1" u="none" kern="1200" spc="-10" noProof="0">
                          <a:solidFill>
                            <a:schemeClr val="tx2"/>
                          </a:solidFill>
                          <a:latin typeface="+mn-lt"/>
                          <a:ea typeface="+mn-ea"/>
                          <a:cs typeface="+mn-cs"/>
                        </a:rPr>
                        <a:t>væsentlige</a:t>
                      </a:r>
                      <a:r>
                        <a:rPr lang="da-DK" sz="1200" b="1" kern="1200" spc="-10" noProof="0">
                          <a:solidFill>
                            <a:schemeClr val="tx2"/>
                          </a:solidFill>
                          <a:latin typeface="+mn-lt"/>
                          <a:ea typeface="+mn-ea"/>
                          <a:cs typeface="+mn-cs"/>
                        </a:rPr>
                        <a:t> aktiver og anlæg, som virksomheden</a:t>
                      </a:r>
                      <a:r>
                        <a:rPr lang="da-DK" sz="1200" b="0" kern="1200" spc="-10" noProof="0" dirty="0">
                          <a:solidFill>
                            <a:schemeClr val="tx2"/>
                          </a:solidFill>
                          <a:latin typeface="+mn-lt"/>
                          <a:ea typeface="+mn-ea"/>
                          <a:cs typeface="+mn-cs"/>
                        </a:rPr>
                        <a:t> </a:t>
                      </a:r>
                      <a:r>
                        <a:rPr lang="da-DK" sz="1200" b="1" kern="1200" spc="-10" noProof="0">
                          <a:solidFill>
                            <a:schemeClr val="tx2"/>
                          </a:solidFill>
                          <a:latin typeface="+mn-lt"/>
                          <a:ea typeface="+mn-ea"/>
                          <a:cs typeface="+mn-cs"/>
                        </a:rPr>
                        <a:t>ejer, lejer eller forvalter </a:t>
                      </a:r>
                      <a:r>
                        <a:rPr lang="da-DK" sz="1200" b="0" kern="1200" spc="-10" noProof="0">
                          <a:solidFill>
                            <a:schemeClr val="tx2"/>
                          </a:solidFill>
                          <a:latin typeface="+mn-lt"/>
                          <a:ea typeface="+mn-ea"/>
                          <a:cs typeface="+mn-cs"/>
                        </a:rPr>
                        <a:t>(pkt. 27e, vi, vii)</a:t>
                      </a: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1200" b="1"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900" b="1"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900" b="1"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900" b="1"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900" b="1"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900" b="1"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108498375"/>
                  </a:ext>
                </a:extLst>
              </a:tr>
              <a:tr h="324000">
                <a:tc>
                  <a:txBody>
                    <a:bodyPr/>
                    <a:lstStyle/>
                    <a:p>
                      <a:pPr algn="l"/>
                      <a:r>
                        <a:rPr lang="da-DK" sz="1200" b="1" kern="1200" spc="-10" noProof="0">
                          <a:solidFill>
                            <a:schemeClr val="tx2"/>
                          </a:solidFill>
                          <a:latin typeface="+mn-lt"/>
                          <a:ea typeface="+mn-ea"/>
                          <a:cs typeface="+mn-cs"/>
                        </a:rPr>
                        <a:t>Sted</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200" b="1" kern="1200" spc="-10" noProof="0">
                          <a:solidFill>
                            <a:schemeClr val="tx2"/>
                          </a:solidFill>
                          <a:latin typeface="+mn-lt"/>
                          <a:ea typeface="+mn-ea"/>
                          <a:cs typeface="+mn-cs"/>
                        </a:rPr>
                        <a:t>Adresse</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200" b="1" kern="1200" spc="-10" noProof="0">
                          <a:solidFill>
                            <a:schemeClr val="tx2"/>
                          </a:solidFill>
                          <a:latin typeface="+mn-lt"/>
                          <a:ea typeface="+mn-ea"/>
                          <a:cs typeface="+mn-cs"/>
                        </a:rPr>
                        <a:t>Postnummer</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200" b="1" kern="1200" spc="-10" noProof="0">
                          <a:solidFill>
                            <a:schemeClr val="tx2"/>
                          </a:solidFill>
                          <a:latin typeface="+mn-lt"/>
                          <a:ea typeface="+mn-ea"/>
                          <a:cs typeface="+mn-cs"/>
                        </a:rPr>
                        <a:t>By</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200" b="1" kern="1200" spc="-10" noProof="0">
                          <a:solidFill>
                            <a:schemeClr val="tx2"/>
                          </a:solidFill>
                          <a:latin typeface="+mn-lt"/>
                          <a:ea typeface="+mn-ea"/>
                          <a:cs typeface="+mn-cs"/>
                        </a:rPr>
                        <a:t>Land</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200" b="1" kern="1200" spc="-10" noProof="0">
                          <a:solidFill>
                            <a:schemeClr val="tx2"/>
                          </a:solidFill>
                          <a:latin typeface="+mn-lt"/>
                          <a:ea typeface="+mn-ea"/>
                          <a:cs typeface="+mn-cs"/>
                        </a:rPr>
                        <a:t>Geolokation (koordinater)</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282431150"/>
                  </a:ext>
                </a:extLst>
              </a:tr>
              <a:tr h="324000">
                <a:tc>
                  <a:txBody>
                    <a:bodyPr/>
                    <a:lstStyle/>
                    <a:p>
                      <a:pPr rtl="0" fontAlgn="t">
                        <a:buNone/>
                      </a:pPr>
                      <a:r>
                        <a:rPr lang="da-DK" sz="1200" b="0" i="0" u="none" strike="noStrike" noProof="0">
                          <a:solidFill>
                            <a:srgbClr val="2D55FF"/>
                          </a:solidFill>
                          <a:effectLst/>
                          <a:latin typeface="Inter"/>
                        </a:rPr>
                        <a:t>{{geolocation}}</a:t>
                      </a:r>
                      <a:endParaRPr lang="da-DK"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{{geolocation_adress}}</a:t>
                      </a:r>
                      <a:endParaRPr lang="da-DK"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{{geolocation_postcode}}</a:t>
                      </a:r>
                      <a:endParaRPr lang="da-DK"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{{geolocation_city}}</a:t>
                      </a:r>
                      <a:endParaRPr lang="da-DK"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{{geolocation_country}}</a:t>
                      </a:r>
                      <a:endParaRPr lang="da-DK"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{{geolocation_coordinates}}</a:t>
                      </a:r>
                      <a:endParaRPr lang="da-DK"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669926511"/>
                  </a:ext>
                </a:extLst>
              </a:tr>
            </a:tbl>
          </a:graphicData>
        </a:graphic>
      </p:graphicFrame>
      <p:sp>
        <p:nvSpPr>
          <p:cNvPr id="8" name="Tekstfelt 7">
            <a:extLst>
              <a:ext uri="{FF2B5EF4-FFF2-40B4-BE49-F238E27FC236}">
                <a16:creationId xmlns:a16="http://schemas.microsoft.com/office/drawing/2014/main" id="{8424FC7C-5277-3C04-10E3-491713542923}"/>
              </a:ext>
            </a:extLst>
          </p:cNvPr>
          <p:cNvSpPr txBox="1"/>
          <p:nvPr/>
        </p:nvSpPr>
        <p:spPr>
          <a:xfrm>
            <a:off x="515952" y="1016000"/>
            <a:ext cx="11168048" cy="646331"/>
          </a:xfrm>
          <a:prstGeom prst="rect">
            <a:avLst/>
          </a:prstGeom>
          <a:noFill/>
        </p:spPr>
        <p:txBody>
          <a:bodyPr wrap="square">
            <a:spAutoFit/>
          </a:bodyPr>
          <a:lstStyle/>
          <a:p>
            <a:pPr>
              <a:spcBef>
                <a:spcPts val="900"/>
              </a:spcBef>
            </a:pPr>
            <a:r>
              <a:rPr lang="da-DK" sz="1200" b="0" i="0" u="none" strike="noStrike" noProof="0">
                <a:solidFill>
                  <a:schemeClr val="tx2"/>
                </a:solidFill>
                <a:effectLst/>
                <a:latin typeface="Inter"/>
              </a:rPr>
              <a:t>Nedenfor er en beskrivelse af virksomhedens geolokationer, samt hvor virksomheden opererer. Disse oplysninger kan anvendes til klimarelaterede risikozoner og giver oplysninger om virksomhedens anlæg, faciliteter og/eller hovedkvarter</a:t>
            </a:r>
            <a:r>
              <a:rPr lang="da-DK" sz="1200" noProof="0">
                <a:solidFill>
                  <a:schemeClr val="tx2"/>
                </a:solidFill>
                <a:latin typeface="Inter"/>
              </a:rPr>
              <a:t>. Relevante bæredygtighedscertificeringer eller -mærker er også angivet, herunder udsteder af certificeringen, dato og eventuel rating.</a:t>
            </a:r>
            <a:endParaRPr lang="da-DK" sz="1200" b="0" noProof="0">
              <a:solidFill>
                <a:schemeClr val="tx2"/>
              </a:solidFill>
              <a:effectLst/>
              <a:latin typeface="Inter"/>
            </a:endParaRPr>
          </a:p>
        </p:txBody>
      </p:sp>
      <p:sp>
        <p:nvSpPr>
          <p:cNvPr id="20" name="Tekstfelt 19">
            <a:extLst>
              <a:ext uri="{FF2B5EF4-FFF2-40B4-BE49-F238E27FC236}">
                <a16:creationId xmlns:a16="http://schemas.microsoft.com/office/drawing/2014/main" id="{EE6CA221-E8CE-159D-7634-30A647F356B9}"/>
              </a:ext>
            </a:extLst>
          </p:cNvPr>
          <p:cNvSpPr txBox="1"/>
          <p:nvPr/>
        </p:nvSpPr>
        <p:spPr>
          <a:xfrm>
            <a:off x="515952" y="4768057"/>
            <a:ext cx="8180576" cy="276999"/>
          </a:xfrm>
          <a:prstGeom prst="rect">
            <a:avLst/>
          </a:prstGeom>
          <a:noFill/>
        </p:spPr>
        <p:txBody>
          <a:bodyPr wrap="square">
            <a:spAutoFit/>
          </a:bodyPr>
          <a:lstStyle/>
          <a:p>
            <a:r>
              <a:rPr lang="da-DK" sz="1200" noProof="0">
                <a:solidFill>
                  <a:srgbClr val="487477"/>
                </a:solidFill>
                <a:latin typeface="Inter"/>
              </a:rPr>
              <a:t>Virksomhedens certifikater og miljømærker er listet nedenfor.</a:t>
            </a:r>
          </a:p>
        </p:txBody>
      </p:sp>
    </p:spTree>
    <p:extLst>
      <p:ext uri="{BB962C8B-B14F-4D97-AF65-F5344CB8AC3E}">
        <p14:creationId xmlns:p14="http://schemas.microsoft.com/office/powerpoint/2010/main" val="3439582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noProof="0"/>
              <a:t>Indsatser, politikker og fremtidige initiativer for omstilling til en mere bæredygtig økonomi (B2)</a:t>
            </a:r>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endParaRPr lang="da-DK"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877360368"/>
              </p:ext>
            </p:extLst>
          </p:nvPr>
        </p:nvGraphicFramePr>
        <p:xfrm>
          <a:off x="518600" y="1711777"/>
          <a:ext cx="11165401" cy="3831445"/>
        </p:xfrm>
        <a:graphic>
          <a:graphicData uri="http://schemas.openxmlformats.org/drawingml/2006/table">
            <a:tbl>
              <a:tblPr firstRow="1">
                <a:tableStyleId>{2A488322-F2BA-4B5B-9748-0D474271808F}</a:tableStyleId>
              </a:tblPr>
              <a:tblGrid>
                <a:gridCol w="1996000">
                  <a:extLst>
                    <a:ext uri="{9D8B030D-6E8A-4147-A177-3AD203B41FA5}">
                      <a16:colId xmlns:a16="http://schemas.microsoft.com/office/drawing/2014/main" val="1902117154"/>
                    </a:ext>
                  </a:extLst>
                </a:gridCol>
                <a:gridCol w="2108200">
                  <a:extLst>
                    <a:ext uri="{9D8B030D-6E8A-4147-A177-3AD203B41FA5}">
                      <a16:colId xmlns:a16="http://schemas.microsoft.com/office/drawing/2014/main" val="1904521774"/>
                    </a:ext>
                  </a:extLst>
                </a:gridCol>
                <a:gridCol w="1651000">
                  <a:extLst>
                    <a:ext uri="{9D8B030D-6E8A-4147-A177-3AD203B41FA5}">
                      <a16:colId xmlns:a16="http://schemas.microsoft.com/office/drawing/2014/main" val="3164053669"/>
                    </a:ext>
                  </a:extLst>
                </a:gridCol>
                <a:gridCol w="2311400">
                  <a:extLst>
                    <a:ext uri="{9D8B030D-6E8A-4147-A177-3AD203B41FA5}">
                      <a16:colId xmlns:a16="http://schemas.microsoft.com/office/drawing/2014/main" val="1484983729"/>
                    </a:ext>
                  </a:extLst>
                </a:gridCol>
                <a:gridCol w="3098801">
                  <a:extLst>
                    <a:ext uri="{9D8B030D-6E8A-4147-A177-3AD203B41FA5}">
                      <a16:colId xmlns:a16="http://schemas.microsoft.com/office/drawing/2014/main" val="3920544300"/>
                    </a:ext>
                  </a:extLst>
                </a:gridCol>
              </a:tblGrid>
              <a:tr h="476282">
                <a:tc>
                  <a:txBody>
                    <a:bodyPr/>
                    <a:lstStyle/>
                    <a:p>
                      <a:r>
                        <a:rPr lang="da-DK" sz="1200" b="1" kern="1200" spc="-10" noProof="0">
                          <a:solidFill>
                            <a:schemeClr val="tx2"/>
                          </a:solidFill>
                          <a:latin typeface="+mn-lt"/>
                          <a:ea typeface="+mn-ea"/>
                          <a:cs typeface="+mn-cs"/>
                        </a:rPr>
                        <a:t>Område</a:t>
                      </a:r>
                    </a:p>
                    <a:p>
                      <a:r>
                        <a:rPr lang="da-DK" sz="1200" b="0" kern="1200" spc="-10" noProof="0">
                          <a:solidFill>
                            <a:schemeClr val="tx2"/>
                          </a:solidFill>
                          <a:latin typeface="+mn-lt"/>
                          <a:ea typeface="+mn-ea"/>
                          <a:cs typeface="+mn-cs"/>
                        </a:rPr>
                        <a:t>(pkt. 29a-d)</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200" b="1" kern="1200" spc="-10" noProof="0">
                          <a:solidFill>
                            <a:schemeClr val="tx2"/>
                          </a:solidFill>
                          <a:latin typeface="+mn-lt"/>
                          <a:ea typeface="+mn-ea"/>
                          <a:cs typeface="+mn-cs"/>
                        </a:rPr>
                        <a:t>Virksomheden har en konkret indsats eller politik på området</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200" b="1" kern="1200" spc="-10" noProof="0">
                          <a:solidFill>
                            <a:schemeClr val="tx2"/>
                          </a:solidFill>
                          <a:latin typeface="+mn-lt"/>
                          <a:ea typeface="+mn-ea"/>
                          <a:cs typeface="+mn-cs"/>
                        </a:rPr>
                        <a:t>Er politikken offentligt tilgængelig? </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200" b="1" kern="1200" spc="-10" noProof="0">
                          <a:solidFill>
                            <a:schemeClr val="tx2"/>
                          </a:solidFill>
                          <a:latin typeface="+mn-lt"/>
                          <a:ea typeface="+mn-ea"/>
                          <a:cs typeface="+mn-cs"/>
                        </a:rPr>
                        <a:t>Virksomheden har fremtidige initiativer og planer</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200" b="1" kern="1200" spc="-10" noProof="0">
                          <a:solidFill>
                            <a:schemeClr val="tx2"/>
                          </a:solidFill>
                          <a:latin typeface="+mn-lt"/>
                          <a:ea typeface="+mn-ea"/>
                          <a:cs typeface="+mn-cs"/>
                        </a:rPr>
                        <a:t>Virksomheden har konkrete målsætninger til at monitorere implementering af indsatser og politikker?</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304503">
                <a:tc>
                  <a:txBody>
                    <a:bodyPr/>
                    <a:lstStyle/>
                    <a:p>
                      <a:pPr algn="l"/>
                      <a:r>
                        <a:rPr lang="da-DK" sz="1200" b="1" kern="1200" spc="-10" noProof="0">
                          <a:solidFill>
                            <a:schemeClr val="tx2"/>
                          </a:solidFill>
                          <a:latin typeface="+mn-lt"/>
                          <a:ea typeface="+mn-ea"/>
                          <a:cs typeface="+mn-cs"/>
                        </a:rPr>
                        <a:t>Klimaforandringer</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{{climate_change_concrete}}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{{climate_change_publicly}}</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{{climate_change_future}}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nter"/>
                        </a:rPr>
                        <a:t>{{climate_change_plan}}</a:t>
                      </a:r>
                      <a:endParaRPr lang="da-DK">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88967">
                <a:tc>
                  <a:txBody>
                    <a:bodyPr/>
                    <a:lstStyle/>
                    <a:p>
                      <a:pPr algn="l"/>
                      <a:r>
                        <a:rPr lang="da-DK" sz="1200" b="1" kern="1200" spc="-10" noProof="0">
                          <a:solidFill>
                            <a:schemeClr val="tx2"/>
                          </a:solidFill>
                          <a:latin typeface="+mn-lt"/>
                          <a:ea typeface="+mn-ea"/>
                          <a:cs typeface="+mn-cs"/>
                        </a:rPr>
                        <a:t>Forurening</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{{pollution_concrete}}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{{pollution_publicly}}</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{{pollution_future}}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nter"/>
                        </a:rPr>
                        <a:t>{{pollution_plan}}</a:t>
                      </a:r>
                      <a:endParaRPr lang="da-DK">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97174">
                <a:tc>
                  <a:txBody>
                    <a:bodyPr/>
                    <a:lstStyle/>
                    <a:p>
                      <a:pPr algn="l"/>
                      <a:r>
                        <a:rPr lang="da-DK" sz="1200" b="1" kern="1200" spc="-10" noProof="0">
                          <a:solidFill>
                            <a:schemeClr val="tx2"/>
                          </a:solidFill>
                          <a:latin typeface="+mn-lt"/>
                          <a:ea typeface="+mn-ea"/>
                          <a:cs typeface="+mn-cs"/>
                        </a:rPr>
                        <a:t>Vand -og Havressourcer</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{{water_concrete}}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{{water_publicly}}</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{{water_future}}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nter"/>
                        </a:rPr>
                        <a:t>{{water_plan}}</a:t>
                      </a:r>
                      <a:endParaRPr lang="da-DK">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297174">
                <a:tc>
                  <a:txBody>
                    <a:bodyPr/>
                    <a:lstStyle/>
                    <a:p>
                      <a:pPr algn="l"/>
                      <a:r>
                        <a:rPr lang="da-DK" sz="1200" b="1" kern="1200" spc="-10" noProof="0">
                          <a:solidFill>
                            <a:schemeClr val="tx2"/>
                          </a:solidFill>
                          <a:latin typeface="+mn-lt"/>
                          <a:ea typeface="+mn-ea"/>
                          <a:cs typeface="+mn-cs"/>
                        </a:rPr>
                        <a:t>Biodiversitet og Økosystemer</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{{biodiversity_concrete}}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{{biodiversity_publicly}}</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{{biodiversity_future}}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nter"/>
                        </a:rPr>
                        <a:t>{{biodiversity_plan}}</a:t>
                      </a:r>
                      <a:endParaRPr lang="da-DK">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97174">
                <a:tc>
                  <a:txBody>
                    <a:bodyPr/>
                    <a:lstStyle/>
                    <a:p>
                      <a:pPr algn="l"/>
                      <a:r>
                        <a:rPr lang="da-DK" sz="1200" b="1" kern="1200" spc="-10" noProof="0">
                          <a:solidFill>
                            <a:schemeClr val="tx2"/>
                          </a:solidFill>
                          <a:latin typeface="+mn-lt"/>
                          <a:ea typeface="+mn-ea"/>
                          <a:cs typeface="+mn-cs"/>
                        </a:rPr>
                        <a:t>Cirkulær økonomi</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{{circular_concrete}}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{{circular_publicly}}</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{{circular_future}}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nter"/>
                        </a:rPr>
                        <a:t>{{circular_plan}}</a:t>
                      </a:r>
                      <a:endParaRPr lang="da-DK">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97174">
                <a:tc>
                  <a:txBody>
                    <a:bodyPr/>
                    <a:lstStyle/>
                    <a:p>
                      <a:pPr algn="l"/>
                      <a:r>
                        <a:rPr lang="da-DK" sz="1200" b="1" kern="1200" spc="-10" noProof="0">
                          <a:solidFill>
                            <a:schemeClr val="tx2"/>
                          </a:solidFill>
                          <a:latin typeface="+mn-lt"/>
                          <a:ea typeface="+mn-ea"/>
                          <a:cs typeface="+mn-cs"/>
                        </a:rPr>
                        <a:t>Egen arbejdsstyrke</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{{workforce_concrete}}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{{workforce_publicly}}</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{{workforce_future}}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nter"/>
                        </a:rPr>
                        <a:t>{{workforce_plan}}</a:t>
                      </a:r>
                      <a:endParaRPr lang="da-DK">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97174">
                <a:tc>
                  <a:txBody>
                    <a:bodyPr/>
                    <a:lstStyle/>
                    <a:p>
                      <a:pPr algn="l"/>
                      <a:r>
                        <a:rPr lang="da-DK" sz="1200" b="1" kern="1200" spc="-10" noProof="0">
                          <a:solidFill>
                            <a:schemeClr val="tx2"/>
                          </a:solidFill>
                          <a:latin typeface="+mn-lt"/>
                          <a:ea typeface="+mn-ea"/>
                          <a:cs typeface="+mn-cs"/>
                        </a:rPr>
                        <a:t>Arbejdere i værdikæden</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{{workers_concrete}}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{{workers_publicly}}</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{{workers_future}}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nter"/>
                        </a:rPr>
                        <a:t>{{workers_plan}}</a:t>
                      </a:r>
                      <a:endParaRPr lang="da-DK">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97174">
                <a:tc>
                  <a:txBody>
                    <a:bodyPr/>
                    <a:lstStyle/>
                    <a:p>
                      <a:pPr algn="l"/>
                      <a:r>
                        <a:rPr lang="da-DK" sz="1200" b="1" kern="1200" spc="-10" noProof="0">
                          <a:solidFill>
                            <a:schemeClr val="tx2"/>
                          </a:solidFill>
                          <a:latin typeface="+mn-lt"/>
                          <a:ea typeface="+mn-ea"/>
                          <a:cs typeface="+mn-cs"/>
                        </a:rPr>
                        <a:t>Berørte samfund</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{{communities_concrete}}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{{communities_publicly}}</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{{communities_future}}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nter"/>
                        </a:rPr>
                        <a:t>{{communities_plan}}</a:t>
                      </a:r>
                      <a:endParaRPr lang="da-DK">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297174">
                <a:tc>
                  <a:txBody>
                    <a:bodyPr/>
                    <a:lstStyle/>
                    <a:p>
                      <a:pPr algn="l"/>
                      <a:r>
                        <a:rPr lang="da-DK" sz="1200" b="1" kern="1200" spc="-10" noProof="0">
                          <a:solidFill>
                            <a:schemeClr val="tx2"/>
                          </a:solidFill>
                          <a:latin typeface="+mn-lt"/>
                          <a:ea typeface="+mn-ea"/>
                          <a:cs typeface="+mn-cs"/>
                        </a:rPr>
                        <a:t>Forbrugere og slutbrugere</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{{consumers_concrete}}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{{consumers_publicly}}</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{{consumers_future}}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nter"/>
                        </a:rPr>
                        <a:t>{{consumers_plan}}</a:t>
                      </a:r>
                      <a:endParaRPr lang="da-DK">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97174">
                <a:tc>
                  <a:txBody>
                    <a:bodyPr/>
                    <a:lstStyle/>
                    <a:p>
                      <a:pPr algn="l"/>
                      <a:r>
                        <a:rPr lang="da-DK" sz="1200" b="1" kern="1200" spc="-10" noProof="0">
                          <a:solidFill>
                            <a:schemeClr val="tx2"/>
                          </a:solidFill>
                          <a:latin typeface="+mn-lt"/>
                          <a:ea typeface="+mn-ea"/>
                          <a:cs typeface="+mn-cs"/>
                        </a:rPr>
                        <a:t>Virksomhedsledelse</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{{governance_concrete}}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{{governance_publicly}}</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{{governance_future}}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nter"/>
                        </a:rPr>
                        <a:t>{{governance_plan}}</a:t>
                      </a:r>
                      <a:endParaRPr lang="da-DK">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6" name="Tekstfelt 15">
            <a:extLst>
              <a:ext uri="{FF2B5EF4-FFF2-40B4-BE49-F238E27FC236}">
                <a16:creationId xmlns:a16="http://schemas.microsoft.com/office/drawing/2014/main" id="{E7AD2C12-E6AC-4ADE-675B-7B86B0E0EA4B}"/>
              </a:ext>
            </a:extLst>
          </p:cNvPr>
          <p:cNvSpPr txBox="1"/>
          <p:nvPr/>
        </p:nvSpPr>
        <p:spPr>
          <a:xfrm>
            <a:off x="518600" y="1016000"/>
            <a:ext cx="11154800" cy="646331"/>
          </a:xfrm>
          <a:prstGeom prst="rect">
            <a:avLst/>
          </a:prstGeom>
          <a:noFill/>
        </p:spPr>
        <p:txBody>
          <a:bodyPr wrap="square">
            <a:spAutoFit/>
          </a:bodyPr>
          <a:lstStyle/>
          <a:p>
            <a:pPr rtl="0">
              <a:spcBef>
                <a:spcPts val="900"/>
              </a:spcBef>
              <a:buNone/>
            </a:pPr>
            <a:r>
              <a:rPr lang="da-DK" sz="1200" b="0" i="0" u="none" strike="noStrike" noProof="0">
                <a:solidFill>
                  <a:schemeClr val="tx2"/>
                </a:solidFill>
                <a:effectLst/>
                <a:latin typeface="Inter"/>
              </a:rPr>
              <a:t>Dette afsnit skitserer de praksisser, politikker og fremtidige initiativer, som virksomheden har implementeret for at understøtte en bæredygtig økonomi. Dette omfatter angivelse af, hvilke konkrete tiltag virksomheden har taget for at reducere negative miljøpåvirkninger, forbedre arbejdsforhold og ligebehandling (JA/NEJ).</a:t>
            </a:r>
            <a:br>
              <a:rPr lang="da-DK" sz="1200" noProof="0">
                <a:solidFill>
                  <a:schemeClr val="tx2"/>
                </a:solidFill>
              </a:rPr>
            </a:br>
            <a:endParaRPr lang="da-DK" sz="1200" noProof="0">
              <a:solidFill>
                <a:schemeClr val="tx2"/>
              </a:solidFill>
            </a:endParaRPr>
          </a:p>
        </p:txBody>
      </p:sp>
      <p:sp>
        <p:nvSpPr>
          <p:cNvPr id="17" name="Slide Number Placeholder 5">
            <a:extLst>
              <a:ext uri="{FF2B5EF4-FFF2-40B4-BE49-F238E27FC236}">
                <a16:creationId xmlns:a16="http://schemas.microsoft.com/office/drawing/2014/main" id="{9D599EAE-DDC4-5624-F234-BCDE014B0531}"/>
              </a:ext>
              <a:ext uri="{C183D7F6-B498-43B3-948B-1728B52AA6E4}">
                <adec:decorative xmlns:adec="http://schemas.microsoft.com/office/drawing/2017/decorative" val="1"/>
              </a:ext>
            </a:extLst>
          </p:cNvPr>
          <p:cNvSpPr>
            <a:spLocks noGrp="1"/>
          </p:cNvSpPr>
          <p:nvPr>
            <p:ph type="sldNum" sz="quarter" idx="12"/>
          </p:nvPr>
        </p:nvSpPr>
        <p:spPr>
          <a:xfrm>
            <a:off x="9180000" y="6450239"/>
            <a:ext cx="2743200" cy="153888"/>
          </a:xfrm>
        </p:spPr>
        <p:txBody>
          <a:bodyPr/>
          <a:lstStyle/>
          <a:p>
            <a:fld id="{5A0D23CF-C5A3-5445-819D-C647D180BB4B}" type="slidenum">
              <a:rPr lang="da-DK" noProof="0" smtClean="0"/>
              <a:pPr/>
              <a:t>5</a:t>
            </a:fld>
            <a:endParaRPr lang="da-DK" noProof="0"/>
          </a:p>
        </p:txBody>
      </p:sp>
    </p:spTree>
    <p:extLst>
      <p:ext uri="{BB962C8B-B14F-4D97-AF65-F5344CB8AC3E}">
        <p14:creationId xmlns:p14="http://schemas.microsoft.com/office/powerpoint/2010/main" val="2000975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Energiforbrug (B3)</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21529703"/>
              </p:ext>
            </p:extLst>
          </p:nvPr>
        </p:nvGraphicFramePr>
        <p:xfrm>
          <a:off x="505570" y="1550345"/>
          <a:ext cx="11178430" cy="1924252"/>
        </p:xfrm>
        <a:graphic>
          <a:graphicData uri="http://schemas.openxmlformats.org/drawingml/2006/table">
            <a:tbl>
              <a:tblPr firstRow="1">
                <a:tableStyleId>{2A488322-F2BA-4B5B-9748-0D474271808F}</a:tableStyleId>
              </a:tblPr>
              <a:tblGrid>
                <a:gridCol w="3033798">
                  <a:extLst>
                    <a:ext uri="{9D8B030D-6E8A-4147-A177-3AD203B41FA5}">
                      <a16:colId xmlns:a16="http://schemas.microsoft.com/office/drawing/2014/main" val="2698153288"/>
                    </a:ext>
                  </a:extLst>
                </a:gridCol>
                <a:gridCol w="2816104">
                  <a:extLst>
                    <a:ext uri="{9D8B030D-6E8A-4147-A177-3AD203B41FA5}">
                      <a16:colId xmlns:a16="http://schemas.microsoft.com/office/drawing/2014/main" val="1451447067"/>
                    </a:ext>
                  </a:extLst>
                </a:gridCol>
                <a:gridCol w="2969808">
                  <a:extLst>
                    <a:ext uri="{9D8B030D-6E8A-4147-A177-3AD203B41FA5}">
                      <a16:colId xmlns:a16="http://schemas.microsoft.com/office/drawing/2014/main" val="2943870936"/>
                    </a:ext>
                  </a:extLst>
                </a:gridCol>
                <a:gridCol w="2358720">
                  <a:extLst>
                    <a:ext uri="{9D8B030D-6E8A-4147-A177-3AD203B41FA5}">
                      <a16:colId xmlns:a16="http://schemas.microsoft.com/office/drawing/2014/main" val="656209149"/>
                    </a:ext>
                  </a:extLst>
                </a:gridCol>
              </a:tblGrid>
              <a:tr h="249277">
                <a:tc gridSpan="4">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1200" b="1" noProof="0">
                          <a:solidFill>
                            <a:schemeClr val="tx2"/>
                          </a:solidFill>
                        </a:rPr>
                        <a:t>Energiforbrug i MWh </a:t>
                      </a:r>
                      <a:r>
                        <a:rPr lang="da-DK" sz="1200" b="0" noProof="0">
                          <a:solidFill>
                            <a:schemeClr val="tx2"/>
                          </a:solidFill>
                        </a:rPr>
                        <a:t>(pkt. 32)</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en-GB" sz="9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en-GB" sz="9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lang="da-DK" sz="900" b="1"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38440226"/>
                  </a:ext>
                </a:extLst>
              </a:tr>
              <a:tr h="396324">
                <a:tc>
                  <a:txBody>
                    <a:bodyPr/>
                    <a:lstStyle/>
                    <a:p>
                      <a:pPr>
                        <a:lnSpc>
                          <a:spcPct val="106000"/>
                        </a:lnSpc>
                      </a:pPr>
                      <a:endParaRPr lang="da-DK" sz="12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da-DK" sz="1200" b="1" noProof="0">
                          <a:solidFill>
                            <a:schemeClr val="tx2"/>
                          </a:solidFill>
                        </a:rPr>
                        <a:t>Vedvarende energiforbrug</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da-DK" sz="1200" b="1" noProof="0">
                          <a:solidFill>
                            <a:schemeClr val="tx2"/>
                          </a:solidFill>
                        </a:rPr>
                        <a:t>Ikke-vedvarende energiforbrug</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1200" b="1" noProof="0">
                          <a:solidFill>
                            <a:schemeClr val="tx2"/>
                          </a:solidFill>
                        </a:rPr>
                        <a:t>Total energiforbrug (MWh)</a:t>
                      </a:r>
                    </a:p>
                    <a:p>
                      <a:pPr marL="0" marR="0" lvl="0" indent="0" algn="ctr" defTabSz="914400" rtl="0" eaLnBrk="1" fontAlgn="auto" latinLnBrk="0" hangingPunct="1">
                        <a:lnSpc>
                          <a:spcPct val="106000"/>
                        </a:lnSpc>
                        <a:spcBef>
                          <a:spcPts val="0"/>
                        </a:spcBef>
                        <a:spcAft>
                          <a:spcPts val="0"/>
                        </a:spcAft>
                        <a:buClrTx/>
                        <a:buSzTx/>
                        <a:buFontTx/>
                        <a:buNone/>
                        <a:tabLst/>
                        <a:defRPr/>
                      </a:pPr>
                      <a:r>
                        <a:rPr lang="da-DK" sz="1200" b="1" noProof="0">
                          <a:solidFill>
                            <a:schemeClr val="accent2"/>
                          </a:solidFill>
                        </a:rPr>
                        <a:t>{{</a:t>
                      </a:r>
                      <a:r>
                        <a:rPr lang="da-DK" sz="1200" b="1" noProof="0" err="1">
                          <a:solidFill>
                            <a:schemeClr val="accent2"/>
                          </a:solidFill>
                        </a:rPr>
                        <a:t>insert_year</a:t>
                      </a:r>
                      <a:r>
                        <a:rPr lang="da-DK" sz="1200" b="1" noProof="0">
                          <a:solidFill>
                            <a:schemeClr val="accent2"/>
                          </a:solidFill>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96324">
                <a:tc>
                  <a:txBody>
                    <a:bodyPr/>
                    <a:lstStyle/>
                    <a:p>
                      <a:pPr>
                        <a:lnSpc>
                          <a:spcPct val="106000"/>
                        </a:lnSpc>
                      </a:pPr>
                      <a:r>
                        <a:rPr lang="da-DK" sz="1200" b="1" noProof="0">
                          <a:solidFill>
                            <a:schemeClr val="tx2"/>
                          </a:solidFill>
                        </a:rPr>
                        <a:t>Elektricitet </a:t>
                      </a:r>
                      <a:r>
                        <a:rPr lang="da-DK" sz="1200" b="0" noProof="0">
                          <a:solidFill>
                            <a:schemeClr val="tx2"/>
                          </a:solidFill>
                        </a:rPr>
                        <a:t>(som det fremgår af virksomhedens forbrugsregninger)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electricity_renewable</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electricity_non_rewenable</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total_electricity</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49277">
                <a:tc>
                  <a:txBody>
                    <a:bodyPr/>
                    <a:lstStyle/>
                    <a:p>
                      <a:pPr>
                        <a:lnSpc>
                          <a:spcPct val="106000"/>
                        </a:lnSpc>
                      </a:pPr>
                      <a:r>
                        <a:rPr lang="da-DK" sz="1200" b="1" noProof="0">
                          <a:solidFill>
                            <a:schemeClr val="tx2"/>
                          </a:solidFill>
                        </a:rPr>
                        <a:t>Brændstoffer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fuel_renewable</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fuel_non_rewenable</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total_fuel</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28766998"/>
                  </a:ext>
                </a:extLst>
              </a:tr>
              <a:tr h="249277">
                <a:tc>
                  <a:txBody>
                    <a:bodyPr/>
                    <a:lstStyle/>
                    <a:p>
                      <a:pPr>
                        <a:lnSpc>
                          <a:spcPct val="106000"/>
                        </a:lnSpc>
                      </a:pPr>
                      <a:r>
                        <a:rPr lang="da-DK" sz="1200" b="1" noProof="0">
                          <a:solidFill>
                            <a:schemeClr val="tx2"/>
                          </a:solidFill>
                        </a:rPr>
                        <a:t>Andet (fx fjernvarme)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district_heating_rewenable</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district_heating_non_rewenable</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total_district_heating</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62237485"/>
                  </a:ext>
                </a:extLst>
              </a:tr>
              <a:tr h="249277">
                <a:tc>
                  <a:txBody>
                    <a:bodyPr/>
                    <a:lstStyle/>
                    <a:p>
                      <a:pPr>
                        <a:lnSpc>
                          <a:spcPct val="106000"/>
                        </a:lnSpc>
                      </a:pPr>
                      <a:r>
                        <a:rPr lang="da-DK" sz="1200" b="1" noProof="0">
                          <a:solidFill>
                            <a:schemeClr val="tx2"/>
                          </a:solidFill>
                        </a:rPr>
                        <a:t>Total</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renewable_energy_total</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non_rewenable_energy_total</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total_energy_consumption</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55206388"/>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6</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sp>
        <p:nvSpPr>
          <p:cNvPr id="12" name="Tekstfelt 11">
            <a:extLst>
              <a:ext uri="{FF2B5EF4-FFF2-40B4-BE49-F238E27FC236}">
                <a16:creationId xmlns:a16="http://schemas.microsoft.com/office/drawing/2014/main" id="{4EDC705C-923B-3F7B-2016-F3C31DC2828B}"/>
              </a:ext>
            </a:extLst>
          </p:cNvPr>
          <p:cNvSpPr txBox="1"/>
          <p:nvPr/>
        </p:nvSpPr>
        <p:spPr>
          <a:xfrm>
            <a:off x="505570" y="1024229"/>
            <a:ext cx="11178430" cy="4124206"/>
          </a:xfrm>
          <a:prstGeom prst="rect">
            <a:avLst/>
          </a:prstGeom>
          <a:noFill/>
        </p:spPr>
        <p:txBody>
          <a:bodyPr wrap="square" lIns="91440" tIns="45720" rIns="91440" bIns="45720" anchor="t">
            <a:spAutoFit/>
          </a:bodyPr>
          <a:lstStyle/>
          <a:p>
            <a:r>
              <a:rPr lang="da-DK" sz="1200" b="0" i="0" u="none" strike="noStrike" noProof="0">
                <a:solidFill>
                  <a:schemeClr val="tx2"/>
                </a:solidFill>
                <a:effectLst/>
                <a:latin typeface="Inter"/>
              </a:rPr>
              <a:t>Dette afsnit angiver virksomhedens CO2-udledning fra energiforbrug og angiver vedvarende og ikke-vedvarende forbrug. </a:t>
            </a:r>
            <a:r>
              <a:rPr lang="da-DK" sz="1200" noProof="0">
                <a:solidFill>
                  <a:schemeClr val="tx2"/>
                </a:solidFill>
                <a:latin typeface="Inter"/>
              </a:rPr>
              <a:t>Udledningerne er oplyst ud fra </a:t>
            </a:r>
            <a:r>
              <a:rPr lang="da-DK" sz="1200" b="0" i="0" u="none" strike="noStrike" noProof="0">
                <a:solidFill>
                  <a:schemeClr val="tx2"/>
                </a:solidFill>
                <a:effectLst/>
                <a:latin typeface="Inter"/>
              </a:rPr>
              <a:t>GHG-protokollens definitioner afhvad direkte og indirekte emissioner omfatter. </a:t>
            </a:r>
            <a:br>
              <a:rPr lang="da-DK" sz="1200" b="0" i="0" u="none" strike="noStrike" noProof="0" dirty="0">
                <a:effectLst/>
                <a:latin typeface="Inter"/>
              </a:rPr>
            </a:br>
            <a:br>
              <a:rPr lang="da-DK" sz="1200" dirty="0">
                <a:latin typeface="Inter"/>
              </a:rPr>
            </a:br>
            <a:r>
              <a:rPr lang="da-DK" sz="800" b="0" i="0" u="none" strike="noStrike" noProof="0" dirty="0">
                <a:solidFill>
                  <a:schemeClr val="tx2"/>
                </a:solidFill>
                <a:effectLst/>
                <a:latin typeface="Inter"/>
              </a:rPr>
              <a:t> </a:t>
            </a:r>
            <a:endParaRPr lang="da-DK" sz="1200" b="0" i="0" u="none" strike="noStrike" noProof="0" dirty="0">
              <a:solidFill>
                <a:schemeClr val="tx2"/>
              </a:solidFill>
              <a:effectLst/>
              <a:latin typeface="Inter"/>
            </a:endParaRPr>
          </a:p>
          <a:p>
            <a:pPr rtl="0">
              <a:buNone/>
            </a:pPr>
            <a:endParaRPr lang="da-DK" sz="1200" b="0" noProof="0">
              <a:solidFill>
                <a:schemeClr val="tx2"/>
              </a:solidFill>
              <a:effectLst/>
              <a:latin typeface="Inter"/>
            </a:endParaRPr>
          </a:p>
          <a:p>
            <a:pPr>
              <a:buNone/>
            </a:pPr>
            <a:endParaRPr lang="da-DK" b="0" noProof="0">
              <a:solidFill>
                <a:schemeClr val="tx2"/>
              </a:solidFill>
              <a:effectLst/>
              <a:latin typeface="Inter"/>
            </a:endParaRPr>
          </a:p>
          <a:p>
            <a:pPr>
              <a:buNone/>
            </a:pPr>
            <a:endParaRPr lang="da-DK" sz="1600" noProof="0">
              <a:solidFill>
                <a:schemeClr val="tx2"/>
              </a:solidFill>
              <a:latin typeface="Inter"/>
            </a:endParaRPr>
          </a:p>
          <a:p>
            <a:pPr>
              <a:buNone/>
            </a:pPr>
            <a:endParaRPr lang="da-DK" sz="1600" b="0" noProof="0">
              <a:solidFill>
                <a:schemeClr val="tx2"/>
              </a:solidFill>
              <a:effectLst/>
              <a:latin typeface="Inter"/>
            </a:endParaRPr>
          </a:p>
          <a:p>
            <a:pPr>
              <a:buNone/>
            </a:pPr>
            <a:endParaRPr lang="da-DK" sz="1600" noProof="0">
              <a:solidFill>
                <a:schemeClr val="tx2"/>
              </a:solidFill>
              <a:latin typeface="Inter"/>
            </a:endParaRPr>
          </a:p>
          <a:p>
            <a:pPr>
              <a:buNone/>
            </a:pPr>
            <a:endParaRPr lang="da-DK" sz="1600" b="0" noProof="0">
              <a:solidFill>
                <a:schemeClr val="tx2"/>
              </a:solidFill>
              <a:effectLst/>
              <a:latin typeface="Inter"/>
            </a:endParaRPr>
          </a:p>
          <a:p>
            <a:endParaRPr lang="da-DK" sz="1600" b="1">
              <a:latin typeface="+mj-lt"/>
            </a:endParaRPr>
          </a:p>
          <a:p>
            <a:br>
              <a:rPr lang="da-DK" b="1" dirty="0">
                <a:latin typeface="+mj-lt"/>
              </a:rPr>
            </a:br>
            <a:r>
              <a:rPr lang="da-DK" b="1" i="0" u="none" strike="noStrike" noProof="0">
                <a:solidFill>
                  <a:schemeClr val="tx2"/>
                </a:solidFill>
                <a:effectLst/>
                <a:latin typeface="+mj-lt"/>
              </a:rPr>
              <a:t>CO₂e-udledning (B3)</a:t>
            </a:r>
            <a:endParaRPr lang="da-DK" noProof="0">
              <a:solidFill>
                <a:schemeClr val="tx2"/>
              </a:solidFill>
              <a:effectLst/>
              <a:latin typeface="+mj-lt"/>
            </a:endParaRPr>
          </a:p>
          <a:p>
            <a:r>
              <a:rPr lang="da-DK" sz="800" dirty="0">
                <a:latin typeface="Inter"/>
              </a:rPr>
              <a:t> </a:t>
            </a:r>
            <a:br>
              <a:rPr lang="da-DK" sz="1200" dirty="0">
                <a:solidFill>
                  <a:schemeClr val="tx2"/>
                </a:solidFill>
                <a:latin typeface="Inter"/>
              </a:rPr>
            </a:br>
            <a:r>
              <a:rPr lang="da-DK" sz="1200" b="0" i="0" u="none" strike="noStrike" noProof="0">
                <a:solidFill>
                  <a:schemeClr val="tx2"/>
                </a:solidFill>
                <a:effectLst/>
                <a:latin typeface="Inter"/>
              </a:rPr>
              <a:t>Pkt. 33 indeholder oplysninger om virksomhedens drivhusgasemissioner baseret på Scope 1- og Scope 2-emissioner. Scope 1 angiver de direkte drivhusgasemissioner og inkluderer emissioner fra kilder, som virksomheden ejer eller kontrollerer direkte. Dette omfatter for eksempel afbrænding af brændstof i firmakøretøjer eller opvarmning af bygninger med naturgas samt emissioner fra industrielle processer og lækager i systemer som f.eks. køling.</a:t>
            </a:r>
            <a:r>
              <a:rPr lang="da-DK" sz="1200" noProof="0">
                <a:solidFill>
                  <a:schemeClr val="tx2"/>
                </a:solidFill>
                <a:latin typeface="Inter"/>
              </a:rPr>
              <a:t> </a:t>
            </a:r>
            <a:r>
              <a:rPr lang="da-DK" sz="1200" b="0" i="0" u="none" strike="noStrike" noProof="0">
                <a:solidFill>
                  <a:schemeClr val="tx2"/>
                </a:solidFill>
                <a:effectLst/>
                <a:latin typeface="Inter"/>
              </a:rPr>
              <a:t>Scope 2</a:t>
            </a:r>
            <a:r>
              <a:rPr lang="da-DK" sz="1200" noProof="0">
                <a:solidFill>
                  <a:schemeClr val="tx2"/>
                </a:solidFill>
                <a:latin typeface="Inter"/>
              </a:rPr>
              <a:t> angiver i</a:t>
            </a:r>
            <a:r>
              <a:rPr lang="da-DK" sz="1200" b="0" i="0" u="none" strike="noStrike" noProof="0">
                <a:solidFill>
                  <a:schemeClr val="tx2"/>
                </a:solidFill>
                <a:effectLst/>
                <a:latin typeface="Inter"/>
              </a:rPr>
              <a:t>ndirekte emissioner fra køb af elektricitet, som refererer til emissioner fra produktion af den el, damp, varme eller køling, som virksomheden køber og bruger. Selvom disse emissioner stammer fra energiproducenterne, tilskrives de virksomheden, fordi den forbruger energien.</a:t>
            </a:r>
            <a:endParaRPr lang="da-DK" sz="1200" b="0" noProof="0">
              <a:solidFill>
                <a:schemeClr val="tx2"/>
              </a:solidFill>
              <a:effectLst/>
              <a:latin typeface="Inter"/>
            </a:endParaRPr>
          </a:p>
        </p:txBody>
      </p:sp>
      <p:graphicFrame>
        <p:nvGraphicFramePr>
          <p:cNvPr id="15" name="Table 18">
            <a:extLst>
              <a:ext uri="{FF2B5EF4-FFF2-40B4-BE49-F238E27FC236}">
                <a16:creationId xmlns:a16="http://schemas.microsoft.com/office/drawing/2014/main" id="{550C2B5F-F365-2A58-DF02-C096E906DD7B}"/>
              </a:ext>
            </a:extLst>
          </p:cNvPr>
          <p:cNvGraphicFramePr>
            <a:graphicFrameLocks noGrp="1"/>
          </p:cNvGraphicFramePr>
          <p:nvPr>
            <p:extLst>
              <p:ext uri="{D42A27DB-BD31-4B8C-83A1-F6EECF244321}">
                <p14:modId xmlns:p14="http://schemas.microsoft.com/office/powerpoint/2010/main" val="4106924491"/>
              </p:ext>
            </p:extLst>
          </p:nvPr>
        </p:nvGraphicFramePr>
        <p:xfrm>
          <a:off x="507990" y="5218755"/>
          <a:ext cx="11176010" cy="1084337"/>
        </p:xfrm>
        <a:graphic>
          <a:graphicData uri="http://schemas.openxmlformats.org/drawingml/2006/table">
            <a:tbl>
              <a:tblPr firstRow="1">
                <a:tableStyleId>{2A488322-F2BA-4B5B-9748-0D474271808F}</a:tableStyleId>
              </a:tblPr>
              <a:tblGrid>
                <a:gridCol w="8848455">
                  <a:extLst>
                    <a:ext uri="{9D8B030D-6E8A-4147-A177-3AD203B41FA5}">
                      <a16:colId xmlns:a16="http://schemas.microsoft.com/office/drawing/2014/main" val="2698153288"/>
                    </a:ext>
                  </a:extLst>
                </a:gridCol>
                <a:gridCol w="2327555">
                  <a:extLst>
                    <a:ext uri="{9D8B030D-6E8A-4147-A177-3AD203B41FA5}">
                      <a16:colId xmlns:a16="http://schemas.microsoft.com/office/drawing/2014/main" val="656209149"/>
                    </a:ext>
                  </a:extLst>
                </a:gridCol>
              </a:tblGrid>
              <a:tr h="271943">
                <a:tc>
                  <a:txBody>
                    <a:bodyPr/>
                    <a:lstStyle/>
                    <a:p>
                      <a:pPr>
                        <a:lnSpc>
                          <a:spcPct val="106000"/>
                        </a:lnSpc>
                      </a:pPr>
                      <a:r>
                        <a:rPr lang="da-DK" sz="1200" b="1" noProof="0">
                          <a:solidFill>
                            <a:schemeClr val="tx2"/>
                          </a:solidFill>
                        </a:rPr>
                        <a:t>Udledning af drivhusgasser </a:t>
                      </a:r>
                      <a:r>
                        <a:rPr lang="da-DK" sz="1200" b="0" noProof="0">
                          <a:solidFill>
                            <a:schemeClr val="tx2"/>
                          </a:solidFill>
                        </a:rPr>
                        <a:t>(pkt. 33)</a:t>
                      </a:r>
                      <a:endParaRPr lang="da-DK" sz="12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1200" b="1" noProof="0">
                          <a:solidFill>
                            <a:schemeClr val="tx2"/>
                          </a:solidFill>
                        </a:rPr>
                        <a:t>År </a:t>
                      </a:r>
                      <a:r>
                        <a:rPr lang="da-DK" sz="1200" b="1" noProof="0">
                          <a:solidFill>
                            <a:schemeClr val="accent2"/>
                          </a:solidFill>
                          <a:latin typeface="Calibri" panose="020F0502020204030204" pitchFamily="34" charset="0"/>
                          <a:cs typeface="Calibri" panose="020F0502020204030204" pitchFamily="34" charset="0"/>
                        </a:rPr>
                        <a:t>{{</a:t>
                      </a:r>
                      <a:r>
                        <a:rPr lang="da-DK" sz="1200" b="1" noProof="0" err="1">
                          <a:solidFill>
                            <a:schemeClr val="accent2"/>
                          </a:solidFill>
                          <a:latin typeface="Calibri" panose="020F0502020204030204" pitchFamily="34" charset="0"/>
                          <a:cs typeface="Calibri" panose="020F0502020204030204" pitchFamily="34" charset="0"/>
                        </a:rPr>
                        <a:t>insert_year</a:t>
                      </a:r>
                      <a:r>
                        <a:rPr lang="da-DK" sz="1200" b="1" noProof="0">
                          <a:solidFill>
                            <a:schemeClr val="accent2"/>
                          </a:solidFill>
                          <a:latin typeface="Calibri" panose="020F0502020204030204" pitchFamily="34" charset="0"/>
                          <a:cs typeface="Calibri" panose="020F0502020204030204" pitchFamily="34" charset="0"/>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70798">
                <a:tc>
                  <a:txBody>
                    <a:bodyPr/>
                    <a:lstStyle/>
                    <a:p>
                      <a:pPr>
                        <a:lnSpc>
                          <a:spcPct val="106000"/>
                        </a:lnSpc>
                      </a:pPr>
                      <a:r>
                        <a:rPr lang="da-DK" sz="1200" b="1" noProof="0" err="1">
                          <a:solidFill>
                            <a:schemeClr val="tx2"/>
                          </a:solidFill>
                        </a:rPr>
                        <a:t>Scope</a:t>
                      </a:r>
                      <a:r>
                        <a:rPr lang="da-DK" sz="1200" b="1" noProof="0">
                          <a:solidFill>
                            <a:schemeClr val="tx2"/>
                          </a:solidFill>
                        </a:rPr>
                        <a:t> 1 </a:t>
                      </a:r>
                      <a:r>
                        <a:rPr lang="da-DK" sz="1200" b="1" noProof="0" err="1">
                          <a:solidFill>
                            <a:schemeClr val="tx2"/>
                          </a:solidFill>
                        </a:rPr>
                        <a:t>CO₂e-udledninger</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{{scope1}}</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70798">
                <a:tc>
                  <a:txBody>
                    <a:bodyPr/>
                    <a:lstStyle/>
                    <a:p>
                      <a:pPr>
                        <a:lnSpc>
                          <a:spcPct val="106000"/>
                        </a:lnSpc>
                      </a:pPr>
                      <a:r>
                        <a:rPr lang="da-DK" sz="1200" b="1" noProof="0" err="1">
                          <a:solidFill>
                            <a:schemeClr val="tx2"/>
                          </a:solidFill>
                        </a:rPr>
                        <a:t>Scope</a:t>
                      </a:r>
                      <a:r>
                        <a:rPr lang="da-DK" sz="1200" b="1" noProof="0">
                          <a:solidFill>
                            <a:schemeClr val="tx2"/>
                          </a:solidFill>
                        </a:rPr>
                        <a:t> 2 </a:t>
                      </a:r>
                      <a:r>
                        <a:rPr lang="da-DK" sz="1200" b="1" noProof="0" err="1">
                          <a:solidFill>
                            <a:schemeClr val="tx2"/>
                          </a:solidFill>
                        </a:rPr>
                        <a:t>CO₂e-udledninger</a:t>
                      </a:r>
                      <a:r>
                        <a:rPr lang="da-DK" sz="1200" b="1" noProof="0">
                          <a:solidFill>
                            <a:schemeClr val="tx2"/>
                          </a:solidFill>
                        </a:rPr>
                        <a:t> (lokationsbaseret) </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{{scope2}}</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70798">
                <a:tc>
                  <a:txBody>
                    <a:bodyPr/>
                    <a:lstStyle/>
                    <a:p>
                      <a:pPr>
                        <a:lnSpc>
                          <a:spcPct val="106000"/>
                        </a:lnSpc>
                      </a:pPr>
                      <a:r>
                        <a:rPr lang="da-DK" sz="1200" b="1" noProof="0">
                          <a:solidFill>
                            <a:schemeClr val="tx2"/>
                          </a:solidFill>
                        </a:rPr>
                        <a:t>Total </a:t>
                      </a:r>
                      <a:r>
                        <a:rPr lang="da-DK" sz="1200" b="1" noProof="0" err="1">
                          <a:solidFill>
                            <a:schemeClr val="tx2"/>
                          </a:solidFill>
                        </a:rPr>
                        <a:t>CO₂e-udledning</a:t>
                      </a:r>
                      <a:r>
                        <a:rPr lang="da-DK" sz="1200" b="1" noProof="0">
                          <a:solidFill>
                            <a:schemeClr val="tx2"/>
                          </a:solidFill>
                        </a:rPr>
                        <a:t> fra </a:t>
                      </a:r>
                      <a:r>
                        <a:rPr lang="da-DK" sz="1200" b="1" noProof="0" err="1">
                          <a:solidFill>
                            <a:schemeClr val="tx2"/>
                          </a:solidFill>
                        </a:rPr>
                        <a:t>scope</a:t>
                      </a:r>
                      <a:r>
                        <a:rPr lang="da-DK" sz="1200" b="1" noProof="0">
                          <a:solidFill>
                            <a:schemeClr val="tx2"/>
                          </a:solidFill>
                        </a:rPr>
                        <a:t> 1 og </a:t>
                      </a:r>
                      <a:r>
                        <a:rPr lang="da-DK" sz="1200" b="1" noProof="0" err="1">
                          <a:solidFill>
                            <a:schemeClr val="tx2"/>
                          </a:solidFill>
                        </a:rPr>
                        <a:t>scope</a:t>
                      </a:r>
                      <a:r>
                        <a:rPr lang="da-DK" sz="1200" b="1" noProof="0">
                          <a:solidFill>
                            <a:schemeClr val="tx2"/>
                          </a:solidFill>
                        </a:rPr>
                        <a:t> 2 </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total_scope</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Tree>
    <p:extLst>
      <p:ext uri="{BB962C8B-B14F-4D97-AF65-F5344CB8AC3E}">
        <p14:creationId xmlns:p14="http://schemas.microsoft.com/office/powerpoint/2010/main" val="2910765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Forurening af luft, vand og jord (B4)</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386996641"/>
              </p:ext>
            </p:extLst>
          </p:nvPr>
        </p:nvGraphicFramePr>
        <p:xfrm>
          <a:off x="507998" y="1663288"/>
          <a:ext cx="11157221" cy="799975"/>
        </p:xfrm>
        <a:graphic>
          <a:graphicData uri="http://schemas.openxmlformats.org/drawingml/2006/table">
            <a:tbl>
              <a:tblPr firstRow="1">
                <a:tableStyleId>{2A488322-F2BA-4B5B-9748-0D474271808F}</a:tableStyleId>
              </a:tblPr>
              <a:tblGrid>
                <a:gridCol w="3534713">
                  <a:extLst>
                    <a:ext uri="{9D8B030D-6E8A-4147-A177-3AD203B41FA5}">
                      <a16:colId xmlns:a16="http://schemas.microsoft.com/office/drawing/2014/main" val="2698153288"/>
                    </a:ext>
                  </a:extLst>
                </a:gridCol>
                <a:gridCol w="3408090">
                  <a:extLst>
                    <a:ext uri="{9D8B030D-6E8A-4147-A177-3AD203B41FA5}">
                      <a16:colId xmlns:a16="http://schemas.microsoft.com/office/drawing/2014/main" val="2119413191"/>
                    </a:ext>
                  </a:extLst>
                </a:gridCol>
                <a:gridCol w="4214418">
                  <a:extLst>
                    <a:ext uri="{9D8B030D-6E8A-4147-A177-3AD203B41FA5}">
                      <a16:colId xmlns:a16="http://schemas.microsoft.com/office/drawing/2014/main" val="683090399"/>
                    </a:ext>
                  </a:extLst>
                </a:gridCol>
              </a:tblGrid>
              <a:tr h="279427">
                <a:tc gridSpan="3">
                  <a:txBody>
                    <a:bodyPr/>
                    <a:lstStyle/>
                    <a:p>
                      <a:pPr>
                        <a:lnSpc>
                          <a:spcPct val="106000"/>
                        </a:lnSpc>
                      </a:pPr>
                      <a:r>
                        <a:rPr lang="da-DK" sz="1200" b="1" noProof="0">
                          <a:solidFill>
                            <a:schemeClr val="tx2"/>
                          </a:solidFill>
                        </a:rPr>
                        <a:t>Forurening af luft, vand og jord </a:t>
                      </a:r>
                      <a:r>
                        <a:rPr lang="da-DK" sz="1200" b="0" noProof="0">
                          <a:solidFill>
                            <a:schemeClr val="tx2"/>
                          </a:solidFill>
                        </a:rPr>
                        <a:t>(pkt. 34) </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a-DK"/>
                    </a:p>
                  </a:txBody>
                  <a:tcPr/>
                </a:tc>
                <a:extLst>
                  <a:ext uri="{0D108BD9-81ED-4DB2-BD59-A6C34878D82A}">
                    <a16:rowId xmlns:a16="http://schemas.microsoft.com/office/drawing/2014/main" val="625231048"/>
                  </a:ext>
                </a:extLst>
              </a:tr>
              <a:tr h="279427">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lang="da-DK" sz="1200" b="1" noProof="0">
                          <a:solidFill>
                            <a:schemeClr val="tx2"/>
                          </a:solidFill>
                        </a:rPr>
                        <a:t>Type af forurening </a:t>
                      </a:r>
                      <a:r>
                        <a:rPr lang="da-DK" sz="1200" b="0" noProof="0">
                          <a:solidFill>
                            <a:schemeClr val="tx2"/>
                          </a:solidFill>
                        </a:rPr>
                        <a:t>(fx stof)</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da-DK" sz="1200" b="1" noProof="0">
                          <a:solidFill>
                            <a:schemeClr val="tx2"/>
                          </a:solidFill>
                        </a:rPr>
                        <a:t>Hvor? </a:t>
                      </a:r>
                      <a:r>
                        <a:rPr lang="da-DK" sz="1200" b="0" noProof="0">
                          <a:solidFill>
                            <a:schemeClr val="tx2"/>
                          </a:solidFill>
                        </a:rPr>
                        <a:t>(luft, vand, jord)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da-DK" sz="1200" b="1" noProof="0">
                          <a:solidFill>
                            <a:schemeClr val="tx2"/>
                          </a:solidFill>
                        </a:rPr>
                        <a:t>Omfang</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41121">
                <a:tc>
                  <a:txBody>
                    <a:bodyPr/>
                    <a:lstStyle/>
                    <a:p>
                      <a:pPr rtl="0" fontAlgn="ctr">
                        <a:buNone/>
                      </a:pPr>
                      <a:r>
                        <a:rPr lang="da-DK" sz="1200" b="0" i="0" u="none" strike="noStrike" noProof="0">
                          <a:solidFill>
                            <a:srgbClr val="2D55FF"/>
                          </a:solidFill>
                          <a:effectLst/>
                          <a:latin typeface="Inter"/>
                        </a:rPr>
                        <a:t>{{type_of_pollution}}</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rtl="0" fontAlgn="ctr">
                        <a:buNone/>
                      </a:pPr>
                      <a:r>
                        <a:rPr lang="da-DK" sz="1200" b="0" i="0" u="none" strike="noStrike" noProof="0">
                          <a:solidFill>
                            <a:srgbClr val="2D55FF"/>
                          </a:solidFill>
                          <a:effectLst/>
                          <a:latin typeface="Inter"/>
                        </a:rPr>
                        <a:t>{{scope_pollution}}</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da-DK" sz="1200" b="0" i="0" u="none" strike="noStrike" noProof="0">
                          <a:solidFill>
                            <a:srgbClr val="2D55FF"/>
                          </a:solidFill>
                          <a:effectLst/>
                          <a:latin typeface="Inter"/>
                        </a:rPr>
                        <a:t>{{pollution_medium}}</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7</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sp>
        <p:nvSpPr>
          <p:cNvPr id="10" name="Tekstfelt 9">
            <a:extLst>
              <a:ext uri="{FF2B5EF4-FFF2-40B4-BE49-F238E27FC236}">
                <a16:creationId xmlns:a16="http://schemas.microsoft.com/office/drawing/2014/main" id="{CADEAD42-343C-93CC-A8B0-E63EFFC56411}"/>
              </a:ext>
            </a:extLst>
          </p:cNvPr>
          <p:cNvSpPr txBox="1"/>
          <p:nvPr/>
        </p:nvSpPr>
        <p:spPr>
          <a:xfrm>
            <a:off x="526778" y="1016000"/>
            <a:ext cx="11157222" cy="461665"/>
          </a:xfrm>
          <a:prstGeom prst="rect">
            <a:avLst/>
          </a:prstGeom>
          <a:noFill/>
        </p:spPr>
        <p:txBody>
          <a:bodyPr wrap="square">
            <a:spAutoFit/>
          </a:bodyPr>
          <a:lstStyle/>
          <a:p>
            <a:pPr rtl="0">
              <a:buNone/>
            </a:pPr>
            <a:r>
              <a:rPr lang="da-DK" sz="1200" b="0" i="0" u="none" strike="noStrike" noProof="0">
                <a:solidFill>
                  <a:schemeClr val="tx2"/>
                </a:solidFill>
                <a:effectLst/>
                <a:latin typeface="Inter"/>
              </a:rPr>
              <a:t>Virksomheden rapporterer den samlede mængde af forurenende stoffer, der udledes fra deres anlæg. Rapportering om specifikke forurenende stoffer og deres mængder, der udledes til luft, vand og jord</a:t>
            </a:r>
            <a:r>
              <a:rPr lang="da-DK" sz="1200" noProof="0">
                <a:solidFill>
                  <a:schemeClr val="tx2"/>
                </a:solidFill>
                <a:latin typeface="Inter"/>
              </a:rPr>
              <a:t> er anført nedenfor.</a:t>
            </a:r>
          </a:p>
        </p:txBody>
      </p:sp>
      <p:sp>
        <p:nvSpPr>
          <p:cNvPr id="16" name="Title 3">
            <a:extLst>
              <a:ext uri="{FF2B5EF4-FFF2-40B4-BE49-F238E27FC236}">
                <a16:creationId xmlns:a16="http://schemas.microsoft.com/office/drawing/2014/main" id="{82FDC1C8-BB82-8F83-2FCB-640700A5A089}"/>
              </a:ext>
            </a:extLst>
          </p:cNvPr>
          <p:cNvSpPr txBox="1">
            <a:spLocks/>
          </p:cNvSpPr>
          <p:nvPr/>
        </p:nvSpPr>
        <p:spPr>
          <a:xfrm>
            <a:off x="518600" y="3359149"/>
            <a:ext cx="11165400" cy="2492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800" b="1" kern="1200" spc="-10" baseline="0">
                <a:solidFill>
                  <a:schemeClr val="tx2"/>
                </a:solidFill>
                <a:latin typeface="+mj-lt"/>
                <a:ea typeface="+mj-ea"/>
                <a:cs typeface="+mj-cs"/>
              </a:defRPr>
            </a:lvl1pPr>
          </a:lstStyle>
          <a:p>
            <a:r>
              <a:rPr lang="da-DK" noProof="0"/>
              <a:t>Biodiversitet (B5) </a:t>
            </a:r>
          </a:p>
        </p:txBody>
      </p:sp>
      <p:graphicFrame>
        <p:nvGraphicFramePr>
          <p:cNvPr id="17" name="Table 12">
            <a:extLst>
              <a:ext uri="{FF2B5EF4-FFF2-40B4-BE49-F238E27FC236}">
                <a16:creationId xmlns:a16="http://schemas.microsoft.com/office/drawing/2014/main" id="{2F8CEDBC-7529-8ACB-98F8-C532E7876A9C}"/>
              </a:ext>
            </a:extLst>
          </p:cNvPr>
          <p:cNvGraphicFramePr>
            <a:graphicFrameLocks noGrp="1"/>
          </p:cNvGraphicFramePr>
          <p:nvPr>
            <p:extLst>
              <p:ext uri="{D42A27DB-BD31-4B8C-83A1-F6EECF244321}">
                <p14:modId xmlns:p14="http://schemas.microsoft.com/office/powerpoint/2010/main" val="3123879907"/>
              </p:ext>
            </p:extLst>
          </p:nvPr>
        </p:nvGraphicFramePr>
        <p:xfrm>
          <a:off x="518599" y="4675630"/>
          <a:ext cx="11165399" cy="964259"/>
        </p:xfrm>
        <a:graphic>
          <a:graphicData uri="http://schemas.openxmlformats.org/drawingml/2006/table">
            <a:tbl>
              <a:tblPr firstRow="1">
                <a:tableStyleId>{2A488322-F2BA-4B5B-9748-0D474271808F}</a:tableStyleId>
              </a:tblPr>
              <a:tblGrid>
                <a:gridCol w="2027933">
                  <a:extLst>
                    <a:ext uri="{9D8B030D-6E8A-4147-A177-3AD203B41FA5}">
                      <a16:colId xmlns:a16="http://schemas.microsoft.com/office/drawing/2014/main" val="2698153288"/>
                    </a:ext>
                  </a:extLst>
                </a:gridCol>
                <a:gridCol w="3045822">
                  <a:extLst>
                    <a:ext uri="{9D8B030D-6E8A-4147-A177-3AD203B41FA5}">
                      <a16:colId xmlns:a16="http://schemas.microsoft.com/office/drawing/2014/main" val="2119413191"/>
                    </a:ext>
                  </a:extLst>
                </a:gridCol>
                <a:gridCol w="3045822">
                  <a:extLst>
                    <a:ext uri="{9D8B030D-6E8A-4147-A177-3AD203B41FA5}">
                      <a16:colId xmlns:a16="http://schemas.microsoft.com/office/drawing/2014/main" val="656209149"/>
                    </a:ext>
                  </a:extLst>
                </a:gridCol>
                <a:gridCol w="3045822">
                  <a:extLst>
                    <a:ext uri="{9D8B030D-6E8A-4147-A177-3AD203B41FA5}">
                      <a16:colId xmlns:a16="http://schemas.microsoft.com/office/drawing/2014/main" val="1502960985"/>
                    </a:ext>
                  </a:extLst>
                </a:gridCol>
              </a:tblGrid>
              <a:tr h="230876">
                <a:tc gridSpan="4">
                  <a:txBody>
                    <a:bodyPr/>
                    <a:lstStyle/>
                    <a:p>
                      <a:r>
                        <a:rPr lang="da-DK" sz="1200" b="1" noProof="0">
                          <a:solidFill>
                            <a:schemeClr val="tx2"/>
                          </a:solidFill>
                        </a:rPr>
                        <a:t>Områder i nærheden af eller i 'biodiversitetsfølsomme områder’, som virksomheden ejer, lejer eller forvalter </a:t>
                      </a:r>
                      <a:r>
                        <a:rPr lang="da-DK" sz="1200" b="0" noProof="0">
                          <a:solidFill>
                            <a:schemeClr val="tx2"/>
                          </a:solidFill>
                        </a:rPr>
                        <a:t>(pkt. 35)</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45215">
                <a:tc>
                  <a:txBody>
                    <a:bodyPr/>
                    <a:lstStyle/>
                    <a:p>
                      <a:r>
                        <a:rPr lang="da-DK" sz="1200" b="1" noProof="0">
                          <a:solidFill>
                            <a:schemeClr val="tx2"/>
                          </a:solidFill>
                        </a:rPr>
                        <a:t>Lokation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1200" b="1" noProof="0">
                          <a:solidFill>
                            <a:schemeClr val="tx2"/>
                          </a:solidFill>
                        </a:rPr>
                        <a:t>Areal opgjort i hektar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1200" b="1" noProof="0">
                          <a:solidFill>
                            <a:schemeClr val="tx2"/>
                          </a:solidFill>
                        </a:rPr>
                        <a:t>Biodiversitetsfølsomt område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1200" b="1" noProof="0">
                          <a:solidFill>
                            <a:schemeClr val="tx2"/>
                          </a:solidFill>
                        </a:rPr>
                        <a:t>Specifikation: I nærheden af eller i et biodiversitetsfølsomt område</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71619">
                <a:tc>
                  <a:txBody>
                    <a:bodyPr/>
                    <a:lstStyle/>
                    <a:p>
                      <a:pPr rtl="0" fontAlgn="ctr">
                        <a:buNone/>
                      </a:pPr>
                      <a:r>
                        <a:rPr lang="da-DK" sz="1200" b="0" i="0" u="none" strike="noStrike" noProof="0">
                          <a:solidFill>
                            <a:srgbClr val="2D55FF"/>
                          </a:solidFill>
                          <a:effectLst/>
                          <a:latin typeface="Inter"/>
                        </a:rPr>
                        <a:t>{{country_location}}</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buNone/>
                      </a:pPr>
                      <a:r>
                        <a:rPr lang="da-DK" sz="1200" b="0" i="0" u="none" strike="noStrike" noProof="0">
                          <a:solidFill>
                            <a:srgbClr val="2D55FF"/>
                          </a:solidFill>
                          <a:effectLst/>
                          <a:latin typeface="Inter"/>
                        </a:rPr>
                        <a:t> {{area_hect}}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nter"/>
                        </a:rPr>
                        <a:t>{{area_name}}</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nter"/>
                        </a:rPr>
                        <a:t>{{biosensitive_area}}</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8" name="Tekstfelt 17">
            <a:extLst>
              <a:ext uri="{FF2B5EF4-FFF2-40B4-BE49-F238E27FC236}">
                <a16:creationId xmlns:a16="http://schemas.microsoft.com/office/drawing/2014/main" id="{6378062B-84AF-684A-9726-0422CE54B0A8}"/>
              </a:ext>
            </a:extLst>
          </p:cNvPr>
          <p:cNvSpPr txBox="1"/>
          <p:nvPr/>
        </p:nvSpPr>
        <p:spPr>
          <a:xfrm>
            <a:off x="507999" y="3753340"/>
            <a:ext cx="11165399" cy="646331"/>
          </a:xfrm>
          <a:prstGeom prst="rect">
            <a:avLst/>
          </a:prstGeom>
          <a:noFill/>
        </p:spPr>
        <p:txBody>
          <a:bodyPr wrap="square">
            <a:spAutoFit/>
          </a:bodyPr>
          <a:lstStyle/>
          <a:p>
            <a:pPr rtl="0">
              <a:spcBef>
                <a:spcPts val="900"/>
              </a:spcBef>
              <a:spcAft>
                <a:spcPts val="900"/>
              </a:spcAft>
              <a:buNone/>
            </a:pPr>
            <a:r>
              <a:rPr lang="da-DK" sz="1200" b="0" i="0" u="none" strike="noStrike" noProof="0">
                <a:solidFill>
                  <a:schemeClr val="tx2"/>
                </a:solidFill>
                <a:effectLst/>
                <a:latin typeface="Inter"/>
              </a:rPr>
              <a:t>Virksomhedens oplysninger vedrører de steder, den opererer på, som er placeret i eller i nærheden af biodiversitetsfølsomme områder. Biodiversitetsfølsomme områder defineres som sådanne i særlige naturbeskyttelsesbestemmelser på europæisk eller internationalt plan. Dette omfatter områder, der tilhører Natura 2000, UNESCO og vigtige biodiversitetsområder (</a:t>
            </a:r>
            <a:r>
              <a:rPr lang="da-DK" sz="1200" b="0" i="0" u="none" strike="noStrike" noProof="0" err="1">
                <a:solidFill>
                  <a:schemeClr val="tx2"/>
                </a:solidFill>
                <a:effectLst/>
                <a:latin typeface="Inter"/>
              </a:rPr>
              <a:t>KBA'er</a:t>
            </a:r>
            <a:r>
              <a:rPr lang="da-DK" sz="1200" b="0" i="0" u="none" strike="noStrike" noProof="0">
                <a:solidFill>
                  <a:schemeClr val="tx2"/>
                </a:solidFill>
                <a:effectLst/>
                <a:latin typeface="Inter"/>
              </a:rPr>
              <a:t>) samt andre beskyttede områder.</a:t>
            </a:r>
            <a:endParaRPr lang="da-DK" sz="1200" noProof="0">
              <a:solidFill>
                <a:schemeClr val="tx2"/>
              </a:solidFill>
              <a:latin typeface="Inter"/>
            </a:endParaRPr>
          </a:p>
        </p:txBody>
      </p:sp>
    </p:spTree>
    <p:extLst>
      <p:ext uri="{BB962C8B-B14F-4D97-AF65-F5344CB8AC3E}">
        <p14:creationId xmlns:p14="http://schemas.microsoft.com/office/powerpoint/2010/main" val="2705646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Vand (B6)</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405295352"/>
              </p:ext>
            </p:extLst>
          </p:nvPr>
        </p:nvGraphicFramePr>
        <p:xfrm>
          <a:off x="518600" y="1716227"/>
          <a:ext cx="4812525" cy="979860"/>
        </p:xfrm>
        <a:graphic>
          <a:graphicData uri="http://schemas.openxmlformats.org/drawingml/2006/table">
            <a:tbl>
              <a:tblPr firstRow="1">
                <a:tableStyleId>{2A488322-F2BA-4B5B-9748-0D474271808F}</a:tableStyleId>
              </a:tblPr>
              <a:tblGrid>
                <a:gridCol w="3087242">
                  <a:extLst>
                    <a:ext uri="{9D8B030D-6E8A-4147-A177-3AD203B41FA5}">
                      <a16:colId xmlns:a16="http://schemas.microsoft.com/office/drawing/2014/main" val="2698153288"/>
                    </a:ext>
                  </a:extLst>
                </a:gridCol>
                <a:gridCol w="1725283">
                  <a:extLst>
                    <a:ext uri="{9D8B030D-6E8A-4147-A177-3AD203B41FA5}">
                      <a16:colId xmlns:a16="http://schemas.microsoft.com/office/drawing/2014/main" val="2119413191"/>
                    </a:ext>
                  </a:extLst>
                </a:gridCol>
              </a:tblGrid>
              <a:tr h="4966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Vandudtag </a:t>
                      </a:r>
                      <a:r>
                        <a:rPr lang="da-DK" sz="1200" b="0" noProof="0">
                          <a:solidFill>
                            <a:schemeClr val="tx2"/>
                          </a:solidFill>
                        </a:rPr>
                        <a:t>(pkt. 36)</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1200" b="1" noProof="0">
                          <a:solidFill>
                            <a:schemeClr val="tx2"/>
                          </a:solidFill>
                        </a:rPr>
                        <a:t>År </a:t>
                      </a:r>
                      <a:r>
                        <a:rPr lang="da-DK" sz="1200" b="1" noProof="0">
                          <a:solidFill>
                            <a:schemeClr val="accent2"/>
                          </a:solidFill>
                        </a:rPr>
                        <a:t>{{</a:t>
                      </a:r>
                      <a:r>
                        <a:rPr lang="da-DK" sz="1200" b="1" noProof="0" err="1">
                          <a:solidFill>
                            <a:schemeClr val="accent2"/>
                          </a:solidFill>
                        </a:rPr>
                        <a:t>insert_year</a:t>
                      </a:r>
                      <a:r>
                        <a:rPr lang="da-DK" sz="1200" b="1" noProof="0">
                          <a:solidFill>
                            <a:schemeClr val="accent2"/>
                          </a:solidFill>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83201">
                <a:tc>
                  <a:txBody>
                    <a:bodyPr/>
                    <a:lstStyle/>
                    <a:p>
                      <a:r>
                        <a:rPr lang="da-DK" sz="1200" b="0" noProof="0">
                          <a:solidFill>
                            <a:schemeClr val="tx2"/>
                          </a:solidFill>
                        </a:rPr>
                        <a:t>Samlet for alle lokationer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200" b="0" i="0" u="none" strike="noStrike" kern="1200" cap="none" spc="0" normalizeH="0" baseline="0" noProof="0">
                          <a:ln>
                            <a:noFill/>
                          </a:ln>
                          <a:solidFill>
                            <a:srgbClr val="2D55FF"/>
                          </a:solidFill>
                          <a:effectLst/>
                          <a:uLnTx/>
                          <a:uFillTx/>
                          <a:latin typeface="+mn-lt"/>
                          <a:ea typeface="+mn-ea"/>
                          <a:cs typeface="+mn-cs"/>
                        </a:rPr>
                        <a:t>{{</a:t>
                      </a:r>
                      <a:r>
                        <a:rPr kumimoji="0" lang="da-DK" sz="1200" b="0" i="0" u="none" strike="noStrike" kern="1200" cap="none" spc="0" normalizeH="0" baseline="0" noProof="0" err="1">
                          <a:ln>
                            <a:noFill/>
                          </a:ln>
                          <a:solidFill>
                            <a:srgbClr val="2D55FF"/>
                          </a:solidFill>
                          <a:effectLst/>
                          <a:uLnTx/>
                          <a:uFillTx/>
                          <a:latin typeface="+mn-lt"/>
                          <a:ea typeface="+mn-ea"/>
                          <a:cs typeface="+mn-cs"/>
                        </a:rPr>
                        <a:t>total_withdrawal</a:t>
                      </a:r>
                      <a:r>
                        <a:rPr kumimoji="0" lang="da-DK" sz="1200" b="0" i="0" u="none" strike="noStrike" kern="1200" cap="none" spc="0" normalizeH="0" baseline="0" noProof="0">
                          <a:ln>
                            <a:noFill/>
                          </a:ln>
                          <a:solidFill>
                            <a:srgbClr val="2D55FF"/>
                          </a:solidFill>
                          <a:effectLst/>
                          <a:uLnTx/>
                          <a:uFillTx/>
                          <a:latin typeface="+mn-lt"/>
                          <a:ea typeface="+mn-ea"/>
                          <a:cs typeface="+mn-cs"/>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7" name="Table 16">
            <a:extLst>
              <a:ext uri="{FF2B5EF4-FFF2-40B4-BE49-F238E27FC236}">
                <a16:creationId xmlns:a16="http://schemas.microsoft.com/office/drawing/2014/main" id="{129EF77F-F7DE-E3A9-5E62-3B0DED7F1A69}"/>
              </a:ext>
            </a:extLst>
          </p:cNvPr>
          <p:cNvGraphicFramePr>
            <a:graphicFrameLocks noGrp="1"/>
          </p:cNvGraphicFramePr>
          <p:nvPr>
            <p:extLst>
              <p:ext uri="{D42A27DB-BD31-4B8C-83A1-F6EECF244321}">
                <p14:modId xmlns:p14="http://schemas.microsoft.com/office/powerpoint/2010/main" val="44075883"/>
              </p:ext>
            </p:extLst>
          </p:nvPr>
        </p:nvGraphicFramePr>
        <p:xfrm>
          <a:off x="5538158" y="1716227"/>
          <a:ext cx="6145842" cy="979860"/>
        </p:xfrm>
        <a:graphic>
          <a:graphicData uri="http://schemas.openxmlformats.org/drawingml/2006/table">
            <a:tbl>
              <a:tblPr firstRow="1">
                <a:tableStyleId>{2A488322-F2BA-4B5B-9748-0D474271808F}</a:tableStyleId>
              </a:tblPr>
              <a:tblGrid>
                <a:gridCol w="4631743">
                  <a:extLst>
                    <a:ext uri="{9D8B030D-6E8A-4147-A177-3AD203B41FA5}">
                      <a16:colId xmlns:a16="http://schemas.microsoft.com/office/drawing/2014/main" val="2698153288"/>
                    </a:ext>
                  </a:extLst>
                </a:gridCol>
                <a:gridCol w="1514099">
                  <a:extLst>
                    <a:ext uri="{9D8B030D-6E8A-4147-A177-3AD203B41FA5}">
                      <a16:colId xmlns:a16="http://schemas.microsoft.com/office/drawing/2014/main" val="2119413191"/>
                    </a:ext>
                  </a:extLst>
                </a:gridCol>
              </a:tblGrid>
              <a:tr h="28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Vandforbrug </a:t>
                      </a:r>
                      <a:r>
                        <a:rPr lang="da-DK" sz="1200" b="0" noProof="0">
                          <a:solidFill>
                            <a:schemeClr val="tx2"/>
                          </a:solidFill>
                        </a:rPr>
                        <a:t>(pkt. 37)</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1200" b="1" noProof="0">
                          <a:solidFill>
                            <a:schemeClr val="tx2"/>
                          </a:solidFill>
                        </a:rPr>
                        <a:t>År </a:t>
                      </a:r>
                      <a:r>
                        <a:rPr lang="da-DK" sz="1200" b="1" noProof="0">
                          <a:solidFill>
                            <a:schemeClr val="accent2"/>
                          </a:solidFill>
                        </a:rPr>
                        <a:t>{{</a:t>
                      </a:r>
                      <a:r>
                        <a:rPr lang="da-DK" sz="1200" b="1" noProof="0" err="1">
                          <a:solidFill>
                            <a:schemeClr val="accent2"/>
                          </a:solidFill>
                        </a:rPr>
                        <a:t>insert_year</a:t>
                      </a:r>
                      <a:r>
                        <a:rPr lang="da-DK" sz="1200" b="1" noProof="0">
                          <a:solidFill>
                            <a:schemeClr val="accent2"/>
                          </a:solidFill>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88000">
                <a:tc>
                  <a:txBody>
                    <a:bodyPr/>
                    <a:lstStyle/>
                    <a:p>
                      <a:r>
                        <a:rPr lang="da-DK" sz="1200" b="0" noProof="0">
                          <a:solidFill>
                            <a:schemeClr val="tx2"/>
                          </a:solidFill>
                        </a:rPr>
                        <a:t>Samlet for alle lokationer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consumption_total</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8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0" noProof="0">
                          <a:solidFill>
                            <a:schemeClr val="tx2"/>
                          </a:solidFill>
                        </a:rPr>
                        <a:t>Fra lokationer i områder med mangel på vand (højt vandstress)</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consumption_waterstress</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75797269"/>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8</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sp>
        <p:nvSpPr>
          <p:cNvPr id="11" name="Tekstfelt 10">
            <a:extLst>
              <a:ext uri="{FF2B5EF4-FFF2-40B4-BE49-F238E27FC236}">
                <a16:creationId xmlns:a16="http://schemas.microsoft.com/office/drawing/2014/main" id="{ECB95649-80E1-C470-34F3-6ED206EE57AE}"/>
              </a:ext>
            </a:extLst>
          </p:cNvPr>
          <p:cNvSpPr txBox="1"/>
          <p:nvPr/>
        </p:nvSpPr>
        <p:spPr>
          <a:xfrm>
            <a:off x="508000" y="1028466"/>
            <a:ext cx="11175999" cy="461665"/>
          </a:xfrm>
          <a:prstGeom prst="rect">
            <a:avLst/>
          </a:prstGeom>
          <a:noFill/>
        </p:spPr>
        <p:txBody>
          <a:bodyPr wrap="square">
            <a:spAutoFit/>
          </a:bodyPr>
          <a:lstStyle/>
          <a:p>
            <a:pPr rtl="0">
              <a:spcBef>
                <a:spcPts val="900"/>
              </a:spcBef>
              <a:buNone/>
            </a:pPr>
            <a:r>
              <a:rPr lang="da-DK" sz="1200" b="0" i="0" u="none" strike="noStrike" noProof="0">
                <a:solidFill>
                  <a:schemeClr val="tx2"/>
                </a:solidFill>
                <a:effectLst/>
                <a:latin typeface="Inter"/>
              </a:rPr>
              <a:t>Vandudtaget er den mængde vand, der anvendes af virksomheden, hvorunder </a:t>
            </a:r>
            <a:r>
              <a:rPr lang="da-DK" sz="1200" noProof="0">
                <a:solidFill>
                  <a:schemeClr val="tx2"/>
                </a:solidFill>
                <a:latin typeface="Inter"/>
              </a:rPr>
              <a:t>forbruget angiver vand der </a:t>
            </a:r>
            <a:r>
              <a:rPr lang="da-DK" sz="1200" b="0" i="0" u="none" strike="noStrike" noProof="0">
                <a:solidFill>
                  <a:schemeClr val="tx2"/>
                </a:solidFill>
                <a:effectLst/>
                <a:latin typeface="Inter"/>
              </a:rPr>
              <a:t>ikke udledes eller planlægges udledt tilbage til vandmiljøet eller til en tredjepart. I dette afsnit oplyses virksomhedens samlede vandudtag. Virksomhedens vandforbrug</a:t>
            </a:r>
            <a:r>
              <a:rPr lang="da-DK" sz="1200" noProof="0">
                <a:solidFill>
                  <a:schemeClr val="tx2"/>
                </a:solidFill>
                <a:latin typeface="Inter"/>
              </a:rPr>
              <a:t> </a:t>
            </a:r>
            <a:r>
              <a:rPr lang="da-DK" sz="1200" b="0" i="0" u="none" strike="noStrike" noProof="0">
                <a:solidFill>
                  <a:schemeClr val="tx2"/>
                </a:solidFill>
                <a:effectLst/>
                <a:latin typeface="Inter"/>
              </a:rPr>
              <a:t>og vandudledning fra områder med høj vandstress er anført nedenfor.</a:t>
            </a:r>
            <a:endParaRPr lang="da-DK" sz="1200" b="0" noProof="0">
              <a:solidFill>
                <a:schemeClr val="tx2"/>
              </a:solidFill>
              <a:effectLst/>
              <a:latin typeface="Inter"/>
            </a:endParaRPr>
          </a:p>
        </p:txBody>
      </p:sp>
      <p:sp>
        <p:nvSpPr>
          <p:cNvPr id="14" name="Title 3">
            <a:extLst>
              <a:ext uri="{FF2B5EF4-FFF2-40B4-BE49-F238E27FC236}">
                <a16:creationId xmlns:a16="http://schemas.microsoft.com/office/drawing/2014/main" id="{B30A223B-CD1E-62E4-7BF1-B5AAB10A8410}"/>
              </a:ext>
            </a:extLst>
          </p:cNvPr>
          <p:cNvSpPr txBox="1">
            <a:spLocks/>
          </p:cNvSpPr>
          <p:nvPr/>
        </p:nvSpPr>
        <p:spPr>
          <a:xfrm>
            <a:off x="518600" y="3093502"/>
            <a:ext cx="11165400" cy="2492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800" b="1" kern="1200" spc="-10" baseline="0">
                <a:solidFill>
                  <a:schemeClr val="tx2"/>
                </a:solidFill>
                <a:latin typeface="+mj-lt"/>
                <a:ea typeface="+mj-ea"/>
                <a:cs typeface="+mj-cs"/>
              </a:defRPr>
            </a:lvl1pPr>
          </a:lstStyle>
          <a:p>
            <a:r>
              <a:rPr lang="da-DK" noProof="0"/>
              <a:t>Ressourceforbrug, cirkulær økonomi og affaldshåndtering (B7) </a:t>
            </a:r>
          </a:p>
        </p:txBody>
      </p:sp>
      <p:graphicFrame>
        <p:nvGraphicFramePr>
          <p:cNvPr id="15" name="Table 12">
            <a:extLst>
              <a:ext uri="{FF2B5EF4-FFF2-40B4-BE49-F238E27FC236}">
                <a16:creationId xmlns:a16="http://schemas.microsoft.com/office/drawing/2014/main" id="{DD005B21-4552-1869-0C74-C03ADA88E810}"/>
              </a:ext>
            </a:extLst>
          </p:cNvPr>
          <p:cNvGraphicFramePr>
            <a:graphicFrameLocks noGrp="1"/>
          </p:cNvGraphicFramePr>
          <p:nvPr>
            <p:extLst>
              <p:ext uri="{D42A27DB-BD31-4B8C-83A1-F6EECF244321}">
                <p14:modId xmlns:p14="http://schemas.microsoft.com/office/powerpoint/2010/main" val="1002212790"/>
              </p:ext>
            </p:extLst>
          </p:nvPr>
        </p:nvGraphicFramePr>
        <p:xfrm>
          <a:off x="5538158" y="3566941"/>
          <a:ext cx="6135235" cy="942582"/>
        </p:xfrm>
        <a:graphic>
          <a:graphicData uri="http://schemas.openxmlformats.org/drawingml/2006/table">
            <a:tbl>
              <a:tblPr firstRow="1">
                <a:tableStyleId>{2A488322-F2BA-4B5B-9748-0D474271808F}</a:tableStyleId>
              </a:tblPr>
              <a:tblGrid>
                <a:gridCol w="2427143">
                  <a:extLst>
                    <a:ext uri="{9D8B030D-6E8A-4147-A177-3AD203B41FA5}">
                      <a16:colId xmlns:a16="http://schemas.microsoft.com/office/drawing/2014/main" val="2698153288"/>
                    </a:ext>
                  </a:extLst>
                </a:gridCol>
                <a:gridCol w="1886065">
                  <a:extLst>
                    <a:ext uri="{9D8B030D-6E8A-4147-A177-3AD203B41FA5}">
                      <a16:colId xmlns:a16="http://schemas.microsoft.com/office/drawing/2014/main" val="2119413191"/>
                    </a:ext>
                  </a:extLst>
                </a:gridCol>
                <a:gridCol w="1822027">
                  <a:extLst>
                    <a:ext uri="{9D8B030D-6E8A-4147-A177-3AD203B41FA5}">
                      <a16:colId xmlns:a16="http://schemas.microsoft.com/office/drawing/2014/main" val="656209149"/>
                    </a:ext>
                  </a:extLst>
                </a:gridCol>
              </a:tblGrid>
              <a:tr h="269509">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Oplysning om anvendelse af principper fra cirkulær økonomi </a:t>
                      </a:r>
                      <a:r>
                        <a:rPr lang="da-DK" sz="1200" b="0" noProof="0">
                          <a:solidFill>
                            <a:schemeClr val="tx2"/>
                          </a:solidFill>
                        </a:rPr>
                        <a:t>(pkt. 38)</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69213">
                <a:tc rowSpan="2">
                  <a:txBody>
                    <a:bodyPr/>
                    <a:lstStyle/>
                    <a:p>
                      <a:r>
                        <a:rPr lang="da-DK" sz="1200" b="0" noProof="0">
                          <a:solidFill>
                            <a:schemeClr val="tx2"/>
                          </a:solidFill>
                        </a:rPr>
                        <a:t>Min virksomhed anvender principper fra cirkulær økonomi</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1200" b="1" noProof="0">
                          <a:solidFill>
                            <a:schemeClr val="tx2"/>
                          </a:solidFill>
                        </a:rPr>
                        <a:t>Ja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1200" b="1" noProof="0">
                          <a:solidFill>
                            <a:schemeClr val="tx2"/>
                          </a:solidFill>
                        </a:rPr>
                        <a:t>Nej</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43091">
                <a:tc v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circular_economy_princples_yes</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circular_economy_princples_no</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6" name="Table 2">
            <a:extLst>
              <a:ext uri="{FF2B5EF4-FFF2-40B4-BE49-F238E27FC236}">
                <a16:creationId xmlns:a16="http://schemas.microsoft.com/office/drawing/2014/main" id="{2AA2F1F9-7A09-1805-85EA-A61B8CDF034E}"/>
              </a:ext>
            </a:extLst>
          </p:cNvPr>
          <p:cNvGraphicFramePr>
            <a:graphicFrameLocks noGrp="1"/>
          </p:cNvGraphicFramePr>
          <p:nvPr>
            <p:extLst>
              <p:ext uri="{D42A27DB-BD31-4B8C-83A1-F6EECF244321}">
                <p14:modId xmlns:p14="http://schemas.microsoft.com/office/powerpoint/2010/main" val="3358194059"/>
              </p:ext>
            </p:extLst>
          </p:nvPr>
        </p:nvGraphicFramePr>
        <p:xfrm>
          <a:off x="507998" y="4612469"/>
          <a:ext cx="11165396" cy="1767344"/>
        </p:xfrm>
        <a:graphic>
          <a:graphicData uri="http://schemas.openxmlformats.org/drawingml/2006/table">
            <a:tbl>
              <a:tblPr firstRow="1">
                <a:tableStyleId>{2A488322-F2BA-4B5B-9748-0D474271808F}</a:tableStyleId>
              </a:tblPr>
              <a:tblGrid>
                <a:gridCol w="11165396">
                  <a:extLst>
                    <a:ext uri="{9D8B030D-6E8A-4147-A177-3AD203B41FA5}">
                      <a16:colId xmlns:a16="http://schemas.microsoft.com/office/drawing/2014/main" val="2698153288"/>
                    </a:ext>
                  </a:extLst>
                </a:gridCol>
              </a:tblGrid>
              <a:tr h="292685">
                <a:tc>
                  <a:txBody>
                    <a:bodyPr/>
                    <a:lstStyle/>
                    <a:p>
                      <a:r>
                        <a:rPr lang="da-DK" sz="1200" b="1" noProof="0">
                          <a:solidFill>
                            <a:schemeClr val="tx2"/>
                          </a:solidFill>
                        </a:rPr>
                        <a:t>Beskrivelse af, hvordan virksomheden arbejder med principper fra cirkulær økonomi </a:t>
                      </a:r>
                      <a:r>
                        <a:rPr lang="da-DK" sz="1200" b="0" noProof="0">
                          <a:solidFill>
                            <a:schemeClr val="tx2"/>
                          </a:solidFill>
                        </a:rPr>
                        <a:t>(pkt. 38 fortsat)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1474659">
                <a:tc>
                  <a:txBody>
                    <a:bodyPr/>
                    <a:lstStyle/>
                    <a:p>
                      <a:pPr algn="l"/>
                      <a:r>
                        <a:rPr lang="da-DK" sz="1200" b="0" kern="1200" noProof="0">
                          <a:solidFill>
                            <a:schemeClr val="accent2"/>
                          </a:solidFill>
                          <a:latin typeface="+mn-lt"/>
                          <a:ea typeface="+mn-ea"/>
                          <a:cs typeface="+mn-cs"/>
                        </a:rPr>
                        <a:t>{{</a:t>
                      </a:r>
                      <a:r>
                        <a:rPr lang="da-DK" sz="1200" b="0" kern="1200" noProof="0" err="1">
                          <a:solidFill>
                            <a:schemeClr val="accent2"/>
                          </a:solidFill>
                          <a:latin typeface="+mn-lt"/>
                          <a:ea typeface="+mn-ea"/>
                          <a:cs typeface="+mn-cs"/>
                        </a:rPr>
                        <a:t>description_of_circular_economies</a:t>
                      </a:r>
                      <a:r>
                        <a:rPr lang="da-DK" sz="1200" b="0" kern="1200" noProof="0">
                          <a:solidFill>
                            <a:schemeClr val="accent2"/>
                          </a:solidFill>
                          <a:latin typeface="+mn-lt"/>
                          <a:ea typeface="+mn-ea"/>
                          <a:cs typeface="+mn-cs"/>
                        </a:rPr>
                        <a:t>}}</a:t>
                      </a:r>
                    </a:p>
                    <a:p>
                      <a:pPr algn="l"/>
                      <a:endParaRPr lang="da-DK" sz="1200" b="0" kern="1200" noProof="0">
                        <a:solidFill>
                          <a:schemeClr val="accent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25" name="Tekstfelt 24">
            <a:extLst>
              <a:ext uri="{FF2B5EF4-FFF2-40B4-BE49-F238E27FC236}">
                <a16:creationId xmlns:a16="http://schemas.microsoft.com/office/drawing/2014/main" id="{02BB91A8-5ECA-5F09-CF3C-575CB2D07459}"/>
              </a:ext>
            </a:extLst>
          </p:cNvPr>
          <p:cNvSpPr txBox="1"/>
          <p:nvPr/>
        </p:nvSpPr>
        <p:spPr>
          <a:xfrm>
            <a:off x="508302" y="3555852"/>
            <a:ext cx="4843417" cy="830997"/>
          </a:xfrm>
          <a:prstGeom prst="rect">
            <a:avLst/>
          </a:prstGeom>
          <a:noFill/>
        </p:spPr>
        <p:txBody>
          <a:bodyPr wrap="square" lIns="91440" tIns="45720" rIns="91440" bIns="45720" anchor="t">
            <a:spAutoFit/>
          </a:bodyPr>
          <a:lstStyle/>
          <a:p>
            <a:pPr rtl="0">
              <a:buNone/>
            </a:pPr>
            <a:r>
              <a:rPr lang="da-DK" sz="1200" b="0" i="0" u="none" strike="noStrike" noProof="0">
                <a:solidFill>
                  <a:schemeClr val="tx2"/>
                </a:solidFill>
                <a:effectLst/>
                <a:latin typeface="Inter"/>
              </a:rPr>
              <a:t>Dette informationskrav angiver information om hvorvidt virksomheden</a:t>
            </a:r>
            <a:r>
              <a:rPr lang="da-DK" sz="1200" noProof="0">
                <a:solidFill>
                  <a:schemeClr val="tx2"/>
                </a:solidFill>
                <a:latin typeface="Inter"/>
              </a:rPr>
              <a:t> anvender principper for cirkulær økonomi. Herunder, om der er principper i anvendelse når det kommer til reduktion af affald og forurening samt fokus på cirkulære produkter og materialer.</a:t>
            </a:r>
          </a:p>
        </p:txBody>
      </p:sp>
    </p:spTree>
    <p:extLst>
      <p:ext uri="{BB962C8B-B14F-4D97-AF65-F5344CB8AC3E}">
        <p14:creationId xmlns:p14="http://schemas.microsoft.com/office/powerpoint/2010/main" val="999658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Ressourceforbrug, cirkulær økonomi og affaldshåndtering (B7) – fortsat</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829584165"/>
              </p:ext>
            </p:extLst>
          </p:nvPr>
        </p:nvGraphicFramePr>
        <p:xfrm>
          <a:off x="507999" y="1645437"/>
          <a:ext cx="7343771" cy="2103816"/>
        </p:xfrm>
        <a:graphic>
          <a:graphicData uri="http://schemas.openxmlformats.org/drawingml/2006/table">
            <a:tbl>
              <a:tblPr firstRow="1">
                <a:tableStyleId>{2A488322-F2BA-4B5B-9748-0D474271808F}</a:tableStyleId>
              </a:tblPr>
              <a:tblGrid>
                <a:gridCol w="2276000">
                  <a:extLst>
                    <a:ext uri="{9D8B030D-6E8A-4147-A177-3AD203B41FA5}">
                      <a16:colId xmlns:a16="http://schemas.microsoft.com/office/drawing/2014/main" val="2698153288"/>
                    </a:ext>
                  </a:extLst>
                </a:gridCol>
                <a:gridCol w="2543219">
                  <a:extLst>
                    <a:ext uri="{9D8B030D-6E8A-4147-A177-3AD203B41FA5}">
                      <a16:colId xmlns:a16="http://schemas.microsoft.com/office/drawing/2014/main" val="2119413191"/>
                    </a:ext>
                  </a:extLst>
                </a:gridCol>
                <a:gridCol w="2524552">
                  <a:extLst>
                    <a:ext uri="{9D8B030D-6E8A-4147-A177-3AD203B41FA5}">
                      <a16:colId xmlns:a16="http://schemas.microsoft.com/office/drawing/2014/main" val="4075157689"/>
                    </a:ext>
                  </a:extLst>
                </a:gridCol>
              </a:tblGrid>
              <a:tr h="328596">
                <a:tc gridSpan="3">
                  <a:txBody>
                    <a:bodyPr/>
                    <a:lstStyle/>
                    <a:p>
                      <a:pPr algn="ctr"/>
                      <a:r>
                        <a:rPr lang="da-DK" sz="1200" b="1" noProof="0">
                          <a:solidFill>
                            <a:schemeClr val="tx2"/>
                          </a:solidFill>
                        </a:rPr>
                        <a:t>Samlet mængde affald årligt</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a:p>
                  </a:txBody>
                  <a:tcPr/>
                </a:tc>
                <a:extLst>
                  <a:ext uri="{0D108BD9-81ED-4DB2-BD59-A6C34878D82A}">
                    <a16:rowId xmlns:a16="http://schemas.microsoft.com/office/drawing/2014/main" val="625231048"/>
                  </a:ext>
                </a:extLst>
              </a:tr>
              <a:tr h="343625">
                <a:tc>
                  <a:txBody>
                    <a:bodyPr/>
                    <a:lstStyle/>
                    <a:p>
                      <a:endParaRPr lang="da-DK" sz="12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1200" b="1" noProof="0">
                          <a:solidFill>
                            <a:schemeClr val="tx2"/>
                          </a:solidFill>
                        </a:rPr>
                        <a:t>Samlet mængde affald </a:t>
                      </a:r>
                      <a:r>
                        <a:rPr lang="da-DK" sz="1200" b="0" noProof="0">
                          <a:solidFill>
                            <a:schemeClr val="tx2"/>
                          </a:solidFill>
                        </a:rPr>
                        <a:t>(pkt. 39a)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1200" b="1" noProof="0">
                          <a:solidFill>
                            <a:schemeClr val="tx2"/>
                          </a:solidFill>
                        </a:rPr>
                        <a:t>Affald der omdirigeres til genanvendelse eller forberedelse mhp. genbrug </a:t>
                      </a:r>
                      <a:r>
                        <a:rPr lang="da-DK" sz="1200" b="0" noProof="0">
                          <a:solidFill>
                            <a:schemeClr val="tx2"/>
                          </a:solidFill>
                        </a:rPr>
                        <a:t>(pkt. 39b)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436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Ikke-farligt affald </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3316940764"/>
                  </a:ext>
                </a:extLst>
              </a:tr>
              <a:tr h="233665">
                <a:tc>
                  <a:txBody>
                    <a:bodyPr/>
                    <a:lstStyle/>
                    <a:p>
                      <a:pPr rtl="0" fontAlgn="ctr">
                        <a:buNone/>
                      </a:pPr>
                      <a:r>
                        <a:rPr lang="da-DK" sz="1200" b="0" i="0" u="none" strike="noStrike" noProof="0">
                          <a:solidFill>
                            <a:srgbClr val="2D55FF"/>
                          </a:solidFill>
                          <a:effectLst/>
                          <a:latin typeface="Inter"/>
                        </a:rPr>
                        <a:t>{{Type_af_affald}}</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{{kg_tons_total}}</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nter"/>
                        </a:rPr>
                        <a:t>{{genbrug_kg_tons}}</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43625">
                <a:tc>
                  <a:txBody>
                    <a:bodyPr/>
                    <a:lstStyle/>
                    <a:p>
                      <a:r>
                        <a:rPr lang="da-DK" sz="1200" b="1" noProof="0">
                          <a:solidFill>
                            <a:schemeClr val="tx2"/>
                          </a:solidFill>
                        </a:rPr>
                        <a:t>Farligt affald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69942695"/>
                  </a:ext>
                </a:extLst>
              </a:tr>
              <a:tr h="233665">
                <a:tc>
                  <a:txBody>
                    <a:bodyPr/>
                    <a:lstStyle/>
                    <a:p>
                      <a:pPr rtl="0" fontAlgn="ctr">
                        <a:buNone/>
                      </a:pPr>
                      <a:r>
                        <a:rPr lang="da-DK" sz="1200" b="0" i="0" u="none" strike="noStrike" noProof="0">
                          <a:solidFill>
                            <a:srgbClr val="2D55FF"/>
                          </a:solidFill>
                          <a:effectLst/>
                          <a:latin typeface="Inter"/>
                        </a:rPr>
                        <a:t>{{Type_af_affald_farlig}}</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{{farlig_kg_tons}}</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nter"/>
                        </a:rPr>
                        <a:t>{{farlig_genbrug_kg_tons}}</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02232709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9</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sp>
        <p:nvSpPr>
          <p:cNvPr id="12" name="Tekstfelt 11">
            <a:extLst>
              <a:ext uri="{FF2B5EF4-FFF2-40B4-BE49-F238E27FC236}">
                <a16:creationId xmlns:a16="http://schemas.microsoft.com/office/drawing/2014/main" id="{482E45A0-0E1E-550D-794B-89296A5D4E7E}"/>
              </a:ext>
            </a:extLst>
          </p:cNvPr>
          <p:cNvSpPr txBox="1"/>
          <p:nvPr/>
        </p:nvSpPr>
        <p:spPr>
          <a:xfrm>
            <a:off x="518600" y="1016000"/>
            <a:ext cx="11165400" cy="461665"/>
          </a:xfrm>
          <a:prstGeom prst="rect">
            <a:avLst/>
          </a:prstGeom>
          <a:noFill/>
        </p:spPr>
        <p:txBody>
          <a:bodyPr wrap="square">
            <a:spAutoFit/>
          </a:bodyPr>
          <a:lstStyle/>
          <a:p>
            <a:pPr rtl="0">
              <a:buNone/>
            </a:pPr>
            <a:r>
              <a:rPr lang="da-DK" sz="1200" b="0" i="0" u="none" strike="noStrike" noProof="0">
                <a:solidFill>
                  <a:schemeClr val="tx2"/>
                </a:solidFill>
                <a:effectLst/>
                <a:latin typeface="Inter"/>
              </a:rPr>
              <a:t>Følgende afsnit angiver oplysninger om materialeforbrug og affaldshåndtering. Oplysningerne er relateret til cirkulær økonomi og angiver virksomhedens samlede årlige affaldsproduktion (farligt/ikke-farligt) er fordelt og ligeledes anføres mængderne af væsentlige materialer. </a:t>
            </a:r>
            <a:endParaRPr lang="da-DK" sz="1200" noProof="0">
              <a:solidFill>
                <a:schemeClr val="tx2"/>
              </a:solidFill>
              <a:latin typeface="Inter"/>
            </a:endParaRPr>
          </a:p>
        </p:txBody>
      </p:sp>
      <p:graphicFrame>
        <p:nvGraphicFramePr>
          <p:cNvPr id="15" name="Table 12">
            <a:extLst>
              <a:ext uri="{FF2B5EF4-FFF2-40B4-BE49-F238E27FC236}">
                <a16:creationId xmlns:a16="http://schemas.microsoft.com/office/drawing/2014/main" id="{D0A6EC25-74E1-FBFB-6875-6CDF69A95318}"/>
              </a:ext>
            </a:extLst>
          </p:cNvPr>
          <p:cNvGraphicFramePr>
            <a:graphicFrameLocks noGrp="1"/>
          </p:cNvGraphicFramePr>
          <p:nvPr>
            <p:extLst>
              <p:ext uri="{D42A27DB-BD31-4B8C-83A1-F6EECF244321}">
                <p14:modId xmlns:p14="http://schemas.microsoft.com/office/powerpoint/2010/main" val="4113487528"/>
              </p:ext>
            </p:extLst>
          </p:nvPr>
        </p:nvGraphicFramePr>
        <p:xfrm>
          <a:off x="8160963" y="1680195"/>
          <a:ext cx="3512437" cy="1609903"/>
        </p:xfrm>
        <a:graphic>
          <a:graphicData uri="http://schemas.openxmlformats.org/drawingml/2006/table">
            <a:tbl>
              <a:tblPr firstRow="1">
                <a:tableStyleId>{2A488322-F2BA-4B5B-9748-0D474271808F}</a:tableStyleId>
              </a:tblPr>
              <a:tblGrid>
                <a:gridCol w="2253572">
                  <a:extLst>
                    <a:ext uri="{9D8B030D-6E8A-4147-A177-3AD203B41FA5}">
                      <a16:colId xmlns:a16="http://schemas.microsoft.com/office/drawing/2014/main" val="2698153288"/>
                    </a:ext>
                  </a:extLst>
                </a:gridCol>
                <a:gridCol w="1258865">
                  <a:extLst>
                    <a:ext uri="{9D8B030D-6E8A-4147-A177-3AD203B41FA5}">
                      <a16:colId xmlns:a16="http://schemas.microsoft.com/office/drawing/2014/main" val="2119413191"/>
                    </a:ext>
                  </a:extLst>
                </a:gridCol>
              </a:tblGrid>
              <a:tr h="901844">
                <a:tc>
                  <a:txBody>
                    <a:bodyPr/>
                    <a:lstStyle/>
                    <a:p>
                      <a:r>
                        <a:rPr lang="da-DK" sz="1200" b="1" noProof="0">
                          <a:solidFill>
                            <a:schemeClr val="tx2"/>
                          </a:solidFill>
                        </a:rPr>
                        <a:t>Væsentlige materialer </a:t>
                      </a:r>
                      <a:r>
                        <a:rPr lang="da-DK" sz="1200" b="0" noProof="0">
                          <a:solidFill>
                            <a:schemeClr val="tx2"/>
                          </a:solidFill>
                        </a:rPr>
                        <a:t>(pkt. 39c)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1200" b="1" noProof="0">
                          <a:solidFill>
                            <a:schemeClr val="tx2"/>
                          </a:solidFill>
                        </a:rPr>
                        <a:t>Årligt masse-flow </a:t>
                      </a:r>
                      <a:r>
                        <a:rPr lang="da-DK" sz="1200" b="1" noProof="0">
                          <a:solidFill>
                            <a:schemeClr val="accent2"/>
                          </a:solidFill>
                        </a:rPr>
                        <a:t>{{insert_year}}</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708059">
                <a:tc>
                  <a:txBody>
                    <a:bodyPr/>
                    <a:lstStyle/>
                    <a:p>
                      <a:r>
                        <a:rPr lang="da-DK" sz="1200" b="0" i="0" u="none" strike="noStrike" noProof="0">
                          <a:solidFill>
                            <a:srgbClr val="2D55FF"/>
                          </a:solidFill>
                          <a:latin typeface="Inter"/>
                        </a:rPr>
                        <a:t>{{significant_material}}</a:t>
                      </a:r>
                      <a:endParaRPr lang="da-DK" sz="1200" b="0" noProof="0">
                        <a:solidFill>
                          <a:schemeClr val="accent2"/>
                        </a:solidFill>
                        <a:latin typeface="Inter"/>
                        <a:cs typeface="Calibri"/>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da-DK" sz="1200" b="0" i="0" u="none" strike="noStrike" noProof="0">
                          <a:solidFill>
                            <a:srgbClr val="2D55FF"/>
                          </a:solidFill>
                          <a:latin typeface="Inter"/>
                        </a:rPr>
                        <a:t>{{significant_material_unit}}</a:t>
                      </a:r>
                      <a:endParaRPr lang="da-DK" sz="1200" b="0" i="0" u="none" strike="noStrike" noProof="0">
                        <a:solidFill>
                          <a:srgbClr val="000000"/>
                        </a:solidFill>
                        <a:latin typeface="Inter"/>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Tree>
    <p:extLst>
      <p:ext uri="{BB962C8B-B14F-4D97-AF65-F5344CB8AC3E}">
        <p14:creationId xmlns:p14="http://schemas.microsoft.com/office/powerpoint/2010/main" val="2096508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Egen arbejdsstyrke: Generelle karakteristika (B8) </a:t>
            </a:r>
          </a:p>
        </p:txBody>
      </p:sp>
      <p:graphicFrame>
        <p:nvGraphicFramePr>
          <p:cNvPr id="8" name="Table 7">
            <a:extLst>
              <a:ext uri="{FF2B5EF4-FFF2-40B4-BE49-F238E27FC236}">
                <a16:creationId xmlns:a16="http://schemas.microsoft.com/office/drawing/2014/main" id="{CE6D2864-50B1-0967-9DFF-408DD8B377E5}"/>
              </a:ext>
            </a:extLst>
          </p:cNvPr>
          <p:cNvGraphicFramePr>
            <a:graphicFrameLocks noGrp="1"/>
          </p:cNvGraphicFramePr>
          <p:nvPr>
            <p:extLst>
              <p:ext uri="{D42A27DB-BD31-4B8C-83A1-F6EECF244321}">
                <p14:modId xmlns:p14="http://schemas.microsoft.com/office/powerpoint/2010/main" val="3894231013"/>
              </p:ext>
            </p:extLst>
          </p:nvPr>
        </p:nvGraphicFramePr>
        <p:xfrm>
          <a:off x="507992" y="1733785"/>
          <a:ext cx="4978406" cy="1848960"/>
        </p:xfrm>
        <a:graphic>
          <a:graphicData uri="http://schemas.openxmlformats.org/drawingml/2006/table">
            <a:tbl>
              <a:tblPr firstRow="1">
                <a:tableStyleId>{2A488322-F2BA-4B5B-9748-0D474271808F}</a:tableStyleId>
              </a:tblPr>
              <a:tblGrid>
                <a:gridCol w="2489203">
                  <a:extLst>
                    <a:ext uri="{9D8B030D-6E8A-4147-A177-3AD203B41FA5}">
                      <a16:colId xmlns:a16="http://schemas.microsoft.com/office/drawing/2014/main" val="2698153288"/>
                    </a:ext>
                  </a:extLst>
                </a:gridCol>
                <a:gridCol w="2489203">
                  <a:extLst>
                    <a:ext uri="{9D8B030D-6E8A-4147-A177-3AD203B41FA5}">
                      <a16:colId xmlns:a16="http://schemas.microsoft.com/office/drawing/2014/main" val="2119413191"/>
                    </a:ext>
                  </a:extLst>
                </a:gridCol>
              </a:tblGrid>
              <a:tr h="462240">
                <a:tc>
                  <a:txBody>
                    <a:bodyPr/>
                    <a:lstStyle/>
                    <a:p>
                      <a:r>
                        <a:rPr lang="da-DK" sz="1200" b="1" noProof="0">
                          <a:solidFill>
                            <a:schemeClr val="tx2"/>
                          </a:solidFill>
                        </a:rPr>
                        <a:t>Kontrakttype </a:t>
                      </a:r>
                      <a:r>
                        <a:rPr lang="da-DK" sz="1200" b="0" noProof="0">
                          <a:solidFill>
                            <a:schemeClr val="tx2"/>
                          </a:solidFill>
                        </a:rPr>
                        <a:t>(pkt. 40a)</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a-DK" sz="1200" b="1" noProof="0">
                          <a:solidFill>
                            <a:schemeClr val="tx2"/>
                          </a:solidFill>
                        </a:rPr>
                        <a:t>Antal ansatte (antal personer eller fuldtidsækvivalenter)</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462240">
                <a:tc>
                  <a:txBody>
                    <a:bodyPr/>
                    <a:lstStyle/>
                    <a:p>
                      <a:r>
                        <a:rPr lang="da-DK" sz="1200" b="0" noProof="0">
                          <a:solidFill>
                            <a:schemeClr val="tx2"/>
                          </a:solidFill>
                        </a:rPr>
                        <a:t>Midlertidig ansættelse</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temporary</a:t>
                      </a:r>
                      <a:r>
                        <a:rPr lang="da-DK" sz="1200" b="0" i="0" u="none" strike="noStrike" noProof="0">
                          <a:solidFill>
                            <a:srgbClr val="2D55FF"/>
                          </a:solidFill>
                          <a:effectLst/>
                          <a:latin typeface="Inter"/>
                        </a:rPr>
                        <a:t>}}</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462240">
                <a:tc>
                  <a:txBody>
                    <a:bodyPr/>
                    <a:lstStyle/>
                    <a:p>
                      <a:r>
                        <a:rPr lang="da-DK" sz="1200" b="0" noProof="0">
                          <a:solidFill>
                            <a:schemeClr val="tx2"/>
                          </a:solidFill>
                        </a:rPr>
                        <a:t>Fastansættelse</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fulltime</a:t>
                      </a:r>
                      <a:r>
                        <a:rPr lang="da-DK" sz="1200" b="0" i="0" u="none" strike="noStrike" noProof="0">
                          <a:solidFill>
                            <a:srgbClr val="2D55FF"/>
                          </a:solidFill>
                          <a:effectLst/>
                          <a:latin typeface="Inter"/>
                        </a:rPr>
                        <a:t>}}</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462240">
                <a:tc>
                  <a:txBody>
                    <a:bodyPr/>
                    <a:lstStyle/>
                    <a:p>
                      <a:r>
                        <a:rPr lang="da-DK" sz="1200" b="0" noProof="0">
                          <a:solidFill>
                            <a:schemeClr val="tx2"/>
                          </a:solidFill>
                        </a:rPr>
                        <a:t>Totalt antal ansatte</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total_employees</a:t>
                      </a:r>
                      <a:r>
                        <a:rPr lang="da-DK" sz="1200" b="0" i="0" u="none" strike="noStrike" noProof="0">
                          <a:solidFill>
                            <a:srgbClr val="2D55FF"/>
                          </a:solidFill>
                          <a:effectLst/>
                          <a:latin typeface="Inter"/>
                        </a:rPr>
                        <a:t>}}</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bl>
          </a:graphicData>
        </a:graphic>
      </p:graphicFrame>
      <p:graphicFrame>
        <p:nvGraphicFramePr>
          <p:cNvPr id="9" name="Table 8">
            <a:extLst>
              <a:ext uri="{FF2B5EF4-FFF2-40B4-BE49-F238E27FC236}">
                <a16:creationId xmlns:a16="http://schemas.microsoft.com/office/drawing/2014/main" id="{746843BE-938A-9316-3C8E-320134DF837C}"/>
              </a:ext>
            </a:extLst>
          </p:cNvPr>
          <p:cNvGraphicFramePr>
            <a:graphicFrameLocks noGrp="1"/>
          </p:cNvGraphicFramePr>
          <p:nvPr>
            <p:extLst>
              <p:ext uri="{D42A27DB-BD31-4B8C-83A1-F6EECF244321}">
                <p14:modId xmlns:p14="http://schemas.microsoft.com/office/powerpoint/2010/main" val="3482765489"/>
              </p:ext>
            </p:extLst>
          </p:nvPr>
        </p:nvGraphicFramePr>
        <p:xfrm>
          <a:off x="5710687" y="1733787"/>
          <a:ext cx="5973314" cy="1848960"/>
        </p:xfrm>
        <a:graphic>
          <a:graphicData uri="http://schemas.openxmlformats.org/drawingml/2006/table">
            <a:tbl>
              <a:tblPr firstRow="1">
                <a:tableStyleId>{2A488322-F2BA-4B5B-9748-0D474271808F}</a:tableStyleId>
              </a:tblPr>
              <a:tblGrid>
                <a:gridCol w="2986657">
                  <a:extLst>
                    <a:ext uri="{9D8B030D-6E8A-4147-A177-3AD203B41FA5}">
                      <a16:colId xmlns:a16="http://schemas.microsoft.com/office/drawing/2014/main" val="2698153288"/>
                    </a:ext>
                  </a:extLst>
                </a:gridCol>
                <a:gridCol w="2986657">
                  <a:extLst>
                    <a:ext uri="{9D8B030D-6E8A-4147-A177-3AD203B41FA5}">
                      <a16:colId xmlns:a16="http://schemas.microsoft.com/office/drawing/2014/main" val="2119413191"/>
                    </a:ext>
                  </a:extLst>
                </a:gridCol>
              </a:tblGrid>
              <a:tr h="288000">
                <a:tc>
                  <a:txBody>
                    <a:bodyPr/>
                    <a:lstStyle/>
                    <a:p>
                      <a:r>
                        <a:rPr lang="da-DK" sz="1200" b="1" noProof="0">
                          <a:solidFill>
                            <a:schemeClr val="tx2"/>
                          </a:solidFill>
                          <a:latin typeface="+mn-lt"/>
                        </a:rPr>
                        <a:t>Køn</a:t>
                      </a:r>
                      <a:r>
                        <a:rPr lang="da-DK" sz="1200" b="0" noProof="0">
                          <a:solidFill>
                            <a:schemeClr val="tx2"/>
                          </a:solidFill>
                          <a:latin typeface="+mn-lt"/>
                        </a:rPr>
                        <a:t> </a:t>
                      </a:r>
                      <a:r>
                        <a:rPr lang="da-DK" sz="1200" b="0" noProof="0">
                          <a:solidFill>
                            <a:schemeClr val="tx2"/>
                          </a:solidFill>
                        </a:rPr>
                        <a:t>(pkt. 40b)</a:t>
                      </a:r>
                      <a:endParaRPr lang="da-DK" sz="1200" b="0" noProof="0">
                        <a:solidFill>
                          <a:schemeClr val="tx2"/>
                        </a:solidFill>
                        <a:latin typeface="+mn-lt"/>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a-DK" sz="1200" b="1" noProof="0">
                          <a:solidFill>
                            <a:schemeClr val="tx2"/>
                          </a:solidFill>
                          <a:latin typeface="+mn-lt"/>
                        </a:rPr>
                        <a:t>Antal ansatte </a:t>
                      </a:r>
                      <a:r>
                        <a:rPr lang="da-DK" sz="1200" b="1" noProof="0">
                          <a:solidFill>
                            <a:schemeClr val="tx2"/>
                          </a:solidFill>
                        </a:rPr>
                        <a:t>(antal personer eller fuldtidsækvivalenter)</a:t>
                      </a:r>
                      <a:endParaRPr lang="da-DK" sz="1200" b="1" noProof="0">
                        <a:solidFill>
                          <a:schemeClr val="tx2"/>
                        </a:solidFill>
                        <a:latin typeface="+mn-lt"/>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8000">
                <a:tc>
                  <a:txBody>
                    <a:bodyPr/>
                    <a:lstStyle/>
                    <a:p>
                      <a:r>
                        <a:rPr lang="da-DK" sz="1200" b="0" noProof="0">
                          <a:solidFill>
                            <a:schemeClr val="tx2"/>
                          </a:solidFill>
                          <a:latin typeface="+mn-lt"/>
                        </a:rPr>
                        <a:t>Mand</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{{men}}</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88000">
                <a:tc>
                  <a:txBody>
                    <a:bodyPr/>
                    <a:lstStyle/>
                    <a:p>
                      <a:r>
                        <a:rPr lang="da-DK" sz="1200" b="0" noProof="0">
                          <a:solidFill>
                            <a:schemeClr val="tx2"/>
                          </a:solidFill>
                          <a:latin typeface="+mn-lt"/>
                        </a:rPr>
                        <a:t>Kvinde</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women</a:t>
                      </a:r>
                      <a:r>
                        <a:rPr lang="da-DK" sz="1200" b="0" i="0" u="none" strike="noStrike" noProof="0">
                          <a:solidFill>
                            <a:srgbClr val="2D55FF"/>
                          </a:solidFill>
                          <a:effectLst/>
                          <a:latin typeface="Inter"/>
                        </a:rPr>
                        <a:t>}}</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r h="288000">
                <a:tc>
                  <a:txBody>
                    <a:bodyPr/>
                    <a:lstStyle/>
                    <a:p>
                      <a:r>
                        <a:rPr lang="da-DK" sz="1200" b="0" noProof="0">
                          <a:solidFill>
                            <a:schemeClr val="tx2"/>
                          </a:solidFill>
                          <a:latin typeface="+mn-lt"/>
                        </a:rPr>
                        <a:t>Andet</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others</a:t>
                      </a:r>
                      <a:r>
                        <a:rPr lang="da-DK" sz="1200" b="0" i="0" u="none" strike="noStrike" noProof="0">
                          <a:solidFill>
                            <a:srgbClr val="2D55FF"/>
                          </a:solidFill>
                          <a:effectLst/>
                          <a:latin typeface="Inter"/>
                        </a:rPr>
                        <a:t>}}</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r h="288000">
                <a:tc>
                  <a:txBody>
                    <a:bodyPr/>
                    <a:lstStyle/>
                    <a:p>
                      <a:r>
                        <a:rPr lang="da-DK" sz="1200" b="0" noProof="0">
                          <a:solidFill>
                            <a:schemeClr val="tx2"/>
                          </a:solidFill>
                          <a:latin typeface="+mn-lt"/>
                        </a:rPr>
                        <a:t>Ikke registreret</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not_registeret</a:t>
                      </a:r>
                      <a:r>
                        <a:rPr lang="da-DK" sz="1200" b="0" i="0" u="none" strike="noStrike" noProof="0">
                          <a:solidFill>
                            <a:srgbClr val="2D55FF"/>
                          </a:solidFill>
                          <a:effectLst/>
                          <a:latin typeface="Inter"/>
                        </a:rPr>
                        <a:t>}}</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151098499"/>
                  </a:ext>
                </a:extLst>
              </a:tr>
              <a:tr h="288000">
                <a:tc>
                  <a:txBody>
                    <a:bodyPr/>
                    <a:lstStyle/>
                    <a:p>
                      <a:r>
                        <a:rPr lang="da-DK" sz="1200" b="0" noProof="0">
                          <a:solidFill>
                            <a:schemeClr val="tx2"/>
                          </a:solidFill>
                          <a:latin typeface="+mn-lt"/>
                        </a:rPr>
                        <a:t>Totalt antal ansatte</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total_employees</a:t>
                      </a:r>
                      <a:r>
                        <a:rPr lang="da-DK" sz="1200" b="0" i="0" u="none" strike="noStrike" noProof="0">
                          <a:solidFill>
                            <a:srgbClr val="2D55FF"/>
                          </a:solidFill>
                          <a:effectLst/>
                          <a:latin typeface="Inter"/>
                        </a:rPr>
                        <a:t>}}</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4190025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10</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sp>
        <p:nvSpPr>
          <p:cNvPr id="3" name="Tekstfelt 2">
            <a:extLst>
              <a:ext uri="{FF2B5EF4-FFF2-40B4-BE49-F238E27FC236}">
                <a16:creationId xmlns:a16="http://schemas.microsoft.com/office/drawing/2014/main" id="{B45D574B-3D14-8531-DB71-2FD2A411CD63}"/>
              </a:ext>
            </a:extLst>
          </p:cNvPr>
          <p:cNvSpPr txBox="1"/>
          <p:nvPr/>
        </p:nvSpPr>
        <p:spPr>
          <a:xfrm>
            <a:off x="518600" y="1041410"/>
            <a:ext cx="11165400" cy="830997"/>
          </a:xfrm>
          <a:prstGeom prst="rect">
            <a:avLst/>
          </a:prstGeom>
          <a:noFill/>
        </p:spPr>
        <p:txBody>
          <a:bodyPr wrap="square">
            <a:spAutoFit/>
          </a:bodyPr>
          <a:lstStyle/>
          <a:p>
            <a:pPr rtl="0">
              <a:buNone/>
            </a:pPr>
            <a:r>
              <a:rPr lang="da-DK" sz="1200" b="0" i="0" u="none" strike="noStrike" noProof="0">
                <a:solidFill>
                  <a:srgbClr val="25595D"/>
                </a:solidFill>
                <a:effectLst/>
                <a:latin typeface="Inter"/>
              </a:rPr>
              <a:t>Virksomheden har oplyst antallet af medarbejdere for følgende specifikationer: Type ansættelseskontrakt, hvor medarbejderne er opdelt i midlertidige og faste kontrakter; Køn, som giver indsigt i kønsfordelingen blandt medarbejderne; og ansættelseskontraktens land, hvilket er relevant, hvis virksomheden opererer i flere lande.</a:t>
            </a:r>
            <a:endParaRPr lang="da-DK" sz="1200" b="0" noProof="0">
              <a:effectLst/>
              <a:latin typeface="Inter"/>
            </a:endParaRPr>
          </a:p>
          <a:p>
            <a:pPr>
              <a:buNone/>
            </a:pPr>
            <a:br>
              <a:rPr lang="da-DK" sz="1200" noProof="0">
                <a:latin typeface="Inter"/>
              </a:rPr>
            </a:br>
            <a:endParaRPr lang="da-DK" sz="1200" noProof="0">
              <a:latin typeface="Inter"/>
            </a:endParaRPr>
          </a:p>
        </p:txBody>
      </p:sp>
      <p:graphicFrame>
        <p:nvGraphicFramePr>
          <p:cNvPr id="13" name="Table 13">
            <a:extLst>
              <a:ext uri="{FF2B5EF4-FFF2-40B4-BE49-F238E27FC236}">
                <a16:creationId xmlns:a16="http://schemas.microsoft.com/office/drawing/2014/main" id="{42F1F305-B426-7DDF-1FC3-46007564CD01}"/>
              </a:ext>
            </a:extLst>
          </p:cNvPr>
          <p:cNvGraphicFramePr>
            <a:graphicFrameLocks noGrp="1"/>
          </p:cNvGraphicFramePr>
          <p:nvPr>
            <p:extLst>
              <p:ext uri="{D42A27DB-BD31-4B8C-83A1-F6EECF244321}">
                <p14:modId xmlns:p14="http://schemas.microsoft.com/office/powerpoint/2010/main" val="3629587924"/>
              </p:ext>
            </p:extLst>
          </p:nvPr>
        </p:nvGraphicFramePr>
        <p:xfrm>
          <a:off x="509736" y="3930137"/>
          <a:ext cx="11163663" cy="1152000"/>
        </p:xfrm>
        <a:graphic>
          <a:graphicData uri="http://schemas.openxmlformats.org/drawingml/2006/table">
            <a:tbl>
              <a:tblPr firstRow="1">
                <a:tableStyleId>{2A488322-F2BA-4B5B-9748-0D474271808F}</a:tableStyleId>
              </a:tblPr>
              <a:tblGrid>
                <a:gridCol w="5967835">
                  <a:extLst>
                    <a:ext uri="{9D8B030D-6E8A-4147-A177-3AD203B41FA5}">
                      <a16:colId xmlns:a16="http://schemas.microsoft.com/office/drawing/2014/main" val="2698153288"/>
                    </a:ext>
                  </a:extLst>
                </a:gridCol>
                <a:gridCol w="5195828">
                  <a:extLst>
                    <a:ext uri="{9D8B030D-6E8A-4147-A177-3AD203B41FA5}">
                      <a16:colId xmlns:a16="http://schemas.microsoft.com/office/drawing/2014/main" val="2119413191"/>
                    </a:ext>
                  </a:extLst>
                </a:gridCol>
              </a:tblGrid>
              <a:tr h="288000">
                <a:tc>
                  <a:txBody>
                    <a:bodyPr/>
                    <a:lstStyle/>
                    <a:p>
                      <a:r>
                        <a:rPr lang="da-DK" sz="1200" b="1" noProof="0">
                          <a:solidFill>
                            <a:schemeClr val="tx2"/>
                          </a:solidFill>
                        </a:rPr>
                        <a:t>Land (hvor ansættelseskontrakten er indgået) </a:t>
                      </a:r>
                      <a:r>
                        <a:rPr lang="da-DK" sz="1200" b="0" noProof="0">
                          <a:solidFill>
                            <a:schemeClr val="tx2"/>
                          </a:solidFill>
                        </a:rPr>
                        <a:t>(pkt. 40c)</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a-DK" sz="1200" b="1" noProof="0">
                          <a:solidFill>
                            <a:schemeClr val="tx2"/>
                          </a:solidFill>
                        </a:rPr>
                        <a:t>Antal ansatte (antal personer eller fuldtidsækvivalenter)</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8000">
                <a:tc>
                  <a:txBody>
                    <a:bodyPr/>
                    <a:lstStyle/>
                    <a:p>
                      <a:r>
                        <a:rPr lang="da-DK" sz="1200" b="0" noProof="0">
                          <a:solidFill>
                            <a:schemeClr val="tx2"/>
                          </a:solidFill>
                        </a:rPr>
                        <a:t>Danmark</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buNone/>
                      </a:pPr>
                      <a:r>
                        <a:rPr lang="da-DK" sz="1200" b="0" i="0" u="none" strike="noStrike" noProof="0">
                          <a:solidFill>
                            <a:srgbClr val="2D55FF"/>
                          </a:solidFill>
                          <a:effectLst/>
                          <a:latin typeface="Inter"/>
                        </a:rPr>
                        <a:t>{{Denmark}}</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88000">
                <a:tc>
                  <a:txBody>
                    <a:bodyPr/>
                    <a:lstStyle/>
                    <a:p>
                      <a:pPr rtl="0" fontAlgn="ctr">
                        <a:buNone/>
                      </a:pPr>
                      <a:r>
                        <a:rPr lang="da-DK" sz="1200" b="0" i="0" u="none" strike="noStrike" noProof="0">
                          <a:solidFill>
                            <a:srgbClr val="2D55FF"/>
                          </a:solidFill>
                          <a:effectLst/>
                          <a:latin typeface="Inter"/>
                        </a:rPr>
                        <a:t>{{Land_b}}</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buNone/>
                      </a:pPr>
                      <a:r>
                        <a:rPr lang="da-DK" sz="1200" b="0" i="0" u="none" strike="noStrike" noProof="0">
                          <a:solidFill>
                            <a:srgbClr val="2D55FF"/>
                          </a:solidFill>
                          <a:effectLst/>
                          <a:latin typeface="Inter"/>
                        </a:rPr>
                        <a:t>{{FTE_land_b}}</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88000">
                <a:tc>
                  <a:txBody>
                    <a:bodyPr/>
                    <a:lstStyle/>
                    <a:p>
                      <a:r>
                        <a:rPr lang="da-DK" sz="1200" b="0" noProof="0">
                          <a:solidFill>
                            <a:schemeClr val="tx2"/>
                          </a:solidFill>
                        </a:rPr>
                        <a:t>Totalt antal ansatte</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{{Total_out_of_countries}}</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bl>
          </a:graphicData>
        </a:graphic>
      </p:graphicFrame>
    </p:spTree>
    <p:extLst>
      <p:ext uri="{BB962C8B-B14F-4D97-AF65-F5344CB8AC3E}">
        <p14:creationId xmlns:p14="http://schemas.microsoft.com/office/powerpoint/2010/main" val="2298971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Egen arbejdsstyrke: Sundhed og sikkerhed (B9)</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3735616830"/>
              </p:ext>
            </p:extLst>
          </p:nvPr>
        </p:nvGraphicFramePr>
        <p:xfrm>
          <a:off x="508000" y="1720951"/>
          <a:ext cx="5469468" cy="1013760"/>
        </p:xfrm>
        <a:graphic>
          <a:graphicData uri="http://schemas.openxmlformats.org/drawingml/2006/table">
            <a:tbl>
              <a:tblPr firstRow="1">
                <a:tableStyleId>{2A488322-F2BA-4B5B-9748-0D474271808F}</a:tableStyleId>
              </a:tblPr>
              <a:tblGrid>
                <a:gridCol w="3028830">
                  <a:extLst>
                    <a:ext uri="{9D8B030D-6E8A-4147-A177-3AD203B41FA5}">
                      <a16:colId xmlns:a16="http://schemas.microsoft.com/office/drawing/2014/main" val="2698153288"/>
                    </a:ext>
                  </a:extLst>
                </a:gridCol>
                <a:gridCol w="2440638">
                  <a:extLst>
                    <a:ext uri="{9D8B030D-6E8A-4147-A177-3AD203B41FA5}">
                      <a16:colId xmlns:a16="http://schemas.microsoft.com/office/drawing/2014/main" val="2119413191"/>
                    </a:ext>
                  </a:extLst>
                </a:gridCol>
              </a:tblGrid>
              <a:tr h="3379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Registrerede arbejdsulykker </a:t>
                      </a:r>
                      <a:r>
                        <a:rPr lang="da-DK" sz="1200" b="0" noProof="0">
                          <a:solidFill>
                            <a:schemeClr val="tx2"/>
                          </a:solidFill>
                        </a:rPr>
                        <a:t>(pkt. 41a)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År</a:t>
                      </a:r>
                      <a:r>
                        <a:rPr lang="da-DK" sz="1200" b="1" noProof="0">
                          <a:solidFill>
                            <a:schemeClr val="accent2"/>
                          </a:solidFill>
                          <a:latin typeface="Calibri"/>
                          <a:cs typeface="Calibri"/>
                        </a:rPr>
                        <a:t> {{insert_year}}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37920">
                <a:tc>
                  <a:txBody>
                    <a:bodyPr/>
                    <a:lstStyle/>
                    <a:p>
                      <a:r>
                        <a:rPr lang="da-DK" sz="1200" b="0" noProof="0">
                          <a:solidFill>
                            <a:schemeClr val="tx2"/>
                          </a:solidFill>
                        </a:rPr>
                        <a:t>Antal</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i="0" u="none" strike="noStrike" kern="1200" cap="none" spc="0" normalizeH="0" baseline="0" noProof="0">
                          <a:ln>
                            <a:noFill/>
                          </a:ln>
                          <a:solidFill>
                            <a:srgbClr val="2D55FF"/>
                          </a:solidFill>
                          <a:effectLst/>
                          <a:uLnTx/>
                          <a:uFillTx/>
                          <a:latin typeface="Inter"/>
                          <a:ea typeface="+mn-ea"/>
                          <a:cs typeface="+mn-cs"/>
                        </a:rPr>
                        <a:t>{{</a:t>
                      </a:r>
                      <a:r>
                        <a:rPr lang="da-DK" sz="1200" b="0" i="0" u="none" strike="noStrike" kern="1200" cap="none" spc="0" normalizeH="0" baseline="0" noProof="0">
                          <a:ln>
                            <a:noFill/>
                          </a:ln>
                          <a:solidFill>
                            <a:srgbClr val="2D55FF"/>
                          </a:solidFill>
                          <a:effectLst/>
                          <a:uLnTx/>
                          <a:uFillTx/>
                          <a:latin typeface="Inter"/>
                        </a:rPr>
                        <a:t>indsat_antal_accidents</a:t>
                      </a:r>
                      <a:r>
                        <a:rPr lang="da-DK" sz="1200" b="0" i="0" u="none" strike="noStrike" kern="1200" cap="none" spc="0" normalizeH="0" baseline="0" noProof="0">
                          <a:ln>
                            <a:noFill/>
                          </a:ln>
                          <a:solidFill>
                            <a:srgbClr val="2D55FF"/>
                          </a:solidFill>
                          <a:effectLst/>
                          <a:uLnTx/>
                          <a:uFillTx/>
                          <a:latin typeface="Inter"/>
                          <a:ea typeface="+mn-ea"/>
                          <a:cs typeface="+mn-cs"/>
                        </a:rPr>
                        <a:t>}}</a:t>
                      </a:r>
                      <a:endParaRPr kumimoji="0" lang="da-DK" sz="1200" b="0" i="0" u="none" strike="noStrike" kern="1200" cap="none" spc="0" normalizeH="0" baseline="0" noProof="0">
                        <a:ln>
                          <a:noFill/>
                        </a:ln>
                        <a:solidFill>
                          <a:srgbClr val="2D55FF"/>
                        </a:solidFill>
                        <a:effectLst/>
                        <a:uLnTx/>
                        <a:uFillTx/>
                        <a:latin typeface="Inter"/>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37920">
                <a:tc>
                  <a:txBody>
                    <a:bodyPr/>
                    <a:lstStyle/>
                    <a:p>
                      <a:r>
                        <a:rPr lang="da-DK" sz="1200" b="0" noProof="0">
                          <a:solidFill>
                            <a:schemeClr val="tx2"/>
                          </a:solidFill>
                        </a:rPr>
                        <a:t>Frekvens</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i="0" u="none" strike="noStrike" kern="1200" cap="none" spc="0" normalizeH="0" baseline="0" noProof="0">
                          <a:ln>
                            <a:noFill/>
                          </a:ln>
                          <a:solidFill>
                            <a:srgbClr val="2D55FF"/>
                          </a:solidFill>
                          <a:effectLst/>
                          <a:uLnTx/>
                          <a:uFillTx/>
                          <a:latin typeface="Inter"/>
                          <a:ea typeface="+mn-ea"/>
                          <a:cs typeface="+mn-cs"/>
                        </a:rPr>
                        <a:t>{{</a:t>
                      </a:r>
                      <a:r>
                        <a:rPr lang="da-DK" sz="1200" b="0" i="0" u="none" strike="noStrike" kern="1200" cap="none" spc="0" normalizeH="0" baseline="0" noProof="0">
                          <a:ln>
                            <a:noFill/>
                          </a:ln>
                          <a:solidFill>
                            <a:srgbClr val="2D55FF"/>
                          </a:solidFill>
                          <a:effectLst/>
                          <a:uLnTx/>
                          <a:uFillTx/>
                          <a:latin typeface="Inter"/>
                        </a:rPr>
                        <a:t>indsat_accidents_frequents</a:t>
                      </a:r>
                      <a:r>
                        <a:rPr lang="da-DK" sz="1200" b="0" i="0" u="none" strike="noStrike" kern="1200" cap="none" spc="0" normalizeH="0" baseline="0" noProof="0">
                          <a:ln>
                            <a:noFill/>
                          </a:ln>
                          <a:solidFill>
                            <a:srgbClr val="2D55FF"/>
                          </a:solidFill>
                          <a:effectLst/>
                          <a:uLnTx/>
                          <a:uFillTx/>
                          <a:latin typeface="Inter"/>
                          <a:ea typeface="+mn-ea"/>
                          <a:cs typeface="+mn-cs"/>
                        </a:rPr>
                        <a:t>}}</a:t>
                      </a:r>
                      <a:endParaRPr kumimoji="0" lang="da-DK" sz="1200" b="0" i="0" u="none" strike="noStrike" kern="1200" cap="none" spc="0" normalizeH="0" baseline="0" noProof="0">
                        <a:ln>
                          <a:noFill/>
                        </a:ln>
                        <a:solidFill>
                          <a:srgbClr val="2D55FF"/>
                        </a:solidFill>
                        <a:effectLst/>
                        <a:uLnTx/>
                        <a:uFillTx/>
                        <a:latin typeface="Inter"/>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graphicFrame>
        <p:nvGraphicFramePr>
          <p:cNvPr id="9" name="Table 8">
            <a:extLst>
              <a:ext uri="{FF2B5EF4-FFF2-40B4-BE49-F238E27FC236}">
                <a16:creationId xmlns:a16="http://schemas.microsoft.com/office/drawing/2014/main" id="{F34D7173-AC05-2CA2-966F-6F3A8736B5C6}"/>
              </a:ext>
            </a:extLst>
          </p:cNvPr>
          <p:cNvGraphicFramePr>
            <a:graphicFrameLocks noGrp="1"/>
          </p:cNvGraphicFramePr>
          <p:nvPr>
            <p:extLst>
              <p:ext uri="{D42A27DB-BD31-4B8C-83A1-F6EECF244321}">
                <p14:modId xmlns:p14="http://schemas.microsoft.com/office/powerpoint/2010/main" val="3388670097"/>
              </p:ext>
            </p:extLst>
          </p:nvPr>
        </p:nvGraphicFramePr>
        <p:xfrm>
          <a:off x="6203932" y="1720952"/>
          <a:ext cx="5469468" cy="996435"/>
        </p:xfrm>
        <a:graphic>
          <a:graphicData uri="http://schemas.openxmlformats.org/drawingml/2006/table">
            <a:tbl>
              <a:tblPr firstRow="1">
                <a:tableStyleId>{2A488322-F2BA-4B5B-9748-0D474271808F}</a:tableStyleId>
              </a:tblPr>
              <a:tblGrid>
                <a:gridCol w="3778268">
                  <a:extLst>
                    <a:ext uri="{9D8B030D-6E8A-4147-A177-3AD203B41FA5}">
                      <a16:colId xmlns:a16="http://schemas.microsoft.com/office/drawing/2014/main" val="2698153288"/>
                    </a:ext>
                  </a:extLst>
                </a:gridCol>
                <a:gridCol w="1691200">
                  <a:extLst>
                    <a:ext uri="{9D8B030D-6E8A-4147-A177-3AD203B41FA5}">
                      <a16:colId xmlns:a16="http://schemas.microsoft.com/office/drawing/2014/main" val="2119413191"/>
                    </a:ext>
                  </a:extLst>
                </a:gridCol>
              </a:tblGrid>
              <a:tr h="3321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Arbejdsrelaterede dødsfald </a:t>
                      </a:r>
                      <a:r>
                        <a:rPr lang="da-DK" sz="1200" b="0" noProof="0">
                          <a:solidFill>
                            <a:schemeClr val="tx2"/>
                          </a:solidFill>
                        </a:rPr>
                        <a:t>(pkt. 41b)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År</a:t>
                      </a:r>
                      <a:r>
                        <a:rPr lang="da-DK" sz="1200" b="1" noProof="0">
                          <a:solidFill>
                            <a:schemeClr val="accent2"/>
                          </a:solidFill>
                          <a:latin typeface="Calibri"/>
                          <a:cs typeface="Calibri"/>
                        </a:rPr>
                        <a:t> {{insert_year}}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32145">
                <a:tc>
                  <a:txBody>
                    <a:bodyPr/>
                    <a:lstStyle/>
                    <a:p>
                      <a:r>
                        <a:rPr lang="da-DK" sz="1200" b="0" noProof="0">
                          <a:solidFill>
                            <a:schemeClr val="tx2"/>
                          </a:solidFill>
                        </a:rPr>
                        <a:t>Som følge af arbejdsskade/-ulykke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a:lnSpc>
                          <a:spcPct val="100000"/>
                        </a:lnSpc>
                        <a:spcBef>
                          <a:spcPts val="0"/>
                        </a:spcBef>
                        <a:spcAft>
                          <a:spcPts val="0"/>
                        </a:spcAft>
                        <a:buNone/>
                        <a:tabLst/>
                        <a:defRPr/>
                      </a:pPr>
                      <a:r>
                        <a:rPr lang="da-DK" sz="1200" b="0" i="0" u="none" strike="noStrike" kern="1200" cap="none" spc="0" normalizeH="0" baseline="0" noProof="0">
                          <a:ln>
                            <a:noFill/>
                          </a:ln>
                          <a:solidFill>
                            <a:srgbClr val="2D55FF"/>
                          </a:solidFill>
                          <a:effectLst/>
                          <a:uLnTx/>
                          <a:uFillTx/>
                          <a:latin typeface="Inter"/>
                          <a:ea typeface="+mn-ea"/>
                          <a:cs typeface="+mn-cs"/>
                        </a:rPr>
                        <a:t>{{</a:t>
                      </a:r>
                      <a:r>
                        <a:rPr lang="da-DK" sz="1200" b="0" i="0" u="none" strike="noStrike" kern="1200" cap="none" spc="0" normalizeH="0" baseline="0" noProof="0">
                          <a:ln>
                            <a:noFill/>
                          </a:ln>
                          <a:solidFill>
                            <a:srgbClr val="2D55FF"/>
                          </a:solidFill>
                          <a:effectLst/>
                          <a:uLnTx/>
                          <a:uFillTx/>
                          <a:latin typeface="Inter"/>
                        </a:rPr>
                        <a:t>deaths_by_accidents</a:t>
                      </a:r>
                      <a:r>
                        <a:rPr lang="da-DK" sz="1200" b="0" i="0" u="none" strike="noStrike" kern="1200" cap="none" spc="0" normalizeH="0" baseline="0" noProof="0">
                          <a:ln>
                            <a:noFill/>
                          </a:ln>
                          <a:solidFill>
                            <a:srgbClr val="2D55FF"/>
                          </a:solidFill>
                          <a:effectLst/>
                          <a:uLnTx/>
                          <a:uFillTx/>
                          <a:latin typeface="Inter"/>
                          <a:ea typeface="+mn-ea"/>
                          <a:cs typeface="+mn-cs"/>
                        </a:rPr>
                        <a:t>}}</a:t>
                      </a:r>
                      <a:endParaRPr kumimoji="0" lang="da-DK" sz="1200" b="0" i="0" u="none" strike="noStrike" kern="1200" cap="none" spc="0" normalizeH="0" baseline="0" noProof="0">
                        <a:ln>
                          <a:noFill/>
                        </a:ln>
                        <a:solidFill>
                          <a:srgbClr val="2D55FF"/>
                        </a:solidFill>
                        <a:effectLst/>
                        <a:uLnTx/>
                        <a:uFillTx/>
                        <a:latin typeface="Inter"/>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32145">
                <a:tc>
                  <a:txBody>
                    <a:bodyPr/>
                    <a:lstStyle/>
                    <a:p>
                      <a:r>
                        <a:rPr lang="da-DK" sz="1200" b="0" noProof="0">
                          <a:solidFill>
                            <a:schemeClr val="tx2"/>
                          </a:solidFill>
                        </a:rPr>
                        <a:t>Som følge af arbejdsrelateret dårligt helbred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i="0" u="none" strike="noStrike" kern="1200" cap="none" spc="0" normalizeH="0" baseline="0" noProof="0">
                          <a:ln>
                            <a:noFill/>
                          </a:ln>
                          <a:solidFill>
                            <a:srgbClr val="2D55FF"/>
                          </a:solidFill>
                          <a:effectLst/>
                          <a:uLnTx/>
                          <a:uFillTx/>
                          <a:latin typeface="Inter"/>
                          <a:ea typeface="+mn-ea"/>
                          <a:cs typeface="+mn-cs"/>
                        </a:rPr>
                        <a:t>{{</a:t>
                      </a:r>
                      <a:r>
                        <a:rPr lang="da-DK" sz="1200" b="0" i="0" u="none" strike="noStrike" kern="1200" cap="none" spc="0" normalizeH="0" baseline="0" noProof="0">
                          <a:ln>
                            <a:noFill/>
                          </a:ln>
                          <a:solidFill>
                            <a:srgbClr val="2D55FF"/>
                          </a:solidFill>
                          <a:effectLst/>
                          <a:uLnTx/>
                          <a:uFillTx/>
                          <a:latin typeface="Inter"/>
                        </a:rPr>
                        <a:t>deaths_by_health</a:t>
                      </a:r>
                      <a:r>
                        <a:rPr lang="da-DK" sz="1200" b="0" i="0" u="none" strike="noStrike" kern="1200" cap="none" spc="0" normalizeH="0" baseline="0" noProof="0">
                          <a:ln>
                            <a:noFill/>
                          </a:ln>
                          <a:solidFill>
                            <a:srgbClr val="2D55FF"/>
                          </a:solidFill>
                          <a:effectLst/>
                          <a:uLnTx/>
                          <a:uFillTx/>
                          <a:latin typeface="Inter"/>
                          <a:ea typeface="+mn-ea"/>
                          <a:cs typeface="+mn-cs"/>
                        </a:rPr>
                        <a:t>}}</a:t>
                      </a:r>
                      <a:endParaRPr kumimoji="0" lang="da-DK" sz="1200" b="0" i="0" u="none" strike="noStrike" kern="1200" cap="none" spc="0" normalizeH="0" baseline="0" noProof="0">
                        <a:ln>
                          <a:noFill/>
                        </a:ln>
                        <a:solidFill>
                          <a:srgbClr val="2D55FF"/>
                        </a:solidFill>
                        <a:effectLst/>
                        <a:uLnTx/>
                        <a:uFillTx/>
                        <a:latin typeface="Inter"/>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11</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sp>
        <p:nvSpPr>
          <p:cNvPr id="23" name="Tekstfelt 22">
            <a:extLst>
              <a:ext uri="{FF2B5EF4-FFF2-40B4-BE49-F238E27FC236}">
                <a16:creationId xmlns:a16="http://schemas.microsoft.com/office/drawing/2014/main" id="{5D01A9BD-1028-6124-EDFA-F7528B760856}"/>
              </a:ext>
            </a:extLst>
          </p:cNvPr>
          <p:cNvSpPr txBox="1"/>
          <p:nvPr/>
        </p:nvSpPr>
        <p:spPr>
          <a:xfrm>
            <a:off x="518600" y="995767"/>
            <a:ext cx="11165400" cy="830997"/>
          </a:xfrm>
          <a:prstGeom prst="rect">
            <a:avLst/>
          </a:prstGeom>
          <a:noFill/>
        </p:spPr>
        <p:txBody>
          <a:bodyPr wrap="square">
            <a:spAutoFit/>
          </a:bodyPr>
          <a:lstStyle/>
          <a:p>
            <a:pPr rtl="0">
              <a:buNone/>
            </a:pPr>
            <a:r>
              <a:rPr lang="da-DK" sz="1200" b="0" i="0" u="none" strike="noStrike" noProof="0">
                <a:solidFill>
                  <a:schemeClr val="tx2"/>
                </a:solidFill>
                <a:effectLst/>
                <a:latin typeface="Inter"/>
              </a:rPr>
              <a:t>Virksomheden har givet oplysninger om antallet af registrerede arbejdsulykker og arbejdsrelaterede dødsfald for følgende specifikationer: Antal og hyppighed. Derudover, om arbejdsrelaterede dødsfald skyldes arbejdsskader/arbejdsulykker eller dårligt helbred.</a:t>
            </a:r>
            <a:endParaRPr lang="da-DK" sz="1200" b="0" noProof="0">
              <a:solidFill>
                <a:schemeClr val="tx2"/>
              </a:solidFill>
              <a:effectLst/>
              <a:latin typeface="Inter"/>
            </a:endParaRPr>
          </a:p>
          <a:p>
            <a:pPr>
              <a:buNone/>
            </a:pPr>
            <a:br>
              <a:rPr lang="da-DK" sz="1200" noProof="0">
                <a:solidFill>
                  <a:schemeClr val="tx2"/>
                </a:solidFill>
                <a:latin typeface="Inter"/>
              </a:rPr>
            </a:br>
            <a:endParaRPr lang="da-DK" sz="1200" noProof="0">
              <a:solidFill>
                <a:schemeClr val="tx2"/>
              </a:solidFill>
              <a:latin typeface="Inter"/>
            </a:endParaRPr>
          </a:p>
        </p:txBody>
      </p:sp>
      <p:sp>
        <p:nvSpPr>
          <p:cNvPr id="24" name="Title 3">
            <a:extLst>
              <a:ext uri="{FF2B5EF4-FFF2-40B4-BE49-F238E27FC236}">
                <a16:creationId xmlns:a16="http://schemas.microsoft.com/office/drawing/2014/main" id="{9671F0E7-ADFB-1E9D-A747-4277AC9D48F4}"/>
              </a:ext>
            </a:extLst>
          </p:cNvPr>
          <p:cNvSpPr txBox="1">
            <a:spLocks/>
          </p:cNvSpPr>
          <p:nvPr/>
        </p:nvSpPr>
        <p:spPr>
          <a:xfrm>
            <a:off x="518600" y="3051599"/>
            <a:ext cx="11165400" cy="2492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800" b="1" kern="1200" spc="-10" baseline="0">
                <a:solidFill>
                  <a:schemeClr val="tx2"/>
                </a:solidFill>
                <a:latin typeface="+mj-lt"/>
                <a:ea typeface="+mj-ea"/>
                <a:cs typeface="+mj-cs"/>
              </a:defRPr>
            </a:lvl1pPr>
          </a:lstStyle>
          <a:p>
            <a:r>
              <a:rPr lang="da-DK" noProof="0"/>
              <a:t>Egen arbejdsstyrke: Vederlag, overenskomster og uddannelse (B10)</a:t>
            </a:r>
          </a:p>
        </p:txBody>
      </p:sp>
      <p:graphicFrame>
        <p:nvGraphicFramePr>
          <p:cNvPr id="26" name="Table 14">
            <a:extLst>
              <a:ext uri="{FF2B5EF4-FFF2-40B4-BE49-F238E27FC236}">
                <a16:creationId xmlns:a16="http://schemas.microsoft.com/office/drawing/2014/main" id="{B9DC9ED6-A05A-D3CE-334F-D39DB9606395}"/>
              </a:ext>
            </a:extLst>
          </p:cNvPr>
          <p:cNvGraphicFramePr>
            <a:graphicFrameLocks noGrp="1"/>
          </p:cNvGraphicFramePr>
          <p:nvPr>
            <p:extLst>
              <p:ext uri="{D42A27DB-BD31-4B8C-83A1-F6EECF244321}">
                <p14:modId xmlns:p14="http://schemas.microsoft.com/office/powerpoint/2010/main" val="2949925802"/>
              </p:ext>
            </p:extLst>
          </p:nvPr>
        </p:nvGraphicFramePr>
        <p:xfrm>
          <a:off x="6214532" y="4181125"/>
          <a:ext cx="5469467" cy="875519"/>
        </p:xfrm>
        <a:graphic>
          <a:graphicData uri="http://schemas.openxmlformats.org/drawingml/2006/table">
            <a:tbl>
              <a:tblPr firstRow="1">
                <a:tableStyleId>{2A488322-F2BA-4B5B-9748-0D474271808F}</a:tableStyleId>
              </a:tblPr>
              <a:tblGrid>
                <a:gridCol w="3805768">
                  <a:extLst>
                    <a:ext uri="{9D8B030D-6E8A-4147-A177-3AD203B41FA5}">
                      <a16:colId xmlns:a16="http://schemas.microsoft.com/office/drawing/2014/main" val="2698153288"/>
                    </a:ext>
                  </a:extLst>
                </a:gridCol>
                <a:gridCol w="1663699">
                  <a:extLst>
                    <a:ext uri="{9D8B030D-6E8A-4147-A177-3AD203B41FA5}">
                      <a16:colId xmlns:a16="http://schemas.microsoft.com/office/drawing/2014/main" val="2119413191"/>
                    </a:ext>
                  </a:extLst>
                </a:gridCol>
              </a:tblGrid>
              <a:tr h="335178">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Lønforskel mellem mandlige og kvindelige ansatte </a:t>
                      </a:r>
                      <a:r>
                        <a:rPr lang="da-DK" sz="1200" b="0" noProof="0">
                          <a:solidFill>
                            <a:schemeClr val="tx2"/>
                          </a:solidFill>
                        </a:rPr>
                        <a:t>(pkt. 42b)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År</a:t>
                      </a:r>
                      <a:r>
                        <a:rPr lang="da-DK" sz="1200" b="1" noProof="0">
                          <a:solidFill>
                            <a:schemeClr val="accent2"/>
                          </a:solidFill>
                          <a:latin typeface="Calibri" panose="020F0502020204030204" pitchFamily="34" charset="0"/>
                          <a:cs typeface="Calibri" panose="020F0502020204030204" pitchFamily="34" charset="0"/>
                        </a:rPr>
                        <a:t> </a:t>
                      </a:r>
                      <a:r>
                        <a:rPr lang="da-DK" sz="1200" b="1" noProof="0">
                          <a:solidFill>
                            <a:schemeClr val="accent2"/>
                          </a:solidFill>
                        </a:rPr>
                        <a:t>{{</a:t>
                      </a:r>
                      <a:r>
                        <a:rPr lang="da-DK" sz="1200" b="1" noProof="0" err="1">
                          <a:solidFill>
                            <a:schemeClr val="accent2"/>
                          </a:solidFill>
                        </a:rPr>
                        <a:t>insert_year</a:t>
                      </a:r>
                      <a:r>
                        <a:rPr lang="da-DK" sz="1200" b="1" noProof="0">
                          <a:solidFill>
                            <a:schemeClr val="accent2"/>
                          </a:solidFill>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40341">
                <a:tc v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da-DK" sz="1200" b="0" noProof="0">
                          <a:solidFill>
                            <a:schemeClr val="accent2"/>
                          </a:solidFill>
                        </a:rPr>
                        <a:t>{{</a:t>
                      </a:r>
                      <a:r>
                        <a:rPr lang="da-DK" sz="1200" b="0" noProof="0" err="1">
                          <a:solidFill>
                            <a:schemeClr val="accent2"/>
                          </a:solidFill>
                        </a:rPr>
                        <a:t>indsat_procentvise_lonforskel</a:t>
                      </a:r>
                      <a:r>
                        <a:rPr lang="da-DK" sz="1200" b="0" noProof="0">
                          <a:solidFill>
                            <a:schemeClr val="accent2"/>
                          </a:solidFill>
                        </a:rPr>
                        <a:t>}}</a:t>
                      </a:r>
                    </a:p>
                  </a:txBody>
                  <a:tcPr marL="36000" marR="36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27" name="Tabel 26">
            <a:extLst>
              <a:ext uri="{FF2B5EF4-FFF2-40B4-BE49-F238E27FC236}">
                <a16:creationId xmlns:a16="http://schemas.microsoft.com/office/drawing/2014/main" id="{6746C932-5E3F-E60C-3154-F9D424D47444}"/>
              </a:ext>
            </a:extLst>
          </p:cNvPr>
          <p:cNvGraphicFramePr>
            <a:graphicFrameLocks noGrp="1"/>
          </p:cNvGraphicFramePr>
          <p:nvPr>
            <p:extLst>
              <p:ext uri="{D42A27DB-BD31-4B8C-83A1-F6EECF244321}">
                <p14:modId xmlns:p14="http://schemas.microsoft.com/office/powerpoint/2010/main" val="1071495807"/>
              </p:ext>
            </p:extLst>
          </p:nvPr>
        </p:nvGraphicFramePr>
        <p:xfrm>
          <a:off x="507995" y="4181127"/>
          <a:ext cx="5473705" cy="875520"/>
        </p:xfrm>
        <a:graphic>
          <a:graphicData uri="http://schemas.openxmlformats.org/drawingml/2006/table">
            <a:tbl>
              <a:tblPr firstRow="1">
                <a:tableStyleId>{2A488322-F2BA-4B5B-9748-0D474271808F}</a:tableStyleId>
              </a:tblPr>
              <a:tblGrid>
                <a:gridCol w="3003016">
                  <a:extLst>
                    <a:ext uri="{9D8B030D-6E8A-4147-A177-3AD203B41FA5}">
                      <a16:colId xmlns:a16="http://schemas.microsoft.com/office/drawing/2014/main" val="160727125"/>
                    </a:ext>
                  </a:extLst>
                </a:gridCol>
                <a:gridCol w="1267020">
                  <a:extLst>
                    <a:ext uri="{9D8B030D-6E8A-4147-A177-3AD203B41FA5}">
                      <a16:colId xmlns:a16="http://schemas.microsoft.com/office/drawing/2014/main" val="1767985329"/>
                    </a:ext>
                  </a:extLst>
                </a:gridCol>
                <a:gridCol w="1203669">
                  <a:extLst>
                    <a:ext uri="{9D8B030D-6E8A-4147-A177-3AD203B41FA5}">
                      <a16:colId xmlns:a16="http://schemas.microsoft.com/office/drawing/2014/main" val="1397164534"/>
                    </a:ext>
                  </a:extLst>
                </a:gridCol>
              </a:tblGrid>
              <a:tr h="206492">
                <a:tc>
                  <a:txBody>
                    <a:bodyPr/>
                    <a:lstStyle/>
                    <a:p>
                      <a:r>
                        <a:rPr lang="da-DK" sz="1200" b="1" noProof="0">
                          <a:solidFill>
                            <a:schemeClr val="tx2"/>
                          </a:solidFill>
                        </a:rPr>
                        <a:t>Oplysninger om minimumsløn </a:t>
                      </a:r>
                      <a:r>
                        <a:rPr lang="da-DK" sz="1200" b="0" noProof="0">
                          <a:solidFill>
                            <a:schemeClr val="tx2"/>
                          </a:solidFill>
                        </a:rPr>
                        <a:t>(42a)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1200" b="1" noProof="0">
                          <a:solidFill>
                            <a:schemeClr val="tx2"/>
                          </a:solidFill>
                        </a:rPr>
                        <a:t>Ja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1200" b="1" noProof="0">
                          <a:solidFill>
                            <a:schemeClr val="tx2"/>
                          </a:solidFill>
                        </a:rPr>
                        <a:t>Nej</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4203607533"/>
                  </a:ext>
                </a:extLst>
              </a:tr>
              <a:tr h="502813">
                <a:tc>
                  <a:txBody>
                    <a:bodyPr/>
                    <a:lstStyle/>
                    <a:p>
                      <a:r>
                        <a:rPr lang="da-DK" sz="1200" b="0" noProof="0">
                          <a:solidFill>
                            <a:schemeClr val="tx2"/>
                          </a:solidFill>
                        </a:rPr>
                        <a:t>I virksomheden modtager alle ansatte en løn, der som minimum er på niveau med minimumslønnen </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minumum_wage_yes</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minimum_wage_no</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393907362"/>
                  </a:ext>
                </a:extLst>
              </a:tr>
            </a:tbl>
          </a:graphicData>
        </a:graphic>
      </p:graphicFrame>
      <p:graphicFrame>
        <p:nvGraphicFramePr>
          <p:cNvPr id="29" name="Table 16">
            <a:extLst>
              <a:ext uri="{FF2B5EF4-FFF2-40B4-BE49-F238E27FC236}">
                <a16:creationId xmlns:a16="http://schemas.microsoft.com/office/drawing/2014/main" id="{9493B198-6182-0768-EF14-0EF37F9E9F4F}"/>
              </a:ext>
            </a:extLst>
          </p:cNvPr>
          <p:cNvGraphicFramePr>
            <a:graphicFrameLocks noGrp="1"/>
          </p:cNvGraphicFramePr>
          <p:nvPr>
            <p:extLst>
              <p:ext uri="{D42A27DB-BD31-4B8C-83A1-F6EECF244321}">
                <p14:modId xmlns:p14="http://schemas.microsoft.com/office/powerpoint/2010/main" val="654789346"/>
              </p:ext>
            </p:extLst>
          </p:nvPr>
        </p:nvGraphicFramePr>
        <p:xfrm>
          <a:off x="507998" y="5198328"/>
          <a:ext cx="5469469" cy="1046565"/>
        </p:xfrm>
        <a:graphic>
          <a:graphicData uri="http://schemas.openxmlformats.org/drawingml/2006/table">
            <a:tbl>
              <a:tblPr firstRow="1">
                <a:tableStyleId>{2A488322-F2BA-4B5B-9748-0D474271808F}</a:tableStyleId>
              </a:tblPr>
              <a:tblGrid>
                <a:gridCol w="3022602">
                  <a:extLst>
                    <a:ext uri="{9D8B030D-6E8A-4147-A177-3AD203B41FA5}">
                      <a16:colId xmlns:a16="http://schemas.microsoft.com/office/drawing/2014/main" val="81046444"/>
                    </a:ext>
                  </a:extLst>
                </a:gridCol>
                <a:gridCol w="2446867">
                  <a:extLst>
                    <a:ext uri="{9D8B030D-6E8A-4147-A177-3AD203B41FA5}">
                      <a16:colId xmlns:a16="http://schemas.microsoft.com/office/drawing/2014/main" val="2119413191"/>
                    </a:ext>
                  </a:extLst>
                </a:gridCol>
              </a:tblGrid>
              <a:tr h="5450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Kollektiv overenskomst </a:t>
                      </a:r>
                      <a:r>
                        <a:rPr lang="da-DK" sz="1200" b="0" noProof="0">
                          <a:solidFill>
                            <a:schemeClr val="tx2"/>
                          </a:solidFill>
                        </a:rPr>
                        <a:t>(pkt. 42c)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År</a:t>
                      </a:r>
                      <a:r>
                        <a:rPr lang="da-DK" sz="1200" b="1" noProof="0">
                          <a:solidFill>
                            <a:schemeClr val="accent2"/>
                          </a:solidFill>
                          <a:latin typeface="Calibri" panose="020F0502020204030204" pitchFamily="34" charset="0"/>
                          <a:cs typeface="Calibri" panose="020F0502020204030204" pitchFamily="34" charset="0"/>
                        </a:rPr>
                        <a:t> {{</a:t>
                      </a:r>
                      <a:r>
                        <a:rPr lang="da-DK" sz="1200" b="1" noProof="0" err="1">
                          <a:solidFill>
                            <a:schemeClr val="accent2"/>
                          </a:solidFill>
                          <a:latin typeface="Calibri" panose="020F0502020204030204" pitchFamily="34" charset="0"/>
                          <a:cs typeface="Calibri" panose="020F0502020204030204" pitchFamily="34" charset="0"/>
                        </a:rPr>
                        <a:t>insert_year</a:t>
                      </a:r>
                      <a:r>
                        <a:rPr lang="da-DK" sz="1200" b="1" noProof="0">
                          <a:solidFill>
                            <a:schemeClr val="accent2"/>
                          </a:solidFill>
                          <a:latin typeface="Calibri" panose="020F0502020204030204" pitchFamily="34" charset="0"/>
                          <a:cs typeface="Calibri" panose="020F0502020204030204" pitchFamily="34" charset="0"/>
                        </a:rPr>
                        <a:t>}}</a:t>
                      </a:r>
                      <a:endParaRPr lang="da-DK" sz="1200" b="1"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014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0" noProof="0">
                          <a:solidFill>
                            <a:schemeClr val="tx2"/>
                          </a:solidFill>
                        </a:rPr>
                        <a:t>Procentvis ansatte, der er dækket af en kollektiv overenskomst</a:t>
                      </a:r>
                      <a:endParaRPr kumimoji="0" lang="da-DK" sz="1200" b="0" i="0" u="none" strike="noStrike" kern="1200" cap="none" spc="0" normalizeH="0" baseline="0" noProof="0">
                        <a:ln>
                          <a:noFill/>
                        </a:ln>
                        <a:solidFill>
                          <a:srgbClr val="2D55FF"/>
                        </a:solidFill>
                        <a:effectLst/>
                        <a:uLnTx/>
                        <a:uFillTx/>
                        <a:latin typeface="IBM Plex Sans"/>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200" b="0" i="0" u="none" strike="noStrike" kern="1200" cap="none" spc="0" normalizeH="0" baseline="0" noProof="0">
                          <a:ln>
                            <a:noFill/>
                          </a:ln>
                          <a:solidFill>
                            <a:srgbClr val="2D55FF"/>
                          </a:solidFill>
                          <a:effectLst/>
                          <a:uLnTx/>
                          <a:uFillTx/>
                          <a:latin typeface="+mn-lt"/>
                          <a:ea typeface="+mn-ea"/>
                          <a:cs typeface="+mn-cs"/>
                        </a:rPr>
                        <a:t>{{</a:t>
                      </a:r>
                      <a:r>
                        <a:rPr kumimoji="0" lang="da-DK" sz="1200" b="0" i="0" u="none" strike="noStrike" kern="1200" cap="none" spc="0" normalizeH="0" baseline="0" noProof="0" err="1">
                          <a:ln>
                            <a:noFill/>
                          </a:ln>
                          <a:solidFill>
                            <a:srgbClr val="2D55FF"/>
                          </a:solidFill>
                          <a:effectLst/>
                          <a:uLnTx/>
                          <a:uFillTx/>
                          <a:latin typeface="+mn-lt"/>
                          <a:ea typeface="+mn-ea"/>
                          <a:cs typeface="+mn-cs"/>
                        </a:rPr>
                        <a:t>indsat_procentvis_ansatte</a:t>
                      </a:r>
                      <a:r>
                        <a:rPr kumimoji="0" lang="da-DK" sz="1200" b="0" i="0" u="none" strike="noStrike" kern="1200" cap="none" spc="0" normalizeH="0" baseline="0" noProof="0">
                          <a:ln>
                            <a:noFill/>
                          </a:ln>
                          <a:solidFill>
                            <a:srgbClr val="2D55FF"/>
                          </a:solidFill>
                          <a:effectLst/>
                          <a:uLnTx/>
                          <a:uFillTx/>
                          <a:latin typeface="+mn-lt"/>
                          <a:ea typeface="+mn-ea"/>
                          <a:cs typeface="+mn-cs"/>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31" name="Table 19">
            <a:extLst>
              <a:ext uri="{FF2B5EF4-FFF2-40B4-BE49-F238E27FC236}">
                <a16:creationId xmlns:a16="http://schemas.microsoft.com/office/drawing/2014/main" id="{12B3A72C-4031-E6CE-E541-98C8068B1C36}"/>
              </a:ext>
            </a:extLst>
          </p:cNvPr>
          <p:cNvGraphicFramePr>
            <a:graphicFrameLocks noGrp="1"/>
          </p:cNvGraphicFramePr>
          <p:nvPr>
            <p:extLst>
              <p:ext uri="{D42A27DB-BD31-4B8C-83A1-F6EECF244321}">
                <p14:modId xmlns:p14="http://schemas.microsoft.com/office/powerpoint/2010/main" val="469699691"/>
              </p:ext>
            </p:extLst>
          </p:nvPr>
        </p:nvGraphicFramePr>
        <p:xfrm>
          <a:off x="6212426" y="5198327"/>
          <a:ext cx="5469467" cy="1043871"/>
        </p:xfrm>
        <a:graphic>
          <a:graphicData uri="http://schemas.openxmlformats.org/drawingml/2006/table">
            <a:tbl>
              <a:tblPr firstRow="1">
                <a:tableStyleId>{2A488322-F2BA-4B5B-9748-0D474271808F}</a:tableStyleId>
              </a:tblPr>
              <a:tblGrid>
                <a:gridCol w="3807874">
                  <a:extLst>
                    <a:ext uri="{9D8B030D-6E8A-4147-A177-3AD203B41FA5}">
                      <a16:colId xmlns:a16="http://schemas.microsoft.com/office/drawing/2014/main" val="2698153288"/>
                    </a:ext>
                  </a:extLst>
                </a:gridCol>
                <a:gridCol w="1661593">
                  <a:extLst>
                    <a:ext uri="{9D8B030D-6E8A-4147-A177-3AD203B41FA5}">
                      <a16:colId xmlns:a16="http://schemas.microsoft.com/office/drawing/2014/main" val="2119413191"/>
                    </a:ext>
                  </a:extLst>
                </a:gridCol>
              </a:tblGrid>
              <a:tr h="429829">
                <a:tc>
                  <a:txBody>
                    <a:bodyPr/>
                    <a:lstStyle/>
                    <a:p>
                      <a:r>
                        <a:rPr lang="da-DK" sz="1200" b="1" noProof="0">
                          <a:solidFill>
                            <a:schemeClr val="tx2"/>
                          </a:solidFill>
                        </a:rPr>
                        <a:t>Uddannelsestimer i gennemsnit pr. ansat </a:t>
                      </a:r>
                      <a:r>
                        <a:rPr lang="da-DK" sz="1200" b="0" noProof="0">
                          <a:solidFill>
                            <a:schemeClr val="tx2"/>
                          </a:solidFill>
                        </a:rPr>
                        <a:t>(pkt. 42d)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År</a:t>
                      </a:r>
                      <a:r>
                        <a:rPr lang="da-DK" sz="1200" b="1" noProof="0">
                          <a:solidFill>
                            <a:schemeClr val="accent2"/>
                          </a:solidFill>
                          <a:latin typeface="Calibri"/>
                          <a:cs typeface="Calibri"/>
                        </a:rPr>
                        <a:t> {{insert_year}}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614042">
                <a:tc>
                  <a:txBody>
                    <a:bodyPr/>
                    <a:lstStyle/>
                    <a:p>
                      <a:r>
                        <a:rPr lang="da-DK" sz="1200" b="0" noProof="0">
                          <a:solidFill>
                            <a:schemeClr val="tx2"/>
                          </a:solidFill>
                        </a:rPr>
                        <a:t>Time(r) pr. ansat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{{gennemsnitstimer}}</a:t>
                      </a:r>
                      <a:endParaRPr lang="da-DK" sz="1200" b="0" noProof="0">
                        <a:effectLst/>
                      </a:endParaRPr>
                    </a:p>
                  </a:txBody>
                  <a:tcPr marL="19050" marR="1905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00585068"/>
                  </a:ext>
                </a:extLst>
              </a:tr>
            </a:tbl>
          </a:graphicData>
        </a:graphic>
      </p:graphicFrame>
      <p:sp>
        <p:nvSpPr>
          <p:cNvPr id="32" name="Tekstfelt 31">
            <a:extLst>
              <a:ext uri="{FF2B5EF4-FFF2-40B4-BE49-F238E27FC236}">
                <a16:creationId xmlns:a16="http://schemas.microsoft.com/office/drawing/2014/main" id="{067FE542-2FEF-EE03-D854-E2D5CB1E1DB8}"/>
              </a:ext>
            </a:extLst>
          </p:cNvPr>
          <p:cNvSpPr txBox="1"/>
          <p:nvPr/>
        </p:nvSpPr>
        <p:spPr>
          <a:xfrm>
            <a:off x="531300" y="3446812"/>
            <a:ext cx="11165400" cy="1015663"/>
          </a:xfrm>
          <a:prstGeom prst="rect">
            <a:avLst/>
          </a:prstGeom>
          <a:noFill/>
        </p:spPr>
        <p:txBody>
          <a:bodyPr wrap="square">
            <a:spAutoFit/>
          </a:bodyPr>
          <a:lstStyle/>
          <a:p>
            <a:pPr rtl="0">
              <a:buNone/>
            </a:pPr>
            <a:r>
              <a:rPr lang="da-DK" sz="1200" b="0" i="0" u="none" strike="noStrike" noProof="0">
                <a:solidFill>
                  <a:schemeClr val="tx2"/>
                </a:solidFill>
                <a:effectLst/>
                <a:latin typeface="Inter"/>
              </a:rPr>
              <a:t>Virksomheden har angivet oplysninger om minimumsløn samt oplyst procentdelen af medarbejdere, der er omfattet af kollektive overenskomster, og det gennemsnitlige antal uddannelsestimer pr. medarbejder pr. år, opdelt efter køn. Hvis virksomheden allerede i henhold til EU-lovgivningen 8 eller andre nationale bestemmelser er forpligtet til at indberette den procentvise lønforskel mellem sine kvindelige og mandlige medarbejdere, skal den oplyse dette.</a:t>
            </a:r>
          </a:p>
          <a:p>
            <a:pPr>
              <a:buNone/>
            </a:pPr>
            <a:br>
              <a:rPr lang="da-DK" sz="1200" noProof="0">
                <a:solidFill>
                  <a:schemeClr val="tx2"/>
                </a:solidFill>
                <a:latin typeface="Inter"/>
              </a:rPr>
            </a:br>
            <a:endParaRPr lang="da-DK" sz="1200" noProof="0">
              <a:solidFill>
                <a:schemeClr val="tx2"/>
              </a:solidFill>
              <a:latin typeface="Inter"/>
            </a:endParaRPr>
          </a:p>
        </p:txBody>
      </p:sp>
    </p:spTree>
    <p:extLst>
      <p:ext uri="{BB962C8B-B14F-4D97-AF65-F5344CB8AC3E}">
        <p14:creationId xmlns:p14="http://schemas.microsoft.com/office/powerpoint/2010/main" val="10348620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Virksomhedsadfærd: Antal domme og bøder i relation til korruption &amp; bestikkelse (B11) </a:t>
            </a:r>
          </a:p>
        </p:txBody>
      </p:sp>
      <p:graphicFrame>
        <p:nvGraphicFramePr>
          <p:cNvPr id="22" name="Table 21">
            <a:extLst>
              <a:ext uri="{FF2B5EF4-FFF2-40B4-BE49-F238E27FC236}">
                <a16:creationId xmlns:a16="http://schemas.microsoft.com/office/drawing/2014/main" id="{AF65586E-0EF1-899A-1FCC-C083408ADE09}"/>
              </a:ext>
            </a:extLst>
          </p:cNvPr>
          <p:cNvGraphicFramePr>
            <a:graphicFrameLocks noGrp="1"/>
          </p:cNvGraphicFramePr>
          <p:nvPr>
            <p:extLst>
              <p:ext uri="{D42A27DB-BD31-4B8C-83A1-F6EECF244321}">
                <p14:modId xmlns:p14="http://schemas.microsoft.com/office/powerpoint/2010/main" val="2655272026"/>
              </p:ext>
            </p:extLst>
          </p:nvPr>
        </p:nvGraphicFramePr>
        <p:xfrm>
          <a:off x="507998" y="1945690"/>
          <a:ext cx="11165400" cy="612000"/>
        </p:xfrm>
        <a:graphic>
          <a:graphicData uri="http://schemas.openxmlformats.org/drawingml/2006/table">
            <a:tbl>
              <a:tblPr firstRow="1">
                <a:tableStyleId>{2A488322-F2BA-4B5B-9748-0D474271808F}</a:tableStyleId>
              </a:tblPr>
              <a:tblGrid>
                <a:gridCol w="3721800">
                  <a:extLst>
                    <a:ext uri="{9D8B030D-6E8A-4147-A177-3AD203B41FA5}">
                      <a16:colId xmlns:a16="http://schemas.microsoft.com/office/drawing/2014/main" val="2698153288"/>
                    </a:ext>
                  </a:extLst>
                </a:gridCol>
                <a:gridCol w="3721800">
                  <a:extLst>
                    <a:ext uri="{9D8B030D-6E8A-4147-A177-3AD203B41FA5}">
                      <a16:colId xmlns:a16="http://schemas.microsoft.com/office/drawing/2014/main" val="2119413191"/>
                    </a:ext>
                  </a:extLst>
                </a:gridCol>
                <a:gridCol w="3721800">
                  <a:extLst>
                    <a:ext uri="{9D8B030D-6E8A-4147-A177-3AD203B41FA5}">
                      <a16:colId xmlns:a16="http://schemas.microsoft.com/office/drawing/2014/main" val="1502960985"/>
                    </a:ext>
                  </a:extLst>
                </a:gridCol>
              </a:tblGrid>
              <a:tr h="306000">
                <a:tc rowSpan="2">
                  <a:txBody>
                    <a:bodyPr/>
                    <a:lstStyle/>
                    <a:p>
                      <a:r>
                        <a:rPr lang="da-DK" sz="1200" b="1" noProof="0">
                          <a:solidFill>
                            <a:schemeClr val="tx2"/>
                          </a:solidFill>
                        </a:rPr>
                        <a:t>Korruption og bestikkelse </a:t>
                      </a:r>
                      <a:r>
                        <a:rPr lang="da-DK" sz="1200" b="0" noProof="0">
                          <a:solidFill>
                            <a:schemeClr val="tx2"/>
                          </a:solidFill>
                        </a:rPr>
                        <a:t>(pkt. 43)</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da-DK" sz="1200" b="1" noProof="0">
                          <a:solidFill>
                            <a:schemeClr val="tx2"/>
                          </a:solidFill>
                        </a:rPr>
                        <a:t>Antal domme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1200" b="1" noProof="0">
                          <a:solidFill>
                            <a:schemeClr val="tx2"/>
                          </a:solidFill>
                        </a:rPr>
                        <a:t>Samlede bødestørrelse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06000">
                <a:tc vMerge="1">
                  <a:txBody>
                    <a:bodyPr/>
                    <a:lstStyle/>
                    <a:p>
                      <a:endParaRPr lang="en-GB"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a-DK" sz="1200" b="0" i="0" u="none" strike="noStrike" noProof="0">
                          <a:solidFill>
                            <a:srgbClr val="2D55FF"/>
                          </a:solidFill>
                          <a:effectLst/>
                          <a:latin typeface="Inter"/>
                        </a:rPr>
                        <a:t>{{domme}}</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samlet_bodestorrelse</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12</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endParaRPr lang="da-DK" noProof="0"/>
          </a:p>
        </p:txBody>
      </p:sp>
      <p:sp>
        <p:nvSpPr>
          <p:cNvPr id="9" name="Tekstfelt 8">
            <a:extLst>
              <a:ext uri="{FF2B5EF4-FFF2-40B4-BE49-F238E27FC236}">
                <a16:creationId xmlns:a16="http://schemas.microsoft.com/office/drawing/2014/main" id="{18D9DD8E-27FC-601F-5895-E2455B4CB3B0}"/>
              </a:ext>
            </a:extLst>
          </p:cNvPr>
          <p:cNvSpPr txBox="1"/>
          <p:nvPr/>
        </p:nvSpPr>
        <p:spPr>
          <a:xfrm>
            <a:off x="518600" y="1016000"/>
            <a:ext cx="11254300" cy="1015663"/>
          </a:xfrm>
          <a:prstGeom prst="rect">
            <a:avLst/>
          </a:prstGeom>
          <a:noFill/>
        </p:spPr>
        <p:txBody>
          <a:bodyPr wrap="square">
            <a:spAutoFit/>
          </a:bodyPr>
          <a:lstStyle/>
          <a:p>
            <a:pPr rtl="0">
              <a:buNone/>
            </a:pPr>
            <a:r>
              <a:rPr lang="da-DK" sz="1200" b="0" i="0" u="none" strike="noStrike" noProof="0">
                <a:solidFill>
                  <a:schemeClr val="tx2"/>
                </a:solidFill>
                <a:effectLst/>
                <a:latin typeface="Inter"/>
              </a:rPr>
              <a:t>Virksomheden har angivet overtrædelser af anti-korruptions- og </a:t>
            </a:r>
            <a:r>
              <a:rPr lang="da-DK" sz="1200" b="0" i="0" u="none" strike="noStrike" noProof="0" err="1">
                <a:solidFill>
                  <a:schemeClr val="tx2"/>
                </a:solidFill>
                <a:effectLst/>
                <a:latin typeface="Inter"/>
              </a:rPr>
              <a:t>anti</a:t>
            </a:r>
            <a:r>
              <a:rPr lang="da-DK" sz="1200" b="0" i="0" u="none" strike="noStrike" noProof="0">
                <a:solidFill>
                  <a:schemeClr val="tx2"/>
                </a:solidFill>
                <a:effectLst/>
                <a:latin typeface="Inter"/>
              </a:rPr>
              <a:t>-bestikkelseslove i den rapporterede periode. Hvis virksomheden har været involveret i domme eller bøder for overtrædelse af disse love, er følgende oplysninger blevet offentliggjort: Antallet af domme og det samlede bødebeløb, der er pålagt som følge af overtrædelserne. Disse oplysninger vedrører virksomhedens forretningsetik og bæredygtighed, især i forhold til håndtering af korruption og bestikkelse og er anført nedenfor.</a:t>
            </a:r>
            <a:endParaRPr lang="da-DK" sz="1200" b="0" noProof="0">
              <a:solidFill>
                <a:schemeClr val="tx2"/>
              </a:solidFill>
              <a:effectLst/>
              <a:latin typeface="Inter"/>
            </a:endParaRPr>
          </a:p>
          <a:p>
            <a:pPr>
              <a:buNone/>
            </a:pPr>
            <a:br>
              <a:rPr lang="da-DK" sz="1200" noProof="0">
                <a:solidFill>
                  <a:schemeClr val="tx2"/>
                </a:solidFill>
                <a:latin typeface="Inter"/>
              </a:rPr>
            </a:br>
            <a:endParaRPr lang="da-DK" sz="1200" noProof="0">
              <a:solidFill>
                <a:schemeClr val="tx2"/>
              </a:solidFill>
              <a:latin typeface="Inter"/>
            </a:endParaRPr>
          </a:p>
        </p:txBody>
      </p:sp>
    </p:spTree>
    <p:extLst>
      <p:ext uri="{BB962C8B-B14F-4D97-AF65-F5344CB8AC3E}">
        <p14:creationId xmlns:p14="http://schemas.microsoft.com/office/powerpoint/2010/main" val="2682118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indhold 1">
            <a:extLst>
              <a:ext uri="{FF2B5EF4-FFF2-40B4-BE49-F238E27FC236}">
                <a16:creationId xmlns:a16="http://schemas.microsoft.com/office/drawing/2014/main" id="{8929CC52-5059-1012-5A40-D359AA36AE2B}"/>
              </a:ext>
            </a:extLst>
          </p:cNvPr>
          <p:cNvSpPr>
            <a:spLocks noGrp="1"/>
          </p:cNvSpPr>
          <p:nvPr>
            <p:ph idx="1"/>
          </p:nvPr>
        </p:nvSpPr>
        <p:spPr>
          <a:xfrm>
            <a:off x="960628" y="2698750"/>
            <a:ext cx="10033000" cy="1460499"/>
          </a:xfrm>
        </p:spPr>
        <p:txBody>
          <a:bodyPr>
            <a:normAutofit/>
          </a:bodyPr>
          <a:lstStyle/>
          <a:p>
            <a:r>
              <a:rPr lang="da-DK" sz="4000" b="1" noProof="0"/>
              <a:t>Oplysningspunkter i Udvidet Modul</a:t>
            </a:r>
          </a:p>
        </p:txBody>
      </p:sp>
      <p:sp>
        <p:nvSpPr>
          <p:cNvPr id="5" name="Pladsholder til slidenummer 4">
            <a:extLst>
              <a:ext uri="{FF2B5EF4-FFF2-40B4-BE49-F238E27FC236}">
                <a16:creationId xmlns:a16="http://schemas.microsoft.com/office/drawing/2014/main" id="{8A923573-02E7-36F8-863E-7A551AE1CD30}"/>
              </a:ext>
            </a:extLst>
          </p:cNvPr>
          <p:cNvSpPr>
            <a:spLocks noGrp="1"/>
          </p:cNvSpPr>
          <p:nvPr>
            <p:ph type="sldNum" sz="quarter" idx="16"/>
          </p:nvPr>
        </p:nvSpPr>
        <p:spPr/>
        <p:txBody>
          <a:bodyPr/>
          <a:lstStyle/>
          <a:p>
            <a:fld id="{5A0D23CF-C5A3-5445-819D-C647D180BB4B}" type="slidenum">
              <a:rPr lang="da-DK" noProof="0" smtClean="0"/>
              <a:pPr/>
              <a:t>13</a:t>
            </a:fld>
            <a:endParaRPr lang="da-DK" noProof="0"/>
          </a:p>
        </p:txBody>
      </p:sp>
    </p:spTree>
    <p:extLst>
      <p:ext uri="{BB962C8B-B14F-4D97-AF65-F5344CB8AC3E}">
        <p14:creationId xmlns:p14="http://schemas.microsoft.com/office/powerpoint/2010/main" val="959639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518600" y="513927"/>
            <a:ext cx="11165400" cy="256224"/>
          </a:xfrm>
        </p:spPr>
        <p:txBody>
          <a:bodyPr/>
          <a:lstStyle/>
          <a:p>
            <a:pPr marL="0" algn="l" rtl="0" eaLnBrk="1" fontAlgn="t" latinLnBrk="0" hangingPunct="1">
              <a:spcBef>
                <a:spcPts val="0"/>
              </a:spcBef>
              <a:spcAft>
                <a:spcPts val="0"/>
              </a:spcAft>
            </a:pPr>
            <a:r>
              <a:rPr lang="da-DK" sz="1800" b="1" i="0" u="none" strike="noStrike" kern="1200" spc="-10" noProof="0">
                <a:solidFill>
                  <a:srgbClr val="1B4528"/>
                </a:solidFill>
                <a:effectLst/>
                <a:latin typeface="IBM Plex Sans" panose="020B0503050203000203" pitchFamily="34" charset="0"/>
              </a:rPr>
              <a:t>Strategi: Forretningsmodel og bæredygtighedsrelaterede initiativer (C1)</a:t>
            </a:r>
            <a:endParaRPr lang="da-DK" noProof="0"/>
          </a:p>
        </p:txBody>
      </p:sp>
      <p:pic>
        <p:nvPicPr>
          <p:cNvPr id="24" name="Graphic 23">
            <a:extLst>
              <a:ext uri="{FF2B5EF4-FFF2-40B4-BE49-F238E27FC236}">
                <a16:creationId xmlns:a16="http://schemas.microsoft.com/office/drawing/2014/main" id="{C1CB6473-45A0-323E-9329-E3AEC5C2FC3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2401" y="4709014"/>
            <a:ext cx="207455" cy="232601"/>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14</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graphicFrame>
        <p:nvGraphicFramePr>
          <p:cNvPr id="2" name="Table 2">
            <a:extLst>
              <a:ext uri="{FF2B5EF4-FFF2-40B4-BE49-F238E27FC236}">
                <a16:creationId xmlns:a16="http://schemas.microsoft.com/office/drawing/2014/main" id="{73C59346-F692-8EEE-6728-75E283DC6C9B}"/>
              </a:ext>
            </a:extLst>
          </p:cNvPr>
          <p:cNvGraphicFramePr>
            <a:graphicFrameLocks noGrp="1"/>
          </p:cNvGraphicFramePr>
          <p:nvPr>
            <p:extLst>
              <p:ext uri="{D42A27DB-BD31-4B8C-83A1-F6EECF244321}">
                <p14:modId xmlns:p14="http://schemas.microsoft.com/office/powerpoint/2010/main" val="18112507"/>
              </p:ext>
            </p:extLst>
          </p:nvPr>
        </p:nvGraphicFramePr>
        <p:xfrm>
          <a:off x="529201" y="2372250"/>
          <a:ext cx="11165400" cy="788603"/>
        </p:xfrm>
        <a:graphic>
          <a:graphicData uri="http://schemas.openxmlformats.org/drawingml/2006/table">
            <a:tbl>
              <a:tblPr firstRow="1">
                <a:tableStyleId>{2A488322-F2BA-4B5B-9748-0D474271808F}</a:tableStyleId>
              </a:tblPr>
              <a:tblGrid>
                <a:gridCol w="11165400">
                  <a:extLst>
                    <a:ext uri="{9D8B030D-6E8A-4147-A177-3AD203B41FA5}">
                      <a16:colId xmlns:a16="http://schemas.microsoft.com/office/drawing/2014/main" val="2698153288"/>
                    </a:ext>
                  </a:extLst>
                </a:gridCol>
              </a:tblGrid>
              <a:tr h="179989">
                <a:tc>
                  <a:txBody>
                    <a:bodyPr/>
                    <a:lstStyle/>
                    <a:p>
                      <a:r>
                        <a:rPr lang="da-DK" sz="1200" b="1" noProof="0">
                          <a:solidFill>
                            <a:schemeClr val="tx2"/>
                          </a:solidFill>
                        </a:rPr>
                        <a:t>Beskrivelse af væsentlige grupper af produkter og/eller tjenesteydelser, som </a:t>
                      </a:r>
                      <a:r>
                        <a:rPr lang="da-DK" sz="1200" b="1" kern="1200" noProof="0">
                          <a:solidFill>
                            <a:schemeClr val="accent2"/>
                          </a:solidFill>
                          <a:latin typeface="+mn-lt"/>
                          <a:ea typeface="+mn-ea"/>
                          <a:cs typeface="+mn-cs"/>
                        </a:rPr>
                        <a:t>{{</a:t>
                      </a:r>
                      <a:r>
                        <a:rPr lang="da-DK" sz="1200" b="1" kern="1200" noProof="0" err="1">
                          <a:solidFill>
                            <a:schemeClr val="accent2"/>
                          </a:solidFill>
                          <a:latin typeface="+mn-lt"/>
                          <a:ea typeface="+mn-ea"/>
                          <a:cs typeface="+mn-cs"/>
                        </a:rPr>
                        <a:t>company_name</a:t>
                      </a:r>
                      <a:r>
                        <a:rPr lang="da-DK" sz="1200" b="1" kern="1200" noProof="0">
                          <a:solidFill>
                            <a:schemeClr val="accent2"/>
                          </a:solidFill>
                          <a:latin typeface="+mn-lt"/>
                          <a:ea typeface="+mn-ea"/>
                          <a:cs typeface="+mn-cs"/>
                        </a:rPr>
                        <a:t>}} </a:t>
                      </a:r>
                      <a:r>
                        <a:rPr lang="da-DK" sz="1200" b="1" kern="1200" noProof="0">
                          <a:solidFill>
                            <a:schemeClr val="tx2"/>
                          </a:solidFill>
                          <a:latin typeface="+mn-lt"/>
                          <a:ea typeface="+mn-ea"/>
                          <a:cs typeface="+mn-cs"/>
                        </a:rPr>
                        <a:t>tilbyder</a:t>
                      </a:r>
                      <a:r>
                        <a:rPr lang="da-DK" sz="1200" b="1" noProof="0">
                          <a:solidFill>
                            <a:schemeClr val="tx2"/>
                          </a:solidFill>
                        </a:rPr>
                        <a:t> </a:t>
                      </a:r>
                      <a:r>
                        <a:rPr lang="da-DK" sz="1200" b="0" noProof="0">
                          <a:solidFill>
                            <a:schemeClr val="tx2"/>
                          </a:solidFill>
                        </a:rPr>
                        <a:t>(pkt. 46a)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533723">
                <a:tc>
                  <a:txBody>
                    <a:bodyPr/>
                    <a:lstStyle/>
                    <a:p>
                      <a:pPr algn="l"/>
                      <a:r>
                        <a:rPr lang="da-DK" sz="1200" b="0" noProof="0">
                          <a:solidFill>
                            <a:schemeClr val="accent2"/>
                          </a:solidFill>
                        </a:rPr>
                        <a:t>{{</a:t>
                      </a:r>
                      <a:r>
                        <a:rPr lang="da-DK" sz="1200" b="0" noProof="0" err="1">
                          <a:solidFill>
                            <a:schemeClr val="accent2"/>
                          </a:solidFill>
                        </a:rPr>
                        <a:t>markets_description</a:t>
                      </a:r>
                      <a:r>
                        <a:rPr lang="da-DK" sz="1200" b="0" noProof="0">
                          <a:solidFill>
                            <a:schemeClr val="accent2"/>
                          </a:solidFill>
                        </a:rPr>
                        <a:t>}}</a:t>
                      </a:r>
                      <a:endParaRPr lang="da-DK" sz="1200" b="0" kern="1200" noProof="0">
                        <a:solidFill>
                          <a:schemeClr val="accent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2" name="Table 2">
            <a:extLst>
              <a:ext uri="{FF2B5EF4-FFF2-40B4-BE49-F238E27FC236}">
                <a16:creationId xmlns:a16="http://schemas.microsoft.com/office/drawing/2014/main" id="{BF7B7D4C-4B08-C9C0-EA8D-D975600D4842}"/>
              </a:ext>
            </a:extLst>
          </p:cNvPr>
          <p:cNvGraphicFramePr>
            <a:graphicFrameLocks noGrp="1"/>
          </p:cNvGraphicFramePr>
          <p:nvPr>
            <p:extLst>
              <p:ext uri="{D42A27DB-BD31-4B8C-83A1-F6EECF244321}">
                <p14:modId xmlns:p14="http://schemas.microsoft.com/office/powerpoint/2010/main" val="1513519141"/>
              </p:ext>
            </p:extLst>
          </p:nvPr>
        </p:nvGraphicFramePr>
        <p:xfrm>
          <a:off x="529201" y="3297015"/>
          <a:ext cx="11165400" cy="1027986"/>
        </p:xfrm>
        <a:graphic>
          <a:graphicData uri="http://schemas.openxmlformats.org/drawingml/2006/table">
            <a:tbl>
              <a:tblPr firstRow="1">
                <a:tableStyleId>{2A488322-F2BA-4B5B-9748-0D474271808F}</a:tableStyleId>
              </a:tblPr>
              <a:tblGrid>
                <a:gridCol w="11165400">
                  <a:extLst>
                    <a:ext uri="{9D8B030D-6E8A-4147-A177-3AD203B41FA5}">
                      <a16:colId xmlns:a16="http://schemas.microsoft.com/office/drawing/2014/main" val="2698153288"/>
                    </a:ext>
                  </a:extLst>
                </a:gridCol>
              </a:tblGrid>
              <a:tr h="194792">
                <a:tc>
                  <a:txBody>
                    <a:bodyPr/>
                    <a:lstStyle/>
                    <a:p>
                      <a:r>
                        <a:rPr lang="da-DK" sz="1200" b="1" noProof="0">
                          <a:solidFill>
                            <a:schemeClr val="tx2"/>
                          </a:solidFill>
                        </a:rPr>
                        <a:t>Beskrivelse af de væsentlige markeder, som </a:t>
                      </a:r>
                      <a:r>
                        <a:rPr lang="da-DK" sz="1200" b="1" kern="1200" noProof="0">
                          <a:solidFill>
                            <a:schemeClr val="accent2"/>
                          </a:solidFill>
                          <a:latin typeface="+mn-lt"/>
                          <a:ea typeface="+mn-ea"/>
                          <a:cs typeface="+mn-cs"/>
                        </a:rPr>
                        <a:t>{{</a:t>
                      </a:r>
                      <a:r>
                        <a:rPr lang="da-DK" sz="1200" b="1" kern="1200" noProof="0" err="1">
                          <a:solidFill>
                            <a:schemeClr val="accent2"/>
                          </a:solidFill>
                          <a:latin typeface="+mn-lt"/>
                          <a:ea typeface="+mn-ea"/>
                          <a:cs typeface="+mn-cs"/>
                        </a:rPr>
                        <a:t>company_name</a:t>
                      </a:r>
                      <a:r>
                        <a:rPr lang="da-DK" sz="1200" b="1" kern="1200" noProof="0">
                          <a:solidFill>
                            <a:schemeClr val="accent2"/>
                          </a:solidFill>
                          <a:latin typeface="+mn-lt"/>
                          <a:ea typeface="+mn-ea"/>
                          <a:cs typeface="+mn-cs"/>
                        </a:rPr>
                        <a:t>}} </a:t>
                      </a:r>
                      <a:r>
                        <a:rPr lang="da-DK" sz="1200" b="1" noProof="0">
                          <a:solidFill>
                            <a:schemeClr val="tx2"/>
                          </a:solidFill>
                        </a:rPr>
                        <a:t>arbejder med </a:t>
                      </a:r>
                      <a:r>
                        <a:rPr lang="da-DK" sz="1200" b="0" noProof="0">
                          <a:solidFill>
                            <a:schemeClr val="tx2"/>
                          </a:solidFill>
                        </a:rPr>
                        <a:t>(pkt. 46b)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773106">
                <a:tc>
                  <a:txBody>
                    <a:bodyPr/>
                    <a:lstStyle/>
                    <a:p>
                      <a:pPr algn="l"/>
                      <a:r>
                        <a:rPr lang="da-DK" sz="1200" b="0" noProof="0">
                          <a:solidFill>
                            <a:schemeClr val="accent2"/>
                          </a:solidFill>
                        </a:rPr>
                        <a:t>{{</a:t>
                      </a:r>
                      <a:r>
                        <a:rPr lang="da-DK" sz="1200" b="0" noProof="0" err="1">
                          <a:solidFill>
                            <a:schemeClr val="accent2"/>
                          </a:solidFill>
                        </a:rPr>
                        <a:t>business_relationships</a:t>
                      </a:r>
                      <a:r>
                        <a:rPr lang="da-DK" sz="1200" b="0" noProof="0">
                          <a:solidFill>
                            <a:schemeClr val="accent2"/>
                          </a:solidFill>
                        </a:rPr>
                        <a:t>}}</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4" name="Table 2">
            <a:extLst>
              <a:ext uri="{FF2B5EF4-FFF2-40B4-BE49-F238E27FC236}">
                <a16:creationId xmlns:a16="http://schemas.microsoft.com/office/drawing/2014/main" id="{9A35FA09-5062-B526-C260-BC3A7A5ED36B}"/>
              </a:ext>
            </a:extLst>
          </p:cNvPr>
          <p:cNvGraphicFramePr>
            <a:graphicFrameLocks noGrp="1"/>
          </p:cNvGraphicFramePr>
          <p:nvPr>
            <p:extLst>
              <p:ext uri="{D42A27DB-BD31-4B8C-83A1-F6EECF244321}">
                <p14:modId xmlns:p14="http://schemas.microsoft.com/office/powerpoint/2010/main" val="2840991552"/>
              </p:ext>
            </p:extLst>
          </p:nvPr>
        </p:nvGraphicFramePr>
        <p:xfrm>
          <a:off x="529201" y="4436129"/>
          <a:ext cx="11165400" cy="1002680"/>
        </p:xfrm>
        <a:graphic>
          <a:graphicData uri="http://schemas.openxmlformats.org/drawingml/2006/table">
            <a:tbl>
              <a:tblPr firstRow="1">
                <a:tableStyleId>{2A488322-F2BA-4B5B-9748-0D474271808F}</a:tableStyleId>
              </a:tblPr>
              <a:tblGrid>
                <a:gridCol w="11165400">
                  <a:extLst>
                    <a:ext uri="{9D8B030D-6E8A-4147-A177-3AD203B41FA5}">
                      <a16:colId xmlns:a16="http://schemas.microsoft.com/office/drawing/2014/main" val="2698153288"/>
                    </a:ext>
                  </a:extLst>
                </a:gridCol>
              </a:tblGrid>
              <a:tr h="177865">
                <a:tc>
                  <a:txBody>
                    <a:bodyPr/>
                    <a:lstStyle/>
                    <a:p>
                      <a:r>
                        <a:rPr lang="da-DK" sz="1200" b="1" noProof="0">
                          <a:solidFill>
                            <a:schemeClr val="tx2"/>
                          </a:solidFill>
                        </a:rPr>
                        <a:t>Beskrivelse af </a:t>
                      </a:r>
                      <a:r>
                        <a:rPr lang="da-DK" sz="1200" b="1" kern="1200" noProof="0">
                          <a:solidFill>
                            <a:schemeClr val="accent2"/>
                          </a:solidFill>
                          <a:latin typeface="+mn-lt"/>
                          <a:ea typeface="+mn-ea"/>
                          <a:cs typeface="+mn-cs"/>
                        </a:rPr>
                        <a:t>{{</a:t>
                      </a:r>
                      <a:r>
                        <a:rPr lang="da-DK" sz="1200" b="1" kern="1200" noProof="0" err="1">
                          <a:solidFill>
                            <a:schemeClr val="accent2"/>
                          </a:solidFill>
                          <a:latin typeface="+mn-lt"/>
                          <a:ea typeface="+mn-ea"/>
                          <a:cs typeface="+mn-cs"/>
                        </a:rPr>
                        <a:t>company_name</a:t>
                      </a:r>
                      <a:r>
                        <a:rPr lang="da-DK" sz="1200" b="1" kern="1200" noProof="0">
                          <a:solidFill>
                            <a:schemeClr val="accent2"/>
                          </a:solidFill>
                          <a:latin typeface="+mn-lt"/>
                          <a:ea typeface="+mn-ea"/>
                          <a:cs typeface="+mn-cs"/>
                        </a:rPr>
                        <a:t>}}</a:t>
                      </a:r>
                      <a:r>
                        <a:rPr lang="da-DK" sz="1200" b="1" kern="1200" noProof="0">
                          <a:solidFill>
                            <a:schemeClr val="accent1"/>
                          </a:solidFill>
                          <a:latin typeface="+mn-lt"/>
                          <a:ea typeface="+mn-ea"/>
                          <a:cs typeface="+mn-cs"/>
                        </a:rPr>
                        <a:t>’s</a:t>
                      </a:r>
                      <a:r>
                        <a:rPr lang="da-DK" sz="1200" b="1" kern="1200" noProof="0">
                          <a:solidFill>
                            <a:schemeClr val="accent2"/>
                          </a:solidFill>
                          <a:latin typeface="+mn-lt"/>
                          <a:ea typeface="+mn-ea"/>
                          <a:cs typeface="+mn-cs"/>
                        </a:rPr>
                        <a:t> </a:t>
                      </a:r>
                      <a:r>
                        <a:rPr lang="da-DK" sz="1200" b="1" noProof="0">
                          <a:solidFill>
                            <a:schemeClr val="tx2"/>
                          </a:solidFill>
                        </a:rPr>
                        <a:t>primære forretningsforbindelser </a:t>
                      </a:r>
                      <a:r>
                        <a:rPr lang="da-DK" sz="1200" b="0" noProof="0">
                          <a:solidFill>
                            <a:schemeClr val="tx2"/>
                          </a:solidFill>
                        </a:rPr>
                        <a:t>(pkt. 46c)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747800">
                <a:tc>
                  <a:txBody>
                    <a:bodyPr/>
                    <a:lstStyle/>
                    <a:p>
                      <a:pPr algn="l"/>
                      <a:r>
                        <a:rPr lang="da-DK" sz="1200" b="0" noProof="0">
                          <a:solidFill>
                            <a:schemeClr val="accent2"/>
                          </a:solidFill>
                        </a:rPr>
                        <a:t>{{</a:t>
                      </a:r>
                      <a:r>
                        <a:rPr lang="da-DK" sz="1200" b="0" noProof="0" err="1">
                          <a:solidFill>
                            <a:schemeClr val="accent2"/>
                          </a:solidFill>
                        </a:rPr>
                        <a:t>strategy</a:t>
                      </a:r>
                      <a:r>
                        <a:rPr lang="da-DK" sz="1200" b="0" noProof="0">
                          <a:solidFill>
                            <a:schemeClr val="accent2"/>
                          </a:solidFill>
                        </a:rPr>
                        <a:t>}}</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3" name="Table 2">
            <a:extLst>
              <a:ext uri="{FF2B5EF4-FFF2-40B4-BE49-F238E27FC236}">
                <a16:creationId xmlns:a16="http://schemas.microsoft.com/office/drawing/2014/main" id="{7F017BC3-E5E3-8830-A914-2C6CAB704D65}"/>
              </a:ext>
            </a:extLst>
          </p:cNvPr>
          <p:cNvGraphicFramePr>
            <a:graphicFrameLocks noGrp="1"/>
          </p:cNvGraphicFramePr>
          <p:nvPr>
            <p:extLst>
              <p:ext uri="{D42A27DB-BD31-4B8C-83A1-F6EECF244321}">
                <p14:modId xmlns:p14="http://schemas.microsoft.com/office/powerpoint/2010/main" val="3842437383"/>
              </p:ext>
            </p:extLst>
          </p:nvPr>
        </p:nvGraphicFramePr>
        <p:xfrm>
          <a:off x="518600" y="1581713"/>
          <a:ext cx="11165400" cy="692640"/>
        </p:xfrm>
        <a:graphic>
          <a:graphicData uri="http://schemas.openxmlformats.org/drawingml/2006/table">
            <a:tbl>
              <a:tblPr firstRow="1">
                <a:tableStyleId>{2A488322-F2BA-4B5B-9748-0D474271808F}</a:tableStyleId>
              </a:tblPr>
              <a:tblGrid>
                <a:gridCol w="11165400">
                  <a:extLst>
                    <a:ext uri="{9D8B030D-6E8A-4147-A177-3AD203B41FA5}">
                      <a16:colId xmlns:a16="http://schemas.microsoft.com/office/drawing/2014/main" val="2698153288"/>
                    </a:ext>
                  </a:extLst>
                </a:gridCol>
              </a:tblGrid>
              <a:tr h="186910">
                <a:tc>
                  <a:txBody>
                    <a:bodyPr/>
                    <a:lstStyle/>
                    <a:p>
                      <a:r>
                        <a:rPr lang="da-DK" sz="1200" b="1" noProof="0">
                          <a:solidFill>
                            <a:schemeClr val="tx2"/>
                          </a:solidFill>
                        </a:rPr>
                        <a:t>Beskrivelse af overordnet forretningsmodel og strategi </a:t>
                      </a:r>
                      <a:r>
                        <a:rPr lang="da-DK" sz="1200" b="0" noProof="0">
                          <a:solidFill>
                            <a:schemeClr val="tx2"/>
                          </a:solidFill>
                        </a:rPr>
                        <a:t>(pkt. 46)</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432049">
                <a:tc>
                  <a:txBody>
                    <a:bodyPr/>
                    <a:lstStyle/>
                    <a:p>
                      <a:pPr algn="l"/>
                      <a:r>
                        <a:rPr lang="da-DK" sz="1200" b="0" noProof="0">
                          <a:solidFill>
                            <a:schemeClr val="accent2"/>
                          </a:solidFill>
                        </a:rPr>
                        <a:t>{{</a:t>
                      </a:r>
                      <a:r>
                        <a:rPr lang="da-DK" sz="1200" b="0" noProof="0" err="1">
                          <a:solidFill>
                            <a:schemeClr val="accent2"/>
                          </a:solidFill>
                        </a:rPr>
                        <a:t>products_description</a:t>
                      </a:r>
                      <a:r>
                        <a:rPr lang="da-DK" sz="1200" b="0" noProof="0">
                          <a:solidFill>
                            <a:schemeClr val="accent2"/>
                          </a:solidFill>
                        </a:rPr>
                        <a:t>}}</a:t>
                      </a:r>
                    </a:p>
                    <a:p>
                      <a:pPr algn="l"/>
                      <a:endParaRPr lang="da-DK" sz="1200" b="0" kern="1200" noProof="0">
                        <a:solidFill>
                          <a:schemeClr val="accent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3" name="Table 2">
            <a:extLst>
              <a:ext uri="{FF2B5EF4-FFF2-40B4-BE49-F238E27FC236}">
                <a16:creationId xmlns:a16="http://schemas.microsoft.com/office/drawing/2014/main" id="{82F97D4B-910A-955C-8249-17FCA8C2C83B}"/>
              </a:ext>
            </a:extLst>
          </p:cNvPr>
          <p:cNvGraphicFramePr>
            <a:graphicFrameLocks noGrp="1"/>
          </p:cNvGraphicFramePr>
          <p:nvPr>
            <p:extLst>
              <p:ext uri="{D42A27DB-BD31-4B8C-83A1-F6EECF244321}">
                <p14:modId xmlns:p14="http://schemas.microsoft.com/office/powerpoint/2010/main" val="2119427327"/>
              </p:ext>
            </p:extLst>
          </p:nvPr>
        </p:nvGraphicFramePr>
        <p:xfrm>
          <a:off x="518598" y="5551393"/>
          <a:ext cx="11165400" cy="796132"/>
        </p:xfrm>
        <a:graphic>
          <a:graphicData uri="http://schemas.openxmlformats.org/drawingml/2006/table">
            <a:tbl>
              <a:tblPr firstRow="1">
                <a:tableStyleId>{2A488322-F2BA-4B5B-9748-0D474271808F}</a:tableStyleId>
              </a:tblPr>
              <a:tblGrid>
                <a:gridCol w="11165400">
                  <a:extLst>
                    <a:ext uri="{9D8B030D-6E8A-4147-A177-3AD203B41FA5}">
                      <a16:colId xmlns:a16="http://schemas.microsoft.com/office/drawing/2014/main" val="2698153288"/>
                    </a:ext>
                  </a:extLst>
                </a:gridCol>
              </a:tblGrid>
              <a:tr h="151388">
                <a:tc>
                  <a:txBody>
                    <a:bodyPr/>
                    <a:lstStyle/>
                    <a:p>
                      <a:r>
                        <a:rPr lang="da-DK" sz="1200" b="1" noProof="0">
                          <a:solidFill>
                            <a:schemeClr val="tx2"/>
                          </a:solidFill>
                        </a:rPr>
                        <a:t>Beskrivelse af, hvor </a:t>
                      </a:r>
                      <a:r>
                        <a:rPr lang="da-DK" sz="1200" b="1" kern="1200" noProof="0">
                          <a:solidFill>
                            <a:schemeClr val="accent2"/>
                          </a:solidFill>
                          <a:latin typeface="+mn-lt"/>
                          <a:ea typeface="+mn-ea"/>
                          <a:cs typeface="+mn-cs"/>
                        </a:rPr>
                        <a:t>{{company_name}}</a:t>
                      </a:r>
                      <a:r>
                        <a:rPr lang="da-DK" sz="1200" b="1" kern="1200" noProof="0">
                          <a:solidFill>
                            <a:schemeClr val="accent1"/>
                          </a:solidFill>
                          <a:latin typeface="+mn-lt"/>
                          <a:ea typeface="+mn-ea"/>
                          <a:cs typeface="+mn-cs"/>
                        </a:rPr>
                        <a:t>´s strategi og forretningsmodel har bæredygtighedsrelaterede elementer</a:t>
                      </a:r>
                      <a:r>
                        <a:rPr lang="da-DK" sz="1200" b="0" noProof="0">
                          <a:solidFill>
                            <a:schemeClr val="tx2"/>
                          </a:solidFill>
                        </a:rPr>
                        <a:t>(pkt. 46d)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541252">
                <a:tc>
                  <a:txBody>
                    <a:bodyPr/>
                    <a:lstStyle/>
                    <a:p>
                      <a:pPr lvl="0" algn="l">
                        <a:buNone/>
                      </a:pPr>
                      <a:r>
                        <a:rPr lang="da-DK" sz="1200" b="0" noProof="0">
                          <a:solidFill>
                            <a:schemeClr val="accent2"/>
                          </a:solidFill>
                        </a:rPr>
                        <a:t>{{business_model}}</a:t>
                      </a:r>
                      <a:endParaRPr lang="da-DK"/>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19" name="Tekstfelt 18">
            <a:extLst>
              <a:ext uri="{FF2B5EF4-FFF2-40B4-BE49-F238E27FC236}">
                <a16:creationId xmlns:a16="http://schemas.microsoft.com/office/drawing/2014/main" id="{6B666E4C-70AB-0C7E-E428-3654C2D744C6}"/>
              </a:ext>
            </a:extLst>
          </p:cNvPr>
          <p:cNvSpPr txBox="1"/>
          <p:nvPr/>
        </p:nvSpPr>
        <p:spPr>
          <a:xfrm>
            <a:off x="518600" y="1016000"/>
            <a:ext cx="11254300" cy="461665"/>
          </a:xfrm>
          <a:prstGeom prst="rect">
            <a:avLst/>
          </a:prstGeom>
          <a:noFill/>
        </p:spPr>
        <p:txBody>
          <a:bodyPr wrap="square">
            <a:spAutoFit/>
          </a:bodyPr>
          <a:lstStyle/>
          <a:p>
            <a:pPr rtl="0">
              <a:buNone/>
            </a:pPr>
            <a:r>
              <a:rPr lang="da-DK" sz="1200" b="0" i="0" u="none" strike="noStrike" noProof="0">
                <a:solidFill>
                  <a:schemeClr val="tx2"/>
                </a:solidFill>
                <a:effectLst/>
                <a:latin typeface="Inter"/>
              </a:rPr>
              <a:t>Virksomheden har angivet beskrivelse af overordnet forretningsmodel og strategi; produkter og/eller tjenesteydelser; markeder; forretningsforbindelser samt om virksomhedens forretningsmodel har bæredygtighedsrelaterede elementer. </a:t>
            </a:r>
            <a:endParaRPr lang="da-DK" sz="1200" noProof="0">
              <a:solidFill>
                <a:schemeClr val="tx2"/>
              </a:solidFill>
              <a:latin typeface="Inter"/>
            </a:endParaRPr>
          </a:p>
        </p:txBody>
      </p:sp>
    </p:spTree>
    <p:extLst>
      <p:ext uri="{BB962C8B-B14F-4D97-AF65-F5344CB8AC3E}">
        <p14:creationId xmlns:p14="http://schemas.microsoft.com/office/powerpoint/2010/main" val="3508937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noProof="0">
                <a:latin typeface="+mn-lt"/>
                <a:ea typeface="+mn-ea"/>
                <a:cs typeface="+mn-cs"/>
              </a:rPr>
              <a:t>I</a:t>
            </a:r>
            <a:r>
              <a:rPr lang="da-DK" sz="1800" b="1" kern="1200" spc="-10" noProof="0">
                <a:solidFill>
                  <a:schemeClr val="tx2"/>
                </a:solidFill>
                <a:latin typeface="+mn-lt"/>
                <a:ea typeface="+mn-ea"/>
                <a:cs typeface="+mn-cs"/>
              </a:rPr>
              <a:t>ndsatser, politikker og fremtidige initiativer for omstilling til en mere bæredygtig økonomi (C2)</a:t>
            </a:r>
            <a:endParaRPr lang="da-DK"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15</a:t>
            </a:fld>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924185767"/>
              </p:ext>
            </p:extLst>
          </p:nvPr>
        </p:nvGraphicFramePr>
        <p:xfrm>
          <a:off x="518601" y="1753116"/>
          <a:ext cx="11165398" cy="5076664"/>
        </p:xfrm>
        <a:graphic>
          <a:graphicData uri="http://schemas.openxmlformats.org/drawingml/2006/table">
            <a:tbl>
              <a:tblPr firstRow="1">
                <a:tableStyleId>{2A488322-F2BA-4B5B-9748-0D474271808F}</a:tableStyleId>
              </a:tblPr>
              <a:tblGrid>
                <a:gridCol w="1916839">
                  <a:extLst>
                    <a:ext uri="{9D8B030D-6E8A-4147-A177-3AD203B41FA5}">
                      <a16:colId xmlns:a16="http://schemas.microsoft.com/office/drawing/2014/main" val="1902117154"/>
                    </a:ext>
                  </a:extLst>
                </a:gridCol>
                <a:gridCol w="3082853">
                  <a:extLst>
                    <a:ext uri="{9D8B030D-6E8A-4147-A177-3AD203B41FA5}">
                      <a16:colId xmlns:a16="http://schemas.microsoft.com/office/drawing/2014/main" val="1904521774"/>
                    </a:ext>
                  </a:extLst>
                </a:gridCol>
                <a:gridCol w="3082853">
                  <a:extLst>
                    <a:ext uri="{9D8B030D-6E8A-4147-A177-3AD203B41FA5}">
                      <a16:colId xmlns:a16="http://schemas.microsoft.com/office/drawing/2014/main" val="3164053669"/>
                    </a:ext>
                  </a:extLst>
                </a:gridCol>
                <a:gridCol w="3082853">
                  <a:extLst>
                    <a:ext uri="{9D8B030D-6E8A-4147-A177-3AD203B41FA5}">
                      <a16:colId xmlns:a16="http://schemas.microsoft.com/office/drawing/2014/main" val="1484983729"/>
                    </a:ext>
                  </a:extLst>
                </a:gridCol>
              </a:tblGrid>
              <a:tr h="349624">
                <a:tc rowSpan="2">
                  <a:txBody>
                    <a:bodyPr/>
                    <a:lstStyle/>
                    <a:p>
                      <a:pPr algn="l"/>
                      <a:r>
                        <a:rPr lang="da-DK" sz="1200" b="1" kern="1200" spc="-10" noProof="0">
                          <a:solidFill>
                            <a:schemeClr val="tx2"/>
                          </a:solidFill>
                          <a:latin typeface="+mn-lt"/>
                          <a:ea typeface="+mn-ea"/>
                          <a:cs typeface="+mn-cs"/>
                        </a:rPr>
                        <a:t>Område</a:t>
                      </a:r>
                    </a:p>
                    <a:p>
                      <a:pPr algn="l"/>
                      <a:r>
                        <a:rPr lang="da-DK" sz="1200" b="0" kern="1200" spc="-10" noProof="0">
                          <a:solidFill>
                            <a:schemeClr val="tx2"/>
                          </a:solidFill>
                          <a:latin typeface="+mn-lt"/>
                          <a:ea typeface="+mn-ea"/>
                          <a:cs typeface="+mn-cs"/>
                        </a:rPr>
                        <a:t>(pkt. 47)</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rowSpan="2">
                  <a:txBody>
                    <a:bodyPr/>
                    <a:lstStyle/>
                    <a:p>
                      <a:pPr algn="l"/>
                      <a:r>
                        <a:rPr lang="da-DK" sz="1200" b="1" kern="1200" spc="-10" noProof="0">
                          <a:solidFill>
                            <a:schemeClr val="tx2"/>
                          </a:solidFill>
                          <a:latin typeface="+mn-lt"/>
                          <a:ea typeface="+mn-ea"/>
                          <a:cs typeface="+mn-cs"/>
                        </a:rPr>
                        <a:t>Kort beskrivelse </a:t>
                      </a:r>
                      <a:r>
                        <a:rPr lang="da-DK" sz="1200" b="1" u="none" kern="1200" spc="-10" noProof="0">
                          <a:solidFill>
                            <a:schemeClr val="tx2"/>
                          </a:solidFill>
                          <a:latin typeface="+mn-lt"/>
                          <a:ea typeface="+mn-ea"/>
                          <a:cs typeface="+mn-cs"/>
                        </a:rPr>
                        <a:t>af eksisterende </a:t>
                      </a:r>
                      <a:r>
                        <a:rPr lang="da-DK" sz="1200" b="1" kern="1200" spc="-10" noProof="0">
                          <a:solidFill>
                            <a:schemeClr val="tx2"/>
                          </a:solidFill>
                          <a:latin typeface="+mn-lt"/>
                          <a:ea typeface="+mn-ea"/>
                          <a:cs typeface="+mn-cs"/>
                        </a:rPr>
                        <a:t>indsatser/politikker/handlinger (jf. oplysningspunkt B2)</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rowSpan="2">
                  <a:txBody>
                    <a:bodyPr/>
                    <a:lstStyle/>
                    <a:p>
                      <a:pPr algn="l"/>
                      <a:r>
                        <a:rPr lang="da-DK" sz="1200" b="1" kern="1200" spc="-10" noProof="0">
                          <a:solidFill>
                            <a:schemeClr val="tx2"/>
                          </a:solidFill>
                          <a:latin typeface="+mn-lt"/>
                          <a:ea typeface="+mn-ea"/>
                          <a:cs typeface="+mn-cs"/>
                        </a:rPr>
                        <a:t>Kort beskrivelse af eventuelle </a:t>
                      </a:r>
                      <a:r>
                        <a:rPr lang="da-DK" sz="1200" b="1" u="none" kern="1200" spc="-10" noProof="0">
                          <a:solidFill>
                            <a:schemeClr val="tx2"/>
                          </a:solidFill>
                          <a:latin typeface="+mn-lt"/>
                          <a:ea typeface="+mn-ea"/>
                          <a:cs typeface="+mn-cs"/>
                        </a:rPr>
                        <a:t>fremtidige</a:t>
                      </a:r>
                      <a:r>
                        <a:rPr lang="da-DK" sz="1200" b="1" kern="1200" spc="-10" noProof="0">
                          <a:solidFill>
                            <a:schemeClr val="tx2"/>
                          </a:solidFill>
                          <a:latin typeface="+mn-lt"/>
                          <a:ea typeface="+mn-ea"/>
                          <a:cs typeface="+mn-cs"/>
                        </a:rPr>
                        <a:t> målsætninger (jf. oplysningspunkt B2)</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spc="-10" noProof="0">
                          <a:solidFill>
                            <a:schemeClr val="bg1"/>
                          </a:solidFill>
                        </a:rPr>
                        <a:t>Oplysningspunktet </a:t>
                      </a:r>
                      <a:r>
                        <a:rPr lang="da-DK" sz="1200" b="1" spc="-10" noProof="0">
                          <a:solidFill>
                            <a:schemeClr val="bg1"/>
                          </a:solidFill>
                        </a:rPr>
                        <a:t>er frivilligt</a:t>
                      </a:r>
                      <a:endParaRPr lang="da-DK" sz="1200" spc="-10" noProof="0">
                        <a:solidFill>
                          <a:schemeClr val="bg1"/>
                        </a:solidFill>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1B4529"/>
                    </a:solidFill>
                  </a:tcPr>
                </a:tc>
                <a:extLst>
                  <a:ext uri="{0D108BD9-81ED-4DB2-BD59-A6C34878D82A}">
                    <a16:rowId xmlns:a16="http://schemas.microsoft.com/office/drawing/2014/main" val="3642311251"/>
                  </a:ext>
                </a:extLst>
              </a:tr>
              <a:tr h="572685">
                <a:tc vMerge="1">
                  <a:txBody>
                    <a:bodyPr/>
                    <a:lstStyle/>
                    <a:p>
                      <a:endParaRPr lang="en-GB"/>
                    </a:p>
                  </a:txBody>
                  <a:tcPr/>
                </a:tc>
                <a:tc vMerge="1">
                  <a:txBody>
                    <a:bodyPr/>
                    <a:lstStyle/>
                    <a:p>
                      <a:endParaRPr lang="en-GB"/>
                    </a:p>
                  </a:txBody>
                  <a:tcPr/>
                </a:tc>
                <a:tc vMerge="1">
                  <a:txBody>
                    <a:bodyPr/>
                    <a:lstStyle/>
                    <a:p>
                      <a:endParaRPr lang="en-GB"/>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spc="-10" noProof="0">
                          <a:solidFill>
                            <a:schemeClr val="tx2"/>
                          </a:solidFill>
                          <a:latin typeface="+mn-lt"/>
                          <a:ea typeface="+mn-ea"/>
                          <a:cs typeface="+mn-cs"/>
                        </a:rPr>
                        <a:t>Angivelse af det højeste ledelsesniveau i virksomheden, der er ansvarlig for implementeringen </a:t>
                      </a:r>
                      <a:r>
                        <a:rPr lang="da-DK" sz="1200" b="0" kern="1200" spc="-10" noProof="0">
                          <a:solidFill>
                            <a:schemeClr val="tx2"/>
                          </a:solidFill>
                          <a:latin typeface="+mn-lt"/>
                          <a:ea typeface="+mn-ea"/>
                          <a:cs typeface="+mn-cs"/>
                        </a:rPr>
                        <a:t>(pkt. 48)</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168422229"/>
                  </a:ext>
                </a:extLst>
              </a:tr>
              <a:tr h="349530">
                <a:tc>
                  <a:txBody>
                    <a:bodyPr/>
                    <a:lstStyle/>
                    <a:p>
                      <a:pPr algn="l"/>
                      <a:r>
                        <a:rPr lang="da-DK" sz="1200" b="1" kern="1200" spc="-10" noProof="0">
                          <a:solidFill>
                            <a:schemeClr val="tx2"/>
                          </a:solidFill>
                          <a:latin typeface="+mn-lt"/>
                          <a:ea typeface="+mn-ea"/>
                          <a:cs typeface="+mn-cs"/>
                        </a:rPr>
                        <a:t>Klimaforandringer</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Climate_C2_Description_Existing_Practices</a:t>
                      </a:r>
                      <a:r>
                        <a:rPr lang="da-DK" sz="1200" b="0" i="0" u="none" strike="noStrike" noProof="0">
                          <a:solidFill>
                            <a:srgbClr val="2D55FF"/>
                          </a:solidFill>
                          <a:effectLst/>
                          <a:latin typeface="Inter"/>
                        </a:rPr>
                        <a:t>}}</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Climate_C2_Future_Practices</a:t>
                      </a:r>
                      <a:r>
                        <a:rPr lang="da-DK" sz="1200" b="0" i="0" u="none" strike="noStrike" noProof="0">
                          <a:solidFill>
                            <a:srgbClr val="2D55FF"/>
                          </a:solidFill>
                          <a:effectLst/>
                          <a:latin typeface="Inter"/>
                        </a:rPr>
                        <a:t>}}</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Climate_C2_Management_Level</a:t>
                      </a:r>
                      <a:r>
                        <a:rPr lang="da-DK" sz="1200" b="0" i="0" u="none" strike="noStrike" noProof="0">
                          <a:solidFill>
                            <a:srgbClr val="2D55FF"/>
                          </a:solidFill>
                          <a:effectLst/>
                          <a:latin typeface="Inter"/>
                        </a:rPr>
                        <a:t>}}</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31697">
                <a:tc>
                  <a:txBody>
                    <a:bodyPr/>
                    <a:lstStyle/>
                    <a:p>
                      <a:pPr algn="l"/>
                      <a:r>
                        <a:rPr lang="da-DK" sz="1200" b="1" kern="1200" spc="-10" noProof="0">
                          <a:solidFill>
                            <a:schemeClr val="tx2"/>
                          </a:solidFill>
                          <a:latin typeface="+mn-lt"/>
                          <a:ea typeface="+mn-ea"/>
                          <a:cs typeface="+mn-cs"/>
                        </a:rPr>
                        <a:t>Forurening</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Pollution_C2_Description_Existing_Practices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Pollution_C2_Future_Practices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Pollution_C2_Management_Level</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341118">
                <a:tc>
                  <a:txBody>
                    <a:bodyPr/>
                    <a:lstStyle/>
                    <a:p>
                      <a:pPr algn="l"/>
                      <a:r>
                        <a:rPr lang="da-DK" sz="1200" b="1" kern="1200" spc="-10" noProof="0">
                          <a:solidFill>
                            <a:schemeClr val="tx2"/>
                          </a:solidFill>
                          <a:latin typeface="+mn-lt"/>
                          <a:ea typeface="+mn-ea"/>
                          <a:cs typeface="+mn-cs"/>
                        </a:rPr>
                        <a:t>Vand -og Havressourcer</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Water_C2_Description_Existing_Practices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Water_C2_Future_Practices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rgbClr val="2D55FF"/>
                          </a:solidFill>
                          <a:effectLst/>
                          <a:latin typeface="Inter"/>
                        </a:rPr>
                        <a:t>{{</a:t>
                      </a:r>
                      <a:r>
                        <a:rPr lang="da-DK" sz="1200" b="0" i="0" u="none" strike="noStrike" noProof="0">
                          <a:solidFill>
                            <a:srgbClr val="2D55FF"/>
                          </a:solidFill>
                          <a:effectLst/>
                          <a:latin typeface="IBM Plex Sans"/>
                        </a:rPr>
                        <a:t>Water_C2_Management_Level</a:t>
                      </a:r>
                      <a:r>
                        <a:rPr lang="da-DK" sz="1200" b="0" i="0" u="none" strike="noStrike" noProof="0">
                          <a:solidFill>
                            <a:srgbClr val="2D55FF"/>
                          </a:solidFill>
                          <a:effectLst/>
                          <a:latin typeface="Inter"/>
                        </a:rPr>
                        <a:t>}}</a:t>
                      </a:r>
                      <a:endParaRPr lang="da-DK" sz="1200" b="0" i="0" u="none" strike="noStrike" noProof="0">
                        <a:solidFill>
                          <a:srgbClr val="000000"/>
                        </a:solidFill>
                        <a:effectLst/>
                        <a:latin typeface="Inter"/>
                      </a:endParaRPr>
                    </a:p>
                    <a:p>
                      <a:pPr lvl="0">
                        <a:buNone/>
                      </a:pPr>
                      <a:endParaRPr lang="da-DK" sz="1200" b="0" i="0" u="none" strike="noStrike" noProof="0">
                        <a:solidFill>
                          <a:srgbClr val="2D55FF"/>
                        </a:solidFill>
                        <a:effectLst/>
                        <a:latin typeface="Inter"/>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403936">
                <a:tc>
                  <a:txBody>
                    <a:bodyPr/>
                    <a:lstStyle/>
                    <a:p>
                      <a:pPr algn="l"/>
                      <a:r>
                        <a:rPr lang="da-DK" sz="1200" b="1" kern="1200" spc="-10" noProof="0">
                          <a:solidFill>
                            <a:schemeClr val="tx2"/>
                          </a:solidFill>
                          <a:latin typeface="+mn-lt"/>
                          <a:ea typeface="+mn-ea"/>
                          <a:cs typeface="+mn-cs"/>
                        </a:rPr>
                        <a:t>Biodiversitet og Økosystemer</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Bio_C2_Description_Existing_Practices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Bio_C2_Future_Practices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Bio_C2_Management_Level</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341118">
                <a:tc>
                  <a:txBody>
                    <a:bodyPr/>
                    <a:lstStyle/>
                    <a:p>
                      <a:pPr algn="l"/>
                      <a:r>
                        <a:rPr lang="da-DK" sz="1200" b="1" kern="1200" spc="-10" noProof="0">
                          <a:solidFill>
                            <a:schemeClr val="tx2"/>
                          </a:solidFill>
                          <a:latin typeface="+mn-lt"/>
                          <a:ea typeface="+mn-ea"/>
                          <a:cs typeface="+mn-cs"/>
                        </a:rPr>
                        <a:t>Cirkulær økonomi</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Circular_C2_Description_Existing_Practices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Circular_C2_Future_Practices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Circular_C2_Management_Level</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341118">
                <a:tc>
                  <a:txBody>
                    <a:bodyPr/>
                    <a:lstStyle/>
                    <a:p>
                      <a:pPr algn="l"/>
                      <a:r>
                        <a:rPr lang="da-DK" sz="1200" b="1" kern="1200" spc="-10" noProof="0">
                          <a:solidFill>
                            <a:schemeClr val="tx2"/>
                          </a:solidFill>
                          <a:latin typeface="+mn-lt"/>
                          <a:ea typeface="+mn-ea"/>
                          <a:cs typeface="+mn-cs"/>
                        </a:rPr>
                        <a:t>Egen arbejdsstyrke</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Own_Workforce_C2_Description_Existing_Practices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Own_Workforce_C2_Future_Practices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Own_Workforce_C2_Management_Level</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341118">
                <a:tc>
                  <a:txBody>
                    <a:bodyPr/>
                    <a:lstStyle/>
                    <a:p>
                      <a:pPr algn="l"/>
                      <a:r>
                        <a:rPr lang="da-DK" sz="1200" b="1" kern="1200" spc="-10" noProof="0">
                          <a:solidFill>
                            <a:schemeClr val="tx2"/>
                          </a:solidFill>
                          <a:latin typeface="+mn-lt"/>
                          <a:ea typeface="+mn-ea"/>
                          <a:cs typeface="+mn-cs"/>
                        </a:rPr>
                        <a:t>Arbejdere i værdikæden</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Workers_Value_Chain_C2_Description_Existing_Practices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Workers_Value_Chain_C2_Future_Practices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Workers_Value_Chain_C2_Management_Level</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341118">
                <a:tc>
                  <a:txBody>
                    <a:bodyPr/>
                    <a:lstStyle/>
                    <a:p>
                      <a:pPr algn="l"/>
                      <a:r>
                        <a:rPr lang="da-DK" sz="1200" b="1" kern="1200" spc="-10" noProof="0">
                          <a:solidFill>
                            <a:schemeClr val="tx2"/>
                          </a:solidFill>
                          <a:latin typeface="+mn-lt"/>
                          <a:ea typeface="+mn-ea"/>
                          <a:cs typeface="+mn-cs"/>
                        </a:rPr>
                        <a:t>Berørte samfund</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Affected_C2_Description_Existing_Practices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Affected_C2_Future_Practices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Affected_C2_Management_Level</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403936">
                <a:tc>
                  <a:txBody>
                    <a:bodyPr/>
                    <a:lstStyle/>
                    <a:p>
                      <a:pPr algn="l"/>
                      <a:r>
                        <a:rPr lang="da-DK" sz="1200" b="1" kern="1200" spc="-10" noProof="0">
                          <a:solidFill>
                            <a:schemeClr val="tx2"/>
                          </a:solidFill>
                          <a:latin typeface="+mn-lt"/>
                          <a:ea typeface="+mn-ea"/>
                          <a:cs typeface="+mn-cs"/>
                        </a:rPr>
                        <a:t>Forbrugere og slutbrugere</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Consumers_C2_Description_Existing_Practices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Consumers_C2_Future_Practices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Consumers_C2_Management_Level</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341118">
                <a:tc>
                  <a:txBody>
                    <a:bodyPr/>
                    <a:lstStyle/>
                    <a:p>
                      <a:pPr algn="l"/>
                      <a:r>
                        <a:rPr lang="da-DK" sz="1200" b="1" kern="1200" spc="-10" noProof="0">
                          <a:solidFill>
                            <a:schemeClr val="tx2"/>
                          </a:solidFill>
                          <a:latin typeface="+mn-lt"/>
                          <a:ea typeface="+mn-ea"/>
                          <a:cs typeface="+mn-cs"/>
                        </a:rPr>
                        <a:t>Virksomhedsledelse</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Governance_C2_Description_Existing_Practices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Governance_C2_Future_Practices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Governance_C2_Management_Level</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7" name="Tekstfelt 16">
            <a:extLst>
              <a:ext uri="{FF2B5EF4-FFF2-40B4-BE49-F238E27FC236}">
                <a16:creationId xmlns:a16="http://schemas.microsoft.com/office/drawing/2014/main" id="{2A776A89-A1FF-B14E-F93A-876E75156091}"/>
              </a:ext>
            </a:extLst>
          </p:cNvPr>
          <p:cNvSpPr txBox="1"/>
          <p:nvPr/>
        </p:nvSpPr>
        <p:spPr>
          <a:xfrm>
            <a:off x="535853" y="1029778"/>
            <a:ext cx="11148146" cy="646331"/>
          </a:xfrm>
          <a:prstGeom prst="rect">
            <a:avLst/>
          </a:prstGeom>
          <a:noFill/>
        </p:spPr>
        <p:txBody>
          <a:bodyPr wrap="square">
            <a:spAutoFit/>
          </a:bodyPr>
          <a:lstStyle/>
          <a:p>
            <a:r>
              <a:rPr lang="da-DK" sz="1200" noProof="0">
                <a:solidFill>
                  <a:schemeClr val="tx2"/>
                </a:solidFill>
              </a:rPr>
              <a:t>Nedenstående tabel er udfyldt, da virksomheden allerede har iværksat konkrete indsatser, politikker eller initiativer, der bidrager til omstillingen mod en mere bæredygtig økonomi. Virksomheden har svaret ”JA” til et eller flere oplysningspunkter under B2 i Basismodulet. Nedenstående angiver et mere fyldestgørende svar på politikker, initiativer og indsatser som er igangsat for omstilling til en mere bæredygtig økonomi i virksomheden</a:t>
            </a:r>
          </a:p>
        </p:txBody>
      </p:sp>
    </p:spTree>
    <p:extLst>
      <p:ext uri="{BB962C8B-B14F-4D97-AF65-F5344CB8AC3E}">
        <p14:creationId xmlns:p14="http://schemas.microsoft.com/office/powerpoint/2010/main" val="9724709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noProof="0" err="1">
                <a:solidFill>
                  <a:srgbClr val="1B4528"/>
                </a:solidFill>
                <a:latin typeface="IBM Plex Sans" panose="020B0503050203000203" pitchFamily="34" charset="0"/>
              </a:rPr>
              <a:t>CO₂e-udledning</a:t>
            </a:r>
            <a:r>
              <a:rPr lang="da-DK" noProof="0">
                <a:solidFill>
                  <a:srgbClr val="1B4528"/>
                </a:solidFill>
                <a:latin typeface="IBM Plex Sans" panose="020B0503050203000203" pitchFamily="34" charset="0"/>
              </a:rPr>
              <a:t> under B3 i Basismodulet</a:t>
            </a:r>
            <a:endParaRPr lang="da-DK" b="0"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16</a:t>
            </a:fld>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endParaRPr lang="da-DK"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468745460"/>
              </p:ext>
            </p:extLst>
          </p:nvPr>
        </p:nvGraphicFramePr>
        <p:xfrm>
          <a:off x="518599" y="3711451"/>
          <a:ext cx="11165400" cy="1756814"/>
        </p:xfrm>
        <a:graphic>
          <a:graphicData uri="http://schemas.openxmlformats.org/drawingml/2006/table">
            <a:tbl>
              <a:tblPr firstRow="1">
                <a:tableStyleId>{2A488322-F2BA-4B5B-9748-0D474271808F}</a:tableStyleId>
              </a:tblPr>
              <a:tblGrid>
                <a:gridCol w="3721800">
                  <a:extLst>
                    <a:ext uri="{9D8B030D-6E8A-4147-A177-3AD203B41FA5}">
                      <a16:colId xmlns:a16="http://schemas.microsoft.com/office/drawing/2014/main" val="1902117154"/>
                    </a:ext>
                  </a:extLst>
                </a:gridCol>
                <a:gridCol w="3721800">
                  <a:extLst>
                    <a:ext uri="{9D8B030D-6E8A-4147-A177-3AD203B41FA5}">
                      <a16:colId xmlns:a16="http://schemas.microsoft.com/office/drawing/2014/main" val="1904521774"/>
                    </a:ext>
                  </a:extLst>
                </a:gridCol>
                <a:gridCol w="3721800">
                  <a:extLst>
                    <a:ext uri="{9D8B030D-6E8A-4147-A177-3AD203B41FA5}">
                      <a16:colId xmlns:a16="http://schemas.microsoft.com/office/drawing/2014/main" val="2605332690"/>
                    </a:ext>
                  </a:extLst>
                </a:gridCol>
              </a:tblGrid>
              <a:tr h="280094">
                <a:tc gridSpan="3">
                  <a:txBody>
                    <a:bodyPr/>
                    <a:lstStyle/>
                    <a:p>
                      <a:r>
                        <a:rPr lang="da-DK" sz="1200" b="1" kern="1200" spc="-10" noProof="0" err="1">
                          <a:solidFill>
                            <a:schemeClr val="tx2"/>
                          </a:solidFill>
                          <a:latin typeface="+mn-lt"/>
                          <a:ea typeface="+mn-ea"/>
                          <a:cs typeface="+mn-cs"/>
                        </a:rPr>
                        <a:t>CO₂e-reduktionsmål</a:t>
                      </a:r>
                      <a:r>
                        <a:rPr lang="da-DK" sz="1200" b="1" kern="1200" spc="-10" noProof="0">
                          <a:solidFill>
                            <a:schemeClr val="tx2"/>
                          </a:solidFill>
                          <a:latin typeface="+mn-lt"/>
                          <a:ea typeface="+mn-ea"/>
                          <a:cs typeface="+mn-cs"/>
                        </a:rPr>
                        <a:t> </a:t>
                      </a:r>
                      <a:r>
                        <a:rPr lang="da-DK" sz="1200" b="0" kern="1200" spc="-10" noProof="0">
                          <a:solidFill>
                            <a:schemeClr val="tx2"/>
                          </a:solidFill>
                          <a:latin typeface="+mn-lt"/>
                          <a:ea typeface="+mn-ea"/>
                          <a:cs typeface="+mn-cs"/>
                        </a:rPr>
                        <a:t>(pkt. 53 a–d)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909213315"/>
                  </a:ext>
                </a:extLst>
              </a:tr>
              <a:tr h="346320">
                <a:tc>
                  <a:txBody>
                    <a:bodyPr/>
                    <a:lstStyle/>
                    <a:p>
                      <a:pPr algn="l"/>
                      <a:endParaRPr lang="da-DK" sz="1200" b="0"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200" b="1" kern="1200" spc="-10" noProof="0">
                          <a:solidFill>
                            <a:schemeClr val="tx2"/>
                          </a:solidFill>
                          <a:latin typeface="+mn-lt"/>
                          <a:ea typeface="+mn-ea"/>
                          <a:cs typeface="+mn-cs"/>
                        </a:rPr>
                        <a:t>Reduktionsmål i år </a:t>
                      </a:r>
                      <a:r>
                        <a:rPr lang="da-DK" sz="1200" b="1" kern="1200" spc="-10" noProof="0">
                          <a:solidFill>
                            <a:schemeClr val="accent2"/>
                          </a:solidFill>
                          <a:latin typeface="+mn-lt"/>
                          <a:ea typeface="+mn-ea"/>
                          <a:cs typeface="+mn-cs"/>
                        </a:rPr>
                        <a:t>{{baseline_year-1}}</a:t>
                      </a:r>
                      <a:endParaRPr lang="da-DK" sz="1200" b="0" kern="1200" spc="-10" noProof="0">
                        <a:solidFill>
                          <a:schemeClr val="accent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spc="-10" noProof="0" err="1">
                          <a:solidFill>
                            <a:schemeClr val="tx2"/>
                          </a:solidFill>
                          <a:latin typeface="+mn-lt"/>
                          <a:ea typeface="+mn-ea"/>
                          <a:cs typeface="+mn-cs"/>
                        </a:rPr>
                        <a:t>CO₂e-udledning</a:t>
                      </a:r>
                      <a:r>
                        <a:rPr lang="da-DK" sz="1200" b="1" kern="1200" spc="-10" noProof="0">
                          <a:solidFill>
                            <a:schemeClr val="tx2"/>
                          </a:solidFill>
                          <a:latin typeface="+mn-lt"/>
                          <a:ea typeface="+mn-ea"/>
                          <a:cs typeface="+mn-cs"/>
                        </a:rPr>
                        <a:t> i </a:t>
                      </a:r>
                      <a:r>
                        <a:rPr lang="da-DK" sz="1200" b="1" kern="1200" spc="-10" noProof="0" err="1">
                          <a:solidFill>
                            <a:schemeClr val="tx2"/>
                          </a:solidFill>
                          <a:latin typeface="+mn-lt"/>
                          <a:ea typeface="+mn-ea"/>
                          <a:cs typeface="+mn-cs"/>
                        </a:rPr>
                        <a:t>baselineår</a:t>
                      </a:r>
                      <a:r>
                        <a:rPr lang="da-DK" sz="1200" b="1" kern="1200" spc="-10" noProof="0">
                          <a:solidFill>
                            <a:schemeClr val="tx2"/>
                          </a:solidFill>
                          <a:latin typeface="+mn-lt"/>
                          <a:ea typeface="+mn-ea"/>
                          <a:cs typeface="+mn-cs"/>
                        </a:rPr>
                        <a:t>:</a:t>
                      </a:r>
                      <a:r>
                        <a:rPr lang="da-DK" sz="1200" b="0" kern="1200" spc="-10" noProof="0">
                          <a:solidFill>
                            <a:schemeClr val="tx2"/>
                          </a:solidFill>
                          <a:latin typeface="+mn-lt"/>
                          <a:ea typeface="+mn-ea"/>
                          <a:cs typeface="+mn-cs"/>
                        </a:rPr>
                        <a:t> </a:t>
                      </a:r>
                      <a:r>
                        <a:rPr lang="da-DK" sz="1200" b="1" kern="1200" spc="-10" noProof="0">
                          <a:solidFill>
                            <a:schemeClr val="accent2"/>
                          </a:solidFill>
                          <a:latin typeface="+mn-lt"/>
                          <a:ea typeface="+mn-ea"/>
                          <a:cs typeface="+mn-cs"/>
                        </a:rPr>
                        <a:t>{{</a:t>
                      </a:r>
                      <a:r>
                        <a:rPr lang="da-DK" sz="1200" b="1" kern="1200" spc="-10" noProof="0" err="1">
                          <a:solidFill>
                            <a:schemeClr val="accent2"/>
                          </a:solidFill>
                          <a:latin typeface="+mn-lt"/>
                          <a:ea typeface="+mn-ea"/>
                          <a:cs typeface="+mn-cs"/>
                        </a:rPr>
                        <a:t>Insert</a:t>
                      </a:r>
                      <a:r>
                        <a:rPr lang="da-DK" sz="1200" b="1" kern="1200" spc="-10" noProof="0">
                          <a:solidFill>
                            <a:schemeClr val="accent2"/>
                          </a:solidFill>
                          <a:latin typeface="+mn-lt"/>
                          <a:ea typeface="+mn-ea"/>
                          <a:cs typeface="+mn-cs"/>
                        </a:rPr>
                        <a:t> baseline </a:t>
                      </a:r>
                      <a:r>
                        <a:rPr lang="da-DK" sz="1200" b="1" kern="1200" spc="-10" noProof="0" err="1">
                          <a:solidFill>
                            <a:schemeClr val="accent2"/>
                          </a:solidFill>
                          <a:latin typeface="+mn-lt"/>
                          <a:ea typeface="+mn-ea"/>
                          <a:cs typeface="+mn-cs"/>
                        </a:rPr>
                        <a:t>year</a:t>
                      </a:r>
                      <a:r>
                        <a:rPr lang="da-DK" sz="1200" b="1" kern="1200" spc="-10" noProof="0">
                          <a:solidFill>
                            <a:schemeClr val="accent2"/>
                          </a:solidFill>
                          <a:latin typeface="+mn-lt"/>
                          <a:ea typeface="+mn-ea"/>
                          <a:cs typeface="+mn-cs"/>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346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spc="-10" noProof="0" err="1">
                          <a:solidFill>
                            <a:schemeClr val="tx2"/>
                          </a:solidFill>
                          <a:latin typeface="+mn-lt"/>
                          <a:ea typeface="+mn-ea"/>
                          <a:cs typeface="+mn-cs"/>
                        </a:rPr>
                        <a:t>Scope</a:t>
                      </a:r>
                      <a:r>
                        <a:rPr lang="da-DK" sz="1200" b="1" kern="1200" spc="-10" noProof="0">
                          <a:solidFill>
                            <a:schemeClr val="tx2"/>
                          </a:solidFill>
                          <a:latin typeface="+mn-lt"/>
                          <a:ea typeface="+mn-ea"/>
                          <a:cs typeface="+mn-cs"/>
                        </a:rPr>
                        <a:t> 1 </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1200" b="0" i="0" u="none" strike="noStrike" noProof="0">
                          <a:solidFill>
                            <a:srgbClr val="2D55FF"/>
                          </a:solidFill>
                          <a:effectLst/>
                          <a:latin typeface="Inter"/>
                        </a:rPr>
                        <a:t>{{scope1-2_target}}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a-DK" sz="1200" b="0" i="0" u="none" strike="noStrike" noProof="0">
                          <a:solidFill>
                            <a:srgbClr val="2D55FF"/>
                          </a:solidFill>
                          <a:effectLst/>
                          <a:latin typeface="Inter"/>
                        </a:rPr>
                        <a:t>{{scope1-2_baseline}}</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46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spc="-10" noProof="0" err="1">
                          <a:solidFill>
                            <a:schemeClr val="tx2"/>
                          </a:solidFill>
                          <a:latin typeface="+mn-lt"/>
                          <a:ea typeface="+mn-ea"/>
                          <a:cs typeface="+mn-cs"/>
                        </a:rPr>
                        <a:t>Scope</a:t>
                      </a:r>
                      <a:r>
                        <a:rPr lang="da-DK" sz="1200" b="1" kern="1200" spc="-10" noProof="0">
                          <a:solidFill>
                            <a:schemeClr val="tx2"/>
                          </a:solidFill>
                          <a:latin typeface="+mn-lt"/>
                          <a:ea typeface="+mn-ea"/>
                          <a:cs typeface="+mn-cs"/>
                        </a:rPr>
                        <a:t> 2</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1200" b="0" i="0" u="none" strike="noStrike" noProof="0">
                          <a:solidFill>
                            <a:srgbClr val="2D55FF"/>
                          </a:solidFill>
                          <a:effectLst/>
                          <a:latin typeface="Inter"/>
                        </a:rPr>
                        <a:t>{{scope1-2_target}}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a-DK" sz="1200" b="0" i="0" u="none" strike="noStrike" noProof="0">
                          <a:solidFill>
                            <a:srgbClr val="2D55FF"/>
                          </a:solidFill>
                          <a:effectLst/>
                          <a:latin typeface="Inter"/>
                        </a:rPr>
                        <a:t>{{scope1-2_baseline}}</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6173805"/>
                  </a:ext>
                </a:extLst>
              </a:tr>
              <a:tr h="346320">
                <a:tc>
                  <a:txBody>
                    <a:bodyPr/>
                    <a:lstStyle/>
                    <a:p>
                      <a:pPr algn="l"/>
                      <a:r>
                        <a:rPr lang="da-DK" sz="1200" b="1" kern="1200" spc="-10" noProof="0" err="1">
                          <a:solidFill>
                            <a:schemeClr val="tx2"/>
                          </a:solidFill>
                          <a:latin typeface="+mn-lt"/>
                          <a:ea typeface="+mn-ea"/>
                          <a:cs typeface="+mn-cs"/>
                        </a:rPr>
                        <a:t>Scope</a:t>
                      </a:r>
                      <a:r>
                        <a:rPr lang="da-DK" sz="1200" b="1" kern="1200" spc="-10" noProof="0">
                          <a:solidFill>
                            <a:schemeClr val="tx2"/>
                          </a:solidFill>
                          <a:latin typeface="+mn-lt"/>
                          <a:ea typeface="+mn-ea"/>
                          <a:cs typeface="+mn-cs"/>
                        </a:rPr>
                        <a:t> 3</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1200" b="0" i="0" u="none" strike="noStrike" noProof="0">
                          <a:solidFill>
                            <a:srgbClr val="2D55FF"/>
                          </a:solidFill>
                          <a:effectLst/>
                          <a:latin typeface="Inter"/>
                        </a:rPr>
                        <a:t>{{scope3_target}}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a-DK" sz="1200" b="0" i="0" u="none" strike="noStrike" noProof="0">
                          <a:solidFill>
                            <a:srgbClr val="2D55FF"/>
                          </a:solidFill>
                          <a:effectLst/>
                          <a:latin typeface="Inter"/>
                        </a:rPr>
                        <a:t>{{scope3_baseline}}</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bl>
          </a:graphicData>
        </a:graphic>
      </p:graphicFrame>
      <p:graphicFrame>
        <p:nvGraphicFramePr>
          <p:cNvPr id="7" name="Table 21">
            <a:extLst>
              <a:ext uri="{FF2B5EF4-FFF2-40B4-BE49-F238E27FC236}">
                <a16:creationId xmlns:a16="http://schemas.microsoft.com/office/drawing/2014/main" id="{C5FA6A58-54C9-F06A-6108-64DA6FC7E9AC}"/>
              </a:ext>
            </a:extLst>
          </p:cNvPr>
          <p:cNvGraphicFramePr>
            <a:graphicFrameLocks noGrp="1"/>
          </p:cNvGraphicFramePr>
          <p:nvPr>
            <p:extLst>
              <p:ext uri="{D42A27DB-BD31-4B8C-83A1-F6EECF244321}">
                <p14:modId xmlns:p14="http://schemas.microsoft.com/office/powerpoint/2010/main" val="3618635351"/>
              </p:ext>
            </p:extLst>
          </p:nvPr>
        </p:nvGraphicFramePr>
        <p:xfrm>
          <a:off x="518598" y="5613228"/>
          <a:ext cx="11165405" cy="760128"/>
        </p:xfrm>
        <a:graphic>
          <a:graphicData uri="http://schemas.openxmlformats.org/drawingml/2006/table">
            <a:tbl>
              <a:tblPr firstRow="1">
                <a:tableStyleId>{2A488322-F2BA-4B5B-9748-0D474271808F}</a:tableStyleId>
              </a:tblPr>
              <a:tblGrid>
                <a:gridCol w="11165405">
                  <a:extLst>
                    <a:ext uri="{9D8B030D-6E8A-4147-A177-3AD203B41FA5}">
                      <a16:colId xmlns:a16="http://schemas.microsoft.com/office/drawing/2014/main" val="2119413191"/>
                    </a:ext>
                  </a:extLst>
                </a:gridCol>
              </a:tblGrid>
              <a:tr h="330372">
                <a:tc>
                  <a:txBody>
                    <a:bodyPr/>
                    <a:lstStyle/>
                    <a:p>
                      <a:pPr marL="0" algn="l" defTabSz="914400" rtl="0" eaLnBrk="1" latinLnBrk="0" hangingPunct="1"/>
                      <a:r>
                        <a:rPr lang="da-DK" sz="1200" b="1" kern="1200" spc="-10" noProof="0">
                          <a:solidFill>
                            <a:schemeClr val="tx2"/>
                          </a:solidFill>
                          <a:latin typeface="+mn-lt"/>
                          <a:ea typeface="+mn-ea"/>
                          <a:cs typeface="+mn-cs"/>
                        </a:rPr>
                        <a:t>Liste over de vigtigste handlinger </a:t>
                      </a:r>
                      <a:r>
                        <a:rPr lang="da-DK" sz="1200" b="1" kern="1200" noProof="0">
                          <a:solidFill>
                            <a:schemeClr val="accent2"/>
                          </a:solidFill>
                          <a:latin typeface="+mn-lt"/>
                          <a:ea typeface="+mn-ea"/>
                          <a:cs typeface="+mn-cs"/>
                        </a:rPr>
                        <a:t>{{Company </a:t>
                      </a:r>
                      <a:r>
                        <a:rPr lang="da-DK" sz="1200" b="1" kern="1200" noProof="0" err="1">
                          <a:solidFill>
                            <a:schemeClr val="accent2"/>
                          </a:solidFill>
                          <a:latin typeface="+mn-lt"/>
                          <a:ea typeface="+mn-ea"/>
                          <a:cs typeface="+mn-cs"/>
                        </a:rPr>
                        <a:t>name</a:t>
                      </a:r>
                      <a:r>
                        <a:rPr lang="da-DK" sz="1200" b="1" kern="1200" noProof="0">
                          <a:solidFill>
                            <a:schemeClr val="accent2"/>
                          </a:solidFill>
                          <a:latin typeface="+mn-lt"/>
                          <a:ea typeface="+mn-ea"/>
                          <a:cs typeface="+mn-cs"/>
                        </a:rPr>
                        <a:t>}} </a:t>
                      </a:r>
                      <a:r>
                        <a:rPr lang="da-DK" sz="1200" b="0" kern="1200" noProof="0">
                          <a:solidFill>
                            <a:schemeClr val="accent2"/>
                          </a:solidFill>
                          <a:latin typeface="+mn-lt"/>
                          <a:ea typeface="+mn-ea"/>
                          <a:cs typeface="+mn-cs"/>
                        </a:rPr>
                        <a:t> </a:t>
                      </a:r>
                      <a:r>
                        <a:rPr lang="da-DK" sz="1200" b="1" kern="1200" spc="-10" noProof="0">
                          <a:solidFill>
                            <a:schemeClr val="tx2"/>
                          </a:solidFill>
                          <a:latin typeface="+mn-lt"/>
                          <a:ea typeface="+mn-ea"/>
                          <a:cs typeface="+mn-cs"/>
                        </a:rPr>
                        <a:t>implementerer for at nå </a:t>
                      </a:r>
                      <a:r>
                        <a:rPr lang="da-DK" sz="1200" b="1" kern="1200" spc="-10" noProof="0" err="1">
                          <a:solidFill>
                            <a:schemeClr val="tx2"/>
                          </a:solidFill>
                          <a:latin typeface="+mn-lt"/>
                          <a:ea typeface="+mn-ea"/>
                          <a:cs typeface="+mn-cs"/>
                        </a:rPr>
                        <a:t>CO₂e-reduktionsmålene</a:t>
                      </a:r>
                      <a:r>
                        <a:rPr lang="da-DK" sz="1200" b="1" kern="1200" spc="-10" noProof="0">
                          <a:solidFill>
                            <a:schemeClr val="tx2"/>
                          </a:solidFill>
                          <a:latin typeface="+mn-lt"/>
                          <a:ea typeface="+mn-ea"/>
                          <a:cs typeface="+mn-cs"/>
                        </a:rPr>
                        <a:t> </a:t>
                      </a:r>
                      <a:r>
                        <a:rPr lang="da-DK" sz="1200" b="0" kern="1200" spc="-10" noProof="0">
                          <a:solidFill>
                            <a:schemeClr val="tx2"/>
                          </a:solidFill>
                          <a:latin typeface="+mn-lt"/>
                          <a:ea typeface="+mn-ea"/>
                          <a:cs typeface="+mn-cs"/>
                        </a:rPr>
                        <a:t>(pkt. 53e)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29756">
                <a:tc>
                  <a:txBody>
                    <a:bodyPr/>
                    <a:lstStyle/>
                    <a:p>
                      <a:pPr algn="l"/>
                      <a:r>
                        <a:rPr lang="da-DK" sz="1200" b="0" noProof="0">
                          <a:solidFill>
                            <a:schemeClr val="accent2"/>
                          </a:solidFill>
                        </a:rPr>
                        <a:t>{{</a:t>
                      </a:r>
                      <a:r>
                        <a:rPr lang="da-DK" sz="1200" b="0" noProof="0" err="1">
                          <a:solidFill>
                            <a:schemeClr val="accent2"/>
                          </a:solidFill>
                        </a:rPr>
                        <a:t>mainaction</a:t>
                      </a:r>
                      <a:r>
                        <a:rPr lang="da-DK" sz="1200" b="0" noProof="0">
                          <a:solidFill>
                            <a:schemeClr val="accent2"/>
                          </a:solidFill>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9" name="Title 2">
            <a:extLst>
              <a:ext uri="{FF2B5EF4-FFF2-40B4-BE49-F238E27FC236}">
                <a16:creationId xmlns:a16="http://schemas.microsoft.com/office/drawing/2014/main" id="{4A504496-2FBB-B5B8-A62A-D1611D632D81}"/>
              </a:ext>
            </a:extLst>
          </p:cNvPr>
          <p:cNvSpPr txBox="1">
            <a:spLocks/>
          </p:cNvSpPr>
          <p:nvPr/>
        </p:nvSpPr>
        <p:spPr>
          <a:xfrm>
            <a:off x="518600" y="3264714"/>
            <a:ext cx="11165400" cy="2492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800" b="1" kern="1200" spc="-10" baseline="0">
                <a:solidFill>
                  <a:schemeClr val="tx2"/>
                </a:solidFill>
                <a:latin typeface="+mj-lt"/>
                <a:ea typeface="+mj-ea"/>
                <a:cs typeface="+mj-cs"/>
              </a:defRPr>
            </a:lvl1pPr>
          </a:lstStyle>
          <a:p>
            <a:r>
              <a:rPr lang="da-DK" noProof="0" err="1"/>
              <a:t>CO₂e-reduktionsmål</a:t>
            </a:r>
            <a:r>
              <a:rPr lang="da-DK" noProof="0"/>
              <a:t> (C3)</a:t>
            </a:r>
          </a:p>
        </p:txBody>
      </p:sp>
      <p:graphicFrame>
        <p:nvGraphicFramePr>
          <p:cNvPr id="21" name="Table 18">
            <a:extLst>
              <a:ext uri="{FF2B5EF4-FFF2-40B4-BE49-F238E27FC236}">
                <a16:creationId xmlns:a16="http://schemas.microsoft.com/office/drawing/2014/main" id="{7441C3F1-F61D-6925-5ACB-A4A2D6F92D40}"/>
              </a:ext>
            </a:extLst>
          </p:cNvPr>
          <p:cNvGraphicFramePr>
            <a:graphicFrameLocks noGrp="1"/>
          </p:cNvGraphicFramePr>
          <p:nvPr>
            <p:extLst>
              <p:ext uri="{D42A27DB-BD31-4B8C-83A1-F6EECF244321}">
                <p14:modId xmlns:p14="http://schemas.microsoft.com/office/powerpoint/2010/main" val="936518452"/>
              </p:ext>
            </p:extLst>
          </p:nvPr>
        </p:nvGraphicFramePr>
        <p:xfrm>
          <a:off x="518599" y="1559113"/>
          <a:ext cx="11154799" cy="1210459"/>
        </p:xfrm>
        <a:graphic>
          <a:graphicData uri="http://schemas.openxmlformats.org/drawingml/2006/table">
            <a:tbl>
              <a:tblPr firstRow="1">
                <a:tableStyleId>{2A488322-F2BA-4B5B-9748-0D474271808F}</a:tableStyleId>
              </a:tblPr>
              <a:tblGrid>
                <a:gridCol w="8831663">
                  <a:extLst>
                    <a:ext uri="{9D8B030D-6E8A-4147-A177-3AD203B41FA5}">
                      <a16:colId xmlns:a16="http://schemas.microsoft.com/office/drawing/2014/main" val="2698153288"/>
                    </a:ext>
                  </a:extLst>
                </a:gridCol>
                <a:gridCol w="2323136">
                  <a:extLst>
                    <a:ext uri="{9D8B030D-6E8A-4147-A177-3AD203B41FA5}">
                      <a16:colId xmlns:a16="http://schemas.microsoft.com/office/drawing/2014/main" val="656209149"/>
                    </a:ext>
                  </a:extLst>
                </a:gridCol>
              </a:tblGrid>
              <a:tr h="306337">
                <a:tc>
                  <a:txBody>
                    <a:bodyPr/>
                    <a:lstStyle/>
                    <a:p>
                      <a:pPr>
                        <a:lnSpc>
                          <a:spcPct val="106000"/>
                        </a:lnSpc>
                      </a:pPr>
                      <a:r>
                        <a:rPr lang="da-DK" sz="1200" b="1" noProof="0">
                          <a:solidFill>
                            <a:schemeClr val="tx2"/>
                          </a:solidFill>
                        </a:rPr>
                        <a:t>Udledning af drivhusgasser –</a:t>
                      </a:r>
                      <a:r>
                        <a:rPr lang="da-DK" sz="1200" b="0" noProof="0">
                          <a:solidFill>
                            <a:schemeClr val="tx2"/>
                          </a:solidFill>
                        </a:rPr>
                        <a:t> (tilføjes pkt. 33)</a:t>
                      </a:r>
                      <a:endParaRPr lang="da-DK" sz="12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1200" b="1" noProof="0">
                          <a:solidFill>
                            <a:schemeClr val="tx2"/>
                          </a:solidFill>
                        </a:rPr>
                        <a:t>År </a:t>
                      </a:r>
                      <a:r>
                        <a:rPr lang="da-DK" sz="1200" b="1" noProof="0">
                          <a:solidFill>
                            <a:schemeClr val="accent2"/>
                          </a:solidFill>
                          <a:latin typeface="Calibri"/>
                          <a:cs typeface="Calibri"/>
                        </a:rPr>
                        <a:t>{{Insert year}}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01374">
                <a:tc>
                  <a:txBody>
                    <a:bodyPr/>
                    <a:lstStyle/>
                    <a:p>
                      <a:pPr lvl="0" algn="l">
                        <a:lnSpc>
                          <a:spcPct val="100000"/>
                        </a:lnSpc>
                        <a:spcBef>
                          <a:spcPts val="0"/>
                        </a:spcBef>
                        <a:spcAft>
                          <a:spcPts val="0"/>
                        </a:spcAft>
                        <a:buNone/>
                      </a:pPr>
                      <a:r>
                        <a:rPr lang="da-DK" sz="1200" b="0" i="0" u="none" strike="noStrike" kern="1200" noProof="0">
                          <a:solidFill>
                            <a:srgbClr val="2D55FF"/>
                          </a:solidFill>
                          <a:latin typeface="IBM Plex Sans"/>
                          <a:ea typeface="+mn-ea"/>
                          <a:cs typeface="+mn-cs"/>
                        </a:rPr>
                        <a:t>{{scope3_description_table}}</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da-DK" sz="1200" b="0" i="0" u="none" strike="noStrike" kern="1200" cap="none" spc="0" normalizeH="0" baseline="0" noProof="0">
                          <a:ln>
                            <a:noFill/>
                          </a:ln>
                          <a:solidFill>
                            <a:srgbClr val="2D55FF"/>
                          </a:solidFill>
                          <a:effectLst/>
                          <a:uLnTx/>
                          <a:uFillTx/>
                          <a:latin typeface="IBM Plex Sans"/>
                          <a:ea typeface="+mn-ea"/>
                          <a:cs typeface="+mn-cs"/>
                        </a:rPr>
                        <a:t>{{scope3_emissions_table}}</a:t>
                      </a:r>
                      <a:endParaRPr lang="da-DK" sz="1200" b="0" i="0" u="none" strike="noStrike" kern="1200" cap="none" spc="0" normalizeH="0" baseline="0" noProof="0">
                        <a:ln>
                          <a:noFill/>
                        </a:ln>
                        <a:solidFill>
                          <a:srgbClr val="000000"/>
                        </a:solidFill>
                        <a:effectLst/>
                        <a:uLnTx/>
                        <a:uFillTx/>
                        <a:latin typeface="IBM Plex Sans"/>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775587356"/>
                  </a:ext>
                </a:extLst>
              </a:tr>
              <a:tr h="301374">
                <a:tc>
                  <a:txBody>
                    <a:bodyPr/>
                    <a:lstStyle/>
                    <a:p>
                      <a:pPr>
                        <a:lnSpc>
                          <a:spcPct val="106000"/>
                        </a:lnSpc>
                      </a:pPr>
                      <a:r>
                        <a:rPr lang="da-DK" sz="1200" b="1" noProof="0">
                          <a:solidFill>
                            <a:schemeClr val="tx2"/>
                          </a:solidFill>
                        </a:rPr>
                        <a:t>CO₂e-udledninger i scope 3 total (lokationsbaseret) </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lvl="0" algn="l">
                        <a:lnSpc>
                          <a:spcPct val="100000"/>
                        </a:lnSpc>
                        <a:spcBef>
                          <a:spcPts val="0"/>
                        </a:spcBef>
                        <a:spcAft>
                          <a:spcPts val="0"/>
                        </a:spcAft>
                        <a:buNone/>
                      </a:pPr>
                      <a:r>
                        <a:rPr lang="da-DK" sz="1200" b="0" i="0" u="none" strike="noStrike" kern="1200" cap="none" spc="0" normalizeH="0" baseline="0" noProof="0">
                          <a:ln>
                            <a:noFill/>
                          </a:ln>
                          <a:solidFill>
                            <a:srgbClr val="2D55FF"/>
                          </a:solidFill>
                          <a:effectLst/>
                          <a:uLnTx/>
                          <a:uFillTx/>
                          <a:latin typeface="IBM Plex Sans"/>
                          <a:ea typeface="+mn-ea"/>
                          <a:cs typeface="+mn-cs"/>
                        </a:rPr>
                        <a:t>{{scope3}}</a:t>
                      </a:r>
                      <a:endParaRPr lang="da-DK" sz="1200" b="0" i="0" u="none" strike="noStrike" kern="1200" cap="none" spc="0" normalizeH="0" baseline="0" noProof="0">
                        <a:ln>
                          <a:noFill/>
                        </a:ln>
                        <a:solidFill>
                          <a:srgbClr val="000000"/>
                        </a:solidFill>
                        <a:effectLst/>
                        <a:uLnTx/>
                        <a:uFillTx/>
                        <a:latin typeface="IBM Plex Sans"/>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r h="301374">
                <a:tc>
                  <a:txBody>
                    <a:bodyPr/>
                    <a:lstStyle/>
                    <a:p>
                      <a:pPr>
                        <a:lnSpc>
                          <a:spcPct val="106000"/>
                        </a:lnSpc>
                      </a:pPr>
                      <a:r>
                        <a:rPr lang="da-DK" sz="1200" b="1" noProof="0">
                          <a:solidFill>
                            <a:schemeClr val="tx2"/>
                          </a:solidFill>
                        </a:rPr>
                        <a:t>Total CO₂e-udledning for scope 1, 2 og 3   </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da-DK" sz="1200" b="0" i="0" u="none" strike="noStrike" kern="1200" cap="none" spc="0" normalizeH="0" baseline="0" noProof="0">
                          <a:ln>
                            <a:noFill/>
                          </a:ln>
                          <a:solidFill>
                            <a:srgbClr val="2D55FF"/>
                          </a:solidFill>
                          <a:effectLst/>
                          <a:uLnTx/>
                          <a:uFillTx/>
                          <a:latin typeface="+mn-lt"/>
                          <a:ea typeface="+mn-ea"/>
                          <a:cs typeface="+mn-cs"/>
                        </a:rPr>
                        <a:t>{{total_all_scopes}}</a:t>
                      </a:r>
                      <a:endParaRPr kumimoji="0" lang="da-DK" sz="1200" b="0" i="0" u="none" strike="noStrike" kern="1200" cap="none" spc="0" normalizeH="0" baseline="0" noProof="0">
                        <a:ln>
                          <a:noFill/>
                        </a:ln>
                        <a:solidFill>
                          <a:srgbClr val="2D55FF"/>
                        </a:solidFill>
                        <a:effectLst/>
                        <a:uLnTx/>
                        <a:uFillTx/>
                        <a:latin typeface="IBM Plex Sans"/>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423150282"/>
                  </a:ext>
                </a:extLst>
              </a:tr>
            </a:tbl>
          </a:graphicData>
        </a:graphic>
      </p:graphicFrame>
      <p:sp>
        <p:nvSpPr>
          <p:cNvPr id="23" name="Tekstfelt 22">
            <a:extLst>
              <a:ext uri="{FF2B5EF4-FFF2-40B4-BE49-F238E27FC236}">
                <a16:creationId xmlns:a16="http://schemas.microsoft.com/office/drawing/2014/main" id="{2E9E5E59-EFEC-9D92-05CF-169227F7ABCF}"/>
              </a:ext>
            </a:extLst>
          </p:cNvPr>
          <p:cNvSpPr txBox="1"/>
          <p:nvPr/>
        </p:nvSpPr>
        <p:spPr>
          <a:xfrm>
            <a:off x="518600" y="1016000"/>
            <a:ext cx="11254300" cy="461665"/>
          </a:xfrm>
          <a:prstGeom prst="rect">
            <a:avLst/>
          </a:prstGeom>
          <a:noFill/>
        </p:spPr>
        <p:txBody>
          <a:bodyPr wrap="square">
            <a:spAutoFit/>
          </a:bodyPr>
          <a:lstStyle/>
          <a:p>
            <a:pPr rtl="0">
              <a:buNone/>
            </a:pPr>
            <a:r>
              <a:rPr lang="da-DK" sz="1200" b="0" i="0" u="none" strike="noStrike" noProof="0">
                <a:solidFill>
                  <a:schemeClr val="tx2"/>
                </a:solidFill>
                <a:effectLst/>
                <a:latin typeface="Inter"/>
              </a:rPr>
              <a:t>Virksomheden har angivet en oversigt over udledning af drivhusgasserne i </a:t>
            </a:r>
            <a:r>
              <a:rPr lang="da-DK" sz="1200" b="0" i="0" u="none" strike="noStrike" noProof="0" err="1">
                <a:solidFill>
                  <a:schemeClr val="tx2"/>
                </a:solidFill>
                <a:effectLst/>
                <a:latin typeface="Inter"/>
              </a:rPr>
              <a:t>Scope</a:t>
            </a:r>
            <a:r>
              <a:rPr lang="da-DK" sz="1200" b="0" i="0" u="none" strike="noStrike" noProof="0">
                <a:solidFill>
                  <a:schemeClr val="tx2"/>
                </a:solidFill>
                <a:effectLst/>
                <a:latin typeface="Inter"/>
              </a:rPr>
              <a:t> 3 som følger GHG-protokollen. Virksomheden angiver den samlede udledning og den lokationsbaserede udledning fra </a:t>
            </a:r>
            <a:r>
              <a:rPr lang="da-DK" sz="1200" b="0" i="0" u="none" strike="noStrike" noProof="0" err="1">
                <a:solidFill>
                  <a:schemeClr val="tx2"/>
                </a:solidFill>
                <a:effectLst/>
                <a:latin typeface="Inter"/>
              </a:rPr>
              <a:t>Scope</a:t>
            </a:r>
            <a:r>
              <a:rPr lang="da-DK" sz="1200" b="0" i="0" u="none" strike="noStrike" noProof="0">
                <a:solidFill>
                  <a:schemeClr val="tx2"/>
                </a:solidFill>
                <a:effectLst/>
                <a:latin typeface="Inter"/>
              </a:rPr>
              <a:t> 3. Virksomhedens </a:t>
            </a:r>
            <a:r>
              <a:rPr lang="da-DK" sz="1200" b="0" i="0" u="none" strike="noStrike" noProof="0" err="1">
                <a:solidFill>
                  <a:schemeClr val="tx2"/>
                </a:solidFill>
                <a:effectLst/>
                <a:latin typeface="Inter"/>
              </a:rPr>
              <a:t>CO₂e-reduktionsmål</a:t>
            </a:r>
            <a:r>
              <a:rPr lang="da-DK" sz="1200" b="0" i="0" u="none" strike="noStrike" noProof="0">
                <a:solidFill>
                  <a:schemeClr val="tx2"/>
                </a:solidFill>
                <a:effectLst/>
                <a:latin typeface="Inter"/>
              </a:rPr>
              <a:t> er anført, herunder virksomhedens vigtigste handlinger for at møde reduktionsmål</a:t>
            </a:r>
            <a:r>
              <a:rPr lang="da-DK" sz="1200" noProof="0">
                <a:solidFill>
                  <a:schemeClr val="tx2"/>
                </a:solidFill>
                <a:latin typeface="Inter"/>
              </a:rPr>
              <a:t>ene.</a:t>
            </a:r>
          </a:p>
        </p:txBody>
      </p:sp>
    </p:spTree>
    <p:extLst>
      <p:ext uri="{BB962C8B-B14F-4D97-AF65-F5344CB8AC3E}">
        <p14:creationId xmlns:p14="http://schemas.microsoft.com/office/powerpoint/2010/main" val="31239409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noProof="0"/>
              <a:t>K</a:t>
            </a:r>
            <a:r>
              <a:rPr lang="da-DK" sz="1800" b="1" noProof="0">
                <a:solidFill>
                  <a:schemeClr val="tx2"/>
                </a:solidFill>
              </a:rPr>
              <a:t>limaomstilling (C3)</a:t>
            </a:r>
            <a:endParaRPr lang="da-DK"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17</a:t>
            </a:fld>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graphicFrame>
        <p:nvGraphicFramePr>
          <p:cNvPr id="13" name="Table 21">
            <a:extLst>
              <a:ext uri="{FF2B5EF4-FFF2-40B4-BE49-F238E27FC236}">
                <a16:creationId xmlns:a16="http://schemas.microsoft.com/office/drawing/2014/main" id="{60394E66-F1DF-2C1C-1CDA-17DF2DA7445E}"/>
              </a:ext>
            </a:extLst>
          </p:cNvPr>
          <p:cNvGraphicFramePr>
            <a:graphicFrameLocks noGrp="1"/>
          </p:cNvGraphicFramePr>
          <p:nvPr>
            <p:extLst>
              <p:ext uri="{D42A27DB-BD31-4B8C-83A1-F6EECF244321}">
                <p14:modId xmlns:p14="http://schemas.microsoft.com/office/powerpoint/2010/main" val="401732485"/>
              </p:ext>
            </p:extLst>
          </p:nvPr>
        </p:nvGraphicFramePr>
        <p:xfrm>
          <a:off x="518592" y="4404641"/>
          <a:ext cx="11176000" cy="1224938"/>
        </p:xfrm>
        <a:graphic>
          <a:graphicData uri="http://schemas.openxmlformats.org/drawingml/2006/table">
            <a:tbl>
              <a:tblPr firstRow="1">
                <a:tableStyleId>{2A488322-F2BA-4B5B-9748-0D474271808F}</a:tableStyleId>
              </a:tblPr>
              <a:tblGrid>
                <a:gridCol w="5588000">
                  <a:extLst>
                    <a:ext uri="{9D8B030D-6E8A-4147-A177-3AD203B41FA5}">
                      <a16:colId xmlns:a16="http://schemas.microsoft.com/office/drawing/2014/main" val="2119413191"/>
                    </a:ext>
                  </a:extLst>
                </a:gridCol>
                <a:gridCol w="5588000">
                  <a:extLst>
                    <a:ext uri="{9D8B030D-6E8A-4147-A177-3AD203B41FA5}">
                      <a16:colId xmlns:a16="http://schemas.microsoft.com/office/drawing/2014/main" val="970155923"/>
                    </a:ext>
                  </a:extLst>
                </a:gridCol>
              </a:tblGrid>
              <a:tr h="327578">
                <a:tc gridSpan="2">
                  <a:txBody>
                    <a:bodyPr/>
                    <a:lstStyle/>
                    <a:p>
                      <a:r>
                        <a:rPr lang="da-DK" sz="1200" b="1" kern="1200" spc="-10" noProof="0">
                          <a:solidFill>
                            <a:schemeClr val="tx2"/>
                          </a:solidFill>
                          <a:latin typeface="+mn-lt"/>
                          <a:ea typeface="+mn-ea"/>
                          <a:cs typeface="+mn-cs"/>
                        </a:rPr>
                        <a:t>Kommende omstillingsplan </a:t>
                      </a:r>
                      <a:r>
                        <a:rPr lang="da-DK" sz="1200" b="0" kern="1200" spc="-10" noProof="0">
                          <a:solidFill>
                            <a:schemeClr val="tx2"/>
                          </a:solidFill>
                          <a:latin typeface="+mn-lt"/>
                          <a:ea typeface="+mn-ea"/>
                          <a:cs typeface="+mn-cs"/>
                        </a:rPr>
                        <a:t>(pkt. 55)</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l"/>
                      <a:endParaRPr lang="da-DK" sz="9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48680">
                <a:tc>
                  <a:txBody>
                    <a:bodyPr/>
                    <a:lstStyle/>
                    <a:p>
                      <a:pPr algn="l"/>
                      <a:r>
                        <a:rPr lang="da-DK" sz="1200" b="1" kern="1200" noProof="0">
                          <a:solidFill>
                            <a:schemeClr val="accent2"/>
                          </a:solidFill>
                          <a:latin typeface="+mn-lt"/>
                          <a:ea typeface="+mn-ea"/>
                          <a:cs typeface="+mn-cs"/>
                        </a:rPr>
                        <a:t>{{</a:t>
                      </a:r>
                      <a:r>
                        <a:rPr lang="da-DK" sz="1200" b="1" kern="1200" noProof="0" err="1">
                          <a:solidFill>
                            <a:schemeClr val="accent2"/>
                          </a:solidFill>
                          <a:latin typeface="+mn-lt"/>
                          <a:ea typeface="+mn-ea"/>
                          <a:cs typeface="+mn-cs"/>
                        </a:rPr>
                        <a:t>company_name</a:t>
                      </a:r>
                      <a:r>
                        <a:rPr lang="da-DK" sz="1200" b="1" kern="1200" noProof="0">
                          <a:solidFill>
                            <a:schemeClr val="accent2"/>
                          </a:solidFill>
                          <a:latin typeface="+mn-lt"/>
                          <a:ea typeface="+mn-ea"/>
                          <a:cs typeface="+mn-cs"/>
                        </a:rPr>
                        <a:t>}} </a:t>
                      </a:r>
                      <a:r>
                        <a:rPr lang="da-DK" sz="1200" b="1" kern="1200" noProof="0">
                          <a:solidFill>
                            <a:schemeClr val="tx2"/>
                          </a:solidFill>
                          <a:latin typeface="+mn-lt"/>
                          <a:ea typeface="+mn-ea"/>
                          <a:cs typeface="+mn-cs"/>
                        </a:rPr>
                        <a:t>vil igangsætte en konkret omstillingsplan </a:t>
                      </a:r>
                      <a:r>
                        <a:rPr lang="da-DK" sz="1200" b="1" noProof="0">
                          <a:solidFill>
                            <a:schemeClr val="tx2"/>
                          </a:solidFill>
                        </a:rPr>
                        <a:t>for at modvirke klimaforandringer</a:t>
                      </a:r>
                      <a:endParaRPr lang="da-DK" sz="1200" b="1" kern="120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transition_plan</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448680">
                <a:tc>
                  <a:txBody>
                    <a:bodyPr/>
                    <a:lstStyle/>
                    <a:p>
                      <a:pPr algn="l"/>
                      <a:r>
                        <a:rPr lang="da-DK" sz="1200" b="1" kern="1200" noProof="0">
                          <a:solidFill>
                            <a:schemeClr val="tx2"/>
                          </a:solidFill>
                          <a:latin typeface="+mn-lt"/>
                          <a:ea typeface="+mn-ea"/>
                          <a:cs typeface="+mn-cs"/>
                        </a:rPr>
                        <a:t>Tidspunkt for vedtagelse af omstillingsplan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transition_plan_date</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8096352"/>
                  </a:ext>
                </a:extLst>
              </a:tr>
            </a:tbl>
          </a:graphicData>
        </a:graphic>
      </p:graphicFrame>
      <p:graphicFrame>
        <p:nvGraphicFramePr>
          <p:cNvPr id="12" name="Table 21">
            <a:extLst>
              <a:ext uri="{FF2B5EF4-FFF2-40B4-BE49-F238E27FC236}">
                <a16:creationId xmlns:a16="http://schemas.microsoft.com/office/drawing/2014/main" id="{EF0A7234-75D3-BD9B-6E3A-4C179BDAF467}"/>
              </a:ext>
            </a:extLst>
          </p:cNvPr>
          <p:cNvGraphicFramePr>
            <a:graphicFrameLocks noGrp="1"/>
          </p:cNvGraphicFramePr>
          <p:nvPr>
            <p:extLst>
              <p:ext uri="{D42A27DB-BD31-4B8C-83A1-F6EECF244321}">
                <p14:modId xmlns:p14="http://schemas.microsoft.com/office/powerpoint/2010/main" val="3129752944"/>
              </p:ext>
            </p:extLst>
          </p:nvPr>
        </p:nvGraphicFramePr>
        <p:xfrm>
          <a:off x="518592" y="1672171"/>
          <a:ext cx="11175999" cy="1948174"/>
        </p:xfrm>
        <a:graphic>
          <a:graphicData uri="http://schemas.openxmlformats.org/drawingml/2006/table">
            <a:tbl>
              <a:tblPr firstRow="1">
                <a:tableStyleId>{2A488322-F2BA-4B5B-9748-0D474271808F}</a:tableStyleId>
              </a:tblPr>
              <a:tblGrid>
                <a:gridCol w="11175999">
                  <a:extLst>
                    <a:ext uri="{9D8B030D-6E8A-4147-A177-3AD203B41FA5}">
                      <a16:colId xmlns:a16="http://schemas.microsoft.com/office/drawing/2014/main" val="2119413191"/>
                    </a:ext>
                  </a:extLst>
                </a:gridCol>
              </a:tblGrid>
              <a:tr h="368293">
                <a:tc>
                  <a:txBody>
                    <a:bodyPr/>
                    <a:lstStyle/>
                    <a:p>
                      <a:r>
                        <a:rPr lang="da-DK" sz="1200" b="1" kern="1200" spc="-10" noProof="0">
                          <a:solidFill>
                            <a:schemeClr val="tx2"/>
                          </a:solidFill>
                          <a:latin typeface="+mn-lt"/>
                          <a:ea typeface="+mn-ea"/>
                          <a:cs typeface="+mn-cs"/>
                        </a:rPr>
                        <a:t>Omstillingsplan for </a:t>
                      </a:r>
                      <a:r>
                        <a:rPr lang="da-DK" sz="1200" b="1" kern="1200" spc="-10" noProof="0" err="1">
                          <a:solidFill>
                            <a:schemeClr val="tx2"/>
                          </a:solidFill>
                          <a:latin typeface="+mn-lt"/>
                          <a:ea typeface="+mn-ea"/>
                          <a:cs typeface="+mn-cs"/>
                        </a:rPr>
                        <a:t>modvirkning</a:t>
                      </a:r>
                      <a:r>
                        <a:rPr lang="da-DK" sz="1200" b="1" kern="1200" spc="-10" noProof="0">
                          <a:solidFill>
                            <a:schemeClr val="tx2"/>
                          </a:solidFill>
                          <a:latin typeface="+mn-lt"/>
                          <a:ea typeface="+mn-ea"/>
                          <a:cs typeface="+mn-cs"/>
                        </a:rPr>
                        <a:t> af klimaforandringer </a:t>
                      </a:r>
                      <a:r>
                        <a:rPr lang="da-DK" sz="1200" b="0" kern="1200" spc="-10" noProof="0">
                          <a:solidFill>
                            <a:schemeClr val="tx2"/>
                          </a:solidFill>
                          <a:latin typeface="+mn-lt"/>
                          <a:ea typeface="+mn-ea"/>
                          <a:cs typeface="+mn-cs"/>
                        </a:rPr>
                        <a:t>(pkt. 54)</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1579881">
                <a:tc>
                  <a:txBody>
                    <a:bodyPr/>
                    <a:lstStyle/>
                    <a:p>
                      <a:pPr algn="l"/>
                      <a:r>
                        <a:rPr lang="da-DK" sz="1200" b="0" noProof="0">
                          <a:solidFill>
                            <a:schemeClr val="accent2"/>
                          </a:solidFill>
                        </a:rPr>
                        <a:t>{{</a:t>
                      </a:r>
                      <a:r>
                        <a:rPr lang="da-DK" sz="1200" b="0" noProof="0" err="1">
                          <a:solidFill>
                            <a:schemeClr val="accent2"/>
                          </a:solidFill>
                        </a:rPr>
                        <a:t>transition_plan</a:t>
                      </a:r>
                      <a:r>
                        <a:rPr lang="da-DK" sz="1200" b="0" noProof="0">
                          <a:solidFill>
                            <a:schemeClr val="accent2"/>
                          </a:solidFill>
                        </a:rPr>
                        <a:t>}}</a:t>
                      </a:r>
                    </a:p>
                    <a:p>
                      <a:pPr algn="l"/>
                      <a:endParaRPr lang="da-DK" sz="1200" b="0" noProof="0">
                        <a:solidFill>
                          <a:schemeClr val="accent2"/>
                        </a:solidFill>
                      </a:endParaRPr>
                    </a:p>
                    <a:p>
                      <a:pPr algn="l"/>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4" name="Tekstfelt 13">
            <a:extLst>
              <a:ext uri="{FF2B5EF4-FFF2-40B4-BE49-F238E27FC236}">
                <a16:creationId xmlns:a16="http://schemas.microsoft.com/office/drawing/2014/main" id="{AC9B8171-ABE2-D159-1C91-356C7C492445}"/>
              </a:ext>
            </a:extLst>
          </p:cNvPr>
          <p:cNvSpPr txBox="1"/>
          <p:nvPr/>
        </p:nvSpPr>
        <p:spPr>
          <a:xfrm>
            <a:off x="508000" y="1016000"/>
            <a:ext cx="11176000" cy="461665"/>
          </a:xfrm>
          <a:prstGeom prst="rect">
            <a:avLst/>
          </a:prstGeom>
          <a:noFill/>
        </p:spPr>
        <p:txBody>
          <a:bodyPr wrap="square">
            <a:spAutoFit/>
          </a:bodyPr>
          <a:lstStyle/>
          <a:p>
            <a:pPr rtl="0">
              <a:buNone/>
            </a:pPr>
            <a:r>
              <a:rPr lang="da-DK" sz="1200" b="0" i="0" u="none" strike="noStrike" noProof="0">
                <a:solidFill>
                  <a:schemeClr val="tx2"/>
                </a:solidFill>
                <a:effectLst/>
                <a:latin typeface="Inter"/>
              </a:rPr>
              <a:t>De nedenstående oplysninger relaterer sig til virksomhedens omstillingsplan for </a:t>
            </a:r>
            <a:r>
              <a:rPr lang="da-DK" sz="1200" b="0" i="0" u="none" strike="noStrike" noProof="0" err="1">
                <a:solidFill>
                  <a:schemeClr val="tx2"/>
                </a:solidFill>
                <a:effectLst/>
                <a:latin typeface="Inter"/>
              </a:rPr>
              <a:t>modvirkning</a:t>
            </a:r>
            <a:r>
              <a:rPr lang="da-DK" sz="1200" b="0" i="0" u="none" strike="noStrike" noProof="0">
                <a:solidFill>
                  <a:schemeClr val="tx2"/>
                </a:solidFill>
                <a:effectLst/>
                <a:latin typeface="Inter"/>
              </a:rPr>
              <a:t> af klimaforandringer. Omstillingen er relateret til virksomhedens </a:t>
            </a:r>
            <a:r>
              <a:rPr lang="da-DK" sz="1200" b="0" i="0" u="none" strike="noStrike" noProof="0" err="1">
                <a:solidFill>
                  <a:schemeClr val="tx2"/>
                </a:solidFill>
                <a:effectLst/>
                <a:latin typeface="Inter"/>
              </a:rPr>
              <a:t>CO₂e-reduktionsmål</a:t>
            </a:r>
            <a:r>
              <a:rPr lang="da-DK" sz="1200" b="0" i="0" u="none" strike="noStrike" noProof="0">
                <a:solidFill>
                  <a:schemeClr val="tx2"/>
                </a:solidFill>
                <a:effectLst/>
                <a:latin typeface="Inter"/>
              </a:rPr>
              <a:t>.</a:t>
            </a:r>
          </a:p>
        </p:txBody>
      </p:sp>
      <p:sp>
        <p:nvSpPr>
          <p:cNvPr id="17" name="Tekstfelt 16">
            <a:extLst>
              <a:ext uri="{FF2B5EF4-FFF2-40B4-BE49-F238E27FC236}">
                <a16:creationId xmlns:a16="http://schemas.microsoft.com/office/drawing/2014/main" id="{E9EB0680-18EB-4050-A7F1-10CA34390DC8}"/>
              </a:ext>
            </a:extLst>
          </p:cNvPr>
          <p:cNvSpPr txBox="1"/>
          <p:nvPr/>
        </p:nvSpPr>
        <p:spPr>
          <a:xfrm>
            <a:off x="497408" y="3854142"/>
            <a:ext cx="11175998" cy="276999"/>
          </a:xfrm>
          <a:prstGeom prst="rect">
            <a:avLst/>
          </a:prstGeom>
          <a:noFill/>
        </p:spPr>
        <p:txBody>
          <a:bodyPr wrap="square">
            <a:spAutoFit/>
          </a:bodyPr>
          <a:lstStyle/>
          <a:p>
            <a:pPr rtl="0">
              <a:buNone/>
            </a:pPr>
            <a:r>
              <a:rPr lang="da-DK" sz="1200" b="0" i="0" u="none" strike="noStrike" noProof="0">
                <a:solidFill>
                  <a:schemeClr val="tx2"/>
                </a:solidFill>
                <a:effectLst/>
                <a:latin typeface="Inter"/>
              </a:rPr>
              <a:t>Dette oplysningspunkt er udfyldt, da virksomheden har angivet at de vil igangsætte en konkret omstillingsplan samt dato for vedtagelse.</a:t>
            </a:r>
            <a:endParaRPr lang="da-DK" noProof="0">
              <a:solidFill>
                <a:schemeClr val="tx2"/>
              </a:solidFill>
            </a:endParaRPr>
          </a:p>
        </p:txBody>
      </p:sp>
    </p:spTree>
    <p:extLst>
      <p:ext uri="{BB962C8B-B14F-4D97-AF65-F5344CB8AC3E}">
        <p14:creationId xmlns:p14="http://schemas.microsoft.com/office/powerpoint/2010/main" val="5060129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noProof="0"/>
              <a:t>K</a:t>
            </a:r>
            <a:r>
              <a:rPr lang="da-DK" sz="1800" b="1" noProof="0">
                <a:solidFill>
                  <a:schemeClr val="tx2"/>
                </a:solidFill>
              </a:rPr>
              <a:t>limarisici (C4)</a:t>
            </a:r>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pic>
        <p:nvPicPr>
          <p:cNvPr id="16" name="Graphic 9">
            <a:extLst>
              <a:ext uri="{FF2B5EF4-FFF2-40B4-BE49-F238E27FC236}">
                <a16:creationId xmlns:a16="http://schemas.microsoft.com/office/drawing/2014/main" id="{033648F6-FE58-4D8D-89DB-42FC37C8706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1802" y="3774751"/>
            <a:ext cx="207455" cy="232601"/>
          </a:xfrm>
          <a:prstGeom prst="rect">
            <a:avLst/>
          </a:prstGeom>
        </p:spPr>
      </p:pic>
      <p:pic>
        <p:nvPicPr>
          <p:cNvPr id="9" name="Graphic 9">
            <a:extLst>
              <a:ext uri="{FF2B5EF4-FFF2-40B4-BE49-F238E27FC236}">
                <a16:creationId xmlns:a16="http://schemas.microsoft.com/office/drawing/2014/main" id="{701FC5B6-C71C-4B3D-30F9-DBF0A8F39E1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1801" y="4402404"/>
            <a:ext cx="207455" cy="232601"/>
          </a:xfrm>
          <a:prstGeom prst="rect">
            <a:avLst/>
          </a:prstGeom>
        </p:spPr>
      </p:pic>
      <p:graphicFrame>
        <p:nvGraphicFramePr>
          <p:cNvPr id="13" name="Table 2">
            <a:extLst>
              <a:ext uri="{FF2B5EF4-FFF2-40B4-BE49-F238E27FC236}">
                <a16:creationId xmlns:a16="http://schemas.microsoft.com/office/drawing/2014/main" id="{6B6532BD-8830-D325-3A0A-E3778F929B7C}"/>
              </a:ext>
            </a:extLst>
          </p:cNvPr>
          <p:cNvGraphicFramePr>
            <a:graphicFrameLocks noGrp="1"/>
          </p:cNvGraphicFramePr>
          <p:nvPr>
            <p:extLst>
              <p:ext uri="{D42A27DB-BD31-4B8C-83A1-F6EECF244321}">
                <p14:modId xmlns:p14="http://schemas.microsoft.com/office/powerpoint/2010/main" val="2382858557"/>
              </p:ext>
            </p:extLst>
          </p:nvPr>
        </p:nvGraphicFramePr>
        <p:xfrm>
          <a:off x="518598" y="1550008"/>
          <a:ext cx="11165392" cy="6095520"/>
        </p:xfrm>
        <a:graphic>
          <a:graphicData uri="http://schemas.openxmlformats.org/drawingml/2006/table">
            <a:tbl>
              <a:tblPr firstRow="1">
                <a:tableStyleId>{2A488322-F2BA-4B5B-9748-0D474271808F}</a:tableStyleId>
              </a:tblPr>
              <a:tblGrid>
                <a:gridCol w="1336728">
                  <a:extLst>
                    <a:ext uri="{9D8B030D-6E8A-4147-A177-3AD203B41FA5}">
                      <a16:colId xmlns:a16="http://schemas.microsoft.com/office/drawing/2014/main" val="1904521774"/>
                    </a:ext>
                  </a:extLst>
                </a:gridCol>
                <a:gridCol w="1007389">
                  <a:extLst>
                    <a:ext uri="{9D8B030D-6E8A-4147-A177-3AD203B41FA5}">
                      <a16:colId xmlns:a16="http://schemas.microsoft.com/office/drawing/2014/main" val="3691300808"/>
                    </a:ext>
                  </a:extLst>
                </a:gridCol>
                <a:gridCol w="3163216">
                  <a:extLst>
                    <a:ext uri="{9D8B030D-6E8A-4147-A177-3AD203B41FA5}">
                      <a16:colId xmlns:a16="http://schemas.microsoft.com/office/drawing/2014/main" val="1169754581"/>
                    </a:ext>
                  </a:extLst>
                </a:gridCol>
                <a:gridCol w="1715063">
                  <a:extLst>
                    <a:ext uri="{9D8B030D-6E8A-4147-A177-3AD203B41FA5}">
                      <a16:colId xmlns:a16="http://schemas.microsoft.com/office/drawing/2014/main" val="519320573"/>
                    </a:ext>
                  </a:extLst>
                </a:gridCol>
                <a:gridCol w="1569945">
                  <a:extLst>
                    <a:ext uri="{9D8B030D-6E8A-4147-A177-3AD203B41FA5}">
                      <a16:colId xmlns:a16="http://schemas.microsoft.com/office/drawing/2014/main" val="43798019"/>
                    </a:ext>
                  </a:extLst>
                </a:gridCol>
                <a:gridCol w="1213738">
                  <a:extLst>
                    <a:ext uri="{9D8B030D-6E8A-4147-A177-3AD203B41FA5}">
                      <a16:colId xmlns:a16="http://schemas.microsoft.com/office/drawing/2014/main" val="3164053669"/>
                    </a:ext>
                  </a:extLst>
                </a:gridCol>
                <a:gridCol w="1159313">
                  <a:extLst>
                    <a:ext uri="{9D8B030D-6E8A-4147-A177-3AD203B41FA5}">
                      <a16:colId xmlns:a16="http://schemas.microsoft.com/office/drawing/2014/main" val="1484983729"/>
                    </a:ext>
                  </a:extLst>
                </a:gridCol>
              </a:tblGrid>
              <a:tr h="224159">
                <a:tc gridSpan="3">
                  <a:txBody>
                    <a:bodyPr/>
                    <a:lstStyle/>
                    <a:p>
                      <a:r>
                        <a:rPr lang="da-DK" sz="1200" b="0" kern="1200" noProof="0">
                          <a:solidFill>
                            <a:schemeClr val="tx2"/>
                          </a:solidFill>
                          <a:latin typeface="+mn-lt"/>
                          <a:ea typeface="+mn-ea"/>
                          <a:cs typeface="+mn-cs"/>
                        </a:rPr>
                        <a:t>(pkt. 56a)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gridSpan="2">
                  <a:txBody>
                    <a:bodyPr/>
                    <a:lstStyle/>
                    <a:p>
                      <a:r>
                        <a:rPr lang="da-DK" sz="1200" b="0" kern="1200" noProof="0">
                          <a:solidFill>
                            <a:schemeClr val="tx2"/>
                          </a:solidFill>
                          <a:latin typeface="+mn-lt"/>
                          <a:ea typeface="+mn-ea"/>
                          <a:cs typeface="+mn-cs"/>
                        </a:rPr>
                        <a:t>(pkt. 56b)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r>
                        <a:rPr lang="da-DK" sz="1200" b="0" kern="1200" noProof="0">
                          <a:solidFill>
                            <a:schemeClr val="tx2"/>
                          </a:solidFill>
                          <a:latin typeface="+mn-lt"/>
                          <a:ea typeface="+mn-ea"/>
                          <a:cs typeface="+mn-cs"/>
                        </a:rPr>
                        <a:t>(pkt. 56c)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r>
                        <a:rPr lang="da-DK" sz="1200" b="0" kern="1200" noProof="0">
                          <a:solidFill>
                            <a:schemeClr val="tx2"/>
                          </a:solidFill>
                          <a:latin typeface="+mn-lt"/>
                          <a:ea typeface="+mn-ea"/>
                          <a:cs typeface="+mn-cs"/>
                        </a:rPr>
                        <a:t>(pkt. 56d)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5458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Klimarelaterede risici</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Hvor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Kort beskrivelse af risici</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Eksponering </a:t>
                      </a:r>
                    </a:p>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noProof="0">
                          <a:solidFill>
                            <a:schemeClr val="tx2"/>
                          </a:solidFill>
                        </a:rPr>
                        <a:t>(lav/mellem/høj)</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Sårbarhed </a:t>
                      </a:r>
                    </a:p>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noProof="0">
                          <a:solidFill>
                            <a:schemeClr val="tx2"/>
                          </a:solidFill>
                        </a:rPr>
                        <a:t>(lav/mellem/høj)</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Tidshorisont </a:t>
                      </a:r>
                    </a:p>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i="0" noProof="0">
                          <a:solidFill>
                            <a:schemeClr val="tx2"/>
                          </a:solidFill>
                        </a:rPr>
                        <a:t>(0-1 år/2-5 år/ &gt;5 år)</a:t>
                      </a:r>
                      <a:endParaRPr lang="da-DK" sz="1200" b="0" i="0" noProof="0"/>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Tilpasning iværksat </a:t>
                      </a:r>
                      <a:r>
                        <a:rPr lang="da-DK" sz="1200" b="0" noProof="0">
                          <a:solidFill>
                            <a:schemeClr val="tx2"/>
                          </a:solidFill>
                        </a:rPr>
                        <a:t>(JA/NEJ)</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729970087"/>
                  </a:ext>
                </a:extLst>
              </a:tr>
              <a:tr h="384996">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Kroniske farer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kern="1200" noProof="0">
                          <a:solidFill>
                            <a:schemeClr val="tx2"/>
                          </a:solidFill>
                          <a:latin typeface="+mn-lt"/>
                          <a:ea typeface="+mn-ea"/>
                          <a:cs typeface="+mn-cs"/>
                        </a:rPr>
                        <a:t>Aktiver</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rPr>
                        <a:t>{{chronic_aktiver_description}}</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{{chronic_aktiver_eksponerning}}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{{chronic_aktiver_sårbarhed}}</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{{chronic_aktiver_time}}</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{{chronic_aktiver_tilpasning}}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849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kern="1200" noProof="0">
                          <a:solidFill>
                            <a:schemeClr val="tx2"/>
                          </a:solidFill>
                          <a:latin typeface="+mn-lt"/>
                          <a:ea typeface="+mn-ea"/>
                          <a:cs typeface="+mn-cs"/>
                        </a:rPr>
                        <a:t>Aktiviteter</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{{chronic_aktiveter_description}}</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rPr>
                        <a:t>{{chronic_aktivteter_eksponerning}}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{{chronic_aktivteter_sårbarhed}}</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{{chronic_aktivteter_time}}</a:t>
                      </a:r>
                      <a:endParaRPr lang="da-DK"/>
                    </a:p>
                    <a:p>
                      <a:pPr lvl="0" algn="ctr">
                        <a:lnSpc>
                          <a:spcPct val="100000"/>
                        </a:lnSpc>
                        <a:spcBef>
                          <a:spcPts val="0"/>
                        </a:spcBef>
                        <a:spcAft>
                          <a:spcPts val="0"/>
                        </a:spcAft>
                        <a:buNone/>
                      </a:pP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{{chronic_aktivteter_tilpasning}}</a:t>
                      </a:r>
                      <a:endParaRPr lang="da-DK"/>
                    </a:p>
                    <a:p>
                      <a:pPr marL="0" marR="0" lvl="0" indent="0" algn="ctr">
                        <a:lnSpc>
                          <a:spcPct val="100000"/>
                        </a:lnSpc>
                        <a:spcBef>
                          <a:spcPts val="0"/>
                        </a:spcBef>
                        <a:spcAft>
                          <a:spcPts val="0"/>
                        </a:spcAft>
                        <a:buClrTx/>
                        <a:buSzTx/>
                        <a:buFontTx/>
                        <a:buNone/>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94372718"/>
                  </a:ext>
                </a:extLst>
              </a:tr>
              <a:tr h="3849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kern="1200" noProof="0">
                          <a:solidFill>
                            <a:schemeClr val="tx2"/>
                          </a:solidFill>
                          <a:latin typeface="+mn-lt"/>
                          <a:ea typeface="+mn-ea"/>
                          <a:cs typeface="+mn-cs"/>
                        </a:rPr>
                        <a:t>Værdikæde</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rPr>
                        <a:t>{{chronic_value_description}}</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{{chronic_value_eksponerning}}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{{chronic_value_sårbarhed}}</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{{chronic_value_time}}</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{{chronic_value_tilpasning}}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58144899"/>
                  </a:ext>
                </a:extLst>
              </a:tr>
              <a:tr h="384996">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kern="1200" noProof="0">
                          <a:solidFill>
                            <a:schemeClr val="tx2"/>
                          </a:solidFill>
                          <a:latin typeface="+mn-lt"/>
                          <a:ea typeface="+mn-ea"/>
                          <a:cs typeface="+mn-cs"/>
                        </a:rPr>
                        <a:t>Akutte farer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kern="1200" noProof="0">
                          <a:solidFill>
                            <a:schemeClr val="tx2"/>
                          </a:solidFill>
                          <a:latin typeface="+mn-lt"/>
                          <a:ea typeface="+mn-ea"/>
                          <a:cs typeface="+mn-cs"/>
                        </a:rPr>
                        <a:t>Aktiver</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rPr>
                        <a:t>{{akut_aktiver_description}}</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{{akut_aktiver_eksponering}}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{{akut_aktiver_sårbarhed}}</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{{akut_aktiver_tidshorisont}}</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{{akut_aktiver_tilpasning}}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00158845"/>
                  </a:ext>
                </a:extLst>
              </a:tr>
              <a:tr h="3849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kern="1200" noProof="0">
                          <a:solidFill>
                            <a:schemeClr val="tx2"/>
                          </a:solidFill>
                          <a:latin typeface="+mn-lt"/>
                          <a:ea typeface="+mn-ea"/>
                          <a:cs typeface="+mn-cs"/>
                        </a:rPr>
                        <a:t>Aktiviteter</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rPr>
                        <a:t>{{akut_aktiviteter_description}}</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{{akut_aktiviteter_eksponering}}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{{akut_aktiviteter_sårbarhed}}</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{{akut_aktiviteter_tidshorisont}}</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{{akut_aktiviteter_tilpasning}}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281780729"/>
                  </a:ext>
                </a:extLst>
              </a:tr>
              <a:tr h="3849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kern="1200" noProof="0">
                          <a:solidFill>
                            <a:schemeClr val="tx2"/>
                          </a:solidFill>
                          <a:latin typeface="+mn-lt"/>
                          <a:ea typeface="+mn-ea"/>
                          <a:cs typeface="+mn-cs"/>
                        </a:rPr>
                        <a:t>Værdikæde</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rPr>
                        <a:t>{{akut_værdikæde_description}}</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{{akut_værdikæde_eksponering}}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{{akut_værdikæde_sårbarhed}}</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{{akut_værdikæde_tidshorisont}}</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{{akut_værdikæde_tilpasning}}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169359558"/>
                  </a:ext>
                </a:extLst>
              </a:tr>
              <a:tr h="384996">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kern="1200" noProof="0">
                          <a:solidFill>
                            <a:schemeClr val="tx2"/>
                          </a:solidFill>
                          <a:latin typeface="+mn-lt"/>
                          <a:ea typeface="+mn-ea"/>
                          <a:cs typeface="+mn-cs"/>
                        </a:rPr>
                        <a:t>Omstillings-hændelse</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kern="1200" noProof="0">
                          <a:solidFill>
                            <a:schemeClr val="tx2"/>
                          </a:solidFill>
                          <a:latin typeface="+mn-lt"/>
                          <a:ea typeface="+mn-ea"/>
                          <a:cs typeface="+mn-cs"/>
                        </a:rPr>
                        <a:t>Aktiver</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rPr>
                        <a:t>{{omstilling_aktiver_description}}</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{{omstilling_aktiver_eksponering}}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{{omstilling_aktiver_sårbarhed}}</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{{omstilling_aktiver_tidshorisont}}</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{{omstilling_aktiver_tilpasning}}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47315044"/>
                  </a:ext>
                </a:extLst>
              </a:tr>
              <a:tr h="3849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kern="1200" noProof="0">
                          <a:solidFill>
                            <a:schemeClr val="tx2"/>
                          </a:solidFill>
                          <a:latin typeface="+mn-lt"/>
                          <a:ea typeface="+mn-ea"/>
                          <a:cs typeface="+mn-cs"/>
                        </a:rPr>
                        <a:t>Aktiviteter</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rPr>
                        <a:t>{{omstilling_aktiviteter_description}}</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{{omstilling_aktiviteter_eksponering}}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{{omstilling_aktiviteter_sårbarhed}}</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{{omstilling_aktiviteter_tidshorisont}}</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{{omstilling_aktiviteter_tilpasning}}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681005516"/>
                  </a:ext>
                </a:extLst>
              </a:tr>
              <a:tr h="3849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kern="1200" noProof="0">
                          <a:solidFill>
                            <a:schemeClr val="tx2"/>
                          </a:solidFill>
                          <a:latin typeface="+mn-lt"/>
                          <a:ea typeface="+mn-ea"/>
                          <a:cs typeface="+mn-cs"/>
                        </a:rPr>
                        <a:t>Værdikæde</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rPr>
                        <a:t>{{omstilling_værdikæde_description}}</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{{omstilling_værdikæde_eksponering}}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{{omstilling_værdikæde_sårbarhed}}</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{{omstilling_værdikæde_tidshorisont}}</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{{omstilling_værdikæde_tilpasning}}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065361783"/>
                  </a:ext>
                </a:extLst>
              </a:tr>
            </a:tbl>
          </a:graphicData>
        </a:graphic>
      </p:graphicFrame>
      <p:sp>
        <p:nvSpPr>
          <p:cNvPr id="4" name="Slide Number Placeholder 1">
            <a:extLst>
              <a:ext uri="{FF2B5EF4-FFF2-40B4-BE49-F238E27FC236}">
                <a16:creationId xmlns:a16="http://schemas.microsoft.com/office/drawing/2014/main" id="{1BCA9577-CEBB-E934-0086-6454617DB7C5}"/>
              </a:ext>
              <a:ext uri="{C183D7F6-B498-43B3-948B-1728B52AA6E4}">
                <adec:decorative xmlns:adec="http://schemas.microsoft.com/office/drawing/2017/decorative" val="1"/>
              </a:ext>
            </a:extLst>
          </p:cNvPr>
          <p:cNvSpPr>
            <a:spLocks noGrp="1"/>
          </p:cNvSpPr>
          <p:nvPr>
            <p:ph type="sldNum" sz="quarter" idx="12"/>
          </p:nvPr>
        </p:nvSpPr>
        <p:spPr>
          <a:xfrm>
            <a:off x="9180000" y="6450239"/>
            <a:ext cx="2743200" cy="153888"/>
          </a:xfrm>
        </p:spPr>
        <p:txBody>
          <a:bodyPr/>
          <a:lstStyle/>
          <a:p>
            <a:fld id="{4702451B-F4AF-4B05-87B1-F468C54F2952}" type="slidenum">
              <a:rPr lang="da-DK" dirty="0">
                <a:solidFill>
                  <a:srgbClr val="1B4528">
                    <a:alpha val="70000"/>
                  </a:srgbClr>
                </a:solidFill>
              </a:rPr>
              <a:t>18</a:t>
            </a:fld>
            <a:endParaRPr lang="da-DK" noProof="0">
              <a:solidFill>
                <a:srgbClr val="1B4528">
                  <a:alpha val="70000"/>
                </a:srgbClr>
              </a:solidFill>
            </a:endParaRPr>
          </a:p>
        </p:txBody>
      </p:sp>
      <p:sp>
        <p:nvSpPr>
          <p:cNvPr id="14" name="Tekstfelt 13">
            <a:extLst>
              <a:ext uri="{FF2B5EF4-FFF2-40B4-BE49-F238E27FC236}">
                <a16:creationId xmlns:a16="http://schemas.microsoft.com/office/drawing/2014/main" id="{95516DC4-723D-47D3-815C-1521BE5CD573}"/>
              </a:ext>
            </a:extLst>
          </p:cNvPr>
          <p:cNvSpPr txBox="1"/>
          <p:nvPr/>
        </p:nvSpPr>
        <p:spPr>
          <a:xfrm>
            <a:off x="518600" y="1016000"/>
            <a:ext cx="11254300" cy="461665"/>
          </a:xfrm>
          <a:prstGeom prst="rect">
            <a:avLst/>
          </a:prstGeom>
          <a:noFill/>
        </p:spPr>
        <p:txBody>
          <a:bodyPr wrap="square">
            <a:spAutoFit/>
          </a:bodyPr>
          <a:lstStyle/>
          <a:p>
            <a:pPr rtl="0">
              <a:buNone/>
            </a:pPr>
            <a:r>
              <a:rPr lang="da-DK" sz="1200" b="0" i="0" u="none" strike="noStrike" noProof="0">
                <a:solidFill>
                  <a:schemeClr val="tx2"/>
                </a:solidFill>
                <a:effectLst/>
                <a:latin typeface="Inter"/>
              </a:rPr>
              <a:t>Virksomheden har angivet en oversigt over klimarelaterede risici. Herunder om disse er kroniske, akutte eller omstillingsrelaterede og hvor disse er placeret (aktiver, aktiviteter eller i virksomhedens værdikæde. </a:t>
            </a:r>
            <a:endParaRPr lang="da-DK" sz="1200" noProof="0">
              <a:solidFill>
                <a:schemeClr val="tx2"/>
              </a:solidFill>
              <a:latin typeface="Inter"/>
            </a:endParaRPr>
          </a:p>
        </p:txBody>
      </p:sp>
    </p:spTree>
    <p:extLst>
      <p:ext uri="{BB962C8B-B14F-4D97-AF65-F5344CB8AC3E}">
        <p14:creationId xmlns:p14="http://schemas.microsoft.com/office/powerpoint/2010/main" val="11687187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noProof="0"/>
              <a:t>K</a:t>
            </a:r>
            <a:r>
              <a:rPr lang="da-DK" sz="1800" b="1" noProof="0">
                <a:solidFill>
                  <a:schemeClr val="tx2"/>
                </a:solidFill>
              </a:rPr>
              <a:t>limarisici (C4) - fortsat</a:t>
            </a:r>
            <a:endParaRPr lang="da-DK"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19</a:t>
            </a:fld>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graphicFrame>
        <p:nvGraphicFramePr>
          <p:cNvPr id="6" name="Table 2">
            <a:extLst>
              <a:ext uri="{FF2B5EF4-FFF2-40B4-BE49-F238E27FC236}">
                <a16:creationId xmlns:a16="http://schemas.microsoft.com/office/drawing/2014/main" id="{EF97A137-22B1-3AE3-C34C-FFADFEC612CC}"/>
              </a:ext>
            </a:extLst>
          </p:cNvPr>
          <p:cNvGraphicFramePr>
            <a:graphicFrameLocks noGrp="1"/>
          </p:cNvGraphicFramePr>
          <p:nvPr>
            <p:extLst>
              <p:ext uri="{D42A27DB-BD31-4B8C-83A1-F6EECF244321}">
                <p14:modId xmlns:p14="http://schemas.microsoft.com/office/powerpoint/2010/main" val="2591302557"/>
              </p:ext>
            </p:extLst>
          </p:nvPr>
        </p:nvGraphicFramePr>
        <p:xfrm>
          <a:off x="498723" y="1527295"/>
          <a:ext cx="11165399" cy="3410640"/>
        </p:xfrm>
        <a:graphic>
          <a:graphicData uri="http://schemas.openxmlformats.org/drawingml/2006/table">
            <a:tbl>
              <a:tblPr firstRow="1">
                <a:tableStyleId>{2A488322-F2BA-4B5B-9748-0D474271808F}</a:tableStyleId>
              </a:tblPr>
              <a:tblGrid>
                <a:gridCol w="2838934">
                  <a:extLst>
                    <a:ext uri="{9D8B030D-6E8A-4147-A177-3AD203B41FA5}">
                      <a16:colId xmlns:a16="http://schemas.microsoft.com/office/drawing/2014/main" val="1904521774"/>
                    </a:ext>
                  </a:extLst>
                </a:gridCol>
                <a:gridCol w="5297496">
                  <a:extLst>
                    <a:ext uri="{9D8B030D-6E8A-4147-A177-3AD203B41FA5}">
                      <a16:colId xmlns:a16="http://schemas.microsoft.com/office/drawing/2014/main" val="3164053669"/>
                    </a:ext>
                  </a:extLst>
                </a:gridCol>
                <a:gridCol w="1635909">
                  <a:extLst>
                    <a:ext uri="{9D8B030D-6E8A-4147-A177-3AD203B41FA5}">
                      <a16:colId xmlns:a16="http://schemas.microsoft.com/office/drawing/2014/main" val="1263457420"/>
                    </a:ext>
                  </a:extLst>
                </a:gridCol>
                <a:gridCol w="1393060">
                  <a:extLst>
                    <a:ext uri="{9D8B030D-6E8A-4147-A177-3AD203B41FA5}">
                      <a16:colId xmlns:a16="http://schemas.microsoft.com/office/drawing/2014/main" val="1484983729"/>
                    </a:ext>
                  </a:extLst>
                </a:gridCol>
              </a:tblGrid>
              <a:tr h="175119">
                <a:tc gridSpan="4">
                  <a:txBody>
                    <a:bodyPr/>
                    <a:lstStyle/>
                    <a:p>
                      <a:r>
                        <a:rPr lang="da-DK" sz="1200" b="0" kern="1200" noProof="0">
                          <a:solidFill>
                            <a:schemeClr val="tx2"/>
                          </a:solidFill>
                          <a:latin typeface="+mn-lt"/>
                          <a:ea typeface="+mn-ea"/>
                          <a:cs typeface="+mn-cs"/>
                        </a:rPr>
                        <a:t>(pkt. 57)</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00" b="0" kern="120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00" b="0" i="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806123079"/>
                  </a:ext>
                </a:extLst>
              </a:tr>
              <a:tr h="38816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12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Potentiel negativ </a:t>
                      </a:r>
                      <a:r>
                        <a:rPr lang="da-DK" sz="1200" b="1" kern="1200" noProof="0">
                          <a:solidFill>
                            <a:schemeClr val="tx2"/>
                          </a:solidFill>
                          <a:latin typeface="+mn-lt"/>
                          <a:ea typeface="+mn-ea"/>
                          <a:cs typeface="+mn-cs"/>
                        </a:rPr>
                        <a:t>påvirkning på virksomhedens finansielle præstation og forretningsdrift </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kern="1200" noProof="0">
                          <a:solidFill>
                            <a:schemeClr val="tx2"/>
                          </a:solidFill>
                          <a:latin typeface="+mn-lt"/>
                          <a:ea typeface="+mn-ea"/>
                          <a:cs typeface="+mn-cs"/>
                        </a:rPr>
                        <a:t>Finansiel risiko</a:t>
                      </a:r>
                    </a:p>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kern="1200" noProof="0">
                          <a:solidFill>
                            <a:schemeClr val="tx2"/>
                          </a:solidFill>
                          <a:latin typeface="+mn-lt"/>
                          <a:ea typeface="+mn-ea"/>
                          <a:cs typeface="+mn-cs"/>
                        </a:rPr>
                        <a:t>(lav/mellem/høj)</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Tidshorisont</a:t>
                      </a:r>
                    </a:p>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i="0" noProof="0">
                          <a:solidFill>
                            <a:schemeClr val="tx2"/>
                          </a:solidFill>
                        </a:rPr>
                        <a:t>(0-1 år/2-5 år/ &gt;5 år)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38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noProof="0">
                          <a:solidFill>
                            <a:schemeClr val="tx2"/>
                          </a:solidFill>
                          <a:latin typeface="+mn-lt"/>
                          <a:ea typeface="+mn-ea"/>
                          <a:cs typeface="+mn-cs"/>
                        </a:rPr>
                        <a:t>Kroniske farer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074311986"/>
                  </a:ext>
                </a:extLst>
              </a:tr>
              <a:tr h="238397">
                <a:tc>
                  <a:txBody>
                    <a:bodyPr/>
                    <a:lstStyle/>
                    <a:p>
                      <a:pPr lvl="0" algn="l">
                        <a:lnSpc>
                          <a:spcPct val="100000"/>
                        </a:lnSpc>
                        <a:spcBef>
                          <a:spcPts val="0"/>
                        </a:spcBef>
                        <a:spcAft>
                          <a:spcPts val="0"/>
                        </a:spcAft>
                        <a:buNone/>
                      </a:pPr>
                      <a:r>
                        <a:rPr lang="da-DK" sz="1200" b="0" i="0" u="none" strike="noStrike" noProof="0">
                          <a:solidFill>
                            <a:schemeClr val="accent2"/>
                          </a:solidFill>
                        </a:rPr>
                        <a:t>{{chronic_hazards}}</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BM Plex Sans"/>
                        </a:rPr>
                        <a:t>{{chronic connection financial </a:t>
                      </a:r>
                      <a:r>
                        <a:rPr lang="da-DK" sz="1200" b="0" i="0" u="none" strike="noStrike" noProof="0">
                          <a:solidFill>
                            <a:schemeClr val="accent2"/>
                          </a:solidFill>
                          <a:latin typeface="IBM Plex Sans"/>
                          <a:ea typeface="+mn-ea"/>
                          <a:cs typeface="+mn-cs"/>
                        </a:rPr>
                        <a:t>and operations}}</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{{chronic_financial_risk}}</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{{chronic_time_horizon}}</a:t>
                      </a:r>
                      <a:endParaRPr lang="da-DK"/>
                    </a:p>
                    <a:p>
                      <a:pPr marL="0" marR="0" lvl="0" indent="0" algn="ctr" defTabSz="914400">
                        <a:lnSpc>
                          <a:spcPct val="100000"/>
                        </a:lnSpc>
                        <a:spcBef>
                          <a:spcPts val="0"/>
                        </a:spcBef>
                        <a:spcAft>
                          <a:spcPts val="0"/>
                        </a:spcAft>
                        <a:buClrTx/>
                        <a:buSzTx/>
                        <a:buFontTx/>
                        <a:buNone/>
                        <a:tabLst/>
                        <a:defRPr/>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737070102"/>
                  </a:ext>
                </a:extLst>
              </a:tr>
              <a:tr h="238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noProof="0">
                          <a:solidFill>
                            <a:schemeClr val="tx2"/>
                          </a:solidFill>
                          <a:latin typeface="+mn-lt"/>
                          <a:ea typeface="+mn-ea"/>
                          <a:cs typeface="+mn-cs"/>
                        </a:rPr>
                        <a:t>Akutte farer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48636619"/>
                  </a:ext>
                </a:extLst>
              </a:tr>
              <a:tr h="238397">
                <a:tc>
                  <a:txBody>
                    <a:bodyPr/>
                    <a:lstStyle/>
                    <a:p>
                      <a:pPr lvl="0" algn="l">
                        <a:lnSpc>
                          <a:spcPct val="100000"/>
                        </a:lnSpc>
                        <a:spcBef>
                          <a:spcPts val="0"/>
                        </a:spcBef>
                        <a:spcAft>
                          <a:spcPts val="0"/>
                        </a:spcAft>
                        <a:buNone/>
                      </a:pPr>
                      <a:r>
                        <a:rPr lang="da-DK" sz="1200" b="0" i="0" u="none" strike="noStrike" noProof="0">
                          <a:solidFill>
                            <a:schemeClr val="accent2"/>
                          </a:solidFill>
                        </a:rPr>
                        <a:t>{{acute_hazards}}</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BM Plex Sans"/>
                        </a:rPr>
                        <a:t>{{acute connection </a:t>
                      </a:r>
                      <a:r>
                        <a:rPr lang="da-DK" sz="1200" b="0" i="0" u="none" strike="noStrike" noProof="0">
                          <a:solidFill>
                            <a:schemeClr val="accent2"/>
                          </a:solidFill>
                          <a:latin typeface="IBM Plex Sans"/>
                          <a:ea typeface="+mn-ea"/>
                          <a:cs typeface="+mn-cs"/>
                        </a:rPr>
                        <a:t>financial and operations}}</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{{acute_financial_risk}}</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{{acute_time_horizon}}</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23552898"/>
                  </a:ext>
                </a:extLst>
              </a:tr>
              <a:tr h="238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noProof="0">
                          <a:solidFill>
                            <a:schemeClr val="tx2"/>
                          </a:solidFill>
                          <a:latin typeface="+mn-lt"/>
                          <a:ea typeface="+mn-ea"/>
                          <a:cs typeface="+mn-cs"/>
                        </a:rPr>
                        <a:t>Omstillingsrisici</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670555600"/>
                  </a:ext>
                </a:extLst>
              </a:tr>
              <a:tr h="238397">
                <a:tc>
                  <a:txBody>
                    <a:bodyPr/>
                    <a:lstStyle/>
                    <a:p>
                      <a:pPr lvl="0" algn="l">
                        <a:lnSpc>
                          <a:spcPct val="100000"/>
                        </a:lnSpc>
                        <a:spcBef>
                          <a:spcPts val="0"/>
                        </a:spcBef>
                        <a:spcAft>
                          <a:spcPts val="0"/>
                        </a:spcAft>
                        <a:buNone/>
                      </a:pPr>
                      <a:r>
                        <a:rPr lang="da-DK" sz="1200" b="0" i="0" u="none" strike="noStrike" noProof="0">
                          <a:solidFill>
                            <a:schemeClr val="accent2"/>
                          </a:solidFill>
                        </a:rPr>
                        <a:t>{{climate_related}}</a:t>
                      </a:r>
                      <a:endParaRPr lang="da-DK"/>
                    </a:p>
                    <a:p>
                      <a:pPr lvl="0" algn="l">
                        <a:lnSpc>
                          <a:spcPct val="100000"/>
                        </a:lnSpc>
                        <a:spcBef>
                          <a:spcPts val="0"/>
                        </a:spcBef>
                        <a:spcAft>
                          <a:spcPts val="0"/>
                        </a:spcAft>
                        <a:buNone/>
                      </a:pPr>
                      <a:endParaRPr lang="da-DK" sz="1200" b="0" i="0" u="none" strike="noStrike" noProof="0">
                        <a:solidFill>
                          <a:schemeClr val="accent2"/>
                        </a:solidFill>
                        <a:latin typeface="IBM Plex San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BM Plex Sans"/>
                        </a:rPr>
                        <a:t>{{climate connection financial </a:t>
                      </a:r>
                      <a:r>
                        <a:rPr lang="da-DK" sz="1200" b="0" i="0" u="none" strike="noStrike" noProof="0">
                          <a:solidFill>
                            <a:schemeClr val="accent2"/>
                          </a:solidFill>
                          <a:latin typeface="IBM Plex Sans"/>
                          <a:ea typeface="+mn-ea"/>
                          <a:cs typeface="+mn-cs"/>
                        </a:rPr>
                        <a:t>and operations}}</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{{climate_related_risk}}</a:t>
                      </a:r>
                      <a:endParaRPr lang="da-DK"/>
                    </a:p>
                    <a:p>
                      <a:pPr lvl="0" algn="ctr">
                        <a:lnSpc>
                          <a:spcPct val="100000"/>
                        </a:lnSpc>
                        <a:spcBef>
                          <a:spcPts val="0"/>
                        </a:spcBef>
                        <a:spcAft>
                          <a:spcPts val="0"/>
                        </a:spcAft>
                        <a:buNone/>
                      </a:pP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{{climate_time_horizon}}</a:t>
                      </a:r>
                      <a:endParaRPr lang="da-DK"/>
                    </a:p>
                    <a:p>
                      <a:pPr marL="0" marR="0" lvl="0" indent="0" algn="ctr" defTabSz="914400">
                        <a:lnSpc>
                          <a:spcPct val="100000"/>
                        </a:lnSpc>
                        <a:spcBef>
                          <a:spcPts val="0"/>
                        </a:spcBef>
                        <a:spcAft>
                          <a:spcPts val="0"/>
                        </a:spcAft>
                        <a:buClrTx/>
                        <a:buSzTx/>
                        <a:buFontTx/>
                        <a:buNone/>
                        <a:tabLst/>
                        <a:defRPr/>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6258133"/>
                  </a:ext>
                </a:extLst>
              </a:tr>
            </a:tbl>
          </a:graphicData>
        </a:graphic>
      </p:graphicFrame>
      <p:sp>
        <p:nvSpPr>
          <p:cNvPr id="9" name="Tekstfelt 8">
            <a:extLst>
              <a:ext uri="{FF2B5EF4-FFF2-40B4-BE49-F238E27FC236}">
                <a16:creationId xmlns:a16="http://schemas.microsoft.com/office/drawing/2014/main" id="{9077FE99-B8D2-4CF3-47CF-D201C45554CD}"/>
              </a:ext>
            </a:extLst>
          </p:cNvPr>
          <p:cNvSpPr txBox="1"/>
          <p:nvPr/>
        </p:nvSpPr>
        <p:spPr>
          <a:xfrm>
            <a:off x="518600" y="1016000"/>
            <a:ext cx="11254300" cy="461665"/>
          </a:xfrm>
          <a:prstGeom prst="rect">
            <a:avLst/>
          </a:prstGeom>
          <a:noFill/>
        </p:spPr>
        <p:txBody>
          <a:bodyPr wrap="square">
            <a:spAutoFit/>
          </a:bodyPr>
          <a:lstStyle/>
          <a:p>
            <a:pPr rtl="0">
              <a:buNone/>
            </a:pPr>
            <a:r>
              <a:rPr lang="da-DK" sz="1200" b="0" i="0" u="none" strike="noStrike" noProof="0">
                <a:solidFill>
                  <a:schemeClr val="tx2"/>
                </a:solidFill>
                <a:effectLst/>
                <a:latin typeface="Inter"/>
              </a:rPr>
              <a:t>Virksomheden har angivet en oversigt over klimarelaterede risici. Herunder om disse er kroniske, akutte eller omstillingsrelaterede og om disse kan have en potentiel negativ påvirkning på virksomhedens finansielle præsentation og forretningsdrift.</a:t>
            </a:r>
            <a:endParaRPr lang="da-DK" sz="1200" noProof="0">
              <a:solidFill>
                <a:schemeClr val="tx2"/>
              </a:solidFill>
              <a:latin typeface="Inter"/>
            </a:endParaRPr>
          </a:p>
        </p:txBody>
      </p:sp>
    </p:spTree>
    <p:extLst>
      <p:ext uri="{BB962C8B-B14F-4D97-AF65-F5344CB8AC3E}">
        <p14:creationId xmlns:p14="http://schemas.microsoft.com/office/powerpoint/2010/main" val="40019431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518600" y="513927"/>
            <a:ext cx="11165400" cy="249299"/>
          </a:xfrm>
        </p:spPr>
        <p:txBody>
          <a:bodyPr/>
          <a:lstStyle/>
          <a:p>
            <a:r>
              <a:rPr lang="da-DK" sz="1800" b="1" i="0" u="none" strike="noStrike" kern="1200" spc="-10" noProof="0">
                <a:solidFill>
                  <a:srgbClr val="1B4528"/>
                </a:solidFill>
              </a:rPr>
              <a:t>Supplerende (generelle) oplysninger om arbejdsstyrken (C5)</a:t>
            </a:r>
            <a:endParaRPr lang="da-DK" noProof="0"/>
          </a:p>
        </p:txBody>
      </p:sp>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20</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graphicFrame>
        <p:nvGraphicFramePr>
          <p:cNvPr id="8" name="Table 7">
            <a:extLst>
              <a:ext uri="{FF2B5EF4-FFF2-40B4-BE49-F238E27FC236}">
                <a16:creationId xmlns:a16="http://schemas.microsoft.com/office/drawing/2014/main" id="{93255C96-A783-191D-6874-59444594070E}"/>
              </a:ext>
            </a:extLst>
          </p:cNvPr>
          <p:cNvGraphicFramePr>
            <a:graphicFrameLocks noGrp="1"/>
          </p:cNvGraphicFramePr>
          <p:nvPr>
            <p:extLst>
              <p:ext uri="{D42A27DB-BD31-4B8C-83A1-F6EECF244321}">
                <p14:modId xmlns:p14="http://schemas.microsoft.com/office/powerpoint/2010/main" val="2495306731"/>
              </p:ext>
            </p:extLst>
          </p:nvPr>
        </p:nvGraphicFramePr>
        <p:xfrm>
          <a:off x="6237155" y="1650746"/>
          <a:ext cx="5446845" cy="782320"/>
        </p:xfrm>
        <a:graphic>
          <a:graphicData uri="http://schemas.openxmlformats.org/drawingml/2006/table">
            <a:tbl>
              <a:tblPr firstRow="1">
                <a:tableStyleId>{2A488322-F2BA-4B5B-9748-0D474271808F}</a:tableStyleId>
              </a:tblPr>
              <a:tblGrid>
                <a:gridCol w="4228740">
                  <a:extLst>
                    <a:ext uri="{9D8B030D-6E8A-4147-A177-3AD203B41FA5}">
                      <a16:colId xmlns:a16="http://schemas.microsoft.com/office/drawing/2014/main" val="2698153288"/>
                    </a:ext>
                  </a:extLst>
                </a:gridCol>
                <a:gridCol w="1218105">
                  <a:extLst>
                    <a:ext uri="{9D8B030D-6E8A-4147-A177-3AD203B41FA5}">
                      <a16:colId xmlns:a16="http://schemas.microsoft.com/office/drawing/2014/main" val="2119413191"/>
                    </a:ext>
                  </a:extLst>
                </a:gridCol>
              </a:tblGrid>
              <a:tr h="28800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i="0" noProof="0">
                          <a:solidFill>
                            <a:schemeClr val="tx2"/>
                          </a:solidFill>
                        </a:rPr>
                        <a:t>Forholdet mellem kvinder og mænd på ledelsesniveau </a:t>
                      </a:r>
                      <a:r>
                        <a:rPr lang="da-DK" sz="1200" b="0" i="0" noProof="0">
                          <a:solidFill>
                            <a:schemeClr val="tx2"/>
                          </a:solidFill>
                        </a:rPr>
                        <a:t>(pkt. 59)</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1" i="0" u="none" strike="noStrike" noProof="0">
                          <a:solidFill>
                            <a:srgbClr val="1B4528"/>
                          </a:solidFill>
                          <a:effectLst/>
                          <a:latin typeface="IBM Plex Sans" panose="020B0503050203000203" pitchFamily="34" charset="0"/>
                        </a:rPr>
                        <a:t>År </a:t>
                      </a:r>
                      <a:r>
                        <a:rPr lang="da-DK" sz="1200" b="1" i="0" u="none" strike="noStrike" noProof="0">
                          <a:solidFill>
                            <a:srgbClr val="2D55FF"/>
                          </a:solidFill>
                          <a:effectLst/>
                          <a:latin typeface="IBM Plex Sans" panose="020B0503050203000203" pitchFamily="34" charset="0"/>
                        </a:rPr>
                        <a:t>{{</a:t>
                      </a:r>
                      <a:r>
                        <a:rPr lang="da-DK" sz="1200" b="1" i="0" u="none" strike="noStrike" noProof="0" err="1">
                          <a:solidFill>
                            <a:srgbClr val="2D55FF"/>
                          </a:solidFill>
                          <a:effectLst/>
                          <a:latin typeface="IBM Plex Sans" panose="020B0503050203000203" pitchFamily="34" charset="0"/>
                        </a:rPr>
                        <a:t>Insert</a:t>
                      </a:r>
                      <a:r>
                        <a:rPr lang="da-DK" sz="1200" b="1" i="0" u="none" strike="noStrike" noProof="0">
                          <a:solidFill>
                            <a:srgbClr val="2D55FF"/>
                          </a:solidFill>
                          <a:effectLst/>
                          <a:latin typeface="IBM Plex Sans" panose="020B0503050203000203" pitchFamily="34" charset="0"/>
                        </a:rPr>
                        <a:t> </a:t>
                      </a:r>
                      <a:r>
                        <a:rPr lang="da-DK" sz="1200" b="1" i="0" u="none" strike="noStrike" noProof="0" err="1">
                          <a:solidFill>
                            <a:srgbClr val="2D55FF"/>
                          </a:solidFill>
                          <a:effectLst/>
                          <a:latin typeface="IBM Plex Sans" panose="020B0503050203000203" pitchFamily="34" charset="0"/>
                        </a:rPr>
                        <a:t>year</a:t>
                      </a:r>
                      <a:r>
                        <a:rPr lang="da-DK" sz="1200" b="1" i="0" u="none" strike="noStrike" noProof="0">
                          <a:solidFill>
                            <a:srgbClr val="2D55FF"/>
                          </a:solidFill>
                          <a:effectLst/>
                          <a:latin typeface="IBM Plex Sans" panose="020B0503050203000203" pitchFamily="34" charset="0"/>
                        </a:rPr>
                        <a:t>}}</a:t>
                      </a:r>
                      <a:endParaRPr lang="da-DK" sz="1200" noProof="0">
                        <a:effectLst/>
                      </a:endParaRPr>
                    </a:p>
                  </a:txBody>
                  <a:tcPr marL="38100" marR="381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8000">
                <a:tc vMerge="1">
                  <a:txBody>
                    <a:bodyPr/>
                    <a:lstStyle/>
                    <a:p>
                      <a:endParaRPr lang="da-DK" sz="900" b="0" noProof="0">
                        <a:solidFill>
                          <a:schemeClr val="tx2"/>
                        </a:solidFill>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gender_balance</a:t>
                      </a:r>
                      <a:r>
                        <a:rPr lang="da-DK" sz="1200" b="0" i="0" u="none" strike="noStrike" noProof="0">
                          <a:solidFill>
                            <a:srgbClr val="2D55FF"/>
                          </a:solidFill>
                          <a:effectLst/>
                          <a:latin typeface="IBM Plex Sans" panose="020B0503050203000203" pitchFamily="34" charset="0"/>
                        </a:rPr>
                        <a:t>}}</a:t>
                      </a:r>
                      <a:endParaRPr lang="da-DK" sz="1200" noProof="0">
                        <a:effectLst/>
                      </a:endParaRPr>
                    </a:p>
                  </a:txBody>
                  <a:tcPr marL="38100" marR="381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graphicFrame>
        <p:nvGraphicFramePr>
          <p:cNvPr id="2" name="Table 7">
            <a:extLst>
              <a:ext uri="{FF2B5EF4-FFF2-40B4-BE49-F238E27FC236}">
                <a16:creationId xmlns:a16="http://schemas.microsoft.com/office/drawing/2014/main" id="{69535A26-01A9-A0FA-67C0-F2DDC3A1A436}"/>
              </a:ext>
            </a:extLst>
          </p:cNvPr>
          <p:cNvGraphicFramePr>
            <a:graphicFrameLocks noGrp="1"/>
          </p:cNvGraphicFramePr>
          <p:nvPr>
            <p:extLst>
              <p:ext uri="{D42A27DB-BD31-4B8C-83A1-F6EECF244321}">
                <p14:modId xmlns:p14="http://schemas.microsoft.com/office/powerpoint/2010/main" val="2131584882"/>
              </p:ext>
            </p:extLst>
          </p:nvPr>
        </p:nvGraphicFramePr>
        <p:xfrm>
          <a:off x="505381" y="1650746"/>
          <a:ext cx="5446845" cy="782320"/>
        </p:xfrm>
        <a:graphic>
          <a:graphicData uri="http://schemas.openxmlformats.org/drawingml/2006/table">
            <a:tbl>
              <a:tblPr firstRow="1">
                <a:tableStyleId>{2A488322-F2BA-4B5B-9748-0D474271808F}</a:tableStyleId>
              </a:tblPr>
              <a:tblGrid>
                <a:gridCol w="4228740">
                  <a:extLst>
                    <a:ext uri="{9D8B030D-6E8A-4147-A177-3AD203B41FA5}">
                      <a16:colId xmlns:a16="http://schemas.microsoft.com/office/drawing/2014/main" val="2698153288"/>
                    </a:ext>
                  </a:extLst>
                </a:gridCol>
                <a:gridCol w="1218105">
                  <a:extLst>
                    <a:ext uri="{9D8B030D-6E8A-4147-A177-3AD203B41FA5}">
                      <a16:colId xmlns:a16="http://schemas.microsoft.com/office/drawing/2014/main" val="2119413191"/>
                    </a:ext>
                  </a:extLst>
                </a:gridCol>
              </a:tblGrid>
              <a:tr h="28800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i="0" noProof="0">
                          <a:solidFill>
                            <a:schemeClr val="tx2"/>
                          </a:solidFill>
                        </a:rPr>
                        <a:t>Medarbejderomsætning i rapporteringsåret </a:t>
                      </a:r>
                      <a:r>
                        <a:rPr lang="da-DK" sz="1200" b="0" i="0" noProof="0">
                          <a:solidFill>
                            <a:schemeClr val="tx2"/>
                          </a:solidFill>
                        </a:rPr>
                        <a:t>(pkt. 58)</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1" i="0" u="none" strike="noStrike" noProof="0">
                          <a:solidFill>
                            <a:srgbClr val="1B4528"/>
                          </a:solidFill>
                          <a:effectLst/>
                          <a:latin typeface="IBM Plex Sans" panose="020B0503050203000203" pitchFamily="34" charset="0"/>
                        </a:rPr>
                        <a:t>År </a:t>
                      </a:r>
                      <a:r>
                        <a:rPr lang="da-DK" sz="1200" b="1" i="0" u="none" strike="noStrike" noProof="0">
                          <a:solidFill>
                            <a:srgbClr val="2D55FF"/>
                          </a:solidFill>
                          <a:effectLst/>
                          <a:latin typeface="IBM Plex Sans" panose="020B0503050203000203" pitchFamily="34" charset="0"/>
                        </a:rPr>
                        <a:t>{{</a:t>
                      </a:r>
                      <a:r>
                        <a:rPr lang="da-DK" sz="1200" b="1" i="0" u="none" strike="noStrike" noProof="0" err="1">
                          <a:solidFill>
                            <a:srgbClr val="2D55FF"/>
                          </a:solidFill>
                          <a:effectLst/>
                          <a:latin typeface="IBM Plex Sans" panose="020B0503050203000203" pitchFamily="34" charset="0"/>
                        </a:rPr>
                        <a:t>Insert</a:t>
                      </a:r>
                      <a:r>
                        <a:rPr lang="da-DK" sz="1200" b="1" i="0" u="none" strike="noStrike" noProof="0">
                          <a:solidFill>
                            <a:srgbClr val="2D55FF"/>
                          </a:solidFill>
                          <a:effectLst/>
                          <a:latin typeface="IBM Plex Sans" panose="020B0503050203000203" pitchFamily="34" charset="0"/>
                        </a:rPr>
                        <a:t> </a:t>
                      </a:r>
                      <a:r>
                        <a:rPr lang="da-DK" sz="1200" b="1" i="0" u="none" strike="noStrike" noProof="0" err="1">
                          <a:solidFill>
                            <a:srgbClr val="2D55FF"/>
                          </a:solidFill>
                          <a:effectLst/>
                          <a:latin typeface="IBM Plex Sans" panose="020B0503050203000203" pitchFamily="34" charset="0"/>
                        </a:rPr>
                        <a:t>year</a:t>
                      </a:r>
                      <a:r>
                        <a:rPr lang="da-DK" sz="1200" b="1" i="0" u="none" strike="noStrike" noProof="0">
                          <a:solidFill>
                            <a:srgbClr val="2D55FF"/>
                          </a:solidFill>
                          <a:effectLst/>
                          <a:latin typeface="IBM Plex Sans" panose="020B0503050203000203" pitchFamily="34" charset="0"/>
                        </a:rPr>
                        <a:t>}}</a:t>
                      </a:r>
                      <a:endParaRPr lang="da-DK" sz="1200" noProof="0">
                        <a:effectLst/>
                      </a:endParaRPr>
                    </a:p>
                  </a:txBody>
                  <a:tcPr marL="38100" marR="381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8000">
                <a:tc vMerge="1">
                  <a:txBody>
                    <a:bodyPr/>
                    <a:lstStyle/>
                    <a:p>
                      <a:endParaRPr lang="da-DK" sz="900" b="0" noProof="0">
                        <a:solidFill>
                          <a:schemeClr val="tx2"/>
                        </a:solidFill>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omsatningsrate</a:t>
                      </a:r>
                      <a:r>
                        <a:rPr lang="da-DK" sz="1200" b="0" i="0" u="none" strike="noStrike" noProof="0">
                          <a:solidFill>
                            <a:srgbClr val="2D55FF"/>
                          </a:solidFill>
                          <a:effectLst/>
                          <a:latin typeface="IBM Plex Sans" panose="020B0503050203000203" pitchFamily="34" charset="0"/>
                        </a:rPr>
                        <a:t>}}</a:t>
                      </a:r>
                    </a:p>
                  </a:txBody>
                  <a:tcPr marL="38100" marR="381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sp>
        <p:nvSpPr>
          <p:cNvPr id="13" name="Tekstfelt 12">
            <a:extLst>
              <a:ext uri="{FF2B5EF4-FFF2-40B4-BE49-F238E27FC236}">
                <a16:creationId xmlns:a16="http://schemas.microsoft.com/office/drawing/2014/main" id="{02AD3E18-6260-CBA0-2A83-112A686452CC}"/>
              </a:ext>
            </a:extLst>
          </p:cNvPr>
          <p:cNvSpPr txBox="1"/>
          <p:nvPr/>
        </p:nvSpPr>
        <p:spPr>
          <a:xfrm>
            <a:off x="508000" y="1016000"/>
            <a:ext cx="11165400" cy="830997"/>
          </a:xfrm>
          <a:prstGeom prst="rect">
            <a:avLst/>
          </a:prstGeom>
          <a:noFill/>
        </p:spPr>
        <p:txBody>
          <a:bodyPr wrap="square">
            <a:spAutoFit/>
          </a:bodyPr>
          <a:lstStyle/>
          <a:p>
            <a:pPr rtl="0">
              <a:buNone/>
            </a:pPr>
            <a:r>
              <a:rPr lang="da-DK" sz="1200" b="0" i="0" u="none" strike="noStrike" noProof="0">
                <a:solidFill>
                  <a:schemeClr val="tx2"/>
                </a:solidFill>
                <a:effectLst/>
                <a:latin typeface="Inter"/>
              </a:rPr>
              <a:t>Den nedenstående information er supplement til anden oplysning om virksomhedens arbejdsstyrke. Herunder, hvordan virksomhedens forhold mellem mænd og kvinder på ledelsesniveau fordeler sig.</a:t>
            </a:r>
            <a:endParaRPr lang="da-DK" sz="1200" b="0" noProof="0">
              <a:solidFill>
                <a:schemeClr val="tx2"/>
              </a:solidFill>
              <a:effectLst/>
              <a:latin typeface="Inter"/>
            </a:endParaRPr>
          </a:p>
          <a:p>
            <a:pPr>
              <a:buNone/>
            </a:pPr>
            <a:br>
              <a:rPr lang="da-DK" sz="1200" noProof="0">
                <a:solidFill>
                  <a:schemeClr val="tx2"/>
                </a:solidFill>
                <a:latin typeface="Inter"/>
              </a:rPr>
            </a:br>
            <a:endParaRPr lang="da-DK" sz="1200" noProof="0">
              <a:solidFill>
                <a:schemeClr val="tx2"/>
              </a:solidFill>
              <a:latin typeface="Inter"/>
            </a:endParaRPr>
          </a:p>
        </p:txBody>
      </p:sp>
      <p:graphicFrame>
        <p:nvGraphicFramePr>
          <p:cNvPr id="17" name="Table 8">
            <a:extLst>
              <a:ext uri="{FF2B5EF4-FFF2-40B4-BE49-F238E27FC236}">
                <a16:creationId xmlns:a16="http://schemas.microsoft.com/office/drawing/2014/main" id="{A0192DD3-B257-9166-AD07-2538AE6407A8}"/>
              </a:ext>
            </a:extLst>
          </p:cNvPr>
          <p:cNvGraphicFramePr>
            <a:graphicFrameLocks noGrp="1"/>
          </p:cNvGraphicFramePr>
          <p:nvPr>
            <p:extLst>
              <p:ext uri="{D42A27DB-BD31-4B8C-83A1-F6EECF244321}">
                <p14:modId xmlns:p14="http://schemas.microsoft.com/office/powerpoint/2010/main" val="1235781758"/>
              </p:ext>
            </p:extLst>
          </p:nvPr>
        </p:nvGraphicFramePr>
        <p:xfrm>
          <a:off x="507999" y="3287188"/>
          <a:ext cx="11165400" cy="1152000"/>
        </p:xfrm>
        <a:graphic>
          <a:graphicData uri="http://schemas.openxmlformats.org/drawingml/2006/table">
            <a:tbl>
              <a:tblPr firstRow="1">
                <a:tableStyleId>{2A488322-F2BA-4B5B-9748-0D474271808F}</a:tableStyleId>
              </a:tblPr>
              <a:tblGrid>
                <a:gridCol w="8275926">
                  <a:extLst>
                    <a:ext uri="{9D8B030D-6E8A-4147-A177-3AD203B41FA5}">
                      <a16:colId xmlns:a16="http://schemas.microsoft.com/office/drawing/2014/main" val="2698153288"/>
                    </a:ext>
                  </a:extLst>
                </a:gridCol>
                <a:gridCol w="2889474">
                  <a:extLst>
                    <a:ext uri="{9D8B030D-6E8A-4147-A177-3AD203B41FA5}">
                      <a16:colId xmlns:a16="http://schemas.microsoft.com/office/drawing/2014/main" val="2119413191"/>
                    </a:ext>
                  </a:extLst>
                </a:gridCol>
              </a:tblGrid>
              <a:tr h="28800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kern="1200" noProof="0">
                          <a:solidFill>
                            <a:schemeClr val="tx2"/>
                          </a:solidFill>
                          <a:latin typeface="+mn-lt"/>
                          <a:ea typeface="+mn-ea"/>
                          <a:cs typeface="+mn-cs"/>
                        </a:rPr>
                        <a:t>Selvstændige og vikarer </a:t>
                      </a:r>
                      <a:r>
                        <a:rPr lang="da-DK" sz="1200" b="0" noProof="0">
                          <a:solidFill>
                            <a:schemeClr val="tx2"/>
                          </a:solidFill>
                        </a:rPr>
                        <a:t>(pkt. 60)</a:t>
                      </a:r>
                      <a:endParaRPr lang="da-DK" sz="1200" b="1" kern="120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804764708"/>
                  </a:ext>
                </a:extLst>
              </a:tr>
              <a:tr h="28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12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kern="1200" noProof="0">
                          <a:solidFill>
                            <a:schemeClr val="tx2"/>
                          </a:solidFill>
                          <a:latin typeface="+mn-lt"/>
                          <a:ea typeface="+mn-ea"/>
                          <a:cs typeface="+mn-cs"/>
                        </a:rPr>
                        <a:t>Antal</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88000">
                <a:tc>
                  <a:txBody>
                    <a:bodyPr/>
                    <a:lstStyle/>
                    <a:p>
                      <a:r>
                        <a:rPr lang="da-DK" sz="1200" b="1" noProof="0">
                          <a:solidFill>
                            <a:schemeClr val="tx2"/>
                          </a:solidFill>
                        </a:rPr>
                        <a:t>Selvstændige (uden egne ansatte)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self-employeed</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88000">
                <a:tc>
                  <a:txBody>
                    <a:bodyPr/>
                    <a:lstStyle/>
                    <a:p>
                      <a:r>
                        <a:rPr lang="da-DK" sz="1200" b="1" noProof="0">
                          <a:solidFill>
                            <a:schemeClr val="tx2"/>
                          </a:solidFill>
                        </a:rPr>
                        <a:t>Vikarer (rekrutteret via et vikarbureau) </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temp_workers</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23" name="Tekstfelt 22">
            <a:extLst>
              <a:ext uri="{FF2B5EF4-FFF2-40B4-BE49-F238E27FC236}">
                <a16:creationId xmlns:a16="http://schemas.microsoft.com/office/drawing/2014/main" id="{D60EF1D1-D1F5-4064-9ED3-DE93382F39C3}"/>
              </a:ext>
            </a:extLst>
          </p:cNvPr>
          <p:cNvSpPr txBox="1"/>
          <p:nvPr/>
        </p:nvSpPr>
        <p:spPr>
          <a:xfrm>
            <a:off x="518599" y="2772045"/>
            <a:ext cx="11154799" cy="276999"/>
          </a:xfrm>
          <a:prstGeom prst="rect">
            <a:avLst/>
          </a:prstGeom>
          <a:noFill/>
        </p:spPr>
        <p:txBody>
          <a:bodyPr wrap="square">
            <a:spAutoFit/>
          </a:bodyPr>
          <a:lstStyle/>
          <a:p>
            <a:pPr rtl="0">
              <a:buNone/>
            </a:pPr>
            <a:r>
              <a:rPr lang="da-DK" sz="1200" b="0" i="0" u="none" strike="noStrike" noProof="0">
                <a:solidFill>
                  <a:schemeClr val="tx2"/>
                </a:solidFill>
                <a:effectLst/>
                <a:latin typeface="Inter"/>
              </a:rPr>
              <a:t>Den nedenstående information er udfyldt for at informere om antallet af selvstændige og vikarer virksomheden har.</a:t>
            </a:r>
            <a:endParaRPr lang="da-DK" sz="1200" b="0" noProof="0">
              <a:solidFill>
                <a:schemeClr val="tx2"/>
              </a:solidFill>
              <a:effectLst/>
              <a:latin typeface="Inter"/>
            </a:endParaRPr>
          </a:p>
        </p:txBody>
      </p:sp>
    </p:spTree>
    <p:extLst>
      <p:ext uri="{BB962C8B-B14F-4D97-AF65-F5344CB8AC3E}">
        <p14:creationId xmlns:p14="http://schemas.microsoft.com/office/powerpoint/2010/main" val="10959130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8E5C9-19EA-93EF-10E2-5882DFA2D1D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A01B3D3-ECCC-E485-0BE0-6FF0F1558D63}"/>
              </a:ext>
            </a:extLst>
          </p:cNvPr>
          <p:cNvSpPr>
            <a:spLocks noGrp="1"/>
          </p:cNvSpPr>
          <p:nvPr>
            <p:ph type="title"/>
          </p:nvPr>
        </p:nvSpPr>
        <p:spPr>
          <a:xfrm>
            <a:off x="518600" y="513927"/>
            <a:ext cx="11165400" cy="249299"/>
          </a:xfrm>
        </p:spPr>
        <p:txBody>
          <a:bodyPr/>
          <a:lstStyle/>
          <a:p>
            <a:r>
              <a:rPr lang="da-DK" sz="1800" b="1" i="0" u="none" strike="noStrike" kern="1200" spc="-10" noProof="0">
                <a:solidFill>
                  <a:srgbClr val="1B4528"/>
                </a:solidFill>
                <a:latin typeface="+mn-lt"/>
                <a:ea typeface="+mn-ea"/>
                <a:cs typeface="+mn-cs"/>
              </a:rPr>
              <a:t>Menneskerettighedspolitikker og -processer (C6</a:t>
            </a:r>
            <a:r>
              <a:rPr lang="da-DK" noProof="0"/>
              <a:t>) - Egen arbejdsstyrke</a:t>
            </a:r>
          </a:p>
        </p:txBody>
      </p:sp>
      <p:sp>
        <p:nvSpPr>
          <p:cNvPr id="2" name="Slide Number Placeholder 1">
            <a:extLst>
              <a:ext uri="{FF2B5EF4-FFF2-40B4-BE49-F238E27FC236}">
                <a16:creationId xmlns:a16="http://schemas.microsoft.com/office/drawing/2014/main" id="{7F4B2DDC-B47C-8EC5-7967-2A58A7546BE1}"/>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21</a:t>
            </a:fld>
            <a:endParaRPr lang="da-DK" noProof="0"/>
          </a:p>
        </p:txBody>
      </p:sp>
      <p:sp>
        <p:nvSpPr>
          <p:cNvPr id="5" name="Footer Placeholder 4">
            <a:extLst>
              <a:ext uri="{FF2B5EF4-FFF2-40B4-BE49-F238E27FC236}">
                <a16:creationId xmlns:a16="http://schemas.microsoft.com/office/drawing/2014/main" id="{12C8F095-7936-9AF5-ED2E-CAF996EA0C77}"/>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graphicFrame>
        <p:nvGraphicFramePr>
          <p:cNvPr id="7" name="Table 12">
            <a:extLst>
              <a:ext uri="{FF2B5EF4-FFF2-40B4-BE49-F238E27FC236}">
                <a16:creationId xmlns:a16="http://schemas.microsoft.com/office/drawing/2014/main" id="{28CCF2F2-67F8-E6B4-823D-CCF80EE37382}"/>
              </a:ext>
            </a:extLst>
          </p:cNvPr>
          <p:cNvGraphicFramePr>
            <a:graphicFrameLocks noGrp="1"/>
          </p:cNvGraphicFramePr>
          <p:nvPr>
            <p:extLst>
              <p:ext uri="{D42A27DB-BD31-4B8C-83A1-F6EECF244321}">
                <p14:modId xmlns:p14="http://schemas.microsoft.com/office/powerpoint/2010/main" val="2313881061"/>
              </p:ext>
            </p:extLst>
          </p:nvPr>
        </p:nvGraphicFramePr>
        <p:xfrm>
          <a:off x="518600" y="1841711"/>
          <a:ext cx="11165400" cy="3451860"/>
        </p:xfrm>
        <a:graphic>
          <a:graphicData uri="http://schemas.openxmlformats.org/drawingml/2006/table">
            <a:tbl>
              <a:tblPr firstRow="1">
                <a:tableStyleId>{2A488322-F2BA-4B5B-9748-0D474271808F}</a:tableStyleId>
              </a:tblPr>
              <a:tblGrid>
                <a:gridCol w="8583287">
                  <a:extLst>
                    <a:ext uri="{9D8B030D-6E8A-4147-A177-3AD203B41FA5}">
                      <a16:colId xmlns:a16="http://schemas.microsoft.com/office/drawing/2014/main" val="2698153288"/>
                    </a:ext>
                  </a:extLst>
                </a:gridCol>
                <a:gridCol w="2582113">
                  <a:extLst>
                    <a:ext uri="{9D8B030D-6E8A-4147-A177-3AD203B41FA5}">
                      <a16:colId xmlns:a16="http://schemas.microsoft.com/office/drawing/2014/main" val="2119413191"/>
                    </a:ext>
                  </a:extLst>
                </a:gridCol>
              </a:tblGrid>
              <a:tr h="5119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noProof="0">
                          <a:solidFill>
                            <a:schemeClr val="accent2"/>
                          </a:solidFill>
                          <a:latin typeface="+mn-lt"/>
                          <a:ea typeface="+mn-ea"/>
                          <a:cs typeface="+mn-cs"/>
                        </a:rPr>
                        <a:t>{{company_name}}</a:t>
                      </a:r>
                      <a:r>
                        <a:rPr lang="da-DK" sz="1200" b="1" noProof="0">
                          <a:solidFill>
                            <a:schemeClr val="tx2"/>
                          </a:solidFill>
                        </a:rPr>
                        <a:t> har </a:t>
                      </a:r>
                      <a:r>
                        <a:rPr lang="da-DK" sz="1200" b="1" kern="1200" spc="-10" noProof="0">
                          <a:solidFill>
                            <a:schemeClr val="tx2"/>
                          </a:solidFill>
                          <a:latin typeface="+mn-lt"/>
                          <a:ea typeface="+mn-ea"/>
                          <a:cs typeface="+mn-cs"/>
                        </a:rPr>
                        <a:t>en ansvarlighedspolitik </a:t>
                      </a:r>
                      <a:r>
                        <a:rPr lang="da-DK" sz="1200" b="1" i="1" kern="1200" spc="-10" noProof="0">
                          <a:solidFill>
                            <a:schemeClr val="tx2"/>
                          </a:solidFill>
                          <a:latin typeface="+mn-lt"/>
                          <a:ea typeface="+mn-ea"/>
                          <a:cs typeface="+mn-cs"/>
                        </a:rPr>
                        <a:t>og/eller</a:t>
                      </a:r>
                      <a:r>
                        <a:rPr lang="da-DK" sz="1200" b="1" kern="1200" spc="-10" noProof="0">
                          <a:solidFill>
                            <a:schemeClr val="tx2"/>
                          </a:solidFill>
                          <a:latin typeface="+mn-lt"/>
                          <a:ea typeface="+mn-ea"/>
                          <a:cs typeface="+mn-cs"/>
                        </a:rPr>
                        <a:t> en menneskerettighedspolitik for vores </a:t>
                      </a:r>
                      <a:r>
                        <a:rPr lang="da-DK" sz="1200" b="1" u="sng" kern="1200" spc="-10" noProof="0">
                          <a:solidFill>
                            <a:schemeClr val="tx2"/>
                          </a:solidFill>
                          <a:latin typeface="+mn-lt"/>
                          <a:ea typeface="+mn-ea"/>
                          <a:cs typeface="+mn-cs"/>
                        </a:rPr>
                        <a:t>egen arbejdsstyrke</a:t>
                      </a:r>
                      <a:r>
                        <a:rPr lang="da-DK" sz="1200" b="0" u="none" kern="1200" spc="-10" noProof="0">
                          <a:solidFill>
                            <a:schemeClr val="tx2"/>
                          </a:solidFill>
                          <a:latin typeface="+mn-lt"/>
                          <a:ea typeface="+mn-ea"/>
                          <a:cs typeface="+mn-cs"/>
                        </a:rPr>
                        <a:t> (pkt. 61a)</a:t>
                      </a:r>
                      <a:endParaRPr lang="da-DK" sz="1200" b="0" u="none"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noProof="0">
                          <a:solidFill>
                            <a:schemeClr val="accent2"/>
                          </a:solidFill>
                          <a:latin typeface="+mn-lt"/>
                          <a:cs typeface="Calibri"/>
                        </a:rPr>
                        <a:t>{{human_rights_policy?}}</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91168870"/>
                  </a:ext>
                </a:extLst>
              </a:tr>
              <a:tr h="263277">
                <a:tc gridSpan="2">
                  <a:txBody>
                    <a:bodyPr/>
                    <a:lstStyle/>
                    <a:p>
                      <a:r>
                        <a:rPr lang="da-DK" sz="1200" b="1" kern="1200" noProof="0">
                          <a:solidFill>
                            <a:schemeClr val="tx1"/>
                          </a:solidFill>
                          <a:latin typeface="+mn-lt"/>
                          <a:ea typeface="+mn-ea"/>
                          <a:cs typeface="+mn-cs"/>
                        </a:rPr>
                        <a:t>Ansvarligheds- eller menneskerettighedspolitikken dækker disse emner: </a:t>
                      </a:r>
                      <a:r>
                        <a:rPr lang="da-DK" sz="1200" b="0" u="none" kern="1200" spc="-10" noProof="0">
                          <a:solidFill>
                            <a:schemeClr val="tx2"/>
                          </a:solidFill>
                          <a:latin typeface="+mn-lt"/>
                          <a:ea typeface="+mn-ea"/>
                          <a:cs typeface="+mn-cs"/>
                        </a:rPr>
                        <a:t>(pkt. 61b)</a:t>
                      </a:r>
                      <a:endParaRPr lang="da-DK" sz="1200" b="0" noProof="0">
                        <a:solidFill>
                          <a:schemeClr val="tx1"/>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0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903441729"/>
                  </a:ext>
                </a:extLst>
              </a:tr>
              <a:tr h="263277">
                <a:tc>
                  <a:txBody>
                    <a:bodyPr/>
                    <a:lstStyle/>
                    <a:p>
                      <a:pPr lvl="1"/>
                      <a:r>
                        <a:rPr lang="da-DK" sz="1200" b="0" noProof="0">
                          <a:solidFill>
                            <a:schemeClr val="tx2"/>
                          </a:solidFill>
                        </a:rPr>
                        <a:t>Børnearbejde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{{child_labour_polict?}}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09313864"/>
                  </a:ext>
                </a:extLst>
              </a:tr>
              <a:tr h="263277">
                <a:tc>
                  <a:txBody>
                    <a:bodyPr/>
                    <a:lstStyle/>
                    <a:p>
                      <a:pPr lvl="1"/>
                      <a:r>
                        <a:rPr lang="da-DK" sz="1200" b="0" noProof="0">
                          <a:solidFill>
                            <a:schemeClr val="tx2"/>
                          </a:solidFill>
                        </a:rPr>
                        <a:t>Tvangsarbejde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{{forced_labour_policy?}}</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28850338"/>
                  </a:ext>
                </a:extLst>
              </a:tr>
              <a:tr h="263277">
                <a:tc>
                  <a:txBody>
                    <a:bodyPr/>
                    <a:lstStyle/>
                    <a:p>
                      <a:pPr lvl="1"/>
                      <a:r>
                        <a:rPr lang="da-DK" sz="1200" b="0" noProof="0">
                          <a:solidFill>
                            <a:schemeClr val="tx2"/>
                          </a:solidFill>
                        </a:rPr>
                        <a:t>Menneskehandel</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{{human_policy?}}</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946288779"/>
                  </a:ext>
                </a:extLst>
              </a:tr>
              <a:tr h="263277">
                <a:tc>
                  <a:txBody>
                    <a:bodyPr/>
                    <a:lstStyle/>
                    <a:p>
                      <a:pPr lvl="1"/>
                      <a:r>
                        <a:rPr lang="da-DK" sz="1200" b="0" noProof="0">
                          <a:solidFill>
                            <a:schemeClr val="tx2"/>
                          </a:solidFill>
                        </a:rPr>
                        <a:t>Diskrimination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{{discrimanation_policy?}}</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269962095"/>
                  </a:ext>
                </a:extLst>
              </a:tr>
              <a:tr h="263277">
                <a:tc>
                  <a:txBody>
                    <a:bodyPr/>
                    <a:lstStyle/>
                    <a:p>
                      <a:pPr lvl="1"/>
                      <a:r>
                        <a:rPr lang="da-DK" sz="1200" b="0" noProof="0">
                          <a:solidFill>
                            <a:schemeClr val="tx2"/>
                          </a:solidFill>
                        </a:rPr>
                        <a:t>Sikkerhed og forebyggelse af ulykker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{{safety_policy?}}</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23512640"/>
                  </a:ext>
                </a:extLst>
              </a:tr>
              <a:tr h="263277">
                <a:tc>
                  <a:txBody>
                    <a:bodyPr/>
                    <a:lstStyle/>
                    <a:p>
                      <a:pPr lvl="1"/>
                      <a:r>
                        <a:rPr lang="da-DK" sz="1200" b="0" noProof="0">
                          <a:solidFill>
                            <a:schemeClr val="tx2"/>
                          </a:solidFill>
                        </a:rPr>
                        <a:t>Andet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other_policy</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3969227"/>
                  </a:ext>
                </a:extLst>
              </a:tr>
              <a:tr h="263277">
                <a:tc gridSpan="2">
                  <a:txBody>
                    <a:bodyPr/>
                    <a:lstStyle/>
                    <a:p>
                      <a:r>
                        <a:rPr lang="da-DK" sz="1200" b="1" noProof="0">
                          <a:solidFill>
                            <a:schemeClr val="tx2"/>
                          </a:solidFill>
                        </a:rPr>
                        <a:t>Hvis ja til ”Andet”, specificer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00" b="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240263137"/>
                  </a:ext>
                </a:extLst>
              </a:tr>
              <a:tr h="833715">
                <a:tc gridSpan="2">
                  <a:txBody>
                    <a:bodyPr/>
                    <a:lstStyle/>
                    <a:p>
                      <a:endParaRPr lang="da-DK" sz="1200" b="0" noProof="0">
                        <a:solidFill>
                          <a:schemeClr val="tx2"/>
                        </a:solidFill>
                      </a:endParaRPr>
                    </a:p>
                    <a:p>
                      <a:pPr lvl="0" algn="l">
                        <a:lnSpc>
                          <a:spcPct val="100000"/>
                        </a:lnSpc>
                        <a:spcBef>
                          <a:spcPts val="0"/>
                        </a:spcBef>
                        <a:spcAft>
                          <a:spcPts val="0"/>
                        </a:spcAft>
                        <a:buNone/>
                      </a:pPr>
                      <a:r>
                        <a:rPr lang="da-DK" sz="1200" b="0" i="0" u="none" strike="noStrike" kern="1200" noProof="0">
                          <a:solidFill>
                            <a:srgbClr val="2D55FF"/>
                          </a:solidFill>
                          <a:latin typeface="Inter"/>
                          <a:ea typeface="+mn-ea"/>
                          <a:cs typeface="+mn-cs"/>
                        </a:rPr>
                        <a:t>{{C6_other_description}}</a:t>
                      </a:r>
                      <a:endParaRPr lang="da-DK" sz="1200" b="0" i="0" u="none" strike="noStrike" kern="1200" noProof="0">
                        <a:solidFill>
                          <a:srgbClr val="000000"/>
                        </a:solidFill>
                        <a:latin typeface="Inter"/>
                        <a:ea typeface="+mn-ea"/>
                        <a:cs typeface="+mn-cs"/>
                      </a:endParaRPr>
                    </a:p>
                    <a:p>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00" b="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53903979"/>
                  </a:ext>
                </a:extLst>
              </a:tr>
            </a:tbl>
          </a:graphicData>
        </a:graphic>
      </p:graphicFrame>
      <p:graphicFrame>
        <p:nvGraphicFramePr>
          <p:cNvPr id="18" name="Table 12">
            <a:extLst>
              <a:ext uri="{FF2B5EF4-FFF2-40B4-BE49-F238E27FC236}">
                <a16:creationId xmlns:a16="http://schemas.microsoft.com/office/drawing/2014/main" id="{DB79A87E-D29B-1775-517F-11F70A44D342}"/>
              </a:ext>
            </a:extLst>
          </p:cNvPr>
          <p:cNvGraphicFramePr>
            <a:graphicFrameLocks noGrp="1"/>
          </p:cNvGraphicFramePr>
          <p:nvPr>
            <p:extLst>
              <p:ext uri="{D42A27DB-BD31-4B8C-83A1-F6EECF244321}">
                <p14:modId xmlns:p14="http://schemas.microsoft.com/office/powerpoint/2010/main" val="3266126802"/>
              </p:ext>
            </p:extLst>
          </p:nvPr>
        </p:nvGraphicFramePr>
        <p:xfrm>
          <a:off x="507999" y="5483925"/>
          <a:ext cx="11181493" cy="866075"/>
        </p:xfrm>
        <a:graphic>
          <a:graphicData uri="http://schemas.openxmlformats.org/drawingml/2006/table">
            <a:tbl>
              <a:tblPr firstRow="1">
                <a:tableStyleId>{2A488322-F2BA-4B5B-9748-0D474271808F}</a:tableStyleId>
              </a:tblPr>
              <a:tblGrid>
                <a:gridCol w="8595658">
                  <a:extLst>
                    <a:ext uri="{9D8B030D-6E8A-4147-A177-3AD203B41FA5}">
                      <a16:colId xmlns:a16="http://schemas.microsoft.com/office/drawing/2014/main" val="2698153288"/>
                    </a:ext>
                  </a:extLst>
                </a:gridCol>
                <a:gridCol w="2585835">
                  <a:extLst>
                    <a:ext uri="{9D8B030D-6E8A-4147-A177-3AD203B41FA5}">
                      <a16:colId xmlns:a16="http://schemas.microsoft.com/office/drawing/2014/main" val="2119413191"/>
                    </a:ext>
                  </a:extLst>
                </a:gridCol>
              </a:tblGrid>
              <a:tr h="866075">
                <a:tc>
                  <a:txBody>
                    <a:bodyPr/>
                    <a:lstStyle/>
                    <a:p>
                      <a:r>
                        <a:rPr lang="da-DK" sz="1200" b="1" noProof="0">
                          <a:solidFill>
                            <a:schemeClr val="tx2"/>
                          </a:solidFill>
                        </a:rPr>
                        <a:t>Virksomheden har en klagemekanisme for vores </a:t>
                      </a:r>
                      <a:r>
                        <a:rPr lang="da-DK" sz="1200" b="1" u="sng" noProof="0">
                          <a:solidFill>
                            <a:schemeClr val="tx2"/>
                          </a:solidFill>
                        </a:rPr>
                        <a:t>egen arbejdsstyrke</a:t>
                      </a:r>
                      <a:r>
                        <a:rPr lang="da-DK" sz="1200" b="0" u="sng" noProof="0" dirty="0">
                          <a:solidFill>
                            <a:schemeClr val="tx2"/>
                          </a:solidFill>
                        </a:rPr>
                        <a:t> </a:t>
                      </a:r>
                      <a:r>
                        <a:rPr lang="da-DK" sz="1200" b="0" noProof="0">
                          <a:solidFill>
                            <a:schemeClr val="tx2"/>
                          </a:solidFill>
                        </a:rPr>
                        <a:t>(pkt. 61c)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noProof="0">
                          <a:solidFill>
                            <a:schemeClr val="accent2"/>
                          </a:solidFill>
                          <a:latin typeface="+mn-lt"/>
                          <a:cs typeface="Calibri"/>
                        </a:rPr>
                        <a:t>{{whistleblower?}}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03441729"/>
                  </a:ext>
                </a:extLst>
              </a:tr>
            </a:tbl>
          </a:graphicData>
        </a:graphic>
      </p:graphicFrame>
      <p:sp>
        <p:nvSpPr>
          <p:cNvPr id="11" name="Tekstfelt 10">
            <a:extLst>
              <a:ext uri="{FF2B5EF4-FFF2-40B4-BE49-F238E27FC236}">
                <a16:creationId xmlns:a16="http://schemas.microsoft.com/office/drawing/2014/main" id="{7C4038A4-75FD-FD52-35A4-14C7ED85BEEF}"/>
              </a:ext>
            </a:extLst>
          </p:cNvPr>
          <p:cNvSpPr txBox="1"/>
          <p:nvPr/>
        </p:nvSpPr>
        <p:spPr>
          <a:xfrm>
            <a:off x="515952" y="1016000"/>
            <a:ext cx="11168048" cy="461665"/>
          </a:xfrm>
          <a:prstGeom prst="rect">
            <a:avLst/>
          </a:prstGeom>
          <a:noFill/>
        </p:spPr>
        <p:txBody>
          <a:bodyPr wrap="square">
            <a:spAutoFit/>
          </a:bodyPr>
          <a:lstStyle/>
          <a:p>
            <a:pPr>
              <a:spcBef>
                <a:spcPts val="900"/>
              </a:spcBef>
            </a:pPr>
            <a:r>
              <a:rPr lang="da-DK" sz="1200" b="0" i="0" u="none" strike="noStrike" noProof="0">
                <a:solidFill>
                  <a:schemeClr val="tx2"/>
                </a:solidFill>
                <a:effectLst/>
                <a:latin typeface="Inter"/>
              </a:rPr>
              <a:t>Nedenfor er </a:t>
            </a:r>
            <a:r>
              <a:rPr lang="da-DK" sz="1200" noProof="0">
                <a:solidFill>
                  <a:schemeClr val="tx2"/>
                </a:solidFill>
                <a:latin typeface="Inter"/>
              </a:rPr>
              <a:t>angivet information om </a:t>
            </a:r>
            <a:r>
              <a:rPr lang="da-DK" sz="1200" b="0" i="0" u="none" strike="noStrike" noProof="0">
                <a:solidFill>
                  <a:schemeClr val="tx2"/>
                </a:solidFill>
                <a:effectLst/>
                <a:latin typeface="Inter"/>
              </a:rPr>
              <a:t>virksomhedens ansvarlighedspolitik og/eller menneskerettighedspolitik som dækker egen arbejdsstyrk</a:t>
            </a:r>
            <a:r>
              <a:rPr lang="da-DK" sz="1200" noProof="0">
                <a:solidFill>
                  <a:schemeClr val="tx2"/>
                </a:solidFill>
                <a:latin typeface="Inter"/>
              </a:rPr>
              <a:t>e. Ligeledes om virksomheden har en klagemekanisme, der gør det muligt for medarbejdere at rapportere forhold relateret til menneskerettighedskrænkelser, diskrimination, chikane eller andre kritisable forhold.</a:t>
            </a:r>
          </a:p>
        </p:txBody>
      </p:sp>
    </p:spTree>
    <p:extLst>
      <p:ext uri="{BB962C8B-B14F-4D97-AF65-F5344CB8AC3E}">
        <p14:creationId xmlns:p14="http://schemas.microsoft.com/office/powerpoint/2010/main" val="13866028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sz="1800" b="1" i="0" u="none" strike="noStrike" kern="1200" spc="-10" noProof="0">
                <a:solidFill>
                  <a:srgbClr val="1B4528"/>
                </a:solidFill>
                <a:latin typeface="+mn-lt"/>
                <a:ea typeface="+mn-ea"/>
                <a:cs typeface="+mn-cs"/>
              </a:rPr>
              <a:t>Alvorlige negative menneskerettighedshændelser (C7</a:t>
            </a:r>
            <a:r>
              <a:rPr lang="da-DK" noProof="0"/>
              <a:t>) – Egen arbejdsstyrke</a:t>
            </a:r>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22</a:t>
            </a:fld>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endParaRPr lang="da-DK"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257119581"/>
              </p:ext>
            </p:extLst>
          </p:nvPr>
        </p:nvGraphicFramePr>
        <p:xfrm>
          <a:off x="518598" y="1676964"/>
          <a:ext cx="11165399" cy="3105236"/>
        </p:xfrm>
        <a:graphic>
          <a:graphicData uri="http://schemas.openxmlformats.org/drawingml/2006/table">
            <a:tbl>
              <a:tblPr firstRow="1">
                <a:tableStyleId>{2A488322-F2BA-4B5B-9748-0D474271808F}</a:tableStyleId>
              </a:tblPr>
              <a:tblGrid>
                <a:gridCol w="3918800">
                  <a:extLst>
                    <a:ext uri="{9D8B030D-6E8A-4147-A177-3AD203B41FA5}">
                      <a16:colId xmlns:a16="http://schemas.microsoft.com/office/drawing/2014/main" val="1902117154"/>
                    </a:ext>
                  </a:extLst>
                </a:gridCol>
                <a:gridCol w="7246599">
                  <a:extLst>
                    <a:ext uri="{9D8B030D-6E8A-4147-A177-3AD203B41FA5}">
                      <a16:colId xmlns:a16="http://schemas.microsoft.com/office/drawing/2014/main" val="1904521774"/>
                    </a:ext>
                  </a:extLst>
                </a:gridCol>
              </a:tblGrid>
              <a:tr h="326560">
                <a:tc gridSpan="2">
                  <a:txBody>
                    <a:bodyPr/>
                    <a:lstStyle/>
                    <a:p>
                      <a:pPr algn="l"/>
                      <a:r>
                        <a:rPr lang="da-DK" sz="1200" b="1" kern="1200" spc="-10" noProof="0">
                          <a:solidFill>
                            <a:schemeClr val="tx2"/>
                          </a:solidFill>
                          <a:latin typeface="+mn-lt"/>
                          <a:ea typeface="+mn-ea"/>
                          <a:cs typeface="+mn-cs"/>
                        </a:rPr>
                        <a:t>Er der for virksomhedens </a:t>
                      </a:r>
                      <a:r>
                        <a:rPr lang="da-DK" sz="1200" b="1" u="sng" kern="1200" spc="-10" noProof="0">
                          <a:solidFill>
                            <a:schemeClr val="tx2"/>
                          </a:solidFill>
                          <a:latin typeface="+mn-lt"/>
                          <a:ea typeface="+mn-ea"/>
                          <a:cs typeface="+mn-cs"/>
                        </a:rPr>
                        <a:t>egen arbejdsstyrke</a:t>
                      </a:r>
                      <a:r>
                        <a:rPr lang="da-DK" sz="1200" b="1" u="none" kern="1200" spc="-10" noProof="0">
                          <a:solidFill>
                            <a:schemeClr val="tx2"/>
                          </a:solidFill>
                          <a:latin typeface="+mn-lt"/>
                          <a:ea typeface="+mn-ea"/>
                          <a:cs typeface="+mn-cs"/>
                        </a:rPr>
                        <a:t> </a:t>
                      </a:r>
                      <a:r>
                        <a:rPr lang="da-DK" sz="1200" b="1" kern="1200" spc="-10" noProof="0">
                          <a:solidFill>
                            <a:schemeClr val="tx2"/>
                          </a:solidFill>
                          <a:latin typeface="+mn-lt"/>
                          <a:ea typeface="+mn-ea"/>
                          <a:cs typeface="+mn-cs"/>
                        </a:rPr>
                        <a:t>bekræftede negative hændelser, der relaterer sig til nedenstående </a:t>
                      </a:r>
                      <a:r>
                        <a:rPr lang="da-DK" sz="1200" b="0" kern="1200" spc="-10" noProof="0">
                          <a:solidFill>
                            <a:schemeClr val="tx2"/>
                          </a:solidFill>
                          <a:latin typeface="+mn-lt"/>
                          <a:ea typeface="+mn-ea"/>
                          <a:cs typeface="+mn-cs"/>
                        </a:rPr>
                        <a:t>(pkt. 62a-b)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900" b="1"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585229">
                <a:tc>
                  <a:txBody>
                    <a:bodyPr/>
                    <a:lstStyle/>
                    <a:p>
                      <a:pPr algn="l"/>
                      <a:r>
                        <a:rPr lang="da-DK" sz="1200" b="1" kern="1200" spc="-10" noProof="0">
                          <a:solidFill>
                            <a:schemeClr val="tx2"/>
                          </a:solidFill>
                          <a:latin typeface="+mn-lt"/>
                          <a:ea typeface="+mn-ea"/>
                          <a:cs typeface="+mn-cs"/>
                        </a:rPr>
                        <a:t>Børnearbejde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a-DK" sz="1200" b="0" i="0" u="none" strike="noStrike" noProof="0">
                          <a:solidFill>
                            <a:schemeClr val="accent2"/>
                          </a:solidFill>
                        </a:rPr>
                        <a:t>{{child_labour_yes?}}</a:t>
                      </a:r>
                      <a:endParaRPr lang="da-DK"/>
                    </a:p>
                    <a:p>
                      <a:pPr lvl="0" algn="l">
                        <a:lnSpc>
                          <a:spcPct val="100000"/>
                        </a:lnSpc>
                        <a:spcBef>
                          <a:spcPts val="0"/>
                        </a:spcBef>
                        <a:spcAft>
                          <a:spcPts val="0"/>
                        </a:spcAft>
                        <a:buNone/>
                      </a:pPr>
                      <a:r>
                        <a:rPr lang="da-DK" sz="1200" b="0" i="0" u="none" strike="noStrike" noProof="0">
                          <a:solidFill>
                            <a:schemeClr val="accent2"/>
                          </a:solidFill>
                        </a:rPr>
                        <a:t>{{child_labour_desc}}</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585229">
                <a:tc>
                  <a:txBody>
                    <a:bodyPr/>
                    <a:lstStyle/>
                    <a:p>
                      <a:pPr algn="l"/>
                      <a:r>
                        <a:rPr lang="da-DK" sz="1200" b="1" kern="1200" spc="-10" noProof="0">
                          <a:solidFill>
                            <a:schemeClr val="tx2"/>
                          </a:solidFill>
                          <a:latin typeface="+mn-lt"/>
                          <a:ea typeface="+mn-ea"/>
                          <a:cs typeface="+mn-cs"/>
                        </a:rPr>
                        <a:t>Tvangsarbejde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a-DK" sz="1200" b="0" i="0" u="none" strike="noStrike" noProof="0">
                          <a:solidFill>
                            <a:schemeClr val="accent2"/>
                          </a:solidFill>
                        </a:rPr>
                        <a:t>{{forced_labour_yes?}}</a:t>
                      </a:r>
                      <a:endParaRPr lang="da-DK"/>
                    </a:p>
                    <a:p>
                      <a:pPr lvl="0" algn="l" defTabSz="914400">
                        <a:lnSpc>
                          <a:spcPct val="100000"/>
                        </a:lnSpc>
                        <a:spcBef>
                          <a:spcPts val="0"/>
                        </a:spcBef>
                        <a:spcAft>
                          <a:spcPts val="0"/>
                        </a:spcAft>
                        <a:buNone/>
                        <a:tabLst/>
                        <a:defRPr/>
                      </a:pPr>
                      <a:r>
                        <a:rPr lang="da-DK" sz="1200" b="0" i="0" u="none" strike="noStrike" noProof="0">
                          <a:solidFill>
                            <a:schemeClr val="accent2"/>
                          </a:solidFill>
                        </a:rPr>
                        <a:t>{{forced_labour_desc}}</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585229">
                <a:tc>
                  <a:txBody>
                    <a:bodyPr/>
                    <a:lstStyle/>
                    <a:p>
                      <a:pPr algn="l"/>
                      <a:r>
                        <a:rPr lang="da-DK" sz="1200" b="1" kern="1200" spc="-10" noProof="0">
                          <a:solidFill>
                            <a:schemeClr val="tx2"/>
                          </a:solidFill>
                          <a:latin typeface="+mn-lt"/>
                          <a:ea typeface="+mn-ea"/>
                          <a:cs typeface="+mn-cs"/>
                        </a:rPr>
                        <a:t>Menneskehandel</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a-DK" sz="1200" b="0" i="0" u="none" strike="noStrike" noProof="0">
                          <a:solidFill>
                            <a:schemeClr val="accent2"/>
                          </a:solidFill>
                        </a:rPr>
                        <a:t>{{human_trafficking_yes?}}</a:t>
                      </a:r>
                      <a:endParaRPr lang="da-DK"/>
                    </a:p>
                    <a:p>
                      <a:pPr lvl="0" algn="l" defTabSz="914400">
                        <a:lnSpc>
                          <a:spcPct val="100000"/>
                        </a:lnSpc>
                        <a:spcBef>
                          <a:spcPts val="0"/>
                        </a:spcBef>
                        <a:spcAft>
                          <a:spcPts val="0"/>
                        </a:spcAft>
                        <a:buNone/>
                        <a:tabLst/>
                        <a:defRPr/>
                      </a:pPr>
                      <a:r>
                        <a:rPr lang="da-DK" sz="1200" b="0" i="0" u="none" strike="noStrike" noProof="0">
                          <a:solidFill>
                            <a:schemeClr val="accent2"/>
                          </a:solidFill>
                        </a:rPr>
                        <a:t>{{human_trafficking_desc}}</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585229">
                <a:tc>
                  <a:txBody>
                    <a:bodyPr/>
                    <a:lstStyle/>
                    <a:p>
                      <a:pPr algn="l"/>
                      <a:r>
                        <a:rPr lang="da-DK" sz="1200" b="1" kern="1200" spc="-10" noProof="0">
                          <a:solidFill>
                            <a:schemeClr val="tx2"/>
                          </a:solidFill>
                          <a:latin typeface="+mn-lt"/>
                          <a:ea typeface="+mn-ea"/>
                          <a:cs typeface="+mn-cs"/>
                        </a:rPr>
                        <a:t>Diskrimination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a-DK" sz="1200" b="0" i="0" u="none" strike="noStrike" noProof="0">
                          <a:solidFill>
                            <a:schemeClr val="accent2"/>
                          </a:solidFill>
                        </a:rPr>
                        <a:t>{{discrimination_yes?}}</a:t>
                      </a:r>
                      <a:endParaRPr lang="da-DK"/>
                    </a:p>
                    <a:p>
                      <a:pPr lvl="0" algn="l" defTabSz="914400">
                        <a:lnSpc>
                          <a:spcPct val="100000"/>
                        </a:lnSpc>
                        <a:spcBef>
                          <a:spcPts val="0"/>
                        </a:spcBef>
                        <a:spcAft>
                          <a:spcPts val="0"/>
                        </a:spcAft>
                        <a:buNone/>
                        <a:tabLst/>
                        <a:defRPr/>
                      </a:pPr>
                      <a:r>
                        <a:rPr lang="da-DK" sz="1200" b="0" i="0" u="none" strike="noStrike" noProof="0">
                          <a:solidFill>
                            <a:schemeClr val="accent2"/>
                          </a:solidFill>
                        </a:rPr>
                        <a:t>{{discrimination_desc}}</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412783">
                <a:tc>
                  <a:txBody>
                    <a:bodyPr/>
                    <a:lstStyle/>
                    <a:p>
                      <a:pPr lvl="0" algn="l">
                        <a:buNone/>
                      </a:pPr>
                      <a:r>
                        <a:rPr lang="da-DK" sz="1200" b="1" kern="1200" spc="-10" noProof="0">
                          <a:solidFill>
                            <a:schemeClr val="tx2"/>
                          </a:solidFill>
                          <a:latin typeface="+mn-lt"/>
                          <a:ea typeface="+mn-ea"/>
                          <a:cs typeface="+mn-cs"/>
                        </a:rPr>
                        <a:t>Andet </a:t>
                      </a:r>
                      <a:endParaRPr lang="en-US" b="1">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BM Plex Sans"/>
                          <a:cs typeface="Calibri"/>
                        </a:rPr>
                        <a:t>{{other</a:t>
                      </a:r>
                      <a:r>
                        <a:rPr lang="da-DK" sz="1200" b="0" i="0" u="none" strike="noStrike" noProof="0">
                          <a:solidFill>
                            <a:schemeClr val="accent2"/>
                          </a:solidFill>
                          <a:latin typeface="IBM Plex Sans"/>
                        </a:rPr>
                        <a:t>_yes?}}</a:t>
                      </a:r>
                      <a:endParaRPr lang="da-DK" sz="1200" b="0" i="0" u="none" strike="noStrike" noProof="0">
                        <a:solidFill>
                          <a:srgbClr val="000000"/>
                        </a:solidFill>
                        <a:latin typeface="IBM Plex Sans"/>
                      </a:endParaRPr>
                    </a:p>
                    <a:p>
                      <a:pPr lvl="0" algn="l" defTabSz="914400">
                        <a:lnSpc>
                          <a:spcPct val="100000"/>
                        </a:lnSpc>
                        <a:spcBef>
                          <a:spcPts val="0"/>
                        </a:spcBef>
                        <a:spcAft>
                          <a:spcPts val="0"/>
                        </a:spcAft>
                        <a:buNone/>
                        <a:tabLst/>
                        <a:defRPr/>
                      </a:pPr>
                      <a:r>
                        <a:rPr lang="da-DK" sz="1200" b="0" i="0" u="none" strike="noStrike" noProof="0">
                          <a:solidFill>
                            <a:schemeClr val="accent2"/>
                          </a:solidFill>
                          <a:latin typeface="IBM Plex Sans"/>
                        </a:rPr>
                        <a:t>{{other_desc}}</a:t>
                      </a:r>
                      <a:endParaRPr lang="da-DK" sz="1200" b="0" i="0" u="none" strike="noStrike" noProof="0">
                        <a:solidFill>
                          <a:srgbClr val="000000"/>
                        </a:solidFill>
                        <a:latin typeface="IBM Plex San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bl>
          </a:graphicData>
        </a:graphic>
      </p:graphicFrame>
      <p:sp>
        <p:nvSpPr>
          <p:cNvPr id="14" name="Tekstfelt 13">
            <a:extLst>
              <a:ext uri="{FF2B5EF4-FFF2-40B4-BE49-F238E27FC236}">
                <a16:creationId xmlns:a16="http://schemas.microsoft.com/office/drawing/2014/main" id="{6621372E-99B2-9153-2F88-5157BF16DADB}"/>
              </a:ext>
            </a:extLst>
          </p:cNvPr>
          <p:cNvSpPr txBox="1"/>
          <p:nvPr/>
        </p:nvSpPr>
        <p:spPr>
          <a:xfrm>
            <a:off x="507999" y="1016000"/>
            <a:ext cx="11165399" cy="830997"/>
          </a:xfrm>
          <a:prstGeom prst="rect">
            <a:avLst/>
          </a:prstGeom>
          <a:noFill/>
        </p:spPr>
        <p:txBody>
          <a:bodyPr wrap="square">
            <a:spAutoFit/>
          </a:bodyPr>
          <a:lstStyle/>
          <a:p>
            <a:pPr rtl="0">
              <a:buNone/>
            </a:pPr>
            <a:r>
              <a:rPr lang="da-DK" sz="1200" b="0" i="0" u="none" strike="noStrike" noProof="0">
                <a:solidFill>
                  <a:schemeClr val="tx2"/>
                </a:solidFill>
                <a:effectLst/>
                <a:latin typeface="Inter"/>
              </a:rPr>
              <a:t>De følgende oplysningskrav angiver, virksomhedens afrapportering på negative hændelser som relaterer sig til børnearbejde, tvangsarbejde, menneskehandel og diskrimination. Virksomhed angiver i dette afsnit om ovenstående relateret til egen arbejdsstyrke.</a:t>
            </a:r>
            <a:endParaRPr lang="da-DK" sz="1200" b="0" noProof="0">
              <a:solidFill>
                <a:schemeClr val="tx2"/>
              </a:solidFill>
              <a:effectLst/>
              <a:latin typeface="Inter"/>
            </a:endParaRPr>
          </a:p>
          <a:p>
            <a:pPr>
              <a:buNone/>
            </a:pPr>
            <a:br>
              <a:rPr lang="da-DK" sz="1200" noProof="0">
                <a:solidFill>
                  <a:schemeClr val="tx2"/>
                </a:solidFill>
                <a:latin typeface="Inter"/>
              </a:rPr>
            </a:br>
            <a:endParaRPr lang="da-DK" sz="1200" noProof="0">
              <a:solidFill>
                <a:schemeClr val="tx2"/>
              </a:solidFill>
              <a:latin typeface="Inter"/>
            </a:endParaRPr>
          </a:p>
        </p:txBody>
      </p:sp>
    </p:spTree>
    <p:extLst>
      <p:ext uri="{BB962C8B-B14F-4D97-AF65-F5344CB8AC3E}">
        <p14:creationId xmlns:p14="http://schemas.microsoft.com/office/powerpoint/2010/main" val="37050683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sz="1800" b="1" i="0" u="none" strike="noStrike" kern="1200" spc="-10" noProof="0">
                <a:solidFill>
                  <a:srgbClr val="1B4528"/>
                </a:solidFill>
                <a:latin typeface="+mn-lt"/>
                <a:ea typeface="+mn-ea"/>
                <a:cs typeface="+mn-cs"/>
              </a:rPr>
              <a:t>Alvorlige negative menneskerettighedshændelser (C7</a:t>
            </a:r>
            <a:r>
              <a:rPr lang="da-DK" noProof="0"/>
              <a:t>) – I værdikæden</a:t>
            </a:r>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23</a:t>
            </a:fld>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endParaRPr lang="da-DK" noProof="0"/>
          </a:p>
        </p:txBody>
      </p:sp>
      <p:pic>
        <p:nvPicPr>
          <p:cNvPr id="12" name="Graphic 9">
            <a:extLst>
              <a:ext uri="{FF2B5EF4-FFF2-40B4-BE49-F238E27FC236}">
                <a16:creationId xmlns:a16="http://schemas.microsoft.com/office/drawing/2014/main" id="{4B0E4A81-6D87-9920-AA37-8B4DE23275C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1802" y="4594892"/>
            <a:ext cx="207455" cy="232601"/>
          </a:xfrm>
          <a:prstGeom prst="rect">
            <a:avLst/>
          </a:prstGeom>
        </p:spPr>
      </p:pic>
      <p:graphicFrame>
        <p:nvGraphicFramePr>
          <p:cNvPr id="13" name="Table 2">
            <a:extLst>
              <a:ext uri="{FF2B5EF4-FFF2-40B4-BE49-F238E27FC236}">
                <a16:creationId xmlns:a16="http://schemas.microsoft.com/office/drawing/2014/main" id="{8F64AECA-5641-240D-7A32-215621E37E93}"/>
              </a:ext>
            </a:extLst>
          </p:cNvPr>
          <p:cNvGraphicFramePr>
            <a:graphicFrameLocks noGrp="1"/>
          </p:cNvGraphicFramePr>
          <p:nvPr>
            <p:extLst>
              <p:ext uri="{D42A27DB-BD31-4B8C-83A1-F6EECF244321}">
                <p14:modId xmlns:p14="http://schemas.microsoft.com/office/powerpoint/2010/main" val="643922417"/>
              </p:ext>
            </p:extLst>
          </p:nvPr>
        </p:nvGraphicFramePr>
        <p:xfrm>
          <a:off x="518599" y="1638525"/>
          <a:ext cx="11165399" cy="1863602"/>
        </p:xfrm>
        <a:graphic>
          <a:graphicData uri="http://schemas.openxmlformats.org/drawingml/2006/table">
            <a:tbl>
              <a:tblPr firstRow="1">
                <a:tableStyleId>{2A488322-F2BA-4B5B-9748-0D474271808F}</a:tableStyleId>
              </a:tblPr>
              <a:tblGrid>
                <a:gridCol w="2463177">
                  <a:extLst>
                    <a:ext uri="{9D8B030D-6E8A-4147-A177-3AD203B41FA5}">
                      <a16:colId xmlns:a16="http://schemas.microsoft.com/office/drawing/2014/main" val="1902117154"/>
                    </a:ext>
                  </a:extLst>
                </a:gridCol>
                <a:gridCol w="8702222">
                  <a:extLst>
                    <a:ext uri="{9D8B030D-6E8A-4147-A177-3AD203B41FA5}">
                      <a16:colId xmlns:a16="http://schemas.microsoft.com/office/drawing/2014/main" val="1904521774"/>
                    </a:ext>
                  </a:extLst>
                </a:gridCol>
              </a:tblGrid>
              <a:tr h="302390">
                <a:tc gridSpan="2">
                  <a:txBody>
                    <a:bodyPr/>
                    <a:lstStyle/>
                    <a:p>
                      <a:pPr algn="l"/>
                      <a:r>
                        <a:rPr lang="da-DK" sz="1200" b="1" kern="1200" spc="-10" noProof="0">
                          <a:solidFill>
                            <a:schemeClr val="tx2"/>
                          </a:solidFill>
                          <a:latin typeface="+mn-lt"/>
                          <a:ea typeface="+mn-ea"/>
                          <a:cs typeface="+mn-cs"/>
                        </a:rPr>
                        <a:t>Er virksomheden bekendt med bekræftede negative menneskerettighedshændelser i </a:t>
                      </a:r>
                      <a:r>
                        <a:rPr lang="da-DK" sz="1200" b="1" kern="1200" noProof="0">
                          <a:solidFill>
                            <a:schemeClr val="accent2"/>
                          </a:solidFill>
                          <a:latin typeface="+mn-lt"/>
                          <a:ea typeface="+mn-ea"/>
                          <a:cs typeface="+mn-cs"/>
                        </a:rPr>
                        <a:t>{{company_name}}’s</a:t>
                      </a:r>
                      <a:r>
                        <a:rPr lang="da-DK" sz="1200" b="1" kern="1200" noProof="0">
                          <a:solidFill>
                            <a:schemeClr val="tx2"/>
                          </a:solidFill>
                          <a:latin typeface="+mn-lt"/>
                          <a:ea typeface="+mn-ea"/>
                          <a:cs typeface="+mn-cs"/>
                        </a:rPr>
                        <a:t> </a:t>
                      </a:r>
                      <a:r>
                        <a:rPr lang="da-DK" sz="1200" b="1" kern="1200" spc="-10" noProof="0">
                          <a:solidFill>
                            <a:schemeClr val="tx2"/>
                          </a:solidFill>
                          <a:latin typeface="+mn-lt"/>
                          <a:ea typeface="+mn-ea"/>
                          <a:cs typeface="+mn-cs"/>
                        </a:rPr>
                        <a:t>værdikæde </a:t>
                      </a:r>
                      <a:r>
                        <a:rPr lang="da-DK" sz="1200" b="0" kern="1200" spc="-10" noProof="0">
                          <a:solidFill>
                            <a:schemeClr val="tx2"/>
                          </a:solidFill>
                          <a:latin typeface="+mn-lt"/>
                          <a:ea typeface="+mn-ea"/>
                          <a:cs typeface="+mn-cs"/>
                        </a:rPr>
                        <a:t>(pkt. 62c)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900" b="1"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520404">
                <a:tc>
                  <a:txBody>
                    <a:bodyPr/>
                    <a:lstStyle/>
                    <a:p>
                      <a:pPr algn="l"/>
                      <a:r>
                        <a:rPr lang="da-DK" sz="1200" b="1" kern="1200" spc="-10" noProof="0">
                          <a:solidFill>
                            <a:schemeClr val="tx2"/>
                          </a:solidFill>
                          <a:latin typeface="+mn-lt"/>
                          <a:ea typeface="+mn-ea"/>
                          <a:cs typeface="+mn-cs"/>
                        </a:rPr>
                        <a:t>Arbejdstagere i værdikæden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incidents_workers_value_chain</a:t>
                      </a:r>
                      <a:r>
                        <a:rPr lang="da-DK" sz="1200" b="0" i="0" u="none" strike="noStrike" noProof="0">
                          <a:solidFill>
                            <a:srgbClr val="2D55FF"/>
                          </a:solidFill>
                          <a:effectLst/>
                          <a:latin typeface="Inter"/>
                        </a:rPr>
                        <a:t>}}</a:t>
                      </a:r>
                      <a:endParaRPr lang="da-DK" sz="1200" noProof="0">
                        <a:solidFill>
                          <a:schemeClr val="accent2"/>
                        </a:solidFill>
                        <a:latin typeface="+mn-lt"/>
                        <a:cs typeface="Calibri"/>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520404">
                <a:tc>
                  <a:txBody>
                    <a:bodyPr/>
                    <a:lstStyle/>
                    <a:p>
                      <a:pPr algn="l"/>
                      <a:r>
                        <a:rPr lang="da-DK" sz="1200" b="1" kern="1200" spc="-10" noProof="0">
                          <a:solidFill>
                            <a:schemeClr val="tx2"/>
                          </a:solidFill>
                          <a:latin typeface="+mn-lt"/>
                          <a:ea typeface="+mn-ea"/>
                          <a:cs typeface="+mn-cs"/>
                        </a:rPr>
                        <a:t>Berørte samfund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incidents_affected_communities</a:t>
                      </a:r>
                      <a:r>
                        <a:rPr lang="da-DK" sz="1200" b="0" i="0" u="none" strike="noStrike" noProof="0">
                          <a:solidFill>
                            <a:srgbClr val="2D55FF"/>
                          </a:solidFill>
                          <a:effectLst/>
                          <a:latin typeface="Inter"/>
                        </a:rPr>
                        <a:t>}}</a:t>
                      </a:r>
                      <a:endParaRPr lang="da-DK" sz="1200" kern="1200" noProof="0">
                        <a:solidFill>
                          <a:schemeClr val="accent2"/>
                        </a:solidFill>
                        <a:latin typeface="+mn-lt"/>
                        <a:ea typeface="+mn-ea"/>
                        <a:cs typeface="Calibri"/>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520404">
                <a:tc>
                  <a:txBody>
                    <a:bodyPr/>
                    <a:lstStyle/>
                    <a:p>
                      <a:pPr algn="l"/>
                      <a:r>
                        <a:rPr lang="da-DK" sz="1200" b="1" kern="1200" spc="-10" noProof="0">
                          <a:solidFill>
                            <a:schemeClr val="tx2"/>
                          </a:solidFill>
                          <a:latin typeface="+mn-lt"/>
                          <a:ea typeface="+mn-ea"/>
                          <a:cs typeface="+mn-cs"/>
                        </a:rPr>
                        <a:t>Forbrugere og slutbrugere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incidents_consumers</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414495947"/>
                  </a:ext>
                </a:extLst>
              </a:tr>
            </a:tbl>
          </a:graphicData>
        </a:graphic>
      </p:graphicFrame>
      <p:sp>
        <p:nvSpPr>
          <p:cNvPr id="14" name="Tekstfelt 13">
            <a:extLst>
              <a:ext uri="{FF2B5EF4-FFF2-40B4-BE49-F238E27FC236}">
                <a16:creationId xmlns:a16="http://schemas.microsoft.com/office/drawing/2014/main" id="{242457FC-408B-5451-1EF0-8D381F9C10EE}"/>
              </a:ext>
            </a:extLst>
          </p:cNvPr>
          <p:cNvSpPr txBox="1"/>
          <p:nvPr/>
        </p:nvSpPr>
        <p:spPr>
          <a:xfrm>
            <a:off x="515952" y="1016000"/>
            <a:ext cx="11168048" cy="276999"/>
          </a:xfrm>
          <a:prstGeom prst="rect">
            <a:avLst/>
          </a:prstGeom>
          <a:noFill/>
        </p:spPr>
        <p:txBody>
          <a:bodyPr wrap="square">
            <a:spAutoFit/>
          </a:bodyPr>
          <a:lstStyle/>
          <a:p>
            <a:pPr>
              <a:spcBef>
                <a:spcPts val="900"/>
              </a:spcBef>
            </a:pPr>
            <a:r>
              <a:rPr lang="da-DK" sz="1200" b="0" i="0" u="none" strike="noStrike" noProof="0">
                <a:solidFill>
                  <a:schemeClr val="tx2"/>
                </a:solidFill>
                <a:effectLst/>
                <a:latin typeface="Inter"/>
              </a:rPr>
              <a:t>Nedenfor er </a:t>
            </a:r>
            <a:r>
              <a:rPr lang="da-DK" sz="1200" noProof="0">
                <a:solidFill>
                  <a:schemeClr val="tx2"/>
                </a:solidFill>
                <a:latin typeface="Inter"/>
              </a:rPr>
              <a:t>angivet information om </a:t>
            </a:r>
            <a:r>
              <a:rPr lang="da-DK" sz="1200" b="0" i="0" u="none" strike="noStrike" noProof="0">
                <a:solidFill>
                  <a:schemeClr val="tx2"/>
                </a:solidFill>
                <a:effectLst/>
                <a:latin typeface="Inter"/>
              </a:rPr>
              <a:t>virksomhedens kendskab til bekræftede negative menneskerettighedshændelser i virksomhedens værdikæde.</a:t>
            </a:r>
          </a:p>
        </p:txBody>
      </p:sp>
    </p:spTree>
    <p:extLst>
      <p:ext uri="{BB962C8B-B14F-4D97-AF65-F5344CB8AC3E}">
        <p14:creationId xmlns:p14="http://schemas.microsoft.com/office/powerpoint/2010/main" val="17397921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sz="1800" b="1" i="0" u="none" strike="noStrike" kern="1200" spc="-10" noProof="0">
                <a:solidFill>
                  <a:srgbClr val="1B4528"/>
                </a:solidFill>
              </a:rPr>
              <a:t>Indtægter fra bestemte aktiviteter (C8)</a:t>
            </a:r>
            <a:endParaRPr lang="da-DK"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24</a:t>
            </a:fld>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endParaRPr lang="da-DK"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075469184"/>
              </p:ext>
            </p:extLst>
          </p:nvPr>
        </p:nvGraphicFramePr>
        <p:xfrm>
          <a:off x="518598" y="1425825"/>
          <a:ext cx="11165401" cy="2844591"/>
        </p:xfrm>
        <a:graphic>
          <a:graphicData uri="http://schemas.openxmlformats.org/drawingml/2006/table">
            <a:tbl>
              <a:tblPr firstRow="1">
                <a:tableStyleId>{2A488322-F2BA-4B5B-9748-0D474271808F}</a:tableStyleId>
              </a:tblPr>
              <a:tblGrid>
                <a:gridCol w="7652636">
                  <a:extLst>
                    <a:ext uri="{9D8B030D-6E8A-4147-A177-3AD203B41FA5}">
                      <a16:colId xmlns:a16="http://schemas.microsoft.com/office/drawing/2014/main" val="1902117154"/>
                    </a:ext>
                  </a:extLst>
                </a:gridCol>
                <a:gridCol w="3512765">
                  <a:extLst>
                    <a:ext uri="{9D8B030D-6E8A-4147-A177-3AD203B41FA5}">
                      <a16:colId xmlns:a16="http://schemas.microsoft.com/office/drawing/2014/main" val="1904521774"/>
                    </a:ext>
                  </a:extLst>
                </a:gridCol>
              </a:tblGrid>
              <a:tr h="343833">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kern="1200" spc="-10" noProof="0">
                          <a:solidFill>
                            <a:schemeClr val="tx2"/>
                          </a:solidFill>
                          <a:latin typeface="+mn-lt"/>
                          <a:ea typeface="+mn-ea"/>
                          <a:cs typeface="+mn-cs"/>
                        </a:rPr>
                        <a:t>Indtægter fra udvalgte sektorer</a:t>
                      </a:r>
                      <a:r>
                        <a:rPr lang="da-DK" sz="1200" b="0" kern="1200" spc="-10" noProof="0">
                          <a:solidFill>
                            <a:schemeClr val="tx2"/>
                          </a:solidFill>
                          <a:latin typeface="+mn-lt"/>
                          <a:ea typeface="+mn-ea"/>
                          <a:cs typeface="+mn-cs"/>
                        </a:rPr>
                        <a:t> (Pkt. 63 </a:t>
                      </a:r>
                      <a:r>
                        <a:rPr lang="da-DK" sz="1200" b="0" kern="1200" spc="-10" noProof="0" err="1">
                          <a:solidFill>
                            <a:schemeClr val="tx2"/>
                          </a:solidFill>
                          <a:latin typeface="+mn-lt"/>
                          <a:ea typeface="+mn-ea"/>
                          <a:cs typeface="+mn-cs"/>
                        </a:rPr>
                        <a:t>a-d</a:t>
                      </a:r>
                      <a:r>
                        <a:rPr lang="da-DK" sz="1200" b="0" kern="1200" spc="-10" noProof="0">
                          <a:solidFill>
                            <a:schemeClr val="tx2"/>
                          </a:solidFill>
                          <a:latin typeface="+mn-lt"/>
                          <a:ea typeface="+mn-ea"/>
                          <a:cs typeface="+mn-cs"/>
                        </a:rPr>
                        <a:t>)</a:t>
                      </a:r>
                    </a:p>
                    <a:p>
                      <a:pPr algn="l"/>
                      <a:endParaRPr lang="da-DK" sz="1200" b="0"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1853461323"/>
                  </a:ext>
                </a:extLst>
              </a:tr>
              <a:tr h="343833">
                <a:tc>
                  <a:txBody>
                    <a:bodyPr/>
                    <a:lstStyle/>
                    <a:p>
                      <a:pPr algn="l"/>
                      <a:endParaRPr lang="da-DK" sz="1200" b="0"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1200" b="1" i="0" u="none" strike="noStrike" noProof="0">
                          <a:solidFill>
                            <a:srgbClr val="1B4528"/>
                          </a:solidFill>
                          <a:effectLst/>
                          <a:latin typeface="IBM Plex Sans" panose="020B0503050203000203" pitchFamily="34" charset="0"/>
                        </a:rPr>
                        <a:t>Indtægt i år </a:t>
                      </a:r>
                      <a:r>
                        <a:rPr lang="da-DK" sz="1200" b="1" i="0" u="none" strike="noStrike" noProof="0">
                          <a:solidFill>
                            <a:srgbClr val="2D55FF"/>
                          </a:solidFill>
                          <a:effectLst/>
                          <a:latin typeface="Inter"/>
                        </a:rPr>
                        <a:t>{{</a:t>
                      </a:r>
                      <a:r>
                        <a:rPr lang="da-DK" sz="1200" b="1" i="0" u="none" strike="noStrike" noProof="0" err="1">
                          <a:solidFill>
                            <a:srgbClr val="2D55FF"/>
                          </a:solidFill>
                          <a:effectLst/>
                          <a:latin typeface="Inter"/>
                        </a:rPr>
                        <a:t>Insert</a:t>
                      </a:r>
                      <a:r>
                        <a:rPr lang="da-DK" sz="1200" b="1" i="0" u="none" strike="noStrike" noProof="0">
                          <a:solidFill>
                            <a:srgbClr val="2D55FF"/>
                          </a:solidFill>
                          <a:effectLst/>
                          <a:latin typeface="Inter"/>
                        </a:rPr>
                        <a:t> </a:t>
                      </a:r>
                      <a:r>
                        <a:rPr lang="da-DK" sz="1200" b="1" i="0" u="none" strike="noStrike" noProof="0" err="1">
                          <a:solidFill>
                            <a:srgbClr val="2D55FF"/>
                          </a:solidFill>
                          <a:effectLst/>
                          <a:latin typeface="Inter"/>
                        </a:rPr>
                        <a:t>year</a:t>
                      </a:r>
                      <a:r>
                        <a:rPr lang="da-DK" sz="1200" b="1" i="0" u="none" strike="noStrike" noProof="0">
                          <a:solidFill>
                            <a:srgbClr val="2D55FF"/>
                          </a:solidFill>
                          <a:effectLst/>
                          <a:latin typeface="Inter"/>
                        </a:rPr>
                        <a:t>}}</a:t>
                      </a:r>
                      <a:endParaRPr lang="da-DK" sz="1200" noProof="0">
                        <a:effectLst/>
                      </a:endParaRPr>
                    </a:p>
                  </a:txBody>
                  <a:tcPr marL="38100" marR="38100" marT="25400" marB="254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680761105"/>
                  </a:ext>
                </a:extLst>
              </a:tr>
              <a:tr h="343833">
                <a:tc>
                  <a:txBody>
                    <a:bodyPr/>
                    <a:lstStyle/>
                    <a:p>
                      <a:pPr algn="l"/>
                      <a:r>
                        <a:rPr lang="da-DK" sz="1200" b="1" kern="1200" spc="-10" noProof="0">
                          <a:solidFill>
                            <a:schemeClr val="tx2"/>
                          </a:solidFill>
                          <a:latin typeface="+mn-lt"/>
                          <a:ea typeface="+mn-ea"/>
                          <a:cs typeface="+mn-cs"/>
                        </a:rPr>
                        <a:t>Kontroversielle våben (personelminer, klyngebomber, kemiske våben og biologiske våben)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revenue_weapons</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43833">
                <a:tc>
                  <a:txBody>
                    <a:bodyPr/>
                    <a:lstStyle/>
                    <a:p>
                      <a:pPr algn="l"/>
                      <a:r>
                        <a:rPr lang="da-DK" sz="1200" b="1" kern="1200" spc="-10" noProof="0">
                          <a:solidFill>
                            <a:schemeClr val="tx2"/>
                          </a:solidFill>
                          <a:latin typeface="+mn-lt"/>
                          <a:ea typeface="+mn-ea"/>
                          <a:cs typeface="+mn-cs"/>
                        </a:rPr>
                        <a:t>Dyrkning og/eller produktion af tobak</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revenue_cultivation</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343833">
                <a:tc>
                  <a:txBody>
                    <a:bodyPr/>
                    <a:lstStyle/>
                    <a:p>
                      <a:pPr algn="l"/>
                      <a:r>
                        <a:rPr lang="da-DK" sz="1200" b="1" kern="1200" spc="-10" noProof="0">
                          <a:solidFill>
                            <a:schemeClr val="tx2"/>
                          </a:solidFill>
                          <a:latin typeface="+mn-lt"/>
                          <a:ea typeface="+mn-ea"/>
                          <a:cs typeface="+mn-cs"/>
                        </a:rPr>
                        <a:t>Fossile brændstoffer: Kul</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revenue_coal</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343833">
                <a:tc>
                  <a:txBody>
                    <a:bodyPr/>
                    <a:lstStyle/>
                    <a:p>
                      <a:pPr algn="l"/>
                      <a:r>
                        <a:rPr lang="da-DK" sz="1200" b="1" kern="1200" spc="-10" noProof="0">
                          <a:solidFill>
                            <a:schemeClr val="tx2"/>
                          </a:solidFill>
                          <a:latin typeface="+mn-lt"/>
                          <a:ea typeface="+mn-ea"/>
                          <a:cs typeface="+mn-cs"/>
                        </a:rPr>
                        <a:t>Fossile brændstoffer: Olie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revenue_oil</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343833">
                <a:tc>
                  <a:txBody>
                    <a:bodyPr/>
                    <a:lstStyle/>
                    <a:p>
                      <a:pPr algn="l"/>
                      <a:r>
                        <a:rPr lang="da-DK" sz="1200" b="1" kern="1200" spc="-10" noProof="0">
                          <a:solidFill>
                            <a:schemeClr val="tx2"/>
                          </a:solidFill>
                          <a:latin typeface="+mn-lt"/>
                          <a:ea typeface="+mn-ea"/>
                          <a:cs typeface="+mn-cs"/>
                        </a:rPr>
                        <a:t>Fossile brændstoffer: Gas/Naturgas</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revenue_gas</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343833">
                <a:tc>
                  <a:txBody>
                    <a:bodyPr/>
                    <a:lstStyle/>
                    <a:p>
                      <a:pPr algn="l"/>
                      <a:r>
                        <a:rPr lang="da-DK" sz="1200" b="1" kern="1200" spc="-10" noProof="0">
                          <a:solidFill>
                            <a:schemeClr val="tx2"/>
                          </a:solidFill>
                          <a:latin typeface="+mn-lt"/>
                          <a:ea typeface="+mn-ea"/>
                          <a:cs typeface="+mn-cs"/>
                        </a:rPr>
                        <a:t>Kemikalieproduktion til produktion af pesticider og andre agrokemiske produkter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revenue_chemichal</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4094391"/>
                  </a:ext>
                </a:extLst>
              </a:tr>
            </a:tbl>
          </a:graphicData>
        </a:graphic>
      </p:graphicFrame>
      <p:sp>
        <p:nvSpPr>
          <p:cNvPr id="9" name="Tekstfelt 8">
            <a:extLst>
              <a:ext uri="{FF2B5EF4-FFF2-40B4-BE49-F238E27FC236}">
                <a16:creationId xmlns:a16="http://schemas.microsoft.com/office/drawing/2014/main" id="{919C8F24-DB64-A6E9-713A-0D402DE90CB8}"/>
              </a:ext>
            </a:extLst>
          </p:cNvPr>
          <p:cNvSpPr txBox="1"/>
          <p:nvPr/>
        </p:nvSpPr>
        <p:spPr>
          <a:xfrm>
            <a:off x="518598" y="1016000"/>
            <a:ext cx="11165401" cy="276999"/>
          </a:xfrm>
          <a:prstGeom prst="rect">
            <a:avLst/>
          </a:prstGeom>
          <a:noFill/>
        </p:spPr>
        <p:txBody>
          <a:bodyPr wrap="square">
            <a:spAutoFit/>
          </a:bodyPr>
          <a:lstStyle/>
          <a:p>
            <a:pPr rtl="0">
              <a:buNone/>
            </a:pPr>
            <a:r>
              <a:rPr lang="da-DK" sz="1200" noProof="0">
                <a:solidFill>
                  <a:schemeClr val="tx2"/>
                </a:solidFill>
                <a:latin typeface="Inter"/>
              </a:rPr>
              <a:t>V</a:t>
            </a:r>
            <a:r>
              <a:rPr lang="da-DK" sz="1200" b="0" i="0" u="none" strike="noStrike" noProof="0">
                <a:solidFill>
                  <a:schemeClr val="tx2"/>
                </a:solidFill>
                <a:effectLst/>
                <a:latin typeface="Inter"/>
              </a:rPr>
              <a:t>irksomheden har angivet indtægter fra udvalgte sektorer og angivet beløbsstørrelser fra disse aktiviteter.</a:t>
            </a:r>
            <a:endParaRPr lang="da-DK" noProof="0">
              <a:solidFill>
                <a:schemeClr val="tx2"/>
              </a:solidFill>
            </a:endParaRPr>
          </a:p>
        </p:txBody>
      </p:sp>
      <p:sp>
        <p:nvSpPr>
          <p:cNvPr id="12" name="Title 3">
            <a:extLst>
              <a:ext uri="{FF2B5EF4-FFF2-40B4-BE49-F238E27FC236}">
                <a16:creationId xmlns:a16="http://schemas.microsoft.com/office/drawing/2014/main" id="{36344292-9D49-4ECA-2BB5-0243CF820322}"/>
              </a:ext>
            </a:extLst>
          </p:cNvPr>
          <p:cNvSpPr txBox="1">
            <a:spLocks/>
          </p:cNvSpPr>
          <p:nvPr/>
        </p:nvSpPr>
        <p:spPr>
          <a:xfrm>
            <a:off x="518600" y="4748440"/>
            <a:ext cx="11165400" cy="2492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800" b="1" kern="1200" spc="-10" baseline="0">
                <a:solidFill>
                  <a:schemeClr val="tx2"/>
                </a:solidFill>
                <a:latin typeface="+mj-lt"/>
                <a:ea typeface="+mj-ea"/>
                <a:cs typeface="+mj-cs"/>
              </a:defRPr>
            </a:lvl1pPr>
          </a:lstStyle>
          <a:p>
            <a:r>
              <a:rPr lang="da-DK" noProof="0">
                <a:solidFill>
                  <a:srgbClr val="1B4528"/>
                </a:solidFill>
              </a:rPr>
              <a:t>Kønsfordeling i øverste ledelsesorgan (C9)</a:t>
            </a:r>
            <a:endParaRPr lang="da-DK" noProof="0"/>
          </a:p>
        </p:txBody>
      </p:sp>
      <p:graphicFrame>
        <p:nvGraphicFramePr>
          <p:cNvPr id="13" name="Table 7">
            <a:extLst>
              <a:ext uri="{FF2B5EF4-FFF2-40B4-BE49-F238E27FC236}">
                <a16:creationId xmlns:a16="http://schemas.microsoft.com/office/drawing/2014/main" id="{5010B50D-163D-69DE-999C-3BC9FA39E2D0}"/>
              </a:ext>
            </a:extLst>
          </p:cNvPr>
          <p:cNvGraphicFramePr>
            <a:graphicFrameLocks noGrp="1"/>
          </p:cNvGraphicFramePr>
          <p:nvPr>
            <p:extLst>
              <p:ext uri="{D42A27DB-BD31-4B8C-83A1-F6EECF244321}">
                <p14:modId xmlns:p14="http://schemas.microsoft.com/office/powerpoint/2010/main" val="2206177221"/>
              </p:ext>
            </p:extLst>
          </p:nvPr>
        </p:nvGraphicFramePr>
        <p:xfrm>
          <a:off x="507998" y="5614719"/>
          <a:ext cx="11165399" cy="576000"/>
        </p:xfrm>
        <a:graphic>
          <a:graphicData uri="http://schemas.openxmlformats.org/drawingml/2006/table">
            <a:tbl>
              <a:tblPr firstRow="1">
                <a:tableStyleId>{2A488322-F2BA-4B5B-9748-0D474271808F}</a:tableStyleId>
              </a:tblPr>
              <a:tblGrid>
                <a:gridCol w="7704349">
                  <a:extLst>
                    <a:ext uri="{9D8B030D-6E8A-4147-A177-3AD203B41FA5}">
                      <a16:colId xmlns:a16="http://schemas.microsoft.com/office/drawing/2014/main" val="2698153288"/>
                    </a:ext>
                  </a:extLst>
                </a:gridCol>
                <a:gridCol w="3461050">
                  <a:extLst>
                    <a:ext uri="{9D8B030D-6E8A-4147-A177-3AD203B41FA5}">
                      <a16:colId xmlns:a16="http://schemas.microsoft.com/office/drawing/2014/main" val="2119413191"/>
                    </a:ext>
                  </a:extLst>
                </a:gridCol>
              </a:tblGrid>
              <a:tr h="288000">
                <a:tc rowSpan="2">
                  <a:txBody>
                    <a:bodyPr/>
                    <a:lstStyle/>
                    <a:p>
                      <a:r>
                        <a:rPr lang="da-DK" sz="1200" b="1" kern="1200" spc="-10" noProof="0">
                          <a:solidFill>
                            <a:schemeClr val="tx2"/>
                          </a:solidFill>
                          <a:latin typeface="+mj-lt"/>
                          <a:ea typeface="+mn-ea"/>
                          <a:cs typeface="+mn-cs"/>
                        </a:rPr>
                        <a:t>Forholdet mellem kvinder og mænd i det øverste ledelsesorgan (</a:t>
                      </a:r>
                      <a:r>
                        <a:rPr lang="da-DK" sz="1200" b="0" kern="1200" spc="-10" noProof="0">
                          <a:solidFill>
                            <a:schemeClr val="tx2"/>
                          </a:solidFill>
                          <a:latin typeface="+mj-lt"/>
                          <a:ea typeface="+mn-ea"/>
                          <a:cs typeface="+mn-cs"/>
                        </a:rPr>
                        <a:t>pkt. 64</a:t>
                      </a:r>
                      <a:r>
                        <a:rPr lang="da-DK" sz="1200" b="1" kern="1200" spc="-10" noProof="0">
                          <a:solidFill>
                            <a:schemeClr val="tx2"/>
                          </a:solidFill>
                          <a:latin typeface="+mj-lt"/>
                          <a:ea typeface="+mn-ea"/>
                          <a:cs typeface="+mn-cs"/>
                        </a:rPr>
                        <a:t>)</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a-DK" sz="1200" b="1" noProof="0">
                          <a:solidFill>
                            <a:schemeClr val="tx2"/>
                          </a:solidFill>
                        </a:rPr>
                        <a:t>År </a:t>
                      </a:r>
                      <a:r>
                        <a:rPr lang="da-DK" sz="1200" b="1" i="0" u="none" strike="noStrike" noProof="0">
                          <a:solidFill>
                            <a:srgbClr val="2D55FF"/>
                          </a:solidFill>
                          <a:effectLst/>
                          <a:latin typeface="Inter"/>
                        </a:rPr>
                        <a:t>{{Insert year}}</a:t>
                      </a:r>
                      <a:endParaRPr lang="da-DK" sz="1200" b="1" noProof="0">
                        <a:solidFill>
                          <a:schemeClr val="tx2"/>
                        </a:solidFill>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8000">
                <a:tc vMerge="1">
                  <a:txBody>
                    <a:bodyPr/>
                    <a:lstStyle/>
                    <a:p>
                      <a:endParaRPr lang="da-DK" sz="900" b="0" noProof="0">
                        <a:solidFill>
                          <a:schemeClr val="tx2"/>
                        </a:solidFill>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1200" b="0" noProof="0">
                          <a:solidFill>
                            <a:schemeClr val="accent2"/>
                          </a:solidFill>
                        </a:rPr>
                        <a:t>{{</a:t>
                      </a:r>
                      <a:r>
                        <a:rPr lang="da-DK" sz="1200" b="0" i="0" u="none" strike="noStrike" noProof="0">
                          <a:solidFill>
                            <a:schemeClr val="accent2"/>
                          </a:solidFill>
                          <a:latin typeface="IBM Plex Sans"/>
                        </a:rPr>
                        <a:t>gender_supreme_body</a:t>
                      </a:r>
                      <a:r>
                        <a:rPr lang="da-DK" sz="1200" b="0" noProof="0">
                          <a:solidFill>
                            <a:schemeClr val="accent2"/>
                          </a:solidFill>
                        </a:rPr>
                        <a:t>}}</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sp>
        <p:nvSpPr>
          <p:cNvPr id="19" name="Tekstfelt 18">
            <a:extLst>
              <a:ext uri="{FF2B5EF4-FFF2-40B4-BE49-F238E27FC236}">
                <a16:creationId xmlns:a16="http://schemas.microsoft.com/office/drawing/2014/main" id="{299A6B5A-11F5-BD48-FC7A-B6A967C62C71}"/>
              </a:ext>
            </a:extLst>
          </p:cNvPr>
          <p:cNvSpPr txBox="1"/>
          <p:nvPr/>
        </p:nvSpPr>
        <p:spPr>
          <a:xfrm>
            <a:off x="3049438" y="3248647"/>
            <a:ext cx="6098874" cy="369332"/>
          </a:xfrm>
          <a:prstGeom prst="rect">
            <a:avLst/>
          </a:prstGeom>
          <a:noFill/>
        </p:spPr>
        <p:txBody>
          <a:bodyPr wrap="square">
            <a:spAutoFit/>
          </a:bodyPr>
          <a:lstStyle/>
          <a:p>
            <a:r>
              <a:rPr lang="da-DK" b="0" noProof="0">
                <a:effectLst/>
              </a:rPr>
              <a:t> </a:t>
            </a:r>
            <a:endParaRPr lang="da-DK" noProof="0"/>
          </a:p>
        </p:txBody>
      </p:sp>
      <p:sp>
        <p:nvSpPr>
          <p:cNvPr id="22" name="Tekstfelt 21">
            <a:extLst>
              <a:ext uri="{FF2B5EF4-FFF2-40B4-BE49-F238E27FC236}">
                <a16:creationId xmlns:a16="http://schemas.microsoft.com/office/drawing/2014/main" id="{3F21186B-0691-91C9-5FC9-0771DBEFE852}"/>
              </a:ext>
            </a:extLst>
          </p:cNvPr>
          <p:cNvSpPr txBox="1"/>
          <p:nvPr/>
        </p:nvSpPr>
        <p:spPr>
          <a:xfrm>
            <a:off x="526035" y="5127078"/>
            <a:ext cx="11165401" cy="276999"/>
          </a:xfrm>
          <a:prstGeom prst="rect">
            <a:avLst/>
          </a:prstGeom>
          <a:noFill/>
        </p:spPr>
        <p:txBody>
          <a:bodyPr wrap="square">
            <a:spAutoFit/>
          </a:bodyPr>
          <a:lstStyle/>
          <a:p>
            <a:pPr rtl="0">
              <a:buNone/>
            </a:pPr>
            <a:r>
              <a:rPr lang="da-DK" sz="1200" noProof="0">
                <a:solidFill>
                  <a:schemeClr val="tx2"/>
                </a:solidFill>
                <a:latin typeface="Inter"/>
              </a:rPr>
              <a:t>V</a:t>
            </a:r>
            <a:r>
              <a:rPr lang="da-DK" sz="1200" b="0" i="0" u="none" strike="noStrike" noProof="0">
                <a:solidFill>
                  <a:schemeClr val="tx2"/>
                </a:solidFill>
                <a:effectLst/>
                <a:latin typeface="Inter"/>
              </a:rPr>
              <a:t>irksomheden har angivet forholdet mellem kvinder og mænd i det øverste ledelsesorgan.</a:t>
            </a:r>
          </a:p>
        </p:txBody>
      </p:sp>
    </p:spTree>
    <p:extLst>
      <p:ext uri="{BB962C8B-B14F-4D97-AF65-F5344CB8AC3E}">
        <p14:creationId xmlns:p14="http://schemas.microsoft.com/office/powerpoint/2010/main" val="3739817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237B3177-8AE4-2BCB-D392-E3B969EBBB7B}"/>
              </a:ext>
            </a:extLst>
          </p:cNvPr>
          <p:cNvSpPr>
            <a:spLocks noGrp="1"/>
          </p:cNvSpPr>
          <p:nvPr>
            <p:ph idx="1"/>
          </p:nvPr>
        </p:nvSpPr>
        <p:spPr>
          <a:xfrm>
            <a:off x="4402137" y="4447433"/>
            <a:ext cx="3449638" cy="1034319"/>
          </a:xfrm>
          <a:noFill/>
        </p:spPr>
        <p:txBody>
          <a:bodyPr>
            <a:normAutofit/>
          </a:bodyPr>
          <a:lstStyle/>
          <a:p>
            <a:pPr algn="ctr"/>
            <a:r>
              <a:rPr lang="da-DK" sz="1800" b="1" noProof="0">
                <a:solidFill>
                  <a:srgbClr val="FFFFFF"/>
                </a:solidFill>
                <a:latin typeface="IBM Plex Sans" panose="020B0503050203000203" pitchFamily="34" charset="0"/>
              </a:rPr>
              <a:t>{{</a:t>
            </a:r>
            <a:r>
              <a:rPr lang="da-DK" sz="1800" b="1" noProof="0" err="1">
                <a:solidFill>
                  <a:srgbClr val="FFFFFF"/>
                </a:solidFill>
                <a:latin typeface="IBM Plex Sans" panose="020B0503050203000203" pitchFamily="34" charset="0"/>
              </a:rPr>
              <a:t>company_name</a:t>
            </a:r>
            <a:r>
              <a:rPr lang="da-DK" sz="1800" b="1" noProof="0">
                <a:solidFill>
                  <a:srgbClr val="FFFFFF"/>
                </a:solidFill>
                <a:latin typeface="IBM Plex Sans" panose="020B0503050203000203" pitchFamily="34" charset="0"/>
              </a:rPr>
              <a:t>}}</a:t>
            </a:r>
          </a:p>
          <a:p>
            <a:pPr algn="ctr"/>
            <a:r>
              <a:rPr lang="da-DK" sz="1800" b="1" noProof="0">
                <a:solidFill>
                  <a:srgbClr val="FFFFFF"/>
                </a:solidFill>
                <a:latin typeface="IBM Plex Sans" panose="020B0503050203000203" pitchFamily="34" charset="0"/>
              </a:rPr>
              <a:t>{{</a:t>
            </a:r>
            <a:r>
              <a:rPr lang="da-DK" sz="1800" b="1" noProof="0" err="1">
                <a:solidFill>
                  <a:srgbClr val="FFFFFF"/>
                </a:solidFill>
                <a:latin typeface="IBM Plex Sans" panose="020B0503050203000203" pitchFamily="34" charset="0"/>
              </a:rPr>
              <a:t>insert_year</a:t>
            </a:r>
            <a:r>
              <a:rPr lang="da-DK" sz="1800" b="1" noProof="0">
                <a:solidFill>
                  <a:srgbClr val="FFFFFF"/>
                </a:solidFill>
                <a:latin typeface="IBM Plex Sans" panose="020B0503050203000203" pitchFamily="34" charset="0"/>
              </a:rPr>
              <a:t>}}</a:t>
            </a:r>
            <a:br>
              <a:rPr lang="da-DK" sz="1800" b="1" noProof="0">
                <a:solidFill>
                  <a:srgbClr val="FFFFFF"/>
                </a:solidFill>
                <a:latin typeface="IBM Plex Sans" panose="020B0503050203000203" pitchFamily="34" charset="0"/>
              </a:rPr>
            </a:br>
            <a:endParaRPr lang="da-DK" sz="1800" noProof="0"/>
          </a:p>
        </p:txBody>
      </p:sp>
      <p:sp>
        <p:nvSpPr>
          <p:cNvPr id="4" name="Pladsholder til slidenummer 3">
            <a:extLst>
              <a:ext uri="{FF2B5EF4-FFF2-40B4-BE49-F238E27FC236}">
                <a16:creationId xmlns:a16="http://schemas.microsoft.com/office/drawing/2014/main" id="{48F46A40-E7BB-3909-2FA6-1A954E10A816}"/>
              </a:ext>
            </a:extLst>
          </p:cNvPr>
          <p:cNvSpPr>
            <a:spLocks noGrp="1"/>
          </p:cNvSpPr>
          <p:nvPr>
            <p:ph type="sldNum" sz="quarter" idx="16"/>
          </p:nvPr>
        </p:nvSpPr>
        <p:spPr>
          <a:xfrm>
            <a:off x="9180000" y="6450239"/>
            <a:ext cx="2743200" cy="153888"/>
          </a:xfrm>
        </p:spPr>
        <p:txBody>
          <a:bodyPr/>
          <a:lstStyle/>
          <a:p>
            <a:fld id="{5A0D23CF-C5A3-5445-819D-C647D180BB4B}" type="slidenum">
              <a:rPr lang="da-DK" noProof="0" smtClean="0"/>
              <a:pPr/>
              <a:t>25</a:t>
            </a:fld>
            <a:endParaRPr lang="da-DK" noProof="0"/>
          </a:p>
        </p:txBody>
      </p:sp>
    </p:spTree>
    <p:extLst>
      <p:ext uri="{BB962C8B-B14F-4D97-AF65-F5344CB8AC3E}">
        <p14:creationId xmlns:p14="http://schemas.microsoft.com/office/powerpoint/2010/main" val="3140708205"/>
      </p:ext>
    </p:extLst>
  </p:cSld>
  <p:clrMapOvr>
    <a:masterClrMapping/>
  </p:clrMapOvr>
</p:sld>
</file>

<file path=ppt/theme/theme1.xml><?xml version="1.0" encoding="utf-8"?>
<a:theme xmlns:a="http://schemas.openxmlformats.org/drawingml/2006/main" name="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Custom 19">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5F7D69"/>
        </a:solidFill>
        <a:ln>
          <a:noFill/>
        </a:ln>
      </a:spPr>
      <a:bodyPr lIns="126000" tIns="108000" rIns="108000" bIns="144000" rtlCol="0" anchor="t" anchorCtr="0"/>
      <a:lstStyle>
        <a:defPPr algn="l">
          <a:lnSpc>
            <a:spcPct val="106000"/>
          </a:lnSpc>
          <a:defRPr sz="900" spc="-10" dirty="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lnSpc>
            <a:spcPct val="120000"/>
          </a:lnSpc>
          <a:defRPr sz="900" spc="-10" dirty="0" smtClean="0">
            <a:solidFill>
              <a:schemeClr val="bg1"/>
            </a:solidFill>
          </a:defRPr>
        </a:defPPr>
      </a:lstStyle>
    </a:txDef>
  </a:objectDefaults>
  <a:extraClrSchemeLst/>
  <a:custClrLst>
    <a:custClr name="Grøn 100%">
      <a:srgbClr val="1B4529"/>
    </a:custClr>
    <a:custClr name="Grøn 90%">
      <a:srgbClr val="32583E"/>
    </a:custClr>
    <a:custClr name="Grøn 80%">
      <a:srgbClr val="496A54"/>
    </a:custClr>
    <a:custClr name="Grøn 70%">
      <a:srgbClr val="5F7D69"/>
    </a:custClr>
    <a:custClr name="Grøn 60%">
      <a:srgbClr val="768F7F"/>
    </a:custClr>
    <a:custClr name="Grøn 50%">
      <a:srgbClr val="8DA294"/>
    </a:custClr>
    <a:custClr name="Grøn 40%">
      <a:srgbClr val="A4B5A9"/>
    </a:custClr>
    <a:custClr name="Grøn 30%">
      <a:srgbClr val="BBC7BF"/>
    </a:custClr>
    <a:custClr name="Grøn 20%">
      <a:srgbClr val="D1DAD4"/>
    </a:custClr>
    <a:custClr name="Grøn 10%">
      <a:srgbClr val="E8ECEA"/>
    </a:custClr>
  </a:custClrLst>
  <a:extLst>
    <a:ext uri="{05A4C25C-085E-4340-85A3-A5531E510DB2}">
      <thm15:themeFamily xmlns:thm15="http://schemas.microsoft.com/office/thememl/2012/main" name="Tema ESG skabelon 2023" id="{4F616B44-E23C-9D4B-A414-B698B6CB0592}" vid="{C1CEAE3D-34EF-BE45-B60E-4DC3BCA22C44}"/>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4C5C98558ED72C4BBCB756F8247CFA4C" ma:contentTypeVersion="18" ma:contentTypeDescription="Opret et nyt dokument." ma:contentTypeScope="" ma:versionID="05a2f073985d4662672e64bc9a421606">
  <xsd:schema xmlns:xsd="http://www.w3.org/2001/XMLSchema" xmlns:xs="http://www.w3.org/2001/XMLSchema" xmlns:p="http://schemas.microsoft.com/office/2006/metadata/properties" xmlns:ns2="a1c42b88-5e29-4fe4-8139-416e072a19cb" xmlns:ns3="202ccbda-223a-4645-9097-be5f8cdf3aa6" xmlns:ns4="43a5b9ff-ef68-4e08-86c8-07b185fdc818" targetNamespace="http://schemas.microsoft.com/office/2006/metadata/properties" ma:root="true" ma:fieldsID="50f1595d426bd689bc07261444f354ae" ns2:_="" ns3:_="" ns4:_="">
    <xsd:import namespace="a1c42b88-5e29-4fe4-8139-416e072a19cb"/>
    <xsd:import namespace="202ccbda-223a-4645-9097-be5f8cdf3aa6"/>
    <xsd:import namespace="43a5b9ff-ef68-4e08-86c8-07b185fdc818"/>
    <xsd:element name="properties">
      <xsd:complexType>
        <xsd:sequence>
          <xsd:element name="documentManagement">
            <xsd:complexType>
              <xsd:all>
                <xsd:element ref="ns2:MediaServiceMetadata" minOccurs="0"/>
                <xsd:element ref="ns2:MediaServiceFastMetadata"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DateTaken"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indhold"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c42b88-5e29-4fe4-8139-416e072a19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Length (seconds)" ma:internalName="MediaLengthInSeconds" ma:readOnly="true">
      <xsd:simpleType>
        <xsd:restriction base="dms:Unknow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Billedmærker" ma:readOnly="false" ma:fieldId="{5cf76f15-5ced-4ddc-b409-7134ff3c332f}" ma:taxonomyMulti="true" ma:sspId="5bc8fd69-a729-4468-93ff-8d64956d1ba4" ma:termSetId="09814cd3-568e-fe90-9814-8d621ff8fb84" ma:anchorId="fba54fb3-c3e1-fe81-a776-ca4b69148c4d" ma:open="true" ma:isKeyword="false">
      <xsd:complexType>
        <xsd:sequence>
          <xsd:element ref="pc:Terms" minOccurs="0" maxOccurs="1"/>
        </xsd:sequence>
      </xsd:complex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indhold" ma:index="22" nillable="true" ma:displayName="indhold" ma:format="Dropdown" ma:internalName="indhold">
      <xsd:simpleType>
        <xsd:restriction base="dms:Text">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02ccbda-223a-4645-9097-be5f8cdf3aa6" elementFormDefault="qualified">
    <xsd:import namespace="http://schemas.microsoft.com/office/2006/documentManagement/types"/>
    <xsd:import namespace="http://schemas.microsoft.com/office/infopath/2007/PartnerControls"/>
    <xsd:element name="SharedWithUsers" ma:index="11"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Delt med detaljer"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3a5b9ff-ef68-4e08-86c8-07b185fdc818"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a2a80f0-0fad-4372-b264-33bf0361a80c}" ma:internalName="TaxCatchAll" ma:showField="CatchAllData" ma:web="202ccbda-223a-4645-9097-be5f8cdf3a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43a5b9ff-ef68-4e08-86c8-07b185fdc818" xsi:nil="true"/>
    <indhold xmlns="a1c42b88-5e29-4fe4-8139-416e072a19cb" xsi:nil="true"/>
    <lcf76f155ced4ddcb4097134ff3c332f xmlns="a1c42b88-5e29-4fe4-8139-416e072a19cb">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C3C50CC-B1F2-4B3E-8326-2BA1B8993967}">
  <ds:schemaRefs>
    <ds:schemaRef ds:uri="202ccbda-223a-4645-9097-be5f8cdf3aa6"/>
    <ds:schemaRef ds:uri="43a5b9ff-ef68-4e08-86c8-07b185fdc818"/>
    <ds:schemaRef ds:uri="a1c42b88-5e29-4fe4-8139-416e072a19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12C55C2-A88D-45C1-99A2-B6C1D18AED07}">
  <ds:schemaRefs>
    <ds:schemaRef ds:uri="43a5b9ff-ef68-4e08-86c8-07b185fdc818"/>
    <ds:schemaRef ds:uri="a1c42b88-5e29-4fe4-8139-416e072a19cb"/>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C7C2DE4E-10FC-4FD7-BA3A-6232093B728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25</Slides>
  <Notes>21</Notes>
  <HiddenSlides>0</HiddenSlides>
  <ScaleCrop>false</ScaleCrop>
  <HeadingPairs>
    <vt:vector size="4" baseType="variant">
      <vt:variant>
        <vt:lpstr>Tema</vt:lpstr>
      </vt:variant>
      <vt:variant>
        <vt:i4>1</vt:i4>
      </vt:variant>
      <vt:variant>
        <vt:lpstr>Slidetitler</vt:lpstr>
      </vt:variant>
      <vt:variant>
        <vt:i4>25</vt:i4>
      </vt:variant>
    </vt:vector>
  </HeadingPairs>
  <TitlesOfParts>
    <vt:vector size="26" baseType="lpstr">
      <vt:lpstr>Tema ESG skabelon 2023</vt:lpstr>
      <vt:lpstr>OPGØRELSE {{insert_year}}</vt:lpstr>
      <vt:lpstr>ESG opgørelse  </vt:lpstr>
      <vt:lpstr>Grundlag for udarbejdelse (B1) </vt:lpstr>
      <vt:lpstr>Grundlag for udarbejdelse (B1) - fortsat</vt:lpstr>
      <vt:lpstr>Indsatser, politikker og fremtidige initiativer for omstilling til en mere bæredygtig økonomi (B2)</vt:lpstr>
      <vt:lpstr>Energiforbrug (B3)</vt:lpstr>
      <vt:lpstr>Forurening af luft, vand og jord (B4)</vt:lpstr>
      <vt:lpstr>Vand (B6)</vt:lpstr>
      <vt:lpstr>Ressourceforbrug, cirkulær økonomi og affaldshåndtering (B7) – fortsat</vt:lpstr>
      <vt:lpstr>Egen arbejdsstyrke: Generelle karakteristika (B8) </vt:lpstr>
      <vt:lpstr>Egen arbejdsstyrke: Sundhed og sikkerhed (B9)</vt:lpstr>
      <vt:lpstr>Virksomhedsadfærd: Antal domme og bøder i relation til korruption &amp; bestikkelse (B11) </vt:lpstr>
      <vt:lpstr>PowerPoint-præsentation</vt:lpstr>
      <vt:lpstr>Strategi: Forretningsmodel og bæredygtighedsrelaterede initiativer (C1)</vt:lpstr>
      <vt:lpstr>Indsatser, politikker og fremtidige initiativer for omstilling til en mere bæredygtig økonomi (C2)</vt:lpstr>
      <vt:lpstr>CO₂e-udledning under B3 i Basismodulet</vt:lpstr>
      <vt:lpstr>Klimaomstilling (C3)</vt:lpstr>
      <vt:lpstr>Klimarisici (C4)</vt:lpstr>
      <vt:lpstr>Klimarisici (C4) - fortsat</vt:lpstr>
      <vt:lpstr>Supplerende (generelle) oplysninger om arbejdsstyrken (C5)</vt:lpstr>
      <vt:lpstr>Menneskerettighedspolitikker og -processer (C6) - Egen arbejdsstyrke</vt:lpstr>
      <vt:lpstr>Alvorlige negative menneskerettighedshændelser (C7) – Egen arbejdsstyrke</vt:lpstr>
      <vt:lpstr>Alvorlige negative menneskerettighedshændelser (C7) – I værdikæden</vt:lpstr>
      <vt:lpstr>Indtægter fra bestemte aktiviteter (C8)</vt:lpstr>
      <vt:lpstr>PowerPoint-præsentation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25</cp:revision>
  <dcterms:created xsi:type="dcterms:W3CDTF">2025-02-28T18:51:17Z</dcterms:created>
  <dcterms:modified xsi:type="dcterms:W3CDTF">2026-08-06T18:12:10Z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0x0101004C5C98558ED72C4BBCB756F8247CFA4C</vt:lpwstr>
  </property>
  <property fmtid="{D5CDD505-2E9C-101B-9397-08002B2CF9AE}" pid="3" name="MediaServiceImageTags">
    <vt:lpwstr/>
  </property>
</Properties>
</file>