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4"/>
  </p:sldMasterIdLst>
  <p:notesMasterIdLst>
    <p:notesMasterId r:id="rId24"/>
  </p:notesMasterIdLst>
  <p:sldIdLst>
    <p:sldId id="258" r:id="rId5"/>
    <p:sldId id="331" r:id="rId6"/>
    <p:sldId id="355" r:id="rId7"/>
    <p:sldId id="314" r:id="rId8"/>
    <p:sldId id="327" r:id="rId9"/>
    <p:sldId id="316" r:id="rId10"/>
    <p:sldId id="300" r:id="rId11"/>
    <p:sldId id="301" r:id="rId12"/>
    <p:sldId id="307" r:id="rId13"/>
    <p:sldId id="335" r:id="rId14"/>
    <p:sldId id="334" r:id="rId15"/>
    <p:sldId id="337" r:id="rId16"/>
    <p:sldId id="339" r:id="rId17"/>
    <p:sldId id="352" r:id="rId18"/>
    <p:sldId id="356" r:id="rId19"/>
    <p:sldId id="345" r:id="rId20"/>
    <p:sldId id="342" r:id="rId21"/>
    <p:sldId id="348" r:id="rId22"/>
    <p:sldId id="272" r:id="rId23"/>
  </p:sldIdLst>
  <p:sldSz cx="7559675" cy="1069181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Forfatter" initials="A" userId="Author" providerId="AD"/>
  <p188:author id="{5A717729-70A1-A95A-729B-0270D7318E5A}" name="Amanda Simonsen" initials="AS" userId="S::amanda.simonsen@cphchangery.dk::11aad7e9-3369-4d2e-bd33-a826dd209a06" providerId="AD"/>
  <p188:author id="{95582667-6102-27E7-ED8E-01A166EB4B6B}" name="Guest User" initials="GU" userId="Guest User" providerId="Windows Live"/>
  <p188:author id="{D710FB69-54CF-AFDB-ADF5-2ED737B81BDA}" name="Nicolai Petersen" initials="NP" userId="6925884bbfe4e3a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7477"/>
    <a:srgbClr val="D1DAD4"/>
    <a:srgbClr val="0000FF"/>
    <a:srgbClr val="1B4529"/>
    <a:srgbClr val="FFFF99"/>
    <a:srgbClr val="1B24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39" d="100"/>
          <a:sy n="39" d="100"/>
        </p:scale>
        <p:origin x="21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BM Plex Sans" panose="020B0503050203000203" pitchFamily="34" charset="0"/>
              </a:defRPr>
            </a:lvl1pPr>
          </a:lstStyle>
          <a:p>
            <a:endParaRPr lang="it-IT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BM Plex Sans" panose="020B0503050203000203" pitchFamily="34" charset="0"/>
              </a:defRPr>
            </a:lvl1pPr>
          </a:lstStyle>
          <a:p>
            <a:fld id="{12DFE416-DAD6-D749-857D-2E29C861AEBD}" type="datetimeFigureOut">
              <a:rPr lang="it-IT" smtClean="0"/>
              <a:pPr/>
              <a:t>12/08/2026</a:t>
            </a:fld>
            <a:endParaRPr lang="it-IT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 xml:space="preserve">Secondo livello</a:t>
            </a:r>
          </a:p>
          <a:p>
            <a:pPr lvl="2"/>
            <a:r>
              <a:rPr lang="it-IT"/>
              <a:t xml:space="preserve">Terzo livello</a:t>
            </a:r>
          </a:p>
          <a:p>
            <a:pPr lvl="3"/>
            <a:r>
              <a:rPr lang="it-IT"/>
              <a:t xml:space="preserve">Quarto livello</a:t>
            </a:r>
          </a:p>
          <a:p>
            <a:pPr lvl="4"/>
            <a:r>
              <a:rPr lang="it-IT"/>
              <a:t xml:space="preserve">Quinto livello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BM Plex Sans" panose="020B0503050203000203" pitchFamily="34" charset="0"/>
              </a:defRPr>
            </a:lvl1pPr>
          </a:lstStyle>
          <a:p>
            <a:endParaRPr lang="it-IT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BM Plex Sans" panose="020B0503050203000203" pitchFamily="34" charset="0"/>
              </a:defRPr>
            </a:lvl1pPr>
          </a:lstStyle>
          <a:p>
            <a:fld id="{45BFCFCE-5A78-CB4C-8592-F27D9484E3BD}" type="slidenum">
              <a:rPr lang="it-IT" smtClean="0"/>
              <a:pPr/>
              <a:t>‹nr.›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0237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4952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1039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9604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 xml:space="preserve">Rimosso: 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{{documents_B2}}</a:t>
            </a:r>
          </a:p>
          <a:p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Aggiunto: colonna sul monitoraggio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/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/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/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/>
            </a:r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0092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/>
              <a:t xml:space="preserve">Rimosso: 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{{Insert_CO2e_intensity}}</a:t>
            </a:r>
            <a:endParaRPr lang="it-IT" b="0">
              <a:effectLst/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8348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/>
              <a:t xml:space="preserve">Rimosso: 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{{uploaded_documents_B4}}</a:t>
            </a:r>
            <a:endParaRPr lang="it-IT" b="0">
              <a:effectLst/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428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38095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/>
              <a:t xml:space="preserve">Rimosso: 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{{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omsatningsrate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}}</a:t>
            </a:r>
            <a:endParaRPr lang="it-IT" b="0">
              <a:effectLst/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4382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125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291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3064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52046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80621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65479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65479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/>
              <a:t xml:space="preserve">Aggiunto da B8: 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{{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omsatningsrate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}}</a:t>
            </a:r>
            <a:endParaRPr lang="it-IT" b="0">
              <a:effectLst/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2370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templ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2E31B1D-D5FA-1144-A6D9-FDFA19DD3A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7725" y="1422386"/>
            <a:ext cx="2071467" cy="44400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it-IT" noProof="0"/>
              <a:t>Click</a:t>
            </a:r>
            <a:r>
              <a:rPr lang="it-IT" noProof="0"/>
              <a:t> to </a:t>
            </a:r>
            <a:r>
              <a:rPr lang="it-IT" noProof="0"/>
              <a:t>edit</a:t>
            </a:r>
            <a:r>
              <a:rPr lang="it-IT" noProof="0"/>
              <a:t> Master </a:t>
            </a:r>
            <a:r>
              <a:rPr lang="it-IT" noProof="0"/>
              <a:t>text</a:t>
            </a:r>
            <a:r>
              <a:rPr lang="it-IT" noProof="0"/>
              <a:t>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1EF6F5B-4C89-A089-DA32-6A1686CD0B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76401" y="1422387"/>
            <a:ext cx="2071466" cy="44400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it-IT" noProof="0"/>
              <a:t>Click</a:t>
            </a:r>
            <a:r>
              <a:rPr lang="it-IT" noProof="0"/>
              <a:t> to </a:t>
            </a:r>
            <a:r>
              <a:rPr lang="it-IT" noProof="0"/>
              <a:t>edit</a:t>
            </a:r>
            <a:r>
              <a:rPr lang="it-IT" noProof="0"/>
              <a:t> Master </a:t>
            </a:r>
            <a:r>
              <a:rPr lang="it-IT" noProof="0"/>
              <a:t>text</a:t>
            </a:r>
            <a:r>
              <a:rPr lang="it-IT" noProof="0"/>
              <a:t>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9F0AB-3484-3BD8-5F17-C0910484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9057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med billedebaggr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G wordmark"/>
          <p:cNvSpPr txBox="1"/>
          <p:nvPr/>
        </p:nvSpPr>
        <p:spPr>
          <a:xfrm>
            <a:off x="365760" y="2537424"/>
            <a:ext cx="6828155" cy="222834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GB" sz="12900" b="1" spc="-322" dirty="0">
                <a:solidFill>
                  <a:srgbClr val="FFFFFF"/>
                </a:solidFill>
                <a:latin typeface="+mn-lt"/>
              </a:rPr>
              <a:t>ESG</a:t>
            </a:r>
            <a:endParaRPr lang="en-GB" sz="12900" b="1" spc="-322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5E44590-AE8B-6098-6E3A-22BBF073CF8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184109" y="6707538"/>
            <a:ext cx="3052354" cy="234336"/>
          </a:xfrm>
        </p:spPr>
        <p:txBody>
          <a:bodyPr/>
          <a:lstStyle>
            <a:lvl1pPr algn="ctr">
              <a:defRPr sz="1150">
                <a:solidFill>
                  <a:schemeClr val="bg1"/>
                </a:solidFill>
              </a:defRPr>
            </a:lvl1pPr>
          </a:lstStyle>
          <a:p>
            <a:r>
              <a:rPr lang="it-IT"/>
              <a:t xml:space="preserve">CLICCARE PER INSERIRE IL NOME DELL’IMPRESA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3676786-DF78-2A13-71BF-8354606B0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4701" y="6237584"/>
            <a:ext cx="5915802" cy="152274"/>
          </a:xfrm>
        </p:spPr>
        <p:txBody>
          <a:bodyPr/>
          <a:lstStyle>
            <a:lvl1pPr algn="ctr">
              <a:defRPr sz="900" spc="300">
                <a:solidFill>
                  <a:schemeClr val="bg1"/>
                </a:solidFill>
              </a:defRPr>
            </a:lvl1pPr>
          </a:lstStyle>
          <a:p>
            <a:r>
              <a:rPr lang="it-IT"/>
              <a:t xml:space="preserve">INSERIRE IL TITOLO</a:t>
            </a:r>
          </a:p>
        </p:txBody>
      </p:sp>
    </p:spTree>
    <p:extLst>
      <p:ext uri="{BB962C8B-B14F-4D97-AF65-F5344CB8AC3E}">
        <p14:creationId xmlns:p14="http://schemas.microsoft.com/office/powerpoint/2010/main" val="2290891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G opgørel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358A1A1-81A1-00B9-5F3F-17B9B899E5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3975" y="1381944"/>
            <a:ext cx="2687561" cy="4470221"/>
          </a:xfrm>
        </p:spPr>
        <p:txBody>
          <a:bodyPr/>
          <a:lstStyle>
            <a:lvl1pPr marL="0" indent="0">
              <a:lnSpc>
                <a:spcPct val="129000"/>
              </a:lnSpc>
              <a:spcAft>
                <a:spcPts val="0"/>
              </a:spcAft>
              <a:buNone/>
              <a:tabLst>
                <a:tab pos="239990" algn="l"/>
                <a:tab pos="389984" algn="l"/>
                <a:tab pos="3419863" algn="r"/>
              </a:tabLst>
              <a:defRPr sz="725">
                <a:solidFill>
                  <a:schemeClr val="tx2"/>
                </a:solidFill>
              </a:defRPr>
            </a:lvl1pPr>
          </a:lstStyle>
          <a:p>
            <a:pPr lvl="0"/>
            <a:r>
              <a:rPr lang="it-IT" noProof="0"/>
              <a:t>Click</a:t>
            </a:r>
            <a:r>
              <a:rPr lang="it-IT" noProof="0"/>
              <a:t> to </a:t>
            </a:r>
            <a:r>
              <a:rPr lang="it-IT" noProof="0"/>
              <a:t>edit</a:t>
            </a:r>
            <a:r>
              <a:rPr lang="it-IT" noProof="0"/>
              <a:t> Master </a:t>
            </a:r>
            <a:r>
              <a:rPr lang="it-IT" noProof="0"/>
              <a:t>text</a:t>
            </a:r>
            <a:r>
              <a:rPr lang="it-IT" noProof="0"/>
              <a:t> styles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DD3249A-9EA8-2D06-EED5-368B4A0246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34311" y="1374025"/>
            <a:ext cx="2687561" cy="4470220"/>
          </a:xfrm>
        </p:spPr>
        <p:txBody>
          <a:bodyPr/>
          <a:lstStyle>
            <a:lvl1pPr marL="0" indent="0">
              <a:lnSpc>
                <a:spcPct val="129000"/>
              </a:lnSpc>
              <a:spcAft>
                <a:spcPts val="0"/>
              </a:spcAft>
              <a:buNone/>
              <a:tabLst>
                <a:tab pos="239990" algn="l"/>
                <a:tab pos="389984" algn="l"/>
                <a:tab pos="3419863" algn="r"/>
              </a:tabLst>
              <a:defRPr sz="725">
                <a:solidFill>
                  <a:schemeClr val="tx2"/>
                </a:solidFill>
              </a:defRPr>
            </a:lvl1pPr>
          </a:lstStyle>
          <a:p>
            <a:pPr lvl="0"/>
            <a:r>
              <a:rPr lang="it-IT" noProof="0"/>
              <a:t>Click</a:t>
            </a:r>
            <a:r>
              <a:rPr lang="it-IT" noProof="0"/>
              <a:t> to </a:t>
            </a:r>
            <a:r>
              <a:rPr lang="it-IT" noProof="0"/>
              <a:t>edit</a:t>
            </a:r>
            <a:r>
              <a:rPr lang="it-IT" noProof="0"/>
              <a:t> Master </a:t>
            </a:r>
            <a:r>
              <a:rPr lang="it-IT" noProof="0"/>
              <a:t>text</a:t>
            </a:r>
            <a:r>
              <a:rPr lang="it-IT" noProof="0"/>
              <a:t>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7BA12-0C2B-874F-CB3D-A69B54828ED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it-IT"/>
              <a:t xml:space="preserve">CLICCARE PER INSERIRE IL NOME DELL’IMPRESA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8E22E3-1CE9-39F0-37B9-6694C2F99A8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A0D23CF-C5A3-5445-819D-C647D180BB4B}" type="slidenum">
              <a:rPr lang="it-IT" smtClean="0"/>
              <a:pPr/>
              <a:t>‹nr.›</a:t>
            </a:fld>
            <a:endParaRPr lang="it-IT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EC510F1-C32E-301D-A9BE-CDD982DB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2085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B499-BDA0-E170-C4FB-7C73F109F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>Click</a:t>
            </a:r>
            <a:r>
              <a:rPr lang="it-IT" noProof="0"/>
              <a:t> to </a:t>
            </a:r>
            <a:r>
              <a:rPr lang="it-IT" noProof="0"/>
              <a:t>edit</a:t>
            </a:r>
            <a:r>
              <a:rPr lang="it-IT" noProof="0"/>
              <a:t> Master </a:t>
            </a:r>
            <a:r>
              <a:rPr lang="it-IT" noProof="0"/>
              <a:t>title</a:t>
            </a:r>
            <a:r>
              <a:rPr lang="it-IT" noProof="0"/>
              <a:t>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623CC7-2A44-6728-81B8-5D1C36C8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78E23B-9CAA-A290-D3B6-2404D06E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 xml:space="preserve">CLICCARE PER INSERIRE IL NOME DELL’IMPRESA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16B95B-509A-04EA-4971-5BB7A30A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‹nr.›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832852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tningsslide">
    <p:bg>
      <p:bgPr>
        <a:solidFill>
          <a:srgbClr val="1B4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FF3099D-2911-2DC2-30C9-600914A49C9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54701" y="2186263"/>
            <a:ext cx="5915802" cy="1217034"/>
          </a:xfrm>
          <a:solidFill>
            <a:srgbClr val="1B4529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67"/>
              </a:spcBef>
              <a:buFontTx/>
              <a:buNone/>
              <a:defRPr sz="900">
                <a:solidFill>
                  <a:schemeClr val="bg1"/>
                </a:solidFill>
              </a:defRPr>
            </a:lvl1pPr>
            <a:lvl2pPr marL="149994" indent="0">
              <a:buFontTx/>
              <a:buNone/>
              <a:defRPr sz="900">
                <a:solidFill>
                  <a:schemeClr val="bg1"/>
                </a:solidFill>
              </a:defRPr>
            </a:lvl2pPr>
            <a:lvl3pPr marL="419983" indent="-134995">
              <a:defRPr sz="900">
                <a:solidFill>
                  <a:schemeClr val="bg1"/>
                </a:solidFill>
              </a:defRPr>
            </a:lvl3pPr>
            <a:lvl4pPr marL="584977" indent="-134995">
              <a:defRPr sz="900">
                <a:solidFill>
                  <a:schemeClr val="bg1"/>
                </a:solidFill>
              </a:defRPr>
            </a:lvl4pPr>
            <a:lvl5pPr marL="719971" indent="-134995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it-IT" noProof="0"/>
              <a:t xml:space="preserve">Inserire le informazioni sull’impresa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F97A03-6A5A-CE52-A825-964660171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noProof="0"/>
              <a:t>Click</a:t>
            </a:r>
            <a:r>
              <a:rPr lang="it-IT" noProof="0"/>
              <a:t> to </a:t>
            </a:r>
            <a:r>
              <a:rPr lang="it-IT" noProof="0"/>
              <a:t>edit</a:t>
            </a:r>
            <a:r>
              <a:rPr lang="it-IT" noProof="0"/>
              <a:t> Master </a:t>
            </a:r>
            <a:r>
              <a:rPr lang="it-IT" noProof="0"/>
              <a:t>title</a:t>
            </a:r>
            <a:r>
              <a:rPr lang="it-IT" noProof="0"/>
              <a:t>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0ED9E13-9DB5-7219-D300-DD32B15B25D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noProof="0"/>
              <a:t xml:space="preserve">CLICCARE PER INSERIRE IL NOME DELL’IMPRESA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5AA5A7D-770A-67C5-6EFF-8AD1F28FC2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fld id="{5A0D23CF-C5A3-5445-819D-C647D180BB4B}" type="slidenum">
              <a:rPr lang="it-IT" noProof="0" smtClean="0"/>
              <a:pPr/>
              <a:t>‹nr.›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3483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B61CC4E-F6A2-4C3F-CE7B-BB195B240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975" y="1422668"/>
            <a:ext cx="6583503" cy="44398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 noProof="0"/>
              <a:t>Click to edit Master text styles</a:t>
            </a:r>
          </a:p>
          <a:p>
            <a:pPr lvl="1"/>
            <a:r>
              <a:rPr lang="it-IT" noProof="0"/>
              <a:t xml:space="preserve">Secondo livello</a:t>
            </a:r>
          </a:p>
          <a:p>
            <a:pPr lvl="2"/>
            <a:r>
              <a:rPr lang="it-IT" noProof="0"/>
              <a:t xml:space="preserve">Terzo livello</a:t>
            </a:r>
          </a:p>
          <a:p>
            <a:pPr lvl="3"/>
            <a:r>
              <a:rPr lang="it-IT" noProof="0"/>
              <a:t xml:space="preserve">Quarto livello</a:t>
            </a:r>
          </a:p>
          <a:p>
            <a:pPr lvl="4"/>
            <a:r>
              <a:rPr lang="it-IT" noProof="0"/>
              <a:t xml:space="preserve">Quinto livello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550164C-751B-845B-9F9B-5F2B4F1FB4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6685" y="10152285"/>
            <a:ext cx="1617485" cy="1282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25">
                <a:solidFill>
                  <a:srgbClr val="5F7D69"/>
                </a:solidFill>
                <a:latin typeface="IBM Plex Sans" panose="020B0503050203000203" pitchFamily="34" charset="0"/>
              </a:defRPr>
            </a:lvl1pPr>
          </a:lstStyle>
          <a:p>
            <a:endParaRPr lang="it-IT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AB68935-0A2D-A618-8989-FB93D3127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00661" y="365760"/>
            <a:ext cx="2147858" cy="1282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825" b="1">
                <a:solidFill>
                  <a:srgbClr val="5F7D69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it-IT"/>
              <a:t xml:space="preserve">CLICCARE PER INSERIRE IL NOME DELL’IMPRESA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7E57B8E-CD4B-57B4-607F-20E2BE60D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31035" y="10152285"/>
            <a:ext cx="1617485" cy="1282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825">
                <a:solidFill>
                  <a:schemeClr val="tx2">
                    <a:alpha val="70000"/>
                  </a:schemeClr>
                </a:solidFill>
                <a:latin typeface="IBM Plex Sans" panose="020B0503050203000203" pitchFamily="34" charset="0"/>
              </a:defRPr>
            </a:lvl1pPr>
          </a:lstStyle>
          <a:p>
            <a:fld id="{5A0D23CF-C5A3-5445-819D-C647D180BB4B}" type="slidenum">
              <a:rPr lang="it-IT" smtClean="0"/>
              <a:pPr/>
              <a:t>‹nr.›</a:t>
            </a:fld>
            <a:endParaRPr lang="it-IT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8788DFCC-4D37-4C1B-5213-E1D68A373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976" y="751839"/>
            <a:ext cx="6583504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it-IT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5313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1" r:id="rId2"/>
    <p:sldLayoutId id="2147483694" r:id="rId3"/>
    <p:sldLayoutId id="2147483696" r:id="rId4"/>
    <p:sldLayoutId id="2147483690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475" b="1" kern="1200" spc="-1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59998" indent="-59998" algn="l" defTabSz="914400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Char char="•"/>
        <a:defRPr sz="725" b="0" kern="1200" spc="-10" baseline="0">
          <a:solidFill>
            <a:schemeClr val="tx2"/>
          </a:solidFill>
          <a:latin typeface="+mn-lt"/>
          <a:ea typeface="+mn-ea"/>
          <a:cs typeface="+mn-cs"/>
        </a:defRPr>
      </a:lvl1pPr>
      <a:lvl2pPr marL="119995" indent="-59998" algn="l" defTabSz="914400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Char char="•"/>
        <a:defRPr sz="725" kern="1200" spc="-10" baseline="0">
          <a:solidFill>
            <a:schemeClr val="tx2"/>
          </a:solidFill>
          <a:latin typeface="+mn-lt"/>
          <a:ea typeface="+mn-ea"/>
          <a:cs typeface="+mn-cs"/>
        </a:defRPr>
      </a:lvl2pPr>
      <a:lvl3pPr marL="179993" indent="-59998" algn="l" defTabSz="914400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Char char="•"/>
        <a:defRPr sz="725" kern="1200" spc="-10" baseline="0">
          <a:solidFill>
            <a:schemeClr val="tx2"/>
          </a:solidFill>
          <a:latin typeface="+mn-lt"/>
          <a:ea typeface="+mn-ea"/>
          <a:cs typeface="+mn-cs"/>
        </a:defRPr>
      </a:lvl3pPr>
      <a:lvl4pPr marL="239990" indent="-59998" algn="l" defTabSz="914400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Char char="•"/>
        <a:defRPr sz="725" kern="1200" spc="-10" baseline="0">
          <a:solidFill>
            <a:schemeClr val="tx2"/>
          </a:solidFill>
          <a:latin typeface="+mn-lt"/>
          <a:ea typeface="+mn-ea"/>
          <a:cs typeface="+mn-cs"/>
        </a:defRPr>
      </a:lvl4pPr>
      <a:lvl5pPr marL="299988" indent="-59998" algn="l" defTabSz="914400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Char char="•"/>
        <a:defRPr sz="725" kern="1200" spc="-10" baseline="0">
          <a:solidFill>
            <a:schemeClr val="tx2"/>
          </a:solidFill>
          <a:latin typeface="+mn-lt"/>
          <a:ea typeface="+mn-ea"/>
          <a:cs typeface="+mn-cs"/>
        </a:defRPr>
      </a:lvl5pPr>
      <a:lvl6pPr marL="2095416" indent="-190492" algn="l" defTabSz="91440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475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91440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475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91440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475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91440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4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320" userDrawn="1">
          <p15:clr>
            <a:srgbClr val="F26B43"/>
          </p15:clr>
        </p15:guide>
        <p15:guide id="4" pos="2533" userDrawn="1">
          <p15:clr>
            <a:srgbClr val="F26B43"/>
          </p15:clr>
        </p15:guide>
        <p15:guide id="5" pos="2733" userDrawn="1">
          <p15:clr>
            <a:srgbClr val="F26B43"/>
          </p15:clr>
        </p15:guide>
        <p15:guide id="6" pos="4946" userDrawn="1">
          <p15:clr>
            <a:srgbClr val="F26B43"/>
          </p15:clr>
        </p15:guide>
        <p15:guide id="7" pos="5146" userDrawn="1">
          <p15:clr>
            <a:srgbClr val="F26B43"/>
          </p15:clr>
        </p15:guide>
        <p15:guide id="8" pos="7360" userDrawn="1">
          <p15:clr>
            <a:srgbClr val="F26B43"/>
          </p15:clr>
        </p15:guide>
        <p15:guide id="9" orient="horz" userDrawn="1">
          <p15:clr>
            <a:srgbClr val="F26B43"/>
          </p15:clr>
        </p15:guide>
        <p15:guide id="10" orient="horz" pos="4320" userDrawn="1">
          <p15:clr>
            <a:srgbClr val="F26B43"/>
          </p15:clr>
        </p15:guide>
        <p15:guide id="11" orient="horz" pos="320" userDrawn="1">
          <p15:clr>
            <a:srgbClr val="F26B43"/>
          </p15:clr>
        </p15:guide>
        <p15:guide id="12" orient="horz" pos="4000" userDrawn="1">
          <p15:clr>
            <a:srgbClr val="F26B43"/>
          </p15:clr>
        </p15:guide>
        <p15:guide id="13" orient="horz" pos="6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2A8525A-459C-C975-663E-23EF33D3B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6237584"/>
            <a:ext cx="6737040" cy="126952"/>
          </a:xfrm>
        </p:spPr>
        <p:txBody>
          <a:bodyPr/>
          <a:lstStyle/>
          <a:p>
            <a:r>
              <a:rPr lang="it-IT" noProof="0"/>
              <a:t xml:space="preserve">RELAZIONE ESG {{insert_year}}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E8629-539E-87AE-7B49-CC26832ADC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1480" y="6707538"/>
            <a:ext cx="6737040" cy="234336"/>
          </a:xfrm>
        </p:spPr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</p:txBody>
      </p:sp>
    </p:spTree>
    <p:extLst>
      <p:ext uri="{BB962C8B-B14F-4D97-AF65-F5344CB8AC3E}">
        <p14:creationId xmlns:p14="http://schemas.microsoft.com/office/powerpoint/2010/main" val="2428557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1FDDEE7-C270-1824-E7E0-80B15F3FD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34189"/>
            <a:ext cx="6737040" cy="415482"/>
          </a:xfrm>
        </p:spPr>
        <p:txBody>
          <a:bodyPr/>
          <a:lstStyle/>
          <a:p>
            <a:r>
              <a:rPr lang="it-IT" noProof="0"/>
              <a:t xml:space="preserve">Relazione ESG</a:t>
            </a:r>
            <a:r>
              <a:rPr lang="it-IT" b="0" noProof="0">
                <a:solidFill>
                  <a:srgbClr val="1B4528"/>
                </a:solidFill>
                <a:ea typeface="+mn-ea"/>
                <a:cs typeface="+mn-cs"/>
              </a:rPr>
              <a:t> </a:t>
            </a:r>
            <a:br>
              <a:rPr lang="it-IT" b="0" noProof="0">
                <a:solidFill>
                  <a:srgbClr val="1B4528"/>
                </a:solidFill>
                <a:ea typeface="+mn-ea"/>
                <a:cs typeface="+mn-cs"/>
              </a:rPr>
            </a:br>
            <a:endParaRPr lang="it-IT" b="0" noProof="0">
              <a:solidFill>
                <a:srgbClr val="1B4528"/>
              </a:solidFill>
              <a:ea typeface="+mn-ea"/>
              <a:cs typeface="+mn-cs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4D83B42-66BB-638E-55C1-84FD1F7A83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1480" y="877124"/>
            <a:ext cx="6598920" cy="4470221"/>
          </a:xfrm>
        </p:spPr>
        <p:txBody>
          <a:bodyPr/>
          <a:lstStyle/>
          <a:p>
            <a:pPr>
              <a:lnSpc>
                <a:spcPct val="150000"/>
              </a:lnSpc>
              <a:tabLst>
                <a:tab pos="239439" algn="l"/>
                <a:tab pos="388922" algn="l"/>
                <a:tab pos="3737091" algn="r"/>
              </a:tabLst>
            </a:pPr>
            <a:endParaRPr lang="it-IT" sz="975" b="1" noProof="0" dirty="0">
              <a:latin typeface="+mj-lt"/>
            </a:endParaRPr>
          </a:p>
          <a:p>
            <a:pPr>
              <a:lnSpc>
                <a:spcPct val="150000"/>
              </a:lnSpc>
              <a:tabLst>
                <a:tab pos="239439" algn="l"/>
                <a:tab pos="388922" algn="l"/>
                <a:tab pos="3737091" algn="r"/>
              </a:tabLst>
            </a:pPr>
            <a:endParaRPr lang="it-IT" sz="975" b="1" noProof="0" dirty="0"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Informazioni generali				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kern="1200" spc="-1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 xml:space="preserve">Pratiche, politiche e iniziative per un’economia più sostenibile	</a:t>
            </a:r>
            <a:endParaRPr lang="it-IT" sz="975" b="1" noProof="0" dirty="0"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Consumo di energia				</a:t>
            </a:r>
            <a:endParaRPr lang="it-IT" sz="975" noProof="0" dirty="0"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Emissioni di CO₂e 				</a:t>
            </a:r>
            <a:endParaRPr lang="it-IT" sz="975" noProof="0" dirty="0"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Inquinamento di aria, acqua e suolo</a:t>
            </a:r>
            <a:r>
              <a:rPr lang="it-IT" sz="975" noProof="0">
                <a:latin typeface="+mj-lt"/>
              </a:rPr>
              <a:t>				</a:t>
            </a: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Biodiversità</a:t>
            </a:r>
            <a:r>
              <a:rPr lang="it-IT" sz="975" noProof="0">
                <a:latin typeface="+mj-lt"/>
              </a:rPr>
              <a:t>				</a:t>
            </a: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Acque	</a:t>
            </a:r>
            <a:r>
              <a:rPr lang="it-IT" sz="975" noProof="0">
                <a:latin typeface="+mj-lt"/>
              </a:rPr>
              <a:t> 			</a:t>
            </a: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Uso delle risorse, economia circolare e gestione dei rifiuti</a:t>
            </a:r>
            <a:r>
              <a:rPr lang="it-IT" sz="975" noProof="0">
                <a:latin typeface="+mj-lt"/>
              </a:rPr>
              <a:t>				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Forza lavoro propria: caratteristiche generali</a:t>
            </a:r>
            <a:r>
              <a:rPr lang="it-IT" sz="975" noProof="0">
                <a:latin typeface="+mj-lt"/>
              </a:rPr>
              <a:t>				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Forza lavoro propria: salute e sicurezza</a:t>
            </a:r>
            <a:r>
              <a:rPr lang="it-IT" sz="975" noProof="0">
                <a:latin typeface="+mj-lt"/>
              </a:rPr>
              <a:t>				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Forza lavoro: retribuzione, contrattazione collettiva e formazione</a:t>
            </a:r>
            <a:r>
              <a:rPr lang="it-IT" sz="975" noProof="0">
                <a:latin typeface="+mj-lt"/>
              </a:rPr>
              <a:t>		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Condotta delle imprese</a:t>
            </a:r>
            <a:r>
              <a:rPr lang="it-IT" sz="975" noProof="0">
                <a:latin typeface="+mj-lt"/>
              </a:rPr>
              <a:t>	 			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Strategia: modello aziendale e iniziative connesse alla sostenibilità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Pratiche, politiche e iniziative future per la transizione verso un’economia più sostenibile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Obiettivi di riduzione delle emissioni di CO₂e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Transizione climatica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Rischi climatici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Altre caratteristiche (generali) della forza lavoro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Politiche e procedure in materia di diritti umani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Incidenti gravi in materia di diritti umani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Ricavi da determinate attività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Diversità di genere nell’organo di governance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>
              <a:tabLst>
                <a:tab pos="239439" algn="l"/>
                <a:tab pos="388922" algn="l"/>
                <a:tab pos="3737091" algn="r"/>
              </a:tabLst>
            </a:pPr>
            <a:endParaRPr lang="it-IT" sz="975" noProof="0" dirty="0">
              <a:latin typeface="+mj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AAC2A-0E1A-03B9-5DD7-E396252E7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11480" y="365760"/>
            <a:ext cx="6737040" cy="128235"/>
          </a:xfrm>
        </p:spPr>
        <p:txBody>
          <a:bodyPr/>
          <a:lstStyle/>
          <a:p>
            <a:r>
              <a:rPr lang="it-IT" noProof="0"/>
              <a:t>{{company_name}}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AF64D3B-AE78-BA15-5D3D-CEE341066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3853152" y="10152285"/>
            <a:ext cx="3295368" cy="128235"/>
          </a:xfrm>
        </p:spPr>
        <p:txBody>
          <a:bodyPr/>
          <a:lstStyle/>
          <a:p>
            <a:fld id="{5A0D23CF-C5A3-5445-819D-C647D180BB4B}" type="slidenum">
              <a:rPr lang="it-IT" noProof="0" smtClean="0"/>
              <a:pPr/>
              <a:t>2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720570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05890"/>
            <a:ext cx="6737040" cy="207741"/>
          </a:xfrm>
        </p:spPr>
        <p:txBody>
          <a:bodyPr/>
          <a:lstStyle/>
          <a:p>
            <a:r>
              <a:rPr lang="it-IT" noProof="0"/>
              <a:t xml:space="preserve">Criteri per la redazione (B1) 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ACC1DA0-DFDE-C844-7562-0528953EC068}"/>
              </a:ext>
            </a:extLst>
          </p:cNvPr>
          <p:cNvSpPr txBox="1">
            <a:spLocks/>
          </p:cNvSpPr>
          <p:nvPr/>
        </p:nvSpPr>
        <p:spPr>
          <a:xfrm>
            <a:off x="411480" y="3496881"/>
            <a:ext cx="3295368" cy="143157"/>
          </a:xfrm>
          <a:prstGeom prst="rect">
            <a:avLst/>
          </a:prstGeom>
        </p:spPr>
        <p:txBody>
          <a:bodyPr lIns="0" tIns="0" rIns="0" bIns="0"/>
          <a:lstStyle>
            <a:lvl1pPr marL="59998" indent="-59998" algn="l" defTabSz="914400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25" b="0" kern="1200" spc="-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19995" indent="-59998" algn="l" defTabSz="914400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25" kern="1200" spc="-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9993" indent="-59998" algn="l" defTabSz="914400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25" kern="1200" spc="-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39990" indent="-59998" algn="l" defTabSz="914400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25" kern="1200" spc="-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99988" indent="-59998" algn="l" defTabSz="914400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25" kern="1200" spc="-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95416" indent="-190492" algn="l" defTabSz="91440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4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76401" indent="-190492" algn="l" defTabSz="91440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4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386" indent="-190492" algn="l" defTabSz="91440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4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38370" indent="-190492" algn="l" defTabSz="91440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4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it-IT" noProof="0">
              <a:solidFill>
                <a:srgbClr val="1B4528"/>
              </a:solidFill>
            </a:endParaRPr>
          </a:p>
        </p:txBody>
      </p:sp>
      <p:graphicFrame>
        <p:nvGraphicFramePr>
          <p:cNvPr id="16" name="Table 2">
            <a:extLst>
              <a:ext uri="{FF2B5EF4-FFF2-40B4-BE49-F238E27FC236}">
                <a16:creationId xmlns:a16="http://schemas.microsoft.com/office/drawing/2014/main" id="{693470FC-B633-430A-0791-18B9C81D0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47983"/>
              </p:ext>
            </p:extLst>
          </p:nvPr>
        </p:nvGraphicFramePr>
        <p:xfrm>
          <a:off x="411480" y="5409544"/>
          <a:ext cx="3295368" cy="962864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523870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1771498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</a:tblGrid>
              <a:tr h="374670"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Elenco delle filiazioni incluse nella presente relazione ESG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27d)</a:t>
                      </a:r>
                      <a:endParaRPr lang="it-IT" sz="975" b="0" i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383809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Denominazione della filiazione 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Sede legale della filiazione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204385"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{{subsidiary}}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subsidiary_address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 dirty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10152285"/>
            <a:ext cx="6737040" cy="128235"/>
          </a:xfrm>
        </p:spPr>
        <p:txBody>
          <a:bodyPr/>
          <a:lstStyle/>
          <a:p>
            <a:fld id="{5A0D23CF-C5A3-5445-819D-C647D180BB4B}" type="slidenum">
              <a:rPr lang="it-IT" noProof="0" smtClean="0"/>
              <a:pPr/>
              <a:t>3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80" y="365760"/>
            <a:ext cx="6737040" cy="128235"/>
          </a:xfrm>
        </p:spPr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graphicFrame>
        <p:nvGraphicFramePr>
          <p:cNvPr id="2" name="Table 12">
            <a:extLst>
              <a:ext uri="{FF2B5EF4-FFF2-40B4-BE49-F238E27FC236}">
                <a16:creationId xmlns:a16="http://schemas.microsoft.com/office/drawing/2014/main" id="{AA61E98C-E974-CA6B-E7E0-7ED257077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128672"/>
              </p:ext>
            </p:extLst>
          </p:nvPr>
        </p:nvGraphicFramePr>
        <p:xfrm>
          <a:off x="411480" y="4091258"/>
          <a:ext cx="3295368" cy="1178841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775619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519749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219319">
                <a:tc gridSpan="2"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Relazione individuale o consolidata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 (punto 27c)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725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4843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relazione è stata redatta su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base individuale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(ossia non copre eventuali filiazioni)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{{yes_subsidiary?}}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345905"/>
                  </a:ext>
                </a:extLst>
              </a:tr>
              <a:tr h="4751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relazione è stata redatta su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base consolidata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(ossia include le filiazioni dell’impresa) 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{{no_subsidiary?}}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514074"/>
                  </a:ext>
                </a:extLst>
              </a:tr>
            </a:tbl>
          </a:graphicData>
        </a:graphic>
      </p:graphicFrame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C0F79360-A773-09D0-5119-A3FDBC3F6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1190"/>
              </p:ext>
            </p:extLst>
          </p:nvPr>
        </p:nvGraphicFramePr>
        <p:xfrm>
          <a:off x="411480" y="2459885"/>
          <a:ext cx="3295368" cy="139816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780615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514753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374670">
                <a:tc gridSpan="2">
                  <a:txBody>
                    <a:bodyPr/>
                    <a:lstStyle/>
                    <a:p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Modulo base, o modulo base +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modulo onnicomprensivo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27a)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725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4843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relazione è basata sul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modulo base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del principio volontario per le PMI 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{{basic_module?}}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345905"/>
                  </a:ext>
                </a:extLst>
              </a:tr>
              <a:tr h="539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relazione è basata sul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modulo base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e sul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modulo onnicomprensivo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del principio volontario per le PMI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{{comprehensive?}}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514074"/>
                  </a:ext>
                </a:extLst>
              </a:tr>
            </a:tbl>
          </a:graphicData>
        </a:graphic>
      </p:graphicFrame>
      <p:sp>
        <p:nvSpPr>
          <p:cNvPr id="10" name="Tekstfelt 9">
            <a:extLst>
              <a:ext uri="{FF2B5EF4-FFF2-40B4-BE49-F238E27FC236}">
                <a16:creationId xmlns:a16="http://schemas.microsoft.com/office/drawing/2014/main" id="{08CE8BB8-760E-14A7-E273-1C19DEAB1C88}"/>
              </a:ext>
            </a:extLst>
          </p:cNvPr>
          <p:cNvSpPr txBox="1"/>
          <p:nvPr/>
        </p:nvSpPr>
        <p:spPr>
          <a:xfrm>
            <a:off x="411480" y="1287528"/>
            <a:ext cx="6737040" cy="84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redatto la propria relazione sulla sostenibilità secondo il principio VSME, che segue un approccio strutturato per garantire che le informazioni necessarie siano comunicate in modo standardizzato e trasparente. La relazione rispecchia i moduli di sostenibilità selezionati e applicati dall’impresa. Si indica inoltre se la relazione sulla sostenibilità è redatta su base individuale (soli dati dell’impresa) o su base consolidata. La presente sezione contiene informazioni di base sull’impresa, ad esempio la forma giuridica, i codici NACE, l’entità dello stato patrimoniale e i ricavi, il numero di dipendenti, nonché il paese delle operazioni primarie e l’ubicazione di altri attivi significativi.</a:t>
            </a:r>
            <a:endParaRPr lang="it-IT" sz="975" b="0" noProof="0">
              <a:solidFill>
                <a:schemeClr val="tx2"/>
              </a:solidFill>
              <a:effectLst/>
            </a:endParaRPr>
          </a:p>
        </p:txBody>
      </p:sp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34E7B75C-B2E3-1B8A-2080-FEF363E73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828815"/>
              </p:ext>
            </p:extLst>
          </p:nvPr>
        </p:nvGraphicFramePr>
        <p:xfrm>
          <a:off x="3853152" y="4091258"/>
          <a:ext cx="3295368" cy="228115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523870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1771498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</a:tblGrid>
              <a:tr h="290275">
                <a:tc gridSpan="2"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Informazioni di base sull’impresa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(punto 27e, i-v)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4274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Forma giuridica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{{branchekode}}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31749" marR="31749" marT="21166" marB="2116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  <a:tr h="4274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Codice/i NACE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{{NACE}}</a:t>
                      </a:r>
                      <a:endParaRPr lang="it-IT" sz="975" noProof="0">
                        <a:effectLst/>
                      </a:endParaRPr>
                    </a:p>
                  </a:txBody>
                  <a:tcPr marL="31749" marR="31749" marT="21166" marB="2116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256071"/>
                  </a:ext>
                </a:extLst>
              </a:tr>
              <a:tr h="4182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Totale attivo (EUR)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{{balance}}</a:t>
                      </a:r>
                      <a:endParaRPr lang="it-IT" sz="975" noProof="0">
                        <a:effectLst/>
                      </a:endParaRPr>
                    </a:p>
                  </a:txBody>
                  <a:tcPr marL="31749" marR="31749" marT="21166" marB="2116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156864"/>
                  </a:ext>
                </a:extLst>
              </a:tr>
              <a:tr h="4274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Ricavi (EUR)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{{revenue}}</a:t>
                      </a:r>
                      <a:endParaRPr lang="it-IT" sz="975" noProof="0">
                        <a:effectLst/>
                      </a:endParaRPr>
                    </a:p>
                  </a:txBody>
                  <a:tcPr marL="31749" marR="31749" marT="21166" marB="2116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682954"/>
                  </a:ext>
                </a:extLst>
              </a:tr>
              <a:tr h="29027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N. di dipendenti 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{{total_employees}}</a:t>
                      </a:r>
                      <a:endParaRPr lang="it-IT" sz="975" noProof="0">
                        <a:effectLst/>
                      </a:endParaRPr>
                    </a:p>
                  </a:txBody>
                  <a:tcPr marL="31749" marR="31749" marT="21166" marB="2116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571433"/>
                  </a:ext>
                </a:extLst>
              </a:tr>
            </a:tbl>
          </a:graphicData>
        </a:graphic>
      </p:graphicFrame>
      <p:graphicFrame>
        <p:nvGraphicFramePr>
          <p:cNvPr id="17" name="Tabel 16">
            <a:extLst>
              <a:ext uri="{FF2B5EF4-FFF2-40B4-BE49-F238E27FC236}">
                <a16:creationId xmlns:a16="http://schemas.microsoft.com/office/drawing/2014/main" id="{13BBF8C9-04F7-33C5-AAA0-F953F0D5D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799974"/>
              </p:ext>
            </p:extLst>
          </p:nvPr>
        </p:nvGraphicFramePr>
        <p:xfrm>
          <a:off x="3853152" y="2463605"/>
          <a:ext cx="3295368" cy="139444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523870">
                  <a:extLst>
                    <a:ext uri="{9D8B030D-6E8A-4147-A177-3AD203B41FA5}">
                      <a16:colId xmlns:a16="http://schemas.microsoft.com/office/drawing/2014/main" val="613205895"/>
                    </a:ext>
                  </a:extLst>
                </a:gridCol>
                <a:gridCol w="1771498">
                  <a:extLst>
                    <a:ext uri="{9D8B030D-6E8A-4147-A177-3AD203B41FA5}">
                      <a16:colId xmlns:a16="http://schemas.microsoft.com/office/drawing/2014/main" val="2415866723"/>
                    </a:ext>
                  </a:extLst>
                </a:gridCol>
              </a:tblGrid>
              <a:tr h="545610">
                <a:tc gridSpan="2"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relazione ESG contiene omissioni dovute a informazioni commerciali sensibili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27b)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069134"/>
                  </a:ext>
                </a:extLst>
              </a:tr>
              <a:tr h="8488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25" b="0" kern="1200" spc="-1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Le informative seguenti sono state omesse</a:t>
                      </a:r>
                    </a:p>
                    <a:p>
                      <a:pPr algn="l"/>
                      <a:endParaRPr lang="it-IT" sz="725" b="1" kern="1200" spc="-1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975" noProof="0">
                          <a:solidFill>
                            <a:srgbClr val="1B4528"/>
                          </a:solidFill>
                          <a:latin typeface="+mn-lt"/>
                          <a:cs typeface="Calibri" panose="020F0502020204030204" pitchFamily="34" charset="0"/>
                        </a:rPr>
                        <a:t>{{</a:t>
                      </a:r>
                      <a:r>
                        <a:rPr lang="it-IT" sz="975" noProof="0">
                          <a:solidFill>
                            <a:srgbClr val="1B4528"/>
                          </a:solidFill>
                          <a:latin typeface="+mn-lt"/>
                          <a:cs typeface="Calibri" panose="020F0502020204030204" pitchFamily="34" charset="0"/>
                        </a:rPr>
                        <a:t>confidentiality_info</a:t>
                      </a:r>
                      <a:r>
                        <a:rPr lang="it-IT" sz="975" noProof="0">
                          <a:solidFill>
                            <a:srgbClr val="1B4528"/>
                          </a:solidFill>
                          <a:latin typeface="+mn-lt"/>
                          <a:cs typeface="Calibri" panose="020F0502020204030204" pitchFamily="34" charset="0"/>
                        </a:rPr>
                        <a:t>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898051"/>
                  </a:ext>
                </a:extLst>
              </a:tr>
            </a:tbl>
          </a:graphicData>
        </a:graphic>
      </p:graphicFrame>
      <p:pic>
        <p:nvPicPr>
          <p:cNvPr id="7" name="Graphic 10">
            <a:extLst>
              <a:ext uri="{FF2B5EF4-FFF2-40B4-BE49-F238E27FC236}">
                <a16:creationId xmlns:a16="http://schemas.microsoft.com/office/drawing/2014/main" id="{B7787C85-A727-F625-AB96-75DC598E5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6507074"/>
            <a:ext cx="6737040" cy="193826"/>
          </a:xfrm>
          <a:prstGeom prst="rect">
            <a:avLst/>
          </a:prstGeom>
        </p:spPr>
      </p:pic>
      <p:graphicFrame>
        <p:nvGraphicFramePr>
          <p:cNvPr id="11" name="Tabel 10">
            <a:extLst>
              <a:ext uri="{FF2B5EF4-FFF2-40B4-BE49-F238E27FC236}">
                <a16:creationId xmlns:a16="http://schemas.microsoft.com/office/drawing/2014/main" id="{B9D30E23-F89B-8050-32F5-223B5B3C1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782911"/>
              </p:ext>
            </p:extLst>
          </p:nvPr>
        </p:nvGraphicFramePr>
        <p:xfrm>
          <a:off x="411480" y="9144051"/>
          <a:ext cx="6737040" cy="686106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316045">
                  <a:extLst>
                    <a:ext uri="{9D8B030D-6E8A-4147-A177-3AD203B41FA5}">
                      <a16:colId xmlns:a16="http://schemas.microsoft.com/office/drawing/2014/main" val="3746818765"/>
                    </a:ext>
                  </a:extLst>
                </a:gridCol>
                <a:gridCol w="2222875">
                  <a:extLst>
                    <a:ext uri="{9D8B030D-6E8A-4147-A177-3AD203B41FA5}">
                      <a16:colId xmlns:a16="http://schemas.microsoft.com/office/drawing/2014/main" val="465692987"/>
                    </a:ext>
                  </a:extLst>
                </a:gridCol>
                <a:gridCol w="1172530">
                  <a:extLst>
                    <a:ext uri="{9D8B030D-6E8A-4147-A177-3AD203B41FA5}">
                      <a16:colId xmlns:a16="http://schemas.microsoft.com/office/drawing/2014/main" val="857047578"/>
                    </a:ext>
                  </a:extLst>
                </a:gridCol>
                <a:gridCol w="1025590">
                  <a:extLst>
                    <a:ext uri="{9D8B030D-6E8A-4147-A177-3AD203B41FA5}">
                      <a16:colId xmlns:a16="http://schemas.microsoft.com/office/drawing/2014/main" val="1742107540"/>
                    </a:ext>
                  </a:extLst>
                </a:gridCol>
              </a:tblGrid>
              <a:tr h="209992">
                <a:tc>
                  <a:txBody>
                    <a:bodyPr/>
                    <a:lstStyle/>
                    <a:p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Denominazione del certificato ESG/marchio ambientale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28)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Breve descrizione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Data di rilascio/</a:t>
                      </a:r>
                    </a:p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validità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Eventuale punteggio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430332"/>
                  </a:ext>
                </a:extLst>
              </a:tr>
              <a:tr h="209992"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{{certificate_or_ecolabel}}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{{description_certificate}}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date_certicate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certiciate_possible_rating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006062"/>
                  </a:ext>
                </a:extLst>
              </a:tr>
            </a:tbl>
          </a:graphicData>
        </a:graphic>
      </p:graphicFrame>
      <p:graphicFrame>
        <p:nvGraphicFramePr>
          <p:cNvPr id="14" name="Tabel 13">
            <a:extLst>
              <a:ext uri="{FF2B5EF4-FFF2-40B4-BE49-F238E27FC236}">
                <a16:creationId xmlns:a16="http://schemas.microsoft.com/office/drawing/2014/main" id="{6CA17681-1928-380D-D58C-D782D5125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236016"/>
              </p:ext>
            </p:extLst>
          </p:nvPr>
        </p:nvGraphicFramePr>
        <p:xfrm>
          <a:off x="411480" y="7251210"/>
          <a:ext cx="6737040" cy="1181292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227849">
                  <a:extLst>
                    <a:ext uri="{9D8B030D-6E8A-4147-A177-3AD203B41FA5}">
                      <a16:colId xmlns:a16="http://schemas.microsoft.com/office/drawing/2014/main" val="2041236584"/>
                    </a:ext>
                  </a:extLst>
                </a:gridCol>
                <a:gridCol w="1303858">
                  <a:extLst>
                    <a:ext uri="{9D8B030D-6E8A-4147-A177-3AD203B41FA5}">
                      <a16:colId xmlns:a16="http://schemas.microsoft.com/office/drawing/2014/main" val="2637180759"/>
                    </a:ext>
                  </a:extLst>
                </a:gridCol>
                <a:gridCol w="996273">
                  <a:extLst>
                    <a:ext uri="{9D8B030D-6E8A-4147-A177-3AD203B41FA5}">
                      <a16:colId xmlns:a16="http://schemas.microsoft.com/office/drawing/2014/main" val="1126871569"/>
                    </a:ext>
                  </a:extLst>
                </a:gridCol>
                <a:gridCol w="973628">
                  <a:extLst>
                    <a:ext uri="{9D8B030D-6E8A-4147-A177-3AD203B41FA5}">
                      <a16:colId xmlns:a16="http://schemas.microsoft.com/office/drawing/2014/main" val="573454477"/>
                    </a:ext>
                  </a:extLst>
                </a:gridCol>
                <a:gridCol w="1079296">
                  <a:extLst>
                    <a:ext uri="{9D8B030D-6E8A-4147-A177-3AD203B41FA5}">
                      <a16:colId xmlns:a16="http://schemas.microsoft.com/office/drawing/2014/main" val="3277283369"/>
                    </a:ext>
                  </a:extLst>
                </a:gridCol>
                <a:gridCol w="1156136">
                  <a:extLst>
                    <a:ext uri="{9D8B030D-6E8A-4147-A177-3AD203B41FA5}">
                      <a16:colId xmlns:a16="http://schemas.microsoft.com/office/drawing/2014/main" val="3975353283"/>
                    </a:ext>
                  </a:extLst>
                </a:gridCol>
              </a:tblGrid>
              <a:tr h="269989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Indirizzi e geolocalizzazione degli </a:t>
                      </a:r>
                      <a:r>
                        <a:rPr lang="it-IT" sz="975" b="1" u="none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attivi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e dei siti significativi che l’impresa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possiede, ha in locazione o gestisce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27e, vi, vii)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1" kern="1200" spc="-1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498375"/>
                  </a:ext>
                </a:extLst>
              </a:tr>
              <a:tr h="269989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Sito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Indirizzo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CAP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Città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Paese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Geolocalizzazione (coordinate)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431150"/>
                  </a:ext>
                </a:extLst>
              </a:tr>
              <a:tr h="269989"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{{geolocation}}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15874" marR="15874" marT="10583" marB="10583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geolocation_adress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15874" marR="15874" marT="10583" marB="10583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{{geolocation_postcode}}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15874" marR="15874" marT="10583" marB="10583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{{geolocation_city}}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15874" marR="15874" marT="10583" marB="10583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{{geolocation_country}}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15874" marR="15874" marT="10583" marB="10583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geolocation_coordinates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15874" marR="15874" marT="10583" marB="10583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926511"/>
                  </a:ext>
                </a:extLst>
              </a:tr>
            </a:tbl>
          </a:graphicData>
        </a:graphic>
      </p:graphicFrame>
      <p:sp>
        <p:nvSpPr>
          <p:cNvPr id="19" name="Tekstfelt 18">
            <a:extLst>
              <a:ext uri="{FF2B5EF4-FFF2-40B4-BE49-F238E27FC236}">
                <a16:creationId xmlns:a16="http://schemas.microsoft.com/office/drawing/2014/main" id="{E833CCA7-4D9A-7EEC-4359-1F0F50503027}"/>
              </a:ext>
            </a:extLst>
          </p:cNvPr>
          <p:cNvSpPr txBox="1"/>
          <p:nvPr/>
        </p:nvSpPr>
        <p:spPr>
          <a:xfrm>
            <a:off x="411480" y="6538989"/>
            <a:ext cx="6737040" cy="538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0"/>
              </a:spcBef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Di seguito è descritta la geolocalizzazione dell’impresa e i luoghi in cui essa opera. Tali informazioni possono essere utilizzate per le zone di rischio climatico e forniscono indicazioni sugli impianti, sui siti e/o sulla sede dell’impresa</a:t>
            </a:r>
            <a:r>
              <a:rPr lang="it-IT" sz="975" noProof="0">
                <a:solidFill>
                  <a:schemeClr val="tx2"/>
                </a:solidFill>
                <a:latin typeface="Inter"/>
              </a:rPr>
              <a:t xml:space="preserve">. Sono inoltre indicate le certificazioni o i marchi di sostenibilità pertinenti, compresi il soggetto che li ha rilasciati, la data e l’eventuale punteggio.</a:t>
            </a:r>
            <a:endParaRPr lang="it-IT" sz="975" b="0" noProof="0" dirty="0">
              <a:solidFill>
                <a:schemeClr val="tx2"/>
              </a:solidFill>
              <a:effectLst/>
              <a:latin typeface="Inter"/>
            </a:endParaRP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491B3392-69C7-8B39-2F36-18D17714B1CA}"/>
              </a:ext>
            </a:extLst>
          </p:cNvPr>
          <p:cNvSpPr txBox="1"/>
          <p:nvPr/>
        </p:nvSpPr>
        <p:spPr>
          <a:xfrm>
            <a:off x="411480" y="8706648"/>
            <a:ext cx="6737040" cy="230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975" noProof="0">
                <a:solidFill>
                  <a:srgbClr val="487477"/>
                </a:solidFill>
                <a:latin typeface="Inter"/>
              </a:rPr>
              <a:t xml:space="preserve">I certificati e i marchi ambientali dell’impresa sono elencati di seguito.</a:t>
            </a:r>
          </a:p>
        </p:txBody>
      </p:sp>
    </p:spTree>
    <p:extLst>
      <p:ext uri="{BB962C8B-B14F-4D97-AF65-F5344CB8AC3E}">
        <p14:creationId xmlns:p14="http://schemas.microsoft.com/office/powerpoint/2010/main" val="4169988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C62860-972E-E884-9828-460A25BD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17033"/>
            <a:ext cx="6737040" cy="207741"/>
          </a:xfrm>
        </p:spPr>
        <p:txBody>
          <a:bodyPr/>
          <a:lstStyle/>
          <a:p>
            <a:r>
              <a:rPr lang="it-IT" noProof="0"/>
              <a:t xml:space="preserve">Pratiche, politiche e iniziative future per la transizione verso un’economia più sostenibile (B2)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F24C5-33C0-4C2D-8193-33A504950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endParaRPr lang="it-IT" noProof="0"/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A420AFF6-414E-4EC8-A668-F0BFECC82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360368"/>
              </p:ext>
            </p:extLst>
          </p:nvPr>
        </p:nvGraphicFramePr>
        <p:xfrm>
          <a:off x="411480" y="2494291"/>
          <a:ext cx="6737040" cy="408488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204357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1272057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  <a:gridCol w="996189">
                  <a:extLst>
                    <a:ext uri="{9D8B030D-6E8A-4147-A177-3AD203B41FA5}">
                      <a16:colId xmlns:a16="http://schemas.microsoft.com/office/drawing/2014/main" val="3164053669"/>
                    </a:ext>
                  </a:extLst>
                </a:gridCol>
                <a:gridCol w="1394665">
                  <a:extLst>
                    <a:ext uri="{9D8B030D-6E8A-4147-A177-3AD203B41FA5}">
                      <a16:colId xmlns:a16="http://schemas.microsoft.com/office/drawing/2014/main" val="1484983729"/>
                    </a:ext>
                  </a:extLst>
                </a:gridCol>
                <a:gridCol w="1869772">
                  <a:extLst>
                    <a:ext uri="{9D8B030D-6E8A-4147-A177-3AD203B41FA5}">
                      <a16:colId xmlns:a16="http://schemas.microsoft.com/office/drawing/2014/main" val="3920544300"/>
                    </a:ext>
                  </a:extLst>
                </a:gridCol>
              </a:tblGrid>
              <a:tr h="396886">
                <a:tc>
                  <a:txBody>
                    <a:bodyPr/>
                    <a:lstStyle/>
                    <a:p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Ambito</a:t>
                      </a:r>
                    </a:p>
                    <a:p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29a-d)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L’impresa ha una pratica o politica concreta in materia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politica è pubblicamente disponibile? 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L’impresa ha iniziative e piani futuri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L’impresa ha obiettivi concreti per monitorare l’attuazione di pratiche e politiche?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253742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Cambiamenti climatici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{{climate_change_concrete}}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{{climate_change_publicly}}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{{climate_change_future}}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{{climate_change_plan}}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  <a:tr h="240796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Inquinamento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{{pollution_concrete}}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{{pollution_publicly}}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{{pollution_future}}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{{pollution_plan}}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256071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Acque e risorse marine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{{water_concrete}}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{{water_publicly}}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{{water_future}}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{{water_plan}}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156864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Biodiversità ed ecosistemi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{{biodiversity_concrete}}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{{biodiversity_publicly}}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{{biodiversity_future}}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{{biodiversity_plan}}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746340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Economia circolare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{{circular_concrete}}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{{circular_publicly}}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{{circular_future}}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{{circular_plan}}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359221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Forza lavoro propria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{{workforce_concrete}}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{{workforce_publicly}}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{{workforce_future}}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{{workforce_plan}}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384999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Lavoratori nella catena del valore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{{workers_concrete}}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{{workers_publicly}}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{{workers_future}}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{{workers_plan}}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1919361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Comunità interessate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{{communities_concrete}}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{{communities_publicly}}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{{communities_future}}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{{communities_plan}}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877917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Consumatori e utilizzatori finali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{{consumers_concrete}}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{{consumers_publicly}}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{{consumers_future}}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{{consumers_plan}}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053185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Condotta delle imprese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{{governance_concrete}}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{{governance_publicly}}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{{governance_future}}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{{governance_plan}}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057792"/>
                  </a:ext>
                </a:extLst>
              </a:tr>
            </a:tbl>
          </a:graphicData>
        </a:graphic>
      </p:graphicFrame>
      <p:sp>
        <p:nvSpPr>
          <p:cNvPr id="16" name="Tekstfelt 15">
            <a:extLst>
              <a:ext uri="{FF2B5EF4-FFF2-40B4-BE49-F238E27FC236}">
                <a16:creationId xmlns:a16="http://schemas.microsoft.com/office/drawing/2014/main" id="{E7AD2C12-E6AC-4ADE-675B-7B86B0E0EA4B}"/>
              </a:ext>
            </a:extLst>
          </p:cNvPr>
          <p:cNvSpPr txBox="1"/>
          <p:nvPr/>
        </p:nvSpPr>
        <p:spPr>
          <a:xfrm>
            <a:off x="411480" y="1513504"/>
            <a:ext cx="6737040" cy="538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750"/>
              </a:spcBef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La presente sezione illustra le pratiche, le politiche e le iniziative future che l’impresa ha attuato per sostenere un’economia sostenibile. Vi si indica quali misure concrete l’impresa ha adottato per ridurre gli impatti ambientali negativi e migliorare le condizioni di lavoro e la parità di trattamento (SÌ/NO).</a:t>
            </a:r>
            <a:br>
              <a:rPr lang="it-IT" sz="975" noProof="0">
                <a:solidFill>
                  <a:schemeClr val="tx2"/>
                </a:solidFill>
              </a:rPr>
            </a:br>
            <a:endParaRPr lang="it-IT" sz="975" noProof="0">
              <a:solidFill>
                <a:schemeClr val="tx2"/>
              </a:solidFill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D599EAE-DDC4-5624-F234-BCDE014B0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10152285"/>
            <a:ext cx="6737040" cy="128235"/>
          </a:xfrm>
        </p:spPr>
        <p:txBody>
          <a:bodyPr/>
          <a:lstStyle/>
          <a:p>
            <a:fld id="{5A0D23CF-C5A3-5445-819D-C647D180BB4B}" type="slidenum">
              <a:rPr lang="it-IT" noProof="0" smtClean="0"/>
              <a:pPr/>
              <a:t>4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000975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Consumo di energia (B3)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932BB9-32D4-19FC-5E73-EB89688D4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29703"/>
              </p:ext>
            </p:extLst>
          </p:nvPr>
        </p:nvGraphicFramePr>
        <p:xfrm>
          <a:off x="411480" y="2059046"/>
          <a:ext cx="6737040" cy="196846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828416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697216">
                  <a:extLst>
                    <a:ext uri="{9D8B030D-6E8A-4147-A177-3AD203B41FA5}">
                      <a16:colId xmlns:a16="http://schemas.microsoft.com/office/drawing/2014/main" val="1451447067"/>
                    </a:ext>
                  </a:extLst>
                </a:gridCol>
                <a:gridCol w="1789850">
                  <a:extLst>
                    <a:ext uri="{9D8B030D-6E8A-4147-A177-3AD203B41FA5}">
                      <a16:colId xmlns:a16="http://schemas.microsoft.com/office/drawing/2014/main" val="2943870936"/>
                    </a:ext>
                  </a:extLst>
                </a:gridCol>
                <a:gridCol w="1421558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</a:tblGrid>
              <a:tr h="207723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Consumo di energia in MWh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32)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endParaRPr lang="it-IT" sz="725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endParaRPr lang="it-IT" sz="725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25" b="1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440226"/>
                  </a:ext>
                </a:extLst>
              </a:tr>
              <a:tr h="330257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endParaRPr lang="it-IT" sz="975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Consumo rinnovabile</a:t>
                      </a: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 (MWh)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Consumo non rinnovabile</a:t>
                      </a: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 (MWh)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Consumo totale (MWh)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rgbClr val="1B4528"/>
                          </a:solidFill>
                        </a:rPr>
                        <a:t>{{insert_year}}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330257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Energia elettrica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(secondo quanto risulta dalle bollette)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{{electricity_renewable}}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{{electricity_non_rewenable}}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{{total_electricity}}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07723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Combustibili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{{fuel_renewable}}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{{fuel_non_rewenable}}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{{total_fuel}}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766998"/>
                  </a:ext>
                </a:extLst>
              </a:tr>
              <a:tr h="207723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Altro (ad es. teleriscaldamento)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{{district_heating_rewenable}}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{{district_heating_non_rewenable}}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{{total_district_heating}}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37485"/>
                  </a:ext>
                </a:extLst>
              </a:tr>
              <a:tr h="207723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Totale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{{renewable_energy_total}}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{{non_rewenable_energy_total}}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{{total_energy_consumption}}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206388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5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4EDC705C-923B-3F7B-2016-F3C31DC2828B}"/>
              </a:ext>
            </a:extLst>
          </p:cNvPr>
          <p:cNvSpPr txBox="1"/>
          <p:nvPr/>
        </p:nvSpPr>
        <p:spPr>
          <a:xfrm>
            <a:off x="411480" y="1204910"/>
            <a:ext cx="6737040" cy="689402"/>
          </a:xfrm>
          <a:prstGeom prst="rect">
            <a:avLst/>
          </a:prstGeom>
          <a:noFill/>
        </p:spPr>
        <p:txBody>
          <a:bodyPr wrap="square" lIns="76197" tIns="38098" rIns="76197" bIns="38098" anchor="t">
            <a:spAutoFit/>
          </a:bodyPr>
          <a:lstStyle/>
          <a:p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La presente sezione indica le emissioni di CO2 dell’impresa derivanti dal consumo di energia, distinguendo consumo rinnovabile e non rinnovabile. </a:t>
            </a:r>
            <a:r>
              <a:rPr lang="it-IT" sz="975" noProof="0">
                <a:solidFill>
                  <a:schemeClr val="tx2"/>
                </a:solidFill>
                <a:latin typeface="Inter"/>
              </a:rPr>
              <a:t xml:space="preserve">Le emissioni sono comunicate in base </a:t>
            </a: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alle definizioni del GHG Protocol di emissioni dirette e indirette. </a:t>
            </a:r>
            <a:br>
              <a:rPr lang="it-IT" sz="975" b="0" i="0" u="none" strike="noStrike" noProof="0" dirty="0">
                <a:effectLst/>
                <a:latin typeface="Inter"/>
              </a:rPr>
            </a:br>
            <a:br>
              <a:rPr lang="it-IT" sz="975" dirty="0">
                <a:latin typeface="Inter"/>
              </a:rPr>
            </a:br>
            <a:r>
              <a:rPr lang="it-IT" sz="650" b="0" i="0" u="none" strike="noStrike" noProof="0">
                <a:solidFill>
                  <a:schemeClr val="tx2"/>
                </a:solidFill>
                <a:effectLst/>
                <a:latin typeface="Inter"/>
              </a:rPr>
              <a:t> </a:t>
            </a:r>
            <a:endParaRPr lang="it-IT" sz="975" b="0" i="0" u="none" strike="noStrike" noProof="0" dirty="0">
              <a:solidFill>
                <a:schemeClr val="tx2"/>
              </a:solidFill>
              <a:effectLst/>
              <a:latin typeface="Inter"/>
            </a:endParaRPr>
          </a:p>
          <a:p>
            <a:pPr rtl="0">
              <a:buNone/>
            </a:pPr>
            <a:endParaRPr lang="it-IT" sz="975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endParaRPr lang="it-IT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endParaRPr lang="it-IT" sz="1325" noProof="0">
              <a:solidFill>
                <a:schemeClr val="tx2"/>
              </a:solidFill>
              <a:latin typeface="Inter"/>
            </a:endParaRPr>
          </a:p>
          <a:p>
            <a:pPr>
              <a:buNone/>
            </a:pPr>
            <a:endParaRPr lang="it-IT" sz="1325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endParaRPr lang="it-IT" sz="1325" noProof="0">
              <a:solidFill>
                <a:schemeClr val="tx2"/>
              </a:solidFill>
              <a:latin typeface="Inter"/>
            </a:endParaRPr>
          </a:p>
          <a:p>
            <a:pPr>
              <a:buNone/>
            </a:pPr>
            <a:endParaRPr lang="it-IT" sz="1325" b="0" noProof="0">
              <a:solidFill>
                <a:schemeClr val="tx2"/>
              </a:solidFill>
              <a:effectLst/>
              <a:latin typeface="Inter"/>
            </a:endParaRPr>
          </a:p>
          <a:p>
            <a:endParaRPr lang="it-IT" sz="1325" b="1">
              <a:latin typeface="+mj-lt"/>
            </a:endParaRPr>
          </a:p>
        </p:txBody>
      </p:sp>
      <p:graphicFrame>
        <p:nvGraphicFramePr>
          <p:cNvPr id="15" name="Table 18">
            <a:extLst>
              <a:ext uri="{FF2B5EF4-FFF2-40B4-BE49-F238E27FC236}">
                <a16:creationId xmlns:a16="http://schemas.microsoft.com/office/drawing/2014/main" id="{550C2B5F-F365-2A58-DF02-C096E906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924491"/>
              </p:ext>
            </p:extLst>
          </p:nvPr>
        </p:nvGraphicFramePr>
        <p:xfrm>
          <a:off x="411480" y="6553529"/>
          <a:ext cx="6737040" cy="90357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5333961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403079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</a:tblGrid>
              <a:tr h="22661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di gas a effetto serra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33)</a:t>
                      </a:r>
                      <a:endParaRPr lang="it-IT" sz="975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Anno </a:t>
                      </a:r>
                      <a:r>
                        <a:rPr lang="it-IT" sz="975" b="1" noProof="0">
                          <a:solidFill>
                            <a:srgbClr val="1B452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{{insert_year}}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25656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di CO₂e di ambito 1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{{scope1}}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25656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di CO₂e di ambito 2 (basate sulla posizione) 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{{scope2}}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25656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totali di CO₂e di ambito 1 e 2 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{{total_scope}}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40515"/>
                  </a:ext>
                </a:extLst>
              </a:tr>
            </a:tbl>
          </a:graphicData>
        </a:graphic>
      </p:graphicFrame>
      <p:graphicFrame>
        <p:nvGraphicFramePr>
          <p:cNvPr id="913" name="B3 market-based (voluntary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924491"/>
              </p:ext>
            </p:extLst>
          </p:nvPr>
        </p:nvGraphicFramePr>
        <p:xfrm>
          <a:off x="411480" y="7630596"/>
          <a:ext cx="6737040" cy="451312"/>
        </p:xfrm>
        <a:graphic>
          <a:graphicData uri="http://schemas.openxmlformats.org/drawingml/2006/table">
            <a:tbl>
              <a:tblPr firstRow="0">
                <a:tableStyleId>{2A488322-F2BA-4B5B-9748-0D474271808F}</a:tableStyleId>
              </a:tblPr>
              <a:tblGrid>
                <a:gridCol w="5333961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403079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</a:tblGrid>
              <a:tr h="225656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di CO₂e di ambito 2 (basate sul mercato) (facoltativo)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{{scope1_marked}}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25656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totali di CO₂e di ambito 1 e 2 (basate sul mercato) (facoltativo)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{{scope2_marked}}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40515"/>
                  </a:ext>
                </a:extLst>
              </a:tr>
            </a:tbl>
          </a:graphicData>
        </a:graphic>
      </p:graphicFrame>
      <p:sp>
        <p:nvSpPr>
          <p:cNvPr id="912" name="Tekstfelt 11 (cont.)">
            <a:extLst>
              <a:ext uri="{FF2B5EF4-FFF2-40B4-BE49-F238E27FC236}">
                <a16:creationId xmlns:a16="http://schemas.microsoft.com/office/drawing/2014/main" id="{4EDC705C-923B-3F7B-2016-F3C31DC2828B}"/>
              </a:ext>
            </a:extLst>
          </p:cNvPr>
          <p:cNvSpPr txBox="1"/>
          <p:nvPr/>
        </p:nvSpPr>
        <p:spPr>
          <a:xfrm>
            <a:off x="411480" y="4333689"/>
            <a:ext cx="6737040" cy="2194560"/>
          </a:xfrm>
          <a:prstGeom prst="rect">
            <a:avLst/>
          </a:prstGeom>
          <a:noFill/>
        </p:spPr>
        <p:txBody>
          <a:bodyPr wrap="square" lIns="76197" tIns="38098" rIns="76197" bIns="38098" anchor="t">
            <a:spAutoFit/>
          </a:bodyPr>
          <a:lstStyle/>
          <a:p>
            <a:br>
              <a:rPr lang="it-IT" b="1" dirty="0">
                <a:latin typeface="+mj-lt"/>
              </a:rPr>
            </a:br>
            <a:r>
              <a:rPr lang="it-IT" b="1" i="0" u="none" strike="noStrike" noProof="0">
                <a:solidFill>
                  <a:schemeClr val="tx2"/>
                </a:solidFill>
                <a:effectLst/>
                <a:latin typeface="+mj-lt"/>
              </a:rPr>
              <a:t xml:space="preserve">Emissioni di CO₂e (B3)</a:t>
            </a:r>
            <a:endParaRPr lang="it-IT" noProof="0">
              <a:solidFill>
                <a:schemeClr val="tx2"/>
              </a:solidFill>
              <a:effectLst/>
              <a:latin typeface="+mj-lt"/>
            </a:endParaRPr>
          </a:p>
          <a:p>
            <a:r>
              <a:rPr lang="it-IT" sz="650">
                <a:latin typeface="Inter"/>
              </a:rPr>
              <a:t> </a:t>
            </a:r>
            <a:br>
              <a:rPr lang="it-IT" sz="975" dirty="0">
                <a:solidFill>
                  <a:schemeClr val="tx2"/>
                </a:solidFill>
                <a:latin typeface="Inter"/>
              </a:rPr>
            </a:b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Il punto 33 contiene informazioni sulle emissioni di gas a effetto serra dell’impresa, sulla base delle emissioni di ambito 1 e 2. L’ambito 1 indica le emissioni dirette provenienti da fonti di proprietà o sotto il controllo diretto dell’impresa: ad esempio la combustione di carburante nei veicoli aziendali, il riscaldamento degli edifici a gas naturale, nonché le emissioni dei processi industriali e le perdite in sistemi quali la refrigerazione.</a:t>
            </a:r>
            <a:r>
              <a:rPr lang="it-IT" sz="975" noProof="0">
                <a:solidFill>
                  <a:schemeClr val="tx2"/>
                </a:solidFill>
                <a:latin typeface="Inter"/>
              </a:rPr>
              <a:t> </a:t>
            </a: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L’ambito 2</a:t>
            </a:r>
            <a:r>
              <a:rPr lang="it-IT" sz="975" noProof="0">
                <a:solidFill>
                  <a:schemeClr val="tx2"/>
                </a:solidFill>
                <a:latin typeface="Inter"/>
              </a:rPr>
              <a:t xml:space="preserve"> indica le emissioni i</a:t>
            </a: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ndirette derivanti dall’energia elettrica acquistata, ossia le emissioni prodotte dalla generazione dell’energia elettrica, del vapore, del calore o del raffrescamento che l’impresa acquista e utilizza. Pur originando presso i produttori di energia, tali emissioni sono attribuite all’impresa, che consuma l’energia.</a:t>
            </a:r>
            <a:endParaRPr lang="it-IT" sz="975" b="0" noProof="0">
              <a:solidFill>
                <a:schemeClr val="tx2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910765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Inquinamento di aria, acqua e suolo (B4)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932BB9-32D4-19FC-5E73-EB89688D4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973087"/>
              </p:ext>
            </p:extLst>
          </p:nvPr>
        </p:nvGraphicFramePr>
        <p:xfrm>
          <a:off x="411480" y="1625932"/>
          <a:ext cx="6737040" cy="66662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134358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057899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2544783">
                  <a:extLst>
                    <a:ext uri="{9D8B030D-6E8A-4147-A177-3AD203B41FA5}">
                      <a16:colId xmlns:a16="http://schemas.microsoft.com/office/drawing/2014/main" val="683090399"/>
                    </a:ext>
                  </a:extLst>
                </a:gridCol>
              </a:tblGrid>
              <a:tr h="232847">
                <a:tc gridSpan="3"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Inquinamento di aria, acqua e suolo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(punto 34) 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sz="7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328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Tipo di inquinamento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(ad es. sostanza)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Dove?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(aria, acqua, suolo)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Quantità</a:t>
                      </a:r>
                      <a:endParaRPr lang="it-IT" sz="843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00926"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{{type_of_pollution}}</a:t>
                      </a:r>
                      <a:endParaRPr lang="it-IT" sz="843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{{scope_pollution}}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pollution_medium</a:t>
                      </a: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843" b="0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40515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CADEAD42-343C-93CC-A8B0-E63EFFC56411}"/>
              </a:ext>
            </a:extLst>
          </p:cNvPr>
          <p:cNvSpPr txBox="1"/>
          <p:nvPr/>
        </p:nvSpPr>
        <p:spPr>
          <a:xfrm>
            <a:off x="411480" y="1192938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843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comunica la quantità totale di inquinanti emessi dai propri impianti. Gli inquinanti specifici e i relativi quantitativi emessi in aria, acqua e suolo</a:t>
            </a:r>
            <a:r>
              <a:rPr lang="it-IT" sz="843" noProof="0">
                <a:solidFill>
                  <a:schemeClr val="tx2"/>
                </a:solidFill>
                <a:latin typeface="Inter"/>
              </a:rPr>
              <a:t xml:space="preserve"> sono indicati di seguito.</a:t>
            </a: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82FDC1C8-BB82-8F83-2FCB-640700A5A089}"/>
              </a:ext>
            </a:extLst>
          </p:cNvPr>
          <p:cNvSpPr txBox="1">
            <a:spLocks/>
          </p:cNvSpPr>
          <p:nvPr/>
        </p:nvSpPr>
        <p:spPr>
          <a:xfrm>
            <a:off x="411480" y="2673447"/>
            <a:ext cx="6737040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noProof="0"/>
              <a:t xml:space="preserve">Biodiversità (B5) </a:t>
            </a:r>
          </a:p>
        </p:txBody>
      </p:sp>
      <p:graphicFrame>
        <p:nvGraphicFramePr>
          <p:cNvPr id="17" name="Table 12">
            <a:extLst>
              <a:ext uri="{FF2B5EF4-FFF2-40B4-BE49-F238E27FC236}">
                <a16:creationId xmlns:a16="http://schemas.microsoft.com/office/drawing/2014/main" id="{2F8CEDBC-7529-8ACB-98F8-C532E7876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959812"/>
              </p:ext>
            </p:extLst>
          </p:nvPr>
        </p:nvGraphicFramePr>
        <p:xfrm>
          <a:off x="411480" y="3665551"/>
          <a:ext cx="6737040" cy="792106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223626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837805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1837805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  <a:gridCol w="1837804">
                  <a:extLst>
                    <a:ext uri="{9D8B030D-6E8A-4147-A177-3AD203B41FA5}">
                      <a16:colId xmlns:a16="http://schemas.microsoft.com/office/drawing/2014/main" val="1502960985"/>
                    </a:ext>
                  </a:extLst>
                </a:gridCol>
              </a:tblGrid>
              <a:tr h="192389">
                <a:tc gridSpan="4">
                  <a:txBody>
                    <a:bodyPr/>
                    <a:lstStyle/>
                    <a:p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Siti all’interno o in prossimità di «aree sensibili sotto il profilo della biodiversità» che l’impresa possiede, ha in locazione o gestisce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(punto 35)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sz="7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7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7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87668">
                <a:tc>
                  <a:txBody>
                    <a:bodyPr/>
                    <a:lstStyle/>
                    <a:p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Ubicazione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Superficie in ettari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Area sensibile per la biodiversità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Specifica: all’interno o in prossimità di un’area sensibile per la biodiversità</a:t>
                      </a:r>
                      <a:endParaRPr lang="it-IT" sz="843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26340"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{{country_location}}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 {{area_hect}}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{{area_name}}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biosensitive_area</a:t>
                      </a: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843" b="0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18" name="Tekstfelt 17">
            <a:extLst>
              <a:ext uri="{FF2B5EF4-FFF2-40B4-BE49-F238E27FC236}">
                <a16:creationId xmlns:a16="http://schemas.microsoft.com/office/drawing/2014/main" id="{6378062B-84AF-684A-9726-0422CE54B0A8}"/>
              </a:ext>
            </a:extLst>
          </p:cNvPr>
          <p:cNvSpPr txBox="1"/>
          <p:nvPr/>
        </p:nvSpPr>
        <p:spPr>
          <a:xfrm>
            <a:off x="411480" y="2954463"/>
            <a:ext cx="6737040" cy="538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750"/>
              </a:spcBef>
              <a:spcAft>
                <a:spcPts val="750"/>
              </a:spcAft>
              <a:buNone/>
            </a:pPr>
            <a:r>
              <a:rPr lang="it-IT" sz="843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Le informazioni dell’impresa riguardano i siti in cui essa opera che si trovano all’interno o in prossimità di aree sensibili sotto il profilo della biodiversità. Tali aree sono definite come tali da specifiche disposizioni di protezione della natura a livello europeo o internazionale. Vi rientrano le zone Natura 2000, i siti UNESCO e le aree chiave per la biodiversità (KBA), nonché altre aree protette.</a:t>
            </a:r>
            <a:endParaRPr lang="it-IT" sz="843" noProof="0">
              <a:solidFill>
                <a:schemeClr val="tx2"/>
              </a:solidFill>
              <a:latin typeface="Inter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FF30C2A-99E4-0235-442A-B520E2E3D75D}"/>
              </a:ext>
            </a:extLst>
          </p:cNvPr>
          <p:cNvSpPr txBox="1">
            <a:spLocks/>
          </p:cNvSpPr>
          <p:nvPr/>
        </p:nvSpPr>
        <p:spPr>
          <a:xfrm>
            <a:off x="423976" y="4665436"/>
            <a:ext cx="6583504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 xml:space="preserve">Acque (B6)</a:t>
            </a:r>
          </a:p>
        </p:txBody>
      </p:sp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EDF86973-DC05-3ECC-6067-2F53E4BE4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575700"/>
              </p:ext>
            </p:extLst>
          </p:nvPr>
        </p:nvGraphicFramePr>
        <p:xfrm>
          <a:off x="411480" y="5674180"/>
          <a:ext cx="3295368" cy="1114872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113984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181384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5665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Prelievo idrico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(punto 36)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Anno </a:t>
                      </a:r>
                      <a:r>
                        <a:rPr lang="it-IT" sz="843" b="1" noProof="0">
                          <a:solidFill>
                            <a:srgbClr val="1B4528"/>
                          </a:solidFill>
                        </a:rPr>
                        <a:t>{{insert_year}}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548298">
                <a:tc>
                  <a:txBody>
                    <a:bodyPr/>
                    <a:lstStyle/>
                    <a:p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Totale per tutti i siti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43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it-IT" sz="843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total_withdrawal</a:t>
                      </a:r>
                      <a:r>
                        <a:rPr kumimoji="0" lang="it-IT" sz="843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CC1DA924-567E-0F60-A4EA-4D7C2A7DF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516023"/>
              </p:ext>
            </p:extLst>
          </p:nvPr>
        </p:nvGraphicFramePr>
        <p:xfrm>
          <a:off x="3853152" y="5674180"/>
          <a:ext cx="3295368" cy="1114872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217448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077920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453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Consumo idrico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(punto 37)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Anno </a:t>
                      </a:r>
                      <a:r>
                        <a:rPr lang="it-IT" sz="843" b="1" noProof="0">
                          <a:solidFill>
                            <a:srgbClr val="1B4528"/>
                          </a:solidFill>
                        </a:rPr>
                        <a:t>{{insert_year}}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316794">
                <a:tc>
                  <a:txBody>
                    <a:bodyPr/>
                    <a:lstStyle/>
                    <a:p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Totale per tutti i siti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{{consumption_total}}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3442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Da siti in aree con scarsità d’acqua (elevato stress idrico)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consumption_waterstress</a:t>
                      </a: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843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797269"/>
                  </a:ext>
                </a:extLst>
              </a:tr>
            </a:tbl>
          </a:graphicData>
        </a:graphic>
      </p:graphicFrame>
      <p:sp>
        <p:nvSpPr>
          <p:cNvPr id="8" name="Tekstfelt 7">
            <a:extLst>
              <a:ext uri="{FF2B5EF4-FFF2-40B4-BE49-F238E27FC236}">
                <a16:creationId xmlns:a16="http://schemas.microsoft.com/office/drawing/2014/main" id="{920A9AE1-EB9B-1D7D-09D0-432E15617FEB}"/>
              </a:ext>
            </a:extLst>
          </p:cNvPr>
          <p:cNvSpPr txBox="1"/>
          <p:nvPr/>
        </p:nvSpPr>
        <p:spPr>
          <a:xfrm>
            <a:off x="411480" y="4996139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750"/>
              </a:spcBef>
              <a:buNone/>
            </a:pPr>
            <a:r>
              <a:rPr lang="it-IT" sz="843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Il prelievo idrico è la quantità di acqua utilizzata dall’impresa, di cui </a:t>
            </a:r>
            <a:r>
              <a:rPr lang="it-IT" sz="843" noProof="0">
                <a:solidFill>
                  <a:schemeClr val="tx2"/>
                </a:solidFill>
                <a:latin typeface="Inter"/>
              </a:rPr>
              <a:t xml:space="preserve">il consumo indica l’acqua che </a:t>
            </a:r>
            <a:r>
              <a:rPr lang="it-IT" sz="843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non è scaricata, né destinata a esserlo, nell’ambiente idrico o a terzi. La presente sezione indica il prelievo idrico totale dell’impresa. Il consumo idrico</a:t>
            </a:r>
            <a:r>
              <a:rPr lang="it-IT" sz="843" noProof="0">
                <a:solidFill>
                  <a:schemeClr val="tx2"/>
                </a:solidFill>
                <a:latin typeface="Inter"/>
              </a:rPr>
              <a:t> </a:t>
            </a:r>
            <a:r>
              <a:rPr lang="it-IT" sz="843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e lo scarico di acque da aree a elevato stress idrico sono indicati di seguito.</a:t>
            </a:r>
            <a:endParaRPr lang="it-IT" sz="843" b="0" noProof="0" dirty="0">
              <a:solidFill>
                <a:schemeClr val="tx2"/>
              </a:solidFill>
              <a:effectLst/>
              <a:latin typeface="Inter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2E20686-EF75-EDCE-51EC-6D93E8BC9DB0}"/>
              </a:ext>
            </a:extLst>
          </p:cNvPr>
          <p:cNvSpPr txBox="1">
            <a:spLocks/>
          </p:cNvSpPr>
          <p:nvPr/>
        </p:nvSpPr>
        <p:spPr>
          <a:xfrm>
            <a:off x="411480" y="7066707"/>
            <a:ext cx="6737040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noProof="0"/>
              <a:t xml:space="preserve">Uso delle risorse, economia circolare e gestione dei rifiuti (B7) </a:t>
            </a:r>
          </a:p>
        </p:txBody>
      </p:sp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id="{65985E2E-2BF9-6FC2-7FED-19CBF40C6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752189"/>
              </p:ext>
            </p:extLst>
          </p:nvPr>
        </p:nvGraphicFramePr>
        <p:xfrm>
          <a:off x="3853152" y="7487219"/>
          <a:ext cx="3295368" cy="910441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303671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013047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978650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</a:tblGrid>
              <a:tr h="224582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Applicazione dei principi dell’economia circolare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(punto 38)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sz="7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7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24335">
                <a:tc rowSpan="2">
                  <a:txBody>
                    <a:bodyPr/>
                    <a:lstStyle/>
                    <a:p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La mia impresa applica i principi dell’economia circolare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Sì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>No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8589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{{circular_economy_princples_yes}}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{{circular_economy_princples_no?}}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14" name="Tekstfelt 13">
            <a:extLst>
              <a:ext uri="{FF2B5EF4-FFF2-40B4-BE49-F238E27FC236}">
                <a16:creationId xmlns:a16="http://schemas.microsoft.com/office/drawing/2014/main" id="{C277F934-C96A-D8A6-5040-970AFDDF7CBA}"/>
              </a:ext>
            </a:extLst>
          </p:cNvPr>
          <p:cNvSpPr txBox="1"/>
          <p:nvPr/>
        </p:nvSpPr>
        <p:spPr>
          <a:xfrm>
            <a:off x="411480" y="7470197"/>
            <a:ext cx="3295368" cy="692470"/>
          </a:xfrm>
          <a:prstGeom prst="rect">
            <a:avLst/>
          </a:prstGeom>
          <a:noFill/>
        </p:spPr>
        <p:txBody>
          <a:bodyPr wrap="square" lIns="76197" tIns="38098" rIns="76197" bIns="38098" anchor="t">
            <a:spAutoFit/>
          </a:bodyPr>
          <a:lstStyle/>
          <a:p>
            <a:pPr rtl="0">
              <a:buNone/>
            </a:pPr>
            <a:r>
              <a:rPr lang="it-IT" sz="843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La presente informativa indica se l’impresa</a:t>
            </a:r>
            <a:r>
              <a:rPr lang="it-IT" sz="843" noProof="0">
                <a:solidFill>
                  <a:schemeClr val="tx2"/>
                </a:solidFill>
                <a:latin typeface="Inter"/>
              </a:rPr>
              <a:t xml:space="preserve"> applica i principi dell’economia circolare, compresi i principi di riduzione dei rifiuti e dell’inquinamento e l’attenzione a prodotti e materiali circolari.</a:t>
            </a:r>
          </a:p>
        </p:txBody>
      </p:sp>
      <p:graphicFrame>
        <p:nvGraphicFramePr>
          <p:cNvPr id="19" name="Table 2">
            <a:extLst>
              <a:ext uri="{FF2B5EF4-FFF2-40B4-BE49-F238E27FC236}">
                <a16:creationId xmlns:a16="http://schemas.microsoft.com/office/drawing/2014/main" id="{8505FDBE-A563-0A36-5C55-C4AD815DD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212178"/>
              </p:ext>
            </p:extLst>
          </p:nvPr>
        </p:nvGraphicFramePr>
        <p:xfrm>
          <a:off x="411480" y="8598462"/>
          <a:ext cx="6737040" cy="99521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6737040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</a:tblGrid>
              <a:tr h="156127">
                <a:tc>
                  <a:txBody>
                    <a:bodyPr/>
                    <a:lstStyle/>
                    <a:p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Descrizione delle modalità con cui l’impresa applica i principi dell’economia circolare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(punto 38 continua)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786630">
                <a:tc>
                  <a:txBody>
                    <a:bodyPr/>
                    <a:lstStyle/>
                    <a:p>
                      <a:pPr algn="l"/>
                      <a:r>
                        <a:rPr lang="it-IT" sz="843" b="0" kern="120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it-IT" sz="843" b="0" kern="120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>description_of_circular_economies</a:t>
                      </a:r>
                      <a:r>
                        <a:rPr lang="it-IT" sz="843" b="0" kern="120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</a:p>
                    <a:p>
                      <a:pPr algn="l"/>
                      <a:endParaRPr lang="it-IT" sz="843" b="0" kern="1200" noProof="0" dirty="0">
                        <a:solidFill>
                          <a:srgbClr val="1B452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807FF15E-F555-86DB-24C3-D51ED88AD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1035" y="10152285"/>
            <a:ext cx="1617485" cy="128235"/>
          </a:xfrm>
        </p:spPr>
        <p:txBody>
          <a:bodyPr/>
          <a:lstStyle/>
          <a:p>
            <a:fld id="{5A0D23CF-C5A3-5445-819D-C647D180BB4B}" type="slidenum">
              <a:rPr lang="it-IT" noProof="0" smtClean="0"/>
              <a:pPr/>
              <a:t>6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705646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Uso delle risorse, economia circolare e gestione dei rifiuti (B7) – continua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932BB9-32D4-19FC-5E73-EB89688D4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275317"/>
              </p:ext>
            </p:extLst>
          </p:nvPr>
        </p:nvGraphicFramePr>
        <p:xfrm>
          <a:off x="411480" y="2279479"/>
          <a:ext cx="6596000" cy="1466696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044249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284259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2267492">
                  <a:extLst>
                    <a:ext uri="{9D8B030D-6E8A-4147-A177-3AD203B41FA5}">
                      <a16:colId xmlns:a16="http://schemas.microsoft.com/office/drawing/2014/main" val="4075157689"/>
                    </a:ext>
                  </a:extLst>
                </a:gridCol>
              </a:tblGrid>
              <a:tr h="273819">
                <a:tc gridSpan="3">
                  <a:txBody>
                    <a:bodyPr/>
                    <a:lstStyle/>
                    <a:p>
                      <a:pPr algn="ctr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Produzione annua totale di rifiuti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sz="6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86343">
                <a:tc>
                  <a:txBody>
                    <a:bodyPr/>
                    <a:lstStyle/>
                    <a:p>
                      <a:endParaRPr lang="it-IT" sz="975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Quantità totale di rifiuti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39a)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Rifiuti reindirizzati al riciclaggio o alla preparazione per il riutilizzo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39b)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340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Rifiuti non pericolosi 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940764"/>
                  </a:ext>
                </a:extLst>
              </a:tr>
              <a:tr h="194713"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{{Type_af_affald}}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{{kg_tons_total}}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{{genbrug_kg_tons}}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12229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Rifiuti pericolosi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42695"/>
                  </a:ext>
                </a:extLst>
              </a:tr>
              <a:tr h="194713"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{{Type_af_affald_farlig}}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{{farlig_kg_tons}}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farlig_genbrug_kg_tons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32709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7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482E45A0-0E1E-550D-794B-89296A5D4E7E}"/>
              </a:ext>
            </a:extLst>
          </p:cNvPr>
          <p:cNvSpPr txBox="1"/>
          <p:nvPr/>
        </p:nvSpPr>
        <p:spPr>
          <a:xfrm>
            <a:off x="411480" y="1436370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La sezione seguente fornisce informazioni sull’uso dei materiali e sulla gestione dei rifiuti. Le informazioni riguardano l’economia circolare e indicano la ripartizione della produzione annua totale di rifiuti dell’impresa (pericolosi/non pericolosi) nonché i quantitativi dei materiali pertinenti. </a:t>
            </a:r>
            <a:endParaRPr lang="it-IT" sz="975" noProof="0">
              <a:solidFill>
                <a:schemeClr val="tx2"/>
              </a:solidFill>
              <a:latin typeface="Inter"/>
            </a:endParaRPr>
          </a:p>
        </p:txBody>
      </p:sp>
      <p:graphicFrame>
        <p:nvGraphicFramePr>
          <p:cNvPr id="15" name="Table 12">
            <a:extLst>
              <a:ext uri="{FF2B5EF4-FFF2-40B4-BE49-F238E27FC236}">
                <a16:creationId xmlns:a16="http://schemas.microsoft.com/office/drawing/2014/main" id="{D0A6EC25-74E1-FBFB-6875-6CDF69A95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849396"/>
              </p:ext>
            </p:extLst>
          </p:nvPr>
        </p:nvGraphicFramePr>
        <p:xfrm>
          <a:off x="423976" y="3974380"/>
          <a:ext cx="6583504" cy="74192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4223962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359542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360553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Materiali pertinenti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39c)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Flusso di massa annuo </a:t>
                      </a:r>
                      <a:r>
                        <a:rPr lang="it-IT" sz="975" b="1" noProof="0">
                          <a:solidFill>
                            <a:srgbClr val="1B4528"/>
                          </a:solidFill>
                        </a:rPr>
                        <a:t>{{insert_year}}</a:t>
                      </a:r>
                      <a:endParaRPr lang="it-IT" sz="97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381375">
                <a:tc>
                  <a:txBody>
                    <a:bodyPr/>
                    <a:lstStyle/>
                    <a:p>
                      <a:pPr algn="l"/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{{significant_material}}</a:t>
                      </a:r>
                      <a:endParaRPr lang="it-IT" sz="975" b="0" noProof="0">
                        <a:solidFill>
                          <a:srgbClr val="1B4528"/>
                        </a:solidFill>
                        <a:latin typeface="Inter"/>
                        <a:cs typeface="Calibri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significant_material_unit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}}</a:t>
                      </a:r>
                      <a:endParaRPr lang="it-IT" sz="975" b="0" i="0" u="none" strike="noStrike" noProof="0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6508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Forza lavoro propria: caratteristiche generali (B8)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E6D2864-50B1-0967-9DFF-408DD8B37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231013"/>
              </p:ext>
            </p:extLst>
          </p:nvPr>
        </p:nvGraphicFramePr>
        <p:xfrm>
          <a:off x="411480" y="2164682"/>
          <a:ext cx="3295368" cy="1720837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647684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647684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571789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Tipo di contratto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40a)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Numero di dipendenti (effettivi o equivalenti a tempo pieno)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37997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Contratto temporaneo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{{temporary}}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389108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Contratto permanente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{{fulltime}}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37997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Numero totale di dipendenti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{{total_employees}}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81393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46843BE-938A-9316-3C8E-320134DF8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765489"/>
              </p:ext>
            </p:extLst>
          </p:nvPr>
        </p:nvGraphicFramePr>
        <p:xfrm>
          <a:off x="3853152" y="2164686"/>
          <a:ext cx="3295368" cy="1720833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647684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647684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520883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Genere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 (punto 40b)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Numero di dipendenti (effettivi o equivalenti a tempo pieno)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Uomo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{{men}}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Donna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{{women}}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813939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Altro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{{others}}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92891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Non registrato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{{not_registeret}}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098499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Numero totale di dipendenti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{{total_employees}}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90025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8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B45D574B-3D14-8531-DB71-2FD2A411CD63}"/>
              </a:ext>
            </a:extLst>
          </p:cNvPr>
          <p:cNvSpPr txBox="1"/>
          <p:nvPr/>
        </p:nvSpPr>
        <p:spPr>
          <a:xfrm>
            <a:off x="411480" y="1189771"/>
            <a:ext cx="6737040" cy="6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rgbClr val="25595D"/>
                </a:solidFill>
                <a:effectLst/>
                <a:latin typeface="Inter"/>
              </a:rPr>
              <a:t xml:space="preserve">L’impresa ha indicato il numero di dipendenti per le ripartizioni seguenti: tipo di contratto di lavoro, con dipendenti suddivisi tra contratti temporanei e permanenti; genere, che dà conto della distribuzione di genere tra i dipendenti; e paese del contratto di lavoro, rilevante se l’impresa opera in più paesi.</a:t>
            </a:r>
            <a:endParaRPr lang="it-IT" sz="975" b="0" noProof="0">
              <a:effectLst/>
              <a:latin typeface="Inter"/>
            </a:endParaRPr>
          </a:p>
          <a:p>
            <a:pPr>
              <a:buNone/>
            </a:pPr>
            <a:br>
              <a:rPr lang="it-IT" sz="975" noProof="0">
                <a:latin typeface="Inter"/>
              </a:rPr>
            </a:br>
            <a:endParaRPr lang="it-IT" sz="975" noProof="0">
              <a:latin typeface="Inter"/>
            </a:endParaRP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42F1F305-B426-7DDF-1FC3-46007564C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046685"/>
              </p:ext>
            </p:extLst>
          </p:nvPr>
        </p:nvGraphicFramePr>
        <p:xfrm>
          <a:off x="411480" y="4271445"/>
          <a:ext cx="6737040" cy="105314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3601465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3135575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239990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Paese (in cui è stato stipulato il contratto)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40c)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Numero di dipendenti (effettivi o equivalenti a tempo pieno)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Danimarca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{{Denmark}}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{{Land_b}}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FTE_eller_antal_personer_land_b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Numero totale di dipendenti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{{Total_out_of_countries}}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92891"/>
                  </a:ext>
                </a:extLst>
              </a:tr>
            </a:tbl>
          </a:graphicData>
        </a:graphic>
      </p:graphicFrame>
      <p:sp>
        <p:nvSpPr>
          <p:cNvPr id="2" name="Title 3">
            <a:extLst>
              <a:ext uri="{FF2B5EF4-FFF2-40B4-BE49-F238E27FC236}">
                <a16:creationId xmlns:a16="http://schemas.microsoft.com/office/drawing/2014/main" id="{24772E10-4DDD-1F7B-7401-B85CC016A6A5}"/>
              </a:ext>
            </a:extLst>
          </p:cNvPr>
          <p:cNvSpPr txBox="1">
            <a:spLocks/>
          </p:cNvSpPr>
          <p:nvPr/>
        </p:nvSpPr>
        <p:spPr>
          <a:xfrm>
            <a:off x="423976" y="5693490"/>
            <a:ext cx="6583504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 xml:space="preserve">Forza lavoro: retribuzione, contrattazione collettiva e formazione (B10)</a:t>
            </a:r>
            <a:endParaRPr lang="it-IT" dirty="0"/>
          </a:p>
        </p:txBody>
      </p:sp>
      <p:graphicFrame>
        <p:nvGraphicFramePr>
          <p:cNvPr id="7" name="Table 14">
            <a:extLst>
              <a:ext uri="{FF2B5EF4-FFF2-40B4-BE49-F238E27FC236}">
                <a16:creationId xmlns:a16="http://schemas.microsoft.com/office/drawing/2014/main" id="{0C7C0513-162A-A2C4-1F7F-C0CD906CAB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423573"/>
              </p:ext>
            </p:extLst>
          </p:nvPr>
        </p:nvGraphicFramePr>
        <p:xfrm>
          <a:off x="3853152" y="6867207"/>
          <a:ext cx="3295368" cy="1032717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292985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002383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458049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Divario retributivo tra dipendenti di sesso maschile e femminile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42b)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>Year</a:t>
                      </a:r>
                      <a:r>
                        <a:rPr lang="it-IT" sz="975" b="1" noProof="0">
                          <a:solidFill>
                            <a:srgbClr val="1B452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t-IT" sz="975" b="1" noProof="0">
                          <a:solidFill>
                            <a:srgbClr val="1B4528"/>
                          </a:solidFill>
                        </a:rPr>
                        <a:t>{{insert_year}}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57466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975" b="0" noProof="0">
                          <a:solidFill>
                            <a:srgbClr val="1B4528"/>
                          </a:solidFill>
                        </a:rPr>
                        <a:t>{{</a:t>
                      </a:r>
                      <a:r>
                        <a:rPr lang="it-IT" sz="975" b="0" noProof="0">
                          <a:solidFill>
                            <a:srgbClr val="1B4528"/>
                          </a:solidFill>
                        </a:rPr>
                        <a:t>indsat_procentvise_lonforskel</a:t>
                      </a:r>
                      <a:r>
                        <a:rPr lang="it-IT" sz="975" b="0" noProof="0">
                          <a:solidFill>
                            <a:srgbClr val="1B4528"/>
                          </a:solidFill>
                        </a:rPr>
                        <a:t>}}</a:t>
                      </a:r>
                    </a:p>
                  </a:txBody>
                  <a:tcPr marL="29999" marR="29999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10" name="Tabel 9">
            <a:extLst>
              <a:ext uri="{FF2B5EF4-FFF2-40B4-BE49-F238E27FC236}">
                <a16:creationId xmlns:a16="http://schemas.microsoft.com/office/drawing/2014/main" id="{84CAF6AE-5821-23BB-F517-5C5C31B06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318665"/>
              </p:ext>
            </p:extLst>
          </p:nvPr>
        </p:nvGraphicFramePr>
        <p:xfrm>
          <a:off x="411480" y="6867210"/>
          <a:ext cx="3295368" cy="1032714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807924">
                  <a:extLst>
                    <a:ext uri="{9D8B030D-6E8A-4147-A177-3AD203B41FA5}">
                      <a16:colId xmlns:a16="http://schemas.microsoft.com/office/drawing/2014/main" val="160727125"/>
                    </a:ext>
                  </a:extLst>
                </a:gridCol>
                <a:gridCol w="762792">
                  <a:extLst>
                    <a:ext uri="{9D8B030D-6E8A-4147-A177-3AD203B41FA5}">
                      <a16:colId xmlns:a16="http://schemas.microsoft.com/office/drawing/2014/main" val="1767985329"/>
                    </a:ext>
                  </a:extLst>
                </a:gridCol>
                <a:gridCol w="724652">
                  <a:extLst>
                    <a:ext uri="{9D8B030D-6E8A-4147-A177-3AD203B41FA5}">
                      <a16:colId xmlns:a16="http://schemas.microsoft.com/office/drawing/2014/main" val="1397164534"/>
                    </a:ext>
                  </a:extLst>
                </a:gridCol>
              </a:tblGrid>
              <a:tr h="392947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Informazioni sul salario minimo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>(42a)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Sì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>No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607533"/>
                  </a:ext>
                </a:extLst>
              </a:tr>
              <a:tr h="639767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Nell’impresa tutti i dipendenti percepiscono una retribuzione almeno pari al salario minimo 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{{minumum_wage_yes?}}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{{minimum_wage_no?}}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907362"/>
                  </a:ext>
                </a:extLst>
              </a:tr>
            </a:tbl>
          </a:graphicData>
        </a:graphic>
      </p:graphicFrame>
      <p:graphicFrame>
        <p:nvGraphicFramePr>
          <p:cNvPr id="11" name="Table 16">
            <a:extLst>
              <a:ext uri="{FF2B5EF4-FFF2-40B4-BE49-F238E27FC236}">
                <a16:creationId xmlns:a16="http://schemas.microsoft.com/office/drawing/2014/main" id="{38A9DB6D-6A2A-85D4-0695-C590EC6B3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838199"/>
              </p:ext>
            </p:extLst>
          </p:nvPr>
        </p:nvGraphicFramePr>
        <p:xfrm>
          <a:off x="411480" y="8226419"/>
          <a:ext cx="3295368" cy="965966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821125">
                  <a:extLst>
                    <a:ext uri="{9D8B030D-6E8A-4147-A177-3AD203B41FA5}">
                      <a16:colId xmlns:a16="http://schemas.microsoft.com/office/drawing/2014/main" val="81046444"/>
                    </a:ext>
                  </a:extLst>
                </a:gridCol>
                <a:gridCol w="1474243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454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Contratto collettivo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42c)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>Year</a:t>
                      </a:r>
                      <a:r>
                        <a:rPr lang="it-IT" sz="975" b="1" noProof="0">
                          <a:solidFill>
                            <a:srgbClr val="1B452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{{insert_year}}</a:t>
                      </a:r>
                      <a:endParaRPr lang="it-IT" sz="975" b="1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5117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Percentuale di dipendenti coperti da un contratto collettivo</a:t>
                      </a:r>
                      <a:endParaRPr kumimoji="0" lang="it-IT" sz="975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B4528"/>
                        </a:solidFill>
                        <a:effectLst/>
                        <a:uLnTx/>
                        <a:uFillTx/>
                        <a:latin typeface="IBM Plex Sans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{{indsat_procentvis_ansatte}}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12" name="Table 19">
            <a:extLst>
              <a:ext uri="{FF2B5EF4-FFF2-40B4-BE49-F238E27FC236}">
                <a16:creationId xmlns:a16="http://schemas.microsoft.com/office/drawing/2014/main" id="{2EC4274B-57F6-8036-8EA2-C2FF27F03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68891"/>
              </p:ext>
            </p:extLst>
          </p:nvPr>
        </p:nvGraphicFramePr>
        <p:xfrm>
          <a:off x="3853152" y="8226417"/>
          <a:ext cx="3295368" cy="96596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294254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001114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447560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Ore medie di formazione per dipendente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42d)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>Year</a:t>
                      </a:r>
                      <a:r>
                        <a:rPr lang="it-IT" sz="975" b="1" noProof="0">
                          <a:solidFill>
                            <a:srgbClr val="1B4528"/>
                          </a:solidFill>
                          <a:latin typeface="Calibri"/>
                          <a:cs typeface="Calibri"/>
                        </a:rPr>
                        <a:t> {{insert_year}}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518408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Ora/e per dipendente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gennemsnitstimer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15874" marR="15874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585068"/>
                  </a:ext>
                </a:extLst>
              </a:tr>
            </a:tbl>
          </a:graphicData>
        </a:graphic>
      </p:graphicFrame>
      <p:sp>
        <p:nvSpPr>
          <p:cNvPr id="14" name="Tekstfelt 13">
            <a:extLst>
              <a:ext uri="{FF2B5EF4-FFF2-40B4-BE49-F238E27FC236}">
                <a16:creationId xmlns:a16="http://schemas.microsoft.com/office/drawing/2014/main" id="{91C95227-E2BB-1C05-1C40-EB20A1C1BCA2}"/>
              </a:ext>
            </a:extLst>
          </p:cNvPr>
          <p:cNvSpPr txBox="1"/>
          <p:nvPr/>
        </p:nvSpPr>
        <p:spPr>
          <a:xfrm>
            <a:off x="411480" y="6050028"/>
            <a:ext cx="6737040" cy="84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comunicato informazioni sul salario minimo, la percentuale di dipendenti coperti da contratti collettivi e il numero medio annuo di ore di formazione per dipendente, ripartito per genere. Se l’impresa è già tenuta, in forza della normativa UE 8 o di altre disposizioni nazionali, a comunicare la percentuale del divario retributivo tra dipendenti di sesso femminile e maschile, deve indicarla.</a:t>
            </a:r>
          </a:p>
          <a:p>
            <a:pPr>
              <a:buNone/>
            </a:pPr>
            <a:br>
              <a:rPr lang="it-IT" sz="975" noProof="0">
                <a:solidFill>
                  <a:schemeClr val="tx2"/>
                </a:solidFill>
                <a:latin typeface="Inter"/>
              </a:rPr>
            </a:br>
            <a:endParaRPr lang="it-IT" sz="975" noProof="0">
              <a:solidFill>
                <a:schemeClr val="tx2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298971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Condotta delle imprese: condanne e ammende per corruzione attiva &amp; passiva (B11) 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F65586E-0EF1-899A-1FCC-C083408AD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272026"/>
              </p:ext>
            </p:extLst>
          </p:nvPr>
        </p:nvGraphicFramePr>
        <p:xfrm>
          <a:off x="411480" y="2556047"/>
          <a:ext cx="6737040" cy="50998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245680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245680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2245680">
                  <a:extLst>
                    <a:ext uri="{9D8B030D-6E8A-4147-A177-3AD203B41FA5}">
                      <a16:colId xmlns:a16="http://schemas.microsoft.com/office/drawing/2014/main" val="1502960985"/>
                    </a:ext>
                  </a:extLst>
                </a:gridCol>
              </a:tblGrid>
              <a:tr h="254990">
                <a:tc rowSpan="2"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Corruzione attiva e passiva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43)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Numero di condanne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Importo complessivo delle ammende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54990">
                <a:tc vMerge="1">
                  <a:txBody>
                    <a:bodyPr/>
                    <a:lstStyle/>
                    <a:p>
                      <a:endParaRPr lang="it-IT" sz="725" b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{{domme}}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{{samlet_bodestorrelse}}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9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endParaRPr lang="it-IT" noProof="0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18D9DD8E-27FC-601F-5895-E2455B4CB3B0}"/>
              </a:ext>
            </a:extLst>
          </p:cNvPr>
          <p:cNvSpPr txBox="1"/>
          <p:nvPr/>
        </p:nvSpPr>
        <p:spPr>
          <a:xfrm>
            <a:off x="411480" y="1445509"/>
            <a:ext cx="6737040" cy="84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indicato le violazioni delle leggi in materia di lotta alla corruzione nel periodo di riferimento. Se l’impresa è stata oggetto di condanne o ammende per tali violazioni, sono state comunicate le informazioni seguenti: il numero di condanne e l’importo complessivo delle ammende irrogate. Tali informazioni riguardano l’etica aziendale e la sostenibilità dell’impresa, in particolare la gestione della corruzione, e sono indicate di seguito.</a:t>
            </a:r>
            <a:endParaRPr lang="it-IT" sz="975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br>
              <a:rPr lang="it-IT" sz="975" noProof="0">
                <a:solidFill>
                  <a:schemeClr val="tx2"/>
                </a:solidFill>
                <a:latin typeface="Inter"/>
              </a:rPr>
            </a:br>
            <a:endParaRPr lang="it-IT" sz="975" noProof="0">
              <a:solidFill>
                <a:schemeClr val="tx2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682118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>
            <a:extLst>
              <a:ext uri="{FF2B5EF4-FFF2-40B4-BE49-F238E27FC236}">
                <a16:creationId xmlns:a16="http://schemas.microsoft.com/office/drawing/2014/main" id="{8929CC52-5059-1012-5A40-D359AA36A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3671027"/>
            <a:ext cx="6737040" cy="1217034"/>
          </a:xfrm>
        </p:spPr>
        <p:txBody>
          <a:bodyPr>
            <a:normAutofit/>
          </a:bodyPr>
          <a:lstStyle/>
          <a:p>
            <a:r>
              <a:rPr lang="it-IT" sz="3325" b="1" noProof="0"/>
              <a:t xml:space="preserve">Informative del modulo onnicomprensivo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8A923573-02E7-36F8-863E-7A551AE1CD3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10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959639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776625"/>
            <a:ext cx="6737040" cy="213511"/>
          </a:xfrm>
        </p:spPr>
        <p:txBody>
          <a:bodyPr/>
          <a:lstStyle/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it-IT" sz="1475" b="1" i="0" u="none" strike="noStrike" kern="1200" spc="-10" noProof="0">
                <a:solidFill>
                  <a:srgbClr val="1B4528"/>
                </a:solidFill>
                <a:effectLst/>
                <a:latin typeface="IBM Plex Sans" panose="020B0503050203000203" pitchFamily="34" charset="0"/>
              </a:rPr>
              <a:t xml:space="preserve">Strategia: modello aziendale e iniziative connesse alla sostenibilità (C1)</a:t>
            </a:r>
            <a:endParaRPr lang="it-IT" noProof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C1CB6473-45A0-323E-9329-E3AEC5C2F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5097918"/>
            <a:ext cx="6737040" cy="19382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11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3C59346-F692-8EEE-6728-75E283DC6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372857"/>
              </p:ext>
            </p:extLst>
          </p:nvPr>
        </p:nvGraphicFramePr>
        <p:xfrm>
          <a:off x="411480" y="2946305"/>
          <a:ext cx="6737040" cy="653339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6737040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</a:tblGrid>
              <a:tr h="149985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Descrizione dei gruppi significativi di prodotti e/o servizi che </a:t>
                      </a:r>
                      <a:r>
                        <a:rPr lang="it-IT" sz="975" b="1" kern="120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>{{company_name}} </a:t>
                      </a:r>
                      <a:r>
                        <a:rPr lang="it-IT" sz="97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offre</a:t>
                      </a: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46a)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444751">
                <a:tc>
                  <a:txBody>
                    <a:bodyPr/>
                    <a:lstStyle/>
                    <a:p>
                      <a:pPr algn="l"/>
                      <a:r>
                        <a:rPr lang="it-IT" sz="975" b="0" noProof="0">
                          <a:solidFill>
                            <a:srgbClr val="1B4528"/>
                          </a:solidFill>
                        </a:rPr>
                        <a:t>{{markets_description}}</a:t>
                      </a:r>
                      <a:endParaRPr lang="it-IT" sz="975" b="0" kern="1200" noProof="0">
                        <a:solidFill>
                          <a:srgbClr val="1B452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BF7B7D4C-4B08-C9C0-EA8D-D975600D4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49860"/>
              </p:ext>
            </p:extLst>
          </p:nvPr>
        </p:nvGraphicFramePr>
        <p:xfrm>
          <a:off x="411480" y="3785752"/>
          <a:ext cx="6737040" cy="852817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6737040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</a:tblGrid>
              <a:tr h="162320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Descrizione dei mercati significativi in cui </a:t>
                      </a:r>
                      <a:r>
                        <a:rPr lang="it-IT" sz="975" b="1" kern="120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>{{company_name}} </a:t>
                      </a: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opera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46b)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644229">
                <a:tc>
                  <a:txBody>
                    <a:bodyPr/>
                    <a:lstStyle/>
                    <a:p>
                      <a:pPr algn="l"/>
                      <a:r>
                        <a:rPr lang="it-IT" sz="975" b="0" noProof="0">
                          <a:solidFill>
                            <a:srgbClr val="1B4528"/>
                          </a:solidFill>
                        </a:rPr>
                        <a:t>{{business_relationships}}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14" name="Table 2">
            <a:extLst>
              <a:ext uri="{FF2B5EF4-FFF2-40B4-BE49-F238E27FC236}">
                <a16:creationId xmlns:a16="http://schemas.microsoft.com/office/drawing/2014/main" id="{9A35FA09-5062-B526-C260-BC3A7A5ED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199989"/>
              </p:ext>
            </p:extLst>
          </p:nvPr>
        </p:nvGraphicFramePr>
        <p:xfrm>
          <a:off x="411480" y="4837656"/>
          <a:ext cx="6737040" cy="83173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6737040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</a:tblGrid>
              <a:tr h="148215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Descrizione dei principali rapporti commerciali di </a:t>
                      </a:r>
                      <a:r>
                        <a:rPr lang="it-IT" sz="975" b="1" kern="120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>{{company_name}}</a:t>
                      </a:r>
                      <a:r>
                        <a:rPr lang="it-IT" sz="975" b="1" kern="1200" noProof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/>
                      </a:r>
                      <a:r>
                        <a:rPr lang="it-IT" sz="975" b="1" kern="120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/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46c)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623142">
                <a:tc>
                  <a:txBody>
                    <a:bodyPr/>
                    <a:lstStyle/>
                    <a:p>
                      <a:pPr algn="l"/>
                      <a:r>
                        <a:rPr lang="it-IT" sz="975" b="0" noProof="0">
                          <a:solidFill>
                            <a:srgbClr val="1B4528"/>
                          </a:solidFill>
                        </a:rPr>
                        <a:t>{{strategy}}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017BC3-E5E3-8830-A914-2C6CAB704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437383"/>
              </p:ext>
            </p:extLst>
          </p:nvPr>
        </p:nvGraphicFramePr>
        <p:xfrm>
          <a:off x="411480" y="2222174"/>
          <a:ext cx="6737040" cy="568614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6737040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</a:tblGrid>
              <a:tr h="155752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Descrizione del modello aziendale e della strategia complessivi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46)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360026">
                <a:tc>
                  <a:txBody>
                    <a:bodyPr/>
                    <a:lstStyle/>
                    <a:p>
                      <a:pPr algn="l"/>
                      <a:r>
                        <a:rPr lang="it-IT" sz="975" b="0" noProof="0">
                          <a:solidFill>
                            <a:srgbClr val="1B4528"/>
                          </a:solidFill>
                        </a:rPr>
                        <a:t>{{products_description}}</a:t>
                      </a:r>
                    </a:p>
                    <a:p>
                      <a:pPr algn="l"/>
                      <a:endParaRPr lang="it-IT" sz="975" b="0" kern="1200" noProof="0">
                        <a:solidFill>
                          <a:srgbClr val="1B452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2F97D4B-910A-955C-8249-17FCA8C2C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068697"/>
              </p:ext>
            </p:extLst>
          </p:nvPr>
        </p:nvGraphicFramePr>
        <p:xfrm>
          <a:off x="411480" y="5866371"/>
          <a:ext cx="6737040" cy="808203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6737040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</a:tblGrid>
              <a:tr h="126152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Descrizione degli elementi della strategia e del modello aziendale di </a:t>
                      </a:r>
                      <a:r>
                        <a:rPr lang="it-IT" sz="975" b="1" kern="120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>{{company_name}}</a:t>
                      </a:r>
                      <a:r>
                        <a:rPr lang="it-IT" sz="975" b="1" kern="1200" noProof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connessi alla sostenibilità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46d)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45102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it-IT" sz="975" b="0" noProof="0">
                          <a:solidFill>
                            <a:srgbClr val="1B4528"/>
                          </a:solidFill>
                        </a:rPr>
                        <a:t>{{business_model}}</a:t>
                      </a:r>
                      <a:endParaRPr lang="it-IT"/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19" name="Tekstfelt 18">
            <a:extLst>
              <a:ext uri="{FF2B5EF4-FFF2-40B4-BE49-F238E27FC236}">
                <a16:creationId xmlns:a16="http://schemas.microsoft.com/office/drawing/2014/main" id="{6B666E4C-70AB-0C7E-E428-3654C2D744C6}"/>
              </a:ext>
            </a:extLst>
          </p:cNvPr>
          <p:cNvSpPr txBox="1"/>
          <p:nvPr/>
        </p:nvSpPr>
        <p:spPr>
          <a:xfrm>
            <a:off x="411480" y="1426739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descritto il modello aziendale e la strategia complessivi, i prodotti e/o servizi, i mercati e i rapporti commerciali, indicando se il modello aziendale presenta elementi connessi alla sostenibilità. </a:t>
            </a:r>
            <a:endParaRPr lang="it-IT" sz="975" noProof="0">
              <a:solidFill>
                <a:schemeClr val="tx2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508937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C62860-972E-E884-9828-460A25BD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8089"/>
            <a:ext cx="6737040" cy="207741"/>
          </a:xfrm>
        </p:spPr>
        <p:txBody>
          <a:bodyPr/>
          <a:lstStyle/>
          <a:p>
            <a:r>
              <a:rPr lang="it-IT" noProof="0">
                <a:latin typeface="+mn-lt"/>
                <a:ea typeface="+mn-ea"/>
                <a:cs typeface="+mn-cs"/>
              </a:rPr>
              <a:t>P</a:t>
            </a:r>
            <a:r>
              <a:rPr lang="it-IT" sz="1475" b="1" kern="1200" spc="-1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 xml:space="preserve">ratiche, politiche e iniziative future per la transizione verso un’economia più sostenibile (C2)</a:t>
            </a:r>
            <a:endParaRPr lang="it-IT" noProof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2C860F-3613-E98B-42C7-204BDA28A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12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F24C5-33C0-4C2D-8193-33A504950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A420AFF6-414E-4EC8-A668-F0BFECC82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185767"/>
              </p:ext>
            </p:extLst>
          </p:nvPr>
        </p:nvGraphicFramePr>
        <p:xfrm>
          <a:off x="411480" y="2664954"/>
          <a:ext cx="6737040" cy="449657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156593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1860149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  <a:gridCol w="1860149">
                  <a:extLst>
                    <a:ext uri="{9D8B030D-6E8A-4147-A177-3AD203B41FA5}">
                      <a16:colId xmlns:a16="http://schemas.microsoft.com/office/drawing/2014/main" val="3164053669"/>
                    </a:ext>
                  </a:extLst>
                </a:gridCol>
                <a:gridCol w="1860149">
                  <a:extLst>
                    <a:ext uri="{9D8B030D-6E8A-4147-A177-3AD203B41FA5}">
                      <a16:colId xmlns:a16="http://schemas.microsoft.com/office/drawing/2014/main" val="1484983729"/>
                    </a:ext>
                  </a:extLst>
                </a:gridCol>
              </a:tblGrid>
              <a:tr h="291342">
                <a:tc rowSpan="2"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Ambito</a:t>
                      </a:r>
                    </a:p>
                    <a:p>
                      <a:pPr algn="l"/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47)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Breve descrizione </a:t>
                      </a:r>
                      <a:r>
                        <a:rPr lang="it-IT" sz="975" b="1" u="none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delle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pratiche/politiche/azioni esistenti (cfr. informativa B2)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Breve descrizione degli </a:t>
                      </a:r>
                      <a:r>
                        <a:rPr lang="it-IT" sz="975" b="1" u="none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obiettivi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futuri eventuali (cfr. informativa B2)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spc="-10" noProof="0">
                          <a:solidFill>
                            <a:schemeClr val="bg1"/>
                          </a:solidFill>
                        </a:rPr>
                        <a:t xml:space="preserve">Informativa </a:t>
                      </a:r>
                      <a:r>
                        <a:rPr lang="it-IT" sz="975" b="1" spc="-10" noProof="0">
                          <a:solidFill>
                            <a:schemeClr val="bg1"/>
                          </a:solidFill>
                        </a:rPr>
                        <a:t xml:space="preserve">facoltativa</a:t>
                      </a:r>
                      <a:endParaRPr lang="it-IT" sz="975" spc="-10" noProof="0">
                        <a:solidFill>
                          <a:schemeClr val="bg1"/>
                        </a:solidFill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5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477218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Livello gerarchico più elevato responsabile dell’attuazione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48)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22229"/>
                  </a:ext>
                </a:extLst>
              </a:tr>
              <a:tr h="291263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Cambiamenti climatici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Climate_C2_Description_Existing_Practices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Climate_C2_Future_Practices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Climate_C2_Management_Level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  <a:tr h="276403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Inquinamento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Pollution_C2_Description_Existing_Practices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Pollution_C2_Future_Practices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Pollution_C2_Management_Level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256071"/>
                  </a:ext>
                </a:extLst>
              </a:tr>
              <a:tr h="284254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Acque e risorse marine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Water_C2_Description_Existing_Practices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Water_C2_Future_Practices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/>
                        </a:rPr>
                        <a:t>Water_C2_Management_Level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i="0" u="none" strike="noStrike" noProof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  <a:p>
                      <a:pPr lvl="0">
                        <a:buNone/>
                      </a:pPr>
                      <a:endParaRPr lang="it-IT" sz="975" b="0" i="0" u="none" strike="noStrike" noProof="0">
                        <a:solidFill>
                          <a:srgbClr val="1B4528"/>
                        </a:solidFill>
                        <a:effectLst/>
                        <a:latin typeface="Inter"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156864"/>
                  </a:ext>
                </a:extLst>
              </a:tr>
              <a:tr h="336600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Biodiversità ed ecosistemi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Bio_C2_Description_Existing_Practices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Bio_C2_Future_Practices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Bio_C2_Management_Level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746340"/>
                  </a:ext>
                </a:extLst>
              </a:tr>
              <a:tr h="284254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Economia circolare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Circular_C2_Description_Existing_Practices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Circular_C2_Future_Practices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Circular_C2_Management_Level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359221"/>
                  </a:ext>
                </a:extLst>
              </a:tr>
              <a:tr h="284254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Forza lavoro propria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Own_Workforce_C2_Description_Existing_Practices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Own_Workforce_C2_Future_Practices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Own_Workforce_C2_Management_Level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384999"/>
                  </a:ext>
                </a:extLst>
              </a:tr>
              <a:tr h="284254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Lavoratori nella catena del valore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Workers_Value_Chain_C2_Description_Existing_Practices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Workers_Value_Chain_C2_Future_Practices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Workers_Value_Chain_C2_Management_Level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1919361"/>
                  </a:ext>
                </a:extLst>
              </a:tr>
              <a:tr h="284254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Comunità interessate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Affected_C2_Description_Existing_Practices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Affected_C2_Future_Practices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Affected_C2_Management_Level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877917"/>
                  </a:ext>
                </a:extLst>
              </a:tr>
              <a:tr h="336600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Consumatori e utilizzatori finali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Consumers_C2_Description_Existing_Practices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Consumers_C2_Future_Practices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Consumers_C2_Management_Level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053185"/>
                  </a:ext>
                </a:extLst>
              </a:tr>
              <a:tr h="284254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Condotta delle imprese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Governance_C2_Description_Existing_Practices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Governance_C2_Future_Practices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Governance_C2_Management_Level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057792"/>
                  </a:ext>
                </a:extLst>
              </a:tr>
            </a:tbl>
          </a:graphicData>
        </a:graphic>
      </p:graphicFrame>
      <p:sp>
        <p:nvSpPr>
          <p:cNvPr id="17" name="Tekstfelt 16">
            <a:extLst>
              <a:ext uri="{FF2B5EF4-FFF2-40B4-BE49-F238E27FC236}">
                <a16:creationId xmlns:a16="http://schemas.microsoft.com/office/drawing/2014/main" id="{2A776A89-A1FF-B14E-F93A-876E75156091}"/>
              </a:ext>
            </a:extLst>
          </p:cNvPr>
          <p:cNvSpPr txBox="1"/>
          <p:nvPr/>
        </p:nvSpPr>
        <p:spPr>
          <a:xfrm>
            <a:off x="411480" y="1525700"/>
            <a:ext cx="6737040" cy="538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975" noProof="0">
                <a:solidFill>
                  <a:schemeClr val="tx2"/>
                </a:solidFill>
              </a:rPr>
              <a:t xml:space="preserve">La tabella seguente è stata compilata perché l’impresa ha già predisposto pratiche, politiche o iniziative concrete che contribuiscono alla transizione verso un’economia più sostenibile. L’impresa ha risposto ”SÌ” a una o più informative del punto B2 del modulo base. Di seguito si dà conto in modo più completo delle politiche, iniziative e pratiche avviate nell’impresa per la transizione verso un’economia più sostenibile</a:t>
            </a:r>
          </a:p>
        </p:txBody>
      </p:sp>
    </p:spTree>
    <p:extLst>
      <p:ext uri="{BB962C8B-B14F-4D97-AF65-F5344CB8AC3E}">
        <p14:creationId xmlns:p14="http://schemas.microsoft.com/office/powerpoint/2010/main" val="972470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C62860-972E-E884-9828-460A25BD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775467"/>
            <a:ext cx="6737040" cy="207741"/>
          </a:xfrm>
        </p:spPr>
        <p:txBody>
          <a:bodyPr/>
          <a:lstStyle/>
          <a:p>
            <a:r>
              <a:rPr lang="it-IT" noProof="0">
                <a:solidFill>
                  <a:srgbClr val="1B4528"/>
                </a:solidFill>
                <a:latin typeface="IBM Plex Sans" panose="020B0503050203000203" pitchFamily="34" charset="0"/>
              </a:rPr>
              <a:t xml:space="preserve">Emissioni di CO₂e di cui alla sezione B3 del modulo base</a:t>
            </a:r>
            <a:endParaRPr lang="it-IT" b="0" noProof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2C860F-3613-E98B-42C7-204BDA28A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13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F24C5-33C0-4C2D-8193-33A504950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endParaRPr lang="it-IT" noProof="0"/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A420AFF6-414E-4EC8-A668-F0BFECC82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307555"/>
              </p:ext>
            </p:extLst>
          </p:nvPr>
        </p:nvGraphicFramePr>
        <p:xfrm>
          <a:off x="411480" y="3688800"/>
          <a:ext cx="6737040" cy="1456344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245680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2245680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  <a:gridCol w="2245680">
                  <a:extLst>
                    <a:ext uri="{9D8B030D-6E8A-4147-A177-3AD203B41FA5}">
                      <a16:colId xmlns:a16="http://schemas.microsoft.com/office/drawing/2014/main" val="2605332690"/>
                    </a:ext>
                  </a:extLst>
                </a:gridCol>
              </a:tblGrid>
              <a:tr h="233402">
                <a:tc gridSpan="3">
                  <a:txBody>
                    <a:bodyPr/>
                    <a:lstStyle/>
                    <a:p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Obiettivi di riduzione delle emissioni di CO₂e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53 a–d)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25" b="0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9213315"/>
                  </a:ext>
                </a:extLst>
              </a:tr>
              <a:tr h="288588">
                <a:tc>
                  <a:txBody>
                    <a:bodyPr/>
                    <a:lstStyle/>
                    <a:p>
                      <a:pPr algn="l"/>
                      <a:endParaRPr lang="it-IT" sz="975" b="0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Obiettivo per l’anno </a:t>
                      </a:r>
                      <a:r>
                        <a:rPr lang="it-IT" sz="975" b="1" kern="1200" spc="-1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>{{baseline_year-1}}</a:t>
                      </a:r>
                      <a:endParaRPr lang="it-IT" sz="975" b="0" kern="1200" spc="-10" noProof="0">
                        <a:solidFill>
                          <a:srgbClr val="1B452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Emissioni di CO₂e nell’anno base: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975" b="1" kern="1200" spc="-1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>{{Insert baseline 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2885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Ambito 1 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{{scope1_target}}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{{scope1_baseline}}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  <a:tr h="2885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Ambito 2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{{scope2_target}}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{{scope2_baseline}}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173805"/>
                  </a:ext>
                </a:extLst>
              </a:tr>
              <a:tr h="288588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Ambito 3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{{scope3_target}}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{{scope3_baseline}}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256071"/>
                  </a:ext>
                </a:extLst>
              </a:tr>
            </a:tbl>
          </a:graphicData>
        </a:graphic>
      </p:graphicFrame>
      <p:graphicFrame>
        <p:nvGraphicFramePr>
          <p:cNvPr id="7" name="Table 21">
            <a:extLst>
              <a:ext uri="{FF2B5EF4-FFF2-40B4-BE49-F238E27FC236}">
                <a16:creationId xmlns:a16="http://schemas.microsoft.com/office/drawing/2014/main" id="{C5FA6A58-54C9-F06A-6108-64DA6FC7E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809021"/>
              </p:ext>
            </p:extLst>
          </p:nvPr>
        </p:nvGraphicFramePr>
        <p:xfrm>
          <a:off x="411480" y="5261327"/>
          <a:ext cx="6737040" cy="633415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6737040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27529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Elenco delle principali azioni che </a:t>
                      </a:r>
                      <a:r>
                        <a:rPr lang="it-IT" sz="975" b="1" kern="120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>{{Company name}} </a:t>
                      </a:r>
                      <a:r>
                        <a:rPr lang="it-IT" sz="975" b="0" kern="120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attua per conseguire gli obiettivi di riduzione delle emissioni di CO₂e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53e)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358116">
                <a:tc>
                  <a:txBody>
                    <a:bodyPr/>
                    <a:lstStyle/>
                    <a:p>
                      <a:pPr algn="l"/>
                      <a:r>
                        <a:rPr lang="it-IT" sz="975" b="0" noProof="0">
                          <a:solidFill>
                            <a:srgbClr val="1B4528"/>
                          </a:solidFill>
                        </a:rPr>
                        <a:t>{{</a:t>
                      </a:r>
                      <a:r>
                        <a:rPr lang="it-IT" sz="975" b="0" noProof="0">
                          <a:solidFill>
                            <a:srgbClr val="1B4528"/>
                          </a:solidFill>
                        </a:rPr>
                        <a:t>mainaction</a:t>
                      </a:r>
                      <a:r>
                        <a:rPr lang="it-IT" sz="975" b="0" noProof="0">
                          <a:solidFill>
                            <a:srgbClr val="1B4528"/>
                          </a:solidFill>
                        </a:rPr>
                        <a:t>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19" name="Title 2">
            <a:extLst>
              <a:ext uri="{FF2B5EF4-FFF2-40B4-BE49-F238E27FC236}">
                <a16:creationId xmlns:a16="http://schemas.microsoft.com/office/drawing/2014/main" id="{4A504496-2FBB-B5B8-A62A-D1611D632D81}"/>
              </a:ext>
            </a:extLst>
          </p:cNvPr>
          <p:cNvSpPr txBox="1">
            <a:spLocks/>
          </p:cNvSpPr>
          <p:nvPr/>
        </p:nvSpPr>
        <p:spPr>
          <a:xfrm>
            <a:off x="411480" y="3281582"/>
            <a:ext cx="6737040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noProof="0"/>
              <a:t xml:space="preserve">Obiettivi di riduzione delle emissioni di CO₂e (C3)</a:t>
            </a:r>
          </a:p>
        </p:txBody>
      </p:sp>
      <p:graphicFrame>
        <p:nvGraphicFramePr>
          <p:cNvPr id="21" name="Table 18">
            <a:extLst>
              <a:ext uri="{FF2B5EF4-FFF2-40B4-BE49-F238E27FC236}">
                <a16:creationId xmlns:a16="http://schemas.microsoft.com/office/drawing/2014/main" id="{7441C3F1-F61D-6925-5ACB-A4A2D6F92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670750"/>
              </p:ext>
            </p:extLst>
          </p:nvPr>
        </p:nvGraphicFramePr>
        <p:xfrm>
          <a:off x="411480" y="1974320"/>
          <a:ext cx="6737040" cy="1067237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5333961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403079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</a:tblGrid>
              <a:tr h="239271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di gas a effetto serra –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 (integrazione del punto 33)</a:t>
                      </a:r>
                      <a:endParaRPr lang="it-IT" sz="975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Anno </a:t>
                      </a:r>
                      <a:r>
                        <a:rPr lang="it-IT" sz="975" b="1" noProof="0">
                          <a:solidFill>
                            <a:srgbClr val="1B4528"/>
                          </a:solidFill>
                          <a:latin typeface="Calibri"/>
                          <a:cs typeface="Calibri"/>
                        </a:rPr>
                        <a:t>{{Insert 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334791"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kern="1200" noProof="0">
                          <a:solidFill>
                            <a:srgbClr val="1B4528"/>
                          </a:solidFill>
                          <a:latin typeface="IBM Plex Sans"/>
                          <a:ea typeface="+mn-ea"/>
                          <a:cs typeface="+mn-cs"/>
                        </a:rPr>
                        <a:t>{{scope3_description_table}}</a:t>
                      </a:r>
                      <a:endParaRPr lang="it-IT" dirty="0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BM Plex Sans"/>
                          <a:ea typeface="+mn-ea"/>
                          <a:cs typeface="+mn-cs"/>
                        </a:rPr>
                        <a:t>{{scope3_emissions_table}}</a:t>
                      </a:r>
                      <a:endParaRPr lang="it-IT" sz="975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IBM Plex Sans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87356"/>
                  </a:ext>
                </a:extLst>
              </a:tr>
              <a:tr h="235394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totali di CO₂e di ambito 3 (basate sulla posizione) 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BM Plex Sans"/>
                          <a:ea typeface="+mn-ea"/>
                          <a:cs typeface="+mn-cs"/>
                        </a:rPr>
                        <a:t>{{scope3}}</a:t>
                      </a:r>
                      <a:endParaRPr lang="it-IT" sz="975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IBM Plex Sans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40515"/>
                  </a:ext>
                </a:extLst>
              </a:tr>
              <a:tr h="235394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totali di CO₂e di ambito 1, 2 e 3   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total_all_scopes</a:t>
                      </a:r>
                      <a:r>
                        <a:rPr kumimoji="0"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  <a:endParaRPr kumimoji="0" lang="it-IT" sz="97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B4528"/>
                        </a:solidFill>
                        <a:effectLst/>
                        <a:uLnTx/>
                        <a:uFillTx/>
                        <a:latin typeface="IBM Plex Sans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150282"/>
                  </a:ext>
                </a:extLst>
              </a:tr>
            </a:tbl>
          </a:graphicData>
        </a:graphic>
      </p:graphicFrame>
      <p:sp>
        <p:nvSpPr>
          <p:cNvPr id="23" name="Tekstfelt 22">
            <a:extLst>
              <a:ext uri="{FF2B5EF4-FFF2-40B4-BE49-F238E27FC236}">
                <a16:creationId xmlns:a16="http://schemas.microsoft.com/office/drawing/2014/main" id="{2E9E5E59-EFEC-9D92-05CF-169227F7ABCF}"/>
              </a:ext>
            </a:extLst>
          </p:cNvPr>
          <p:cNvSpPr txBox="1"/>
          <p:nvPr/>
        </p:nvSpPr>
        <p:spPr>
          <a:xfrm>
            <a:off x="411480" y="1204244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fornito un quadro delle emissioni di gas a effetto serra di ambito 3 secondo il GHG Protocol, indicando le emissioni totali e quelle di ambito 3 basate sulla posizione. Sono riportati gli obiettivi di riduzione delle emissioni di CO₂e dell’impresa e le principali azioni per conseguire gli obiettiv</a:t>
            </a:r>
            <a:r>
              <a:rPr lang="it-IT" sz="975" noProof="0">
                <a:solidFill>
                  <a:schemeClr val="tx2"/>
                </a:solidFill>
                <a:latin typeface="Inter"/>
              </a:rPr>
              <a:t xml:space="preserve">i.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FBB97B4D-08D8-D90C-1409-BA753C4F4AD8}"/>
              </a:ext>
            </a:extLst>
          </p:cNvPr>
          <p:cNvSpPr txBox="1">
            <a:spLocks/>
          </p:cNvSpPr>
          <p:nvPr/>
        </p:nvSpPr>
        <p:spPr>
          <a:xfrm>
            <a:off x="411480" y="6141552"/>
            <a:ext cx="6737040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 xml:space="preserve">Transizione climatica (C3)</a:t>
            </a:r>
          </a:p>
        </p:txBody>
      </p:sp>
      <p:graphicFrame>
        <p:nvGraphicFramePr>
          <p:cNvPr id="6" name="Table 21">
            <a:extLst>
              <a:ext uri="{FF2B5EF4-FFF2-40B4-BE49-F238E27FC236}">
                <a16:creationId xmlns:a16="http://schemas.microsoft.com/office/drawing/2014/main" id="{2DE6B17C-F4B0-464A-05E7-A58062EF92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220017"/>
              </p:ext>
            </p:extLst>
          </p:nvPr>
        </p:nvGraphicFramePr>
        <p:xfrm>
          <a:off x="411480" y="8896659"/>
          <a:ext cx="6737040" cy="1020741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3368520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3368520">
                  <a:extLst>
                    <a:ext uri="{9D8B030D-6E8A-4147-A177-3AD203B41FA5}">
                      <a16:colId xmlns:a16="http://schemas.microsoft.com/office/drawing/2014/main" val="970155923"/>
                    </a:ext>
                  </a:extLst>
                </a:gridCol>
              </a:tblGrid>
              <a:tr h="272971">
                <a:tc gridSpan="2">
                  <a:txBody>
                    <a:bodyPr/>
                    <a:lstStyle/>
                    <a:p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Futuro piano di transizione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55)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37388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>{{company_name}} </a:t>
                      </a:r>
                      <a:r>
                        <a:rPr lang="it-IT" sz="97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adotterà un piano di transizione concreto </a:t>
                      </a: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per la mitigazione dei cambiamenti climatici</a:t>
                      </a:r>
                      <a:endParaRPr lang="it-IT" sz="975" b="1" kern="120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{{transition_plan?}}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37388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Data di adozione del piano di transizione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transition_plan_date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96352"/>
                  </a:ext>
                </a:extLst>
              </a:tr>
            </a:tbl>
          </a:graphicData>
        </a:graphic>
      </p:graphicFrame>
      <p:graphicFrame>
        <p:nvGraphicFramePr>
          <p:cNvPr id="8" name="Table 21">
            <a:extLst>
              <a:ext uri="{FF2B5EF4-FFF2-40B4-BE49-F238E27FC236}">
                <a16:creationId xmlns:a16="http://schemas.microsoft.com/office/drawing/2014/main" id="{E6BB71D4-7167-ADE5-0F8F-5DCD2A18B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748797"/>
              </p:ext>
            </p:extLst>
          </p:nvPr>
        </p:nvGraphicFramePr>
        <p:xfrm>
          <a:off x="411480" y="7128927"/>
          <a:ext cx="6737040" cy="1169467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6737040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221082">
                <a:tc>
                  <a:txBody>
                    <a:bodyPr/>
                    <a:lstStyle/>
                    <a:p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Piano di transizione per la mitigazione dei cambiamenti climatici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54)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948385">
                <a:tc>
                  <a:txBody>
                    <a:bodyPr/>
                    <a:lstStyle/>
                    <a:p>
                      <a:pPr algn="l"/>
                      <a:r>
                        <a:rPr lang="it-IT" sz="975" b="0" noProof="0">
                          <a:solidFill>
                            <a:srgbClr val="1B4528"/>
                          </a:solidFill>
                        </a:rPr>
                        <a:t>{{</a:t>
                      </a:r>
                      <a:r>
                        <a:rPr lang="it-IT" sz="975" b="0" noProof="0">
                          <a:solidFill>
                            <a:srgbClr val="1B4528"/>
                          </a:solidFill>
                        </a:rPr>
                        <a:t>transition_plan</a:t>
                      </a:r>
                      <a:r>
                        <a:rPr lang="it-IT" sz="975" b="0" noProof="0">
                          <a:solidFill>
                            <a:srgbClr val="1B4528"/>
                          </a:solidFill>
                        </a:rPr>
                        <a:t>}}</a:t>
                      </a:r>
                    </a:p>
                    <a:p>
                      <a:pPr algn="l"/>
                      <a:endParaRPr lang="it-IT" sz="975" b="0" noProof="0" dirty="0">
                        <a:solidFill>
                          <a:srgbClr val="1B4528"/>
                        </a:solidFill>
                      </a:endParaRPr>
                    </a:p>
                    <a:p>
                      <a:pPr algn="l"/>
                      <a:endParaRPr lang="it-IT" sz="975" b="0" noProof="0" dirty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9" name="Tekstfelt 8">
            <a:extLst>
              <a:ext uri="{FF2B5EF4-FFF2-40B4-BE49-F238E27FC236}">
                <a16:creationId xmlns:a16="http://schemas.microsoft.com/office/drawing/2014/main" id="{D30F6DC8-D978-CF00-7945-B9B1AF621669}"/>
              </a:ext>
            </a:extLst>
          </p:cNvPr>
          <p:cNvSpPr txBox="1"/>
          <p:nvPr/>
        </p:nvSpPr>
        <p:spPr>
          <a:xfrm>
            <a:off x="411480" y="6594415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Le informazioni seguenti riguardano il piano di transizione dell’impresa per la mitigazione dei cambiamenti climatici. La transizione è collegata agli obiettivi di riduzione delle emissioni di CO₂e dell’impresa.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24B5A55D-2C44-16CE-514E-9715833483A7}"/>
              </a:ext>
            </a:extLst>
          </p:cNvPr>
          <p:cNvSpPr txBox="1"/>
          <p:nvPr/>
        </p:nvSpPr>
        <p:spPr>
          <a:xfrm>
            <a:off x="411480" y="8386928"/>
            <a:ext cx="6737040" cy="230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La presente informativa è stata compilata perché l’impresa ha indicato che adotterà un piano di transizione concreto, con la relativa data di adozione.</a:t>
            </a:r>
            <a:endParaRPr lang="it-IT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940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C62860-972E-E884-9828-460A25BD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731222"/>
            <a:ext cx="6737040" cy="207741"/>
          </a:xfrm>
        </p:spPr>
        <p:txBody>
          <a:bodyPr/>
          <a:lstStyle/>
          <a:p>
            <a:r>
              <a:rPr lang="it-IT" noProof="0"/>
              <a:t xml:space="preserve">R</a:t>
            </a:r>
            <a:r>
              <a:rPr lang="it-IT" sz="1475" b="1" noProof="0">
                <a:solidFill>
                  <a:schemeClr val="tx2"/>
                </a:solidFill>
              </a:rPr>
              <a:t xml:space="preserve">ischi climatici (C4)</a:t>
            </a:r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F24C5-33C0-4C2D-8193-33A504950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pic>
        <p:nvPicPr>
          <p:cNvPr id="16" name="Graphic 9">
            <a:extLst>
              <a:ext uri="{FF2B5EF4-FFF2-40B4-BE49-F238E27FC236}">
                <a16:creationId xmlns:a16="http://schemas.microsoft.com/office/drawing/2014/main" id="{033648F6-FE58-4D8D-89DB-42FC37C87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4855421"/>
            <a:ext cx="6737040" cy="193826"/>
          </a:xfrm>
          <a:prstGeom prst="rect">
            <a:avLst/>
          </a:prstGeom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701FC5B6-C71C-4B3D-30F9-DBF0A8F39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5649259"/>
            <a:ext cx="6737040" cy="193826"/>
          </a:xfrm>
          <a:prstGeom prst="rect">
            <a:avLst/>
          </a:prstGeom>
        </p:spPr>
      </p:pic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6B6532BD-8830-D325-3A0A-E3778F929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858557"/>
              </p:ext>
            </p:extLst>
          </p:nvPr>
        </p:nvGraphicFramePr>
        <p:xfrm>
          <a:off x="411480" y="2041628"/>
          <a:ext cx="6737040" cy="3977161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91300808"/>
                    </a:ext>
                  </a:extLst>
                </a:gridCol>
                <a:gridCol w="1097312">
                  <a:extLst>
                    <a:ext uri="{9D8B030D-6E8A-4147-A177-3AD203B41FA5}">
                      <a16:colId xmlns:a16="http://schemas.microsoft.com/office/drawing/2014/main" val="1169754581"/>
                    </a:ext>
                  </a:extLst>
                </a:gridCol>
                <a:gridCol w="1034845">
                  <a:extLst>
                    <a:ext uri="{9D8B030D-6E8A-4147-A177-3AD203B41FA5}">
                      <a16:colId xmlns:a16="http://schemas.microsoft.com/office/drawing/2014/main" val="519320573"/>
                    </a:ext>
                  </a:extLst>
                </a:gridCol>
                <a:gridCol w="947283">
                  <a:extLst>
                    <a:ext uri="{9D8B030D-6E8A-4147-A177-3AD203B41FA5}">
                      <a16:colId xmlns:a16="http://schemas.microsoft.com/office/drawing/2014/main" val="4379801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6405366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84983729"/>
                    </a:ext>
                  </a:extLst>
                </a:gridCol>
              </a:tblGrid>
              <a:tr h="186792">
                <a:tc gridSpan="3">
                  <a:txBody>
                    <a:bodyPr/>
                    <a:lstStyle/>
                    <a:p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56a)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56b)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56c)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56d)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4548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Rischi climatici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Dove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Breve descrizione dei rischi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Esposizione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(basso/medio/elevato)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Sensibilità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(basso/medio/elevato)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Orizzonte temporale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i="0" noProof="0">
                          <a:solidFill>
                            <a:schemeClr val="tx2"/>
                          </a:solidFill>
                        </a:rPr>
                        <a:t xml:space="preserve">(0-1/2-5/&gt;5 anni)</a:t>
                      </a:r>
                      <a:endParaRPr lang="it-IT" sz="825" b="0" i="0" noProof="0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Adatta­mento </a:t>
                      </a:r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(SÌ/NO)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970087"/>
                  </a:ext>
                </a:extLst>
              </a:tr>
              <a:tr h="320817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Pericoli cronici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Attivi</a:t>
                      </a:r>
                      <a:endParaRPr lang="it-IT" sz="82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</a:rPr>
                        <a:t>{{chronic_aktiver_description}}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{{chronic_aktiver_eksponerning}}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{{chronic_aktiver_sårbarhed}}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{{chronic_aktiver_time}}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{{chronic_aktiver_tilpasning}}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  <a:tr h="32081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 b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Attività</a:t>
                      </a:r>
                      <a:endParaRPr lang="it-IT" sz="82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{{chronic_aktiveter_description}}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</a:rPr>
                        <a:t>{{chronic_aktivteter_eksponerning}}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{{chronic_aktivteter_sårbarhed}}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{{chronic_aktivteter_time}}</a:t>
                      </a:r>
                      <a:endParaRPr lang="it-IT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{{chronic_aktivteter_tilpasning}}</a:t>
                      </a:r>
                      <a:endParaRPr lang="it-IT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it-IT" sz="82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372718"/>
                  </a:ext>
                </a:extLst>
              </a:tr>
              <a:tr h="32081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 b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Catena del valore</a:t>
                      </a:r>
                      <a:endParaRPr lang="it-IT" sz="82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</a:rPr>
                        <a:t>{{chronic_value_description}}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{{chronic_value_eksponerning}}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{{chronic_value_sårbarhed}}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{{chronic_value_time}}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{{chronic_value_tilpasning}}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8144899"/>
                  </a:ext>
                </a:extLst>
              </a:tr>
              <a:tr h="320817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Pericoli acuti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Attivi</a:t>
                      </a:r>
                      <a:endParaRPr lang="it-IT" sz="82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</a:rPr>
                        <a:t>{{akut_aktiver_description}}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{{akut_aktiver_eksponering}}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{{akut_aktiver_sårbarhed}}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{{akut_aktiver_tidshorisont}}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{{akut_aktiver_tilpasning}}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0158845"/>
                  </a:ext>
                </a:extLst>
              </a:tr>
              <a:tr h="32081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 b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Attività</a:t>
                      </a:r>
                      <a:endParaRPr lang="it-IT" sz="82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</a:rPr>
                        <a:t>{{akut_aktiviteter_description}}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{{akut_aktiviteter_eksponering}}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{{akut_aktiviteter_sårbarhed}}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{{akut_aktiviteter_tidshorisont}}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{{akut_aktiviteter_tilpasning}}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780729"/>
                  </a:ext>
                </a:extLst>
              </a:tr>
              <a:tr h="32081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 b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Catena del valore</a:t>
                      </a:r>
                      <a:endParaRPr lang="it-IT" sz="82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</a:rPr>
                        <a:t>{{akut_værdikæde_description}}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{{akut_værdikæde_eksponering}}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{{akut_værdikæde_sårbarhed}}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{{akut_værdikæde_tidshorisont}}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{{akut_værdikæde_tilpasning}}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359558"/>
                  </a:ext>
                </a:extLst>
              </a:tr>
              <a:tr h="320817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Evento di transizione</a:t>
                      </a:r>
                      <a:endParaRPr lang="it-IT" sz="82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Attivi</a:t>
                      </a:r>
                      <a:endParaRPr lang="it-IT" sz="82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</a:rPr>
                        <a:t>{{omstilling_aktiver_description}}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{{omstilling_aktiver_eksponering}}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{{omstilling_aktiver_sårbarhed}}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{{omstilling_aktiver_tidshorisont}}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{{omstilling_aktiver_tilpasning}}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315044"/>
                  </a:ext>
                </a:extLst>
              </a:tr>
              <a:tr h="32081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 b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Attività</a:t>
                      </a:r>
                      <a:endParaRPr lang="it-IT" sz="82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</a:rPr>
                        <a:t>{{omstilling_aktiviteter_description}}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{{omstilling_aktiviteter_eksponering}}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{{omstilling_aktiviteter_sårbarhed}}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{{omstilling_aktiviteter_tidshorisont}}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{{omstilling_aktiviteter_tilpasning}}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1005516"/>
                  </a:ext>
                </a:extLst>
              </a:tr>
              <a:tr h="32081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 b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Catena del valore</a:t>
                      </a:r>
                      <a:endParaRPr lang="it-IT" sz="82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</a:rPr>
                        <a:t>{{omstilling_værdikæde_description}}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{{omstilling_værdikæde_eksponering}}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{{omstilling_værdikæde_sårbarhed}}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{{omstilling_værdikæde_tidshorisont}}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{{omstilling_værdikæde_tilpasning}}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361783"/>
                  </a:ext>
                </a:extLst>
              </a:tr>
            </a:tbl>
          </a:graphicData>
        </a:graphic>
      </p:graphicFrame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1BCA9577-CEBB-E934-0086-6454617DB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10152285"/>
            <a:ext cx="6737040" cy="128235"/>
          </a:xfrm>
        </p:spPr>
        <p:txBody>
          <a:bodyPr/>
          <a:lstStyle/>
          <a:p>
            <a:fld id="{4702451B-F4AF-4B05-87B1-F468C54F2952}" type="slidenum">
              <a:rPr lang="it-IT" dirty="0">
                <a:solidFill>
                  <a:srgbClr val="1B4528">
                    <a:alpha val="70000"/>
                  </a:srgbClr>
                </a:solidFill>
              </a:rPr>
              <a:t>14</a:t>
            </a:fld>
            <a:endParaRPr lang="it-IT" noProof="0">
              <a:solidFill>
                <a:srgbClr val="1B4528">
                  <a:alpha val="70000"/>
                </a:srgbClr>
              </a:solidFill>
            </a:endParaRPr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95516DC4-723D-47D3-815C-1521BE5CD573}"/>
              </a:ext>
            </a:extLst>
          </p:cNvPr>
          <p:cNvSpPr txBox="1"/>
          <p:nvPr/>
        </p:nvSpPr>
        <p:spPr>
          <a:xfrm>
            <a:off x="411480" y="1201922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fornito un quadro dei rischi climatici, precisando se sono cronici, acuti o connessi alla transizione e dove si collocano (attivi, attività o catena del valore dell’impresa). </a:t>
            </a:r>
            <a:endParaRPr lang="it-IT" sz="975" noProof="0">
              <a:solidFill>
                <a:schemeClr val="tx2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168718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C62860-972E-E884-9828-460A25BD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3182"/>
            <a:ext cx="6737040" cy="207741"/>
          </a:xfrm>
        </p:spPr>
        <p:txBody>
          <a:bodyPr/>
          <a:lstStyle/>
          <a:p>
            <a:r>
              <a:rPr lang="it-IT" noProof="0"/>
              <a:t xml:space="preserve">R</a:t>
            </a:r>
            <a:r>
              <a:rPr lang="it-IT" sz="1475" b="1" noProof="0">
                <a:solidFill>
                  <a:schemeClr val="tx2"/>
                </a:solidFill>
              </a:rPr>
              <a:t xml:space="preserve">ischi climatici (C4) - continua</a:t>
            </a:r>
            <a:endParaRPr lang="it-IT" noProof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2C860F-3613-E98B-42C7-204BDA28A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15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F24C5-33C0-4C2D-8193-33A504950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EF97A137-22B1-3AE3-C34C-FFADFEC61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302557"/>
              </p:ext>
            </p:extLst>
          </p:nvPr>
        </p:nvGraphicFramePr>
        <p:xfrm>
          <a:off x="411480" y="2093980"/>
          <a:ext cx="6737040" cy="2933624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712972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  <a:gridCol w="3196433">
                  <a:extLst>
                    <a:ext uri="{9D8B030D-6E8A-4147-A177-3AD203B41FA5}">
                      <a16:colId xmlns:a16="http://schemas.microsoft.com/office/drawing/2014/main" val="3164053669"/>
                    </a:ext>
                  </a:extLst>
                </a:gridCol>
                <a:gridCol w="987084">
                  <a:extLst>
                    <a:ext uri="{9D8B030D-6E8A-4147-A177-3AD203B41FA5}">
                      <a16:colId xmlns:a16="http://schemas.microsoft.com/office/drawing/2014/main" val="1263457420"/>
                    </a:ext>
                  </a:extLst>
                </a:gridCol>
                <a:gridCol w="840551">
                  <a:extLst>
                    <a:ext uri="{9D8B030D-6E8A-4147-A177-3AD203B41FA5}">
                      <a16:colId xmlns:a16="http://schemas.microsoft.com/office/drawing/2014/main" val="1484983729"/>
                    </a:ext>
                  </a:extLst>
                </a:gridCol>
              </a:tblGrid>
              <a:tr h="145927">
                <a:tc gridSpan="4">
                  <a:txBody>
                    <a:bodyPr/>
                    <a:lstStyle/>
                    <a:p>
                      <a:r>
                        <a:rPr lang="it-IT" sz="97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57)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25" b="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25" b="0" i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123079"/>
                  </a:ext>
                </a:extLst>
              </a:tr>
              <a:tr h="3234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Potenziale effetto negativo </a:t>
                      </a:r>
                      <a:r>
                        <a:rPr lang="it-IT" sz="97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sui risultati finanziari e sulle operazioni aziendali dell’impresa 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Rischio finanziario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(basso/medio/elevato)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Orizzonte temporale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i="0" noProof="0">
                          <a:solidFill>
                            <a:schemeClr val="tx2"/>
                          </a:solidFill>
                        </a:rPr>
                        <a:t xml:space="preserve">(0-1/2-5/&gt;5 anni)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1986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Pericoli cronici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311986"/>
                  </a:ext>
                </a:extLst>
              </a:tr>
              <a:tr h="19865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</a:rPr>
                        <a:t>{{chronic_hazards}}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{{chronic connection financial 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BM Plex Sans"/>
                          <a:ea typeface="+mn-ea"/>
                          <a:cs typeface="+mn-cs"/>
                        </a:rPr>
                        <a:t>and operations}}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{{chronic_financial_risk}}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{{chronic_time_horizon}}</a:t>
                      </a:r>
                      <a:endParaRPr lang="it-IT"/>
                    </a:p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7070102"/>
                  </a:ext>
                </a:extLst>
              </a:tr>
              <a:tr h="1986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Pericoli acuti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36619"/>
                  </a:ext>
                </a:extLst>
              </a:tr>
              <a:tr h="19865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</a:rPr>
                        <a:t>{{acute_hazards}}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{{acute connection 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BM Plex Sans"/>
                          <a:ea typeface="+mn-ea"/>
                          <a:cs typeface="+mn-cs"/>
                        </a:rPr>
                        <a:t>financial and operations}}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{{acute_financial_risk}}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{{acute_time_horizon}}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552898"/>
                  </a:ext>
                </a:extLst>
              </a:tr>
              <a:tr h="1986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Rischi di transizione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555600"/>
                  </a:ext>
                </a:extLst>
              </a:tr>
              <a:tr h="19865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</a:rPr>
                        <a:t>{{climate_related}}</a:t>
                      </a:r>
                      <a:endParaRPr lang="it-IT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it-IT" sz="975" b="0" i="0" u="none" strike="noStrike" noProof="0">
                        <a:solidFill>
                          <a:srgbClr val="1B4528"/>
                        </a:solidFill>
                        <a:latin typeface="IBM Plex San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{{climate connection financial 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BM Plex Sans"/>
                          <a:ea typeface="+mn-ea"/>
                          <a:cs typeface="+mn-cs"/>
                        </a:rPr>
                        <a:t>and operations}}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{{climate_related_risk}}</a:t>
                      </a:r>
                      <a:endParaRPr lang="it-IT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{{climate_time_horizon}}</a:t>
                      </a:r>
                      <a:endParaRPr lang="it-IT"/>
                    </a:p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58133"/>
                  </a:ext>
                </a:extLst>
              </a:tr>
            </a:tbl>
          </a:graphicData>
        </a:graphic>
      </p:graphicFrame>
      <p:sp>
        <p:nvSpPr>
          <p:cNvPr id="9" name="Tekstfelt 8">
            <a:extLst>
              <a:ext uri="{FF2B5EF4-FFF2-40B4-BE49-F238E27FC236}">
                <a16:creationId xmlns:a16="http://schemas.microsoft.com/office/drawing/2014/main" id="{9077FE99-B8D2-4CF3-47CF-D201C45554CD}"/>
              </a:ext>
            </a:extLst>
          </p:cNvPr>
          <p:cNvSpPr txBox="1"/>
          <p:nvPr/>
        </p:nvSpPr>
        <p:spPr>
          <a:xfrm>
            <a:off x="411480" y="1290340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fornito un quadro dei rischi climatici, precisando se sono cronici, acuti o connessi alla transizione e se possono incidere negativamente sui risultati finanziari e sulle operazioni aziendali.</a:t>
            </a:r>
            <a:endParaRPr lang="it-IT" sz="975" noProof="0">
              <a:solidFill>
                <a:schemeClr val="tx2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001943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32321"/>
            <a:ext cx="6737040" cy="207741"/>
          </a:xfrm>
        </p:spPr>
        <p:txBody>
          <a:bodyPr/>
          <a:lstStyle/>
          <a:p>
            <a:r>
              <a:rPr lang="it-IT" sz="1248" b="1" i="0" u="none" strike="noStrike" kern="1200" spc="-10" noProof="0">
                <a:solidFill>
                  <a:srgbClr val="1B4528"/>
                </a:solidFill>
              </a:rPr>
              <a:t xml:space="preserve">Altre caratteristiche (generali) della forza lavoro (C5)</a:t>
            </a:r>
            <a:endParaRPr lang="it-IT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16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3255C96-A783-191D-6874-594445940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306731"/>
              </p:ext>
            </p:extLst>
          </p:nvPr>
        </p:nvGraphicFramePr>
        <p:xfrm>
          <a:off x="3853152" y="2024224"/>
          <a:ext cx="3295368" cy="607607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558408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736960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30380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i="0" noProof="0">
                          <a:solidFill>
                            <a:schemeClr val="tx2"/>
                          </a:solidFill>
                        </a:rPr>
                        <a:t xml:space="preserve">Rapporto tra donne e uomini a livello dirigenziale </a:t>
                      </a:r>
                      <a:r>
                        <a:rPr lang="it-IT" sz="825" b="0" i="0" noProof="0">
                          <a:solidFill>
                            <a:schemeClr val="tx2"/>
                          </a:solidFill>
                        </a:rPr>
                        <a:t xml:space="preserve">(punto 59)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825" b="1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 xml:space="preserve">Anno </a:t>
                      </a:r>
                      <a:r>
                        <a:rPr lang="it-IT" sz="825" b="1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{{Insert year}}</a:t>
                      </a:r>
                      <a:endParaRPr lang="it-IT" sz="825" noProof="0">
                        <a:effectLst/>
                      </a:endParaRPr>
                    </a:p>
                  </a:txBody>
                  <a:tcPr marL="31749" marR="31749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303803">
                <a:tc vMerge="1">
                  <a:txBody>
                    <a:bodyPr/>
                    <a:lstStyle/>
                    <a:p>
                      <a:endParaRPr lang="it-IT" sz="750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{{gender_balance}}</a:t>
                      </a:r>
                      <a:endParaRPr lang="it-IT" sz="825" noProof="0">
                        <a:effectLst/>
                      </a:endParaRPr>
                    </a:p>
                  </a:txBody>
                  <a:tcPr marL="31749" marR="31749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</a:tbl>
          </a:graphicData>
        </a:graphic>
      </p:graphicFrame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69535A26-01A9-A0FA-67C0-F2DDC3A1A4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584882"/>
              </p:ext>
            </p:extLst>
          </p:nvPr>
        </p:nvGraphicFramePr>
        <p:xfrm>
          <a:off x="411480" y="2024224"/>
          <a:ext cx="3295368" cy="607607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558408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736960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30380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i="0" noProof="0">
                          <a:solidFill>
                            <a:schemeClr val="tx2"/>
                          </a:solidFill>
                        </a:rPr>
                        <a:t xml:space="preserve">Avvicendamento dei dipendenti nell’anno di riferimento </a:t>
                      </a:r>
                      <a:r>
                        <a:rPr lang="it-IT" sz="825" b="0" i="0" noProof="0">
                          <a:solidFill>
                            <a:schemeClr val="tx2"/>
                          </a:solidFill>
                        </a:rPr>
                        <a:t xml:space="preserve">(punto 58)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825" b="1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 xml:space="preserve">Anno </a:t>
                      </a:r>
                      <a:r>
                        <a:rPr lang="it-IT" sz="825" b="1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{{Insert year}}</a:t>
                      </a:r>
                      <a:endParaRPr lang="it-IT" sz="825" noProof="0">
                        <a:effectLst/>
                      </a:endParaRPr>
                    </a:p>
                  </a:txBody>
                  <a:tcPr marL="31749" marR="31749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303803">
                <a:tc vMerge="1">
                  <a:txBody>
                    <a:bodyPr/>
                    <a:lstStyle/>
                    <a:p>
                      <a:endParaRPr lang="it-IT" sz="750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{{omsatningsrate}}</a:t>
                      </a:r>
                    </a:p>
                  </a:txBody>
                  <a:tcPr marL="31749" marR="31749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</a:tbl>
          </a:graphicData>
        </a:graphic>
      </p:graphicFrame>
      <p:sp>
        <p:nvSpPr>
          <p:cNvPr id="13" name="Tekstfelt 12">
            <a:extLst>
              <a:ext uri="{FF2B5EF4-FFF2-40B4-BE49-F238E27FC236}">
                <a16:creationId xmlns:a16="http://schemas.microsoft.com/office/drawing/2014/main" id="{02AD3E18-6260-CBA0-2A83-112A686452CC}"/>
              </a:ext>
            </a:extLst>
          </p:cNvPr>
          <p:cNvSpPr txBox="1"/>
          <p:nvPr/>
        </p:nvSpPr>
        <p:spPr>
          <a:xfrm>
            <a:off x="411480" y="1317755"/>
            <a:ext cx="6737040" cy="6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82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Le informazioni seguenti integrano le altre informative sulla forza lavoro dell’impresa, tra cui la distribuzione tra uomini e donne a livello dirigenziale.</a:t>
            </a:r>
            <a:endParaRPr lang="it-IT" sz="825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br>
              <a:rPr lang="it-IT" sz="825" noProof="0">
                <a:solidFill>
                  <a:schemeClr val="tx2"/>
                </a:solidFill>
                <a:latin typeface="Inter"/>
              </a:rPr>
            </a:br>
            <a:endParaRPr lang="it-IT" sz="825" noProof="0">
              <a:solidFill>
                <a:schemeClr val="tx2"/>
              </a:solidFill>
              <a:latin typeface="Inter"/>
            </a:endParaRPr>
          </a:p>
        </p:txBody>
      </p:sp>
      <p:graphicFrame>
        <p:nvGraphicFramePr>
          <p:cNvPr id="17" name="Table 8">
            <a:extLst>
              <a:ext uri="{FF2B5EF4-FFF2-40B4-BE49-F238E27FC236}">
                <a16:creationId xmlns:a16="http://schemas.microsoft.com/office/drawing/2014/main" id="{A0192DD3-B257-9166-AD07-2538AE640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068852"/>
              </p:ext>
            </p:extLst>
          </p:nvPr>
        </p:nvGraphicFramePr>
        <p:xfrm>
          <a:off x="411480" y="3646198"/>
          <a:ext cx="6737040" cy="95996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4993574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743466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23999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Lavoratori autonomi e lavoratori temporanei </a:t>
                      </a:r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(punto 60)</a:t>
                      </a:r>
                      <a:endParaRPr lang="it-IT" sz="825" b="1" kern="120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764708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25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Numero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Lavoratori autonomi (senza personale)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{{self-employeed}}</a:t>
                      </a:r>
                      <a:endParaRPr lang="it-IT" sz="82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Lavoratori temporanei (forniti da un’agenzia per il lavoro) </a:t>
                      </a:r>
                      <a:endParaRPr lang="it-IT" sz="82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temp_workers</a:t>
                      </a: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825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40515"/>
                  </a:ext>
                </a:extLst>
              </a:tr>
            </a:tbl>
          </a:graphicData>
        </a:graphic>
      </p:graphicFrame>
      <p:sp>
        <p:nvSpPr>
          <p:cNvPr id="23" name="Tekstfelt 22">
            <a:extLst>
              <a:ext uri="{FF2B5EF4-FFF2-40B4-BE49-F238E27FC236}">
                <a16:creationId xmlns:a16="http://schemas.microsoft.com/office/drawing/2014/main" id="{D60EF1D1-D1F5-4064-9ED3-DE93382F39C3}"/>
              </a:ext>
            </a:extLst>
          </p:cNvPr>
          <p:cNvSpPr txBox="1"/>
          <p:nvPr/>
        </p:nvSpPr>
        <p:spPr>
          <a:xfrm>
            <a:off x="411480" y="3114838"/>
            <a:ext cx="6737040" cy="230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82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Le informazioni seguenti sono state compilate per indicare il numero di lavoratori autonomi e temporanei dell’impresa.</a:t>
            </a:r>
            <a:endParaRPr lang="it-IT" sz="825" b="0" noProof="0">
              <a:solidFill>
                <a:schemeClr val="tx2"/>
              </a:solidFill>
              <a:effectLst/>
              <a:latin typeface="Inter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DB9D9C-F7AE-1DD2-71CF-81E689C1070F}"/>
              </a:ext>
            </a:extLst>
          </p:cNvPr>
          <p:cNvSpPr txBox="1">
            <a:spLocks/>
          </p:cNvSpPr>
          <p:nvPr/>
        </p:nvSpPr>
        <p:spPr>
          <a:xfrm>
            <a:off x="411480" y="5020235"/>
            <a:ext cx="6737040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48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B4528"/>
                </a:solidFill>
                <a:latin typeface="+mn-lt"/>
                <a:ea typeface="+mn-ea"/>
                <a:cs typeface="+mn-cs"/>
              </a:rPr>
              <a:t xml:space="preserve">Politiche e procedure in materia di diritti umani (C6</a:t>
            </a:r>
            <a:r>
              <a:rPr lang="it-IT"/>
              <a:t xml:space="preserve">) - Forza lavoro propria</a:t>
            </a:r>
          </a:p>
        </p:txBody>
      </p:sp>
      <p:graphicFrame>
        <p:nvGraphicFramePr>
          <p:cNvPr id="7" name="Table 12">
            <a:extLst>
              <a:ext uri="{FF2B5EF4-FFF2-40B4-BE49-F238E27FC236}">
                <a16:creationId xmlns:a16="http://schemas.microsoft.com/office/drawing/2014/main" id="{EFD90793-89B1-1051-40D4-976350EF0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300516"/>
              </p:ext>
            </p:extLst>
          </p:nvPr>
        </p:nvGraphicFramePr>
        <p:xfrm>
          <a:off x="411480" y="5968203"/>
          <a:ext cx="6737040" cy="2876437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5179030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558010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4265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kern="120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>{{company_name}}</a:t>
                      </a:r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 dispone di </a:t>
                      </a:r>
                      <a:r>
                        <a:rPr lang="it-IT" sz="82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un codice di condotta </a:t>
                      </a:r>
                      <a:r>
                        <a:rPr lang="it-IT" sz="825" b="1" i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e/o</a:t>
                      </a:r>
                      <a:r>
                        <a:rPr lang="it-IT" sz="82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di una politica in materia di diritti umani per la nostra </a:t>
                      </a:r>
                      <a:r>
                        <a:rPr lang="it-IT" sz="825" b="1" u="sng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forza lavoro</a:t>
                      </a:r>
                      <a:r>
                        <a:rPr lang="it-IT" sz="825" b="0" u="none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(punto 61a)</a:t>
                      </a:r>
                      <a:endParaRPr lang="it-IT" sz="825" b="0" u="none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noProof="0">
                          <a:solidFill>
                            <a:srgbClr val="1B4528"/>
                          </a:solidFill>
                          <a:latin typeface="+mn-lt"/>
                          <a:cs typeface="Calibri"/>
                        </a:rPr>
                        <a:t>{{human_rights_policy?}}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68870"/>
                  </a:ext>
                </a:extLst>
              </a:tr>
              <a:tr h="219389">
                <a:tc gridSpan="2">
                  <a:txBody>
                    <a:bodyPr/>
                    <a:lstStyle/>
                    <a:p>
                      <a:r>
                        <a:rPr lang="it-IT" sz="825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Il codice di condotta o la politica sui diritti umani riguarda i temi seguenti: </a:t>
                      </a:r>
                      <a:r>
                        <a:rPr lang="it-IT" sz="825" b="0" u="none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61b)</a:t>
                      </a:r>
                      <a:endParaRPr lang="it-IT" sz="825" b="0" noProof="0">
                        <a:solidFill>
                          <a:schemeClr val="tx1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50" noProof="0">
                        <a:solidFill>
                          <a:srgbClr val="1B4528"/>
                        </a:solidFill>
                        <a:latin typeface="+mn-lt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441729"/>
                  </a:ext>
                </a:extLst>
              </a:tr>
              <a:tr h="219389">
                <a:tc>
                  <a:txBody>
                    <a:bodyPr/>
                    <a:lstStyle/>
                    <a:p>
                      <a:pPr lvl="1"/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Lavoro minorile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{{child_labour_polict?}}</a:t>
                      </a:r>
                      <a:endParaRPr lang="it-IT" sz="82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313864"/>
                  </a:ext>
                </a:extLst>
              </a:tr>
              <a:tr h="219389">
                <a:tc>
                  <a:txBody>
                    <a:bodyPr/>
                    <a:lstStyle/>
                    <a:p>
                      <a:pPr lvl="1"/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Lavoro forzato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{{forced_labour_policy?}}</a:t>
                      </a:r>
                      <a:endParaRPr lang="it-IT" sz="82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850338"/>
                  </a:ext>
                </a:extLst>
              </a:tr>
              <a:tr h="219389">
                <a:tc>
                  <a:txBody>
                    <a:bodyPr/>
                    <a:lstStyle/>
                    <a:p>
                      <a:pPr lvl="1"/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Tratta di esseri umani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{{human_policy?}}</a:t>
                      </a:r>
                      <a:endParaRPr lang="it-IT" sz="82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288779"/>
                  </a:ext>
                </a:extLst>
              </a:tr>
              <a:tr h="219389">
                <a:tc>
                  <a:txBody>
                    <a:bodyPr/>
                    <a:lstStyle/>
                    <a:p>
                      <a:pPr lvl="1"/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Discriminazione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{{discrimanation_policy?}}</a:t>
                      </a:r>
                      <a:endParaRPr lang="it-IT" sz="82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962095"/>
                  </a:ext>
                </a:extLst>
              </a:tr>
              <a:tr h="219389">
                <a:tc>
                  <a:txBody>
                    <a:bodyPr/>
                    <a:lstStyle/>
                    <a:p>
                      <a:pPr lvl="1"/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Sicurezza e prevenzione degli infortuni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{{safety_policy?}}</a:t>
                      </a:r>
                      <a:endParaRPr lang="it-IT" sz="82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512640"/>
                  </a:ext>
                </a:extLst>
              </a:tr>
              <a:tr h="219389">
                <a:tc>
                  <a:txBody>
                    <a:bodyPr/>
                    <a:lstStyle/>
                    <a:p>
                      <a:pPr lvl="1"/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Altro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{{other_policy?}}</a:t>
                      </a:r>
                      <a:endParaRPr lang="it-IT" sz="82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69227"/>
                  </a:ext>
                </a:extLst>
              </a:tr>
              <a:tr h="219389">
                <a:tc gridSpan="2">
                  <a:txBody>
                    <a:bodyPr/>
                    <a:lstStyle/>
                    <a:p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Se sì per ”Altro”, precisare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50" b="0" noProof="0">
                        <a:solidFill>
                          <a:srgbClr val="1B4528"/>
                        </a:solidFill>
                        <a:latin typeface="+mn-lt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263137"/>
                  </a:ext>
                </a:extLst>
              </a:tr>
              <a:tr h="694735">
                <a:tc gridSpan="2">
                  <a:txBody>
                    <a:bodyPr/>
                    <a:lstStyle/>
                    <a:p>
                      <a:endParaRPr lang="it-IT" sz="825" b="0" noProof="0" dirty="0">
                        <a:solidFill>
                          <a:schemeClr val="tx2"/>
                        </a:solidFill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kern="1200" noProof="0">
                          <a:solidFill>
                            <a:srgbClr val="1B4528"/>
                          </a:solidFill>
                          <a:latin typeface="Inter"/>
                          <a:ea typeface="+mn-ea"/>
                          <a:cs typeface="+mn-cs"/>
                        </a:rPr>
                        <a:t>{{C6_other_description}}</a:t>
                      </a:r>
                      <a:endParaRPr lang="it-IT" sz="825" b="0" i="0" u="none" strike="noStrike" kern="1200" noProof="0" dirty="0">
                        <a:solidFill>
                          <a:srgbClr val="000000"/>
                        </a:solidFill>
                        <a:latin typeface="Inter"/>
                        <a:ea typeface="+mn-ea"/>
                        <a:cs typeface="+mn-cs"/>
                      </a:endParaRPr>
                    </a:p>
                    <a:p>
                      <a:endParaRPr lang="it-IT" sz="825" b="0" noProof="0" dirty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50" b="0" noProof="0">
                        <a:solidFill>
                          <a:srgbClr val="1B4528"/>
                        </a:solidFill>
                        <a:latin typeface="+mn-lt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903979"/>
                  </a:ext>
                </a:extLst>
              </a:tr>
            </a:tbl>
          </a:graphicData>
        </a:graphic>
      </p:graphicFrame>
      <p:graphicFrame>
        <p:nvGraphicFramePr>
          <p:cNvPr id="9" name="Table 12">
            <a:extLst>
              <a:ext uri="{FF2B5EF4-FFF2-40B4-BE49-F238E27FC236}">
                <a16:creationId xmlns:a16="http://schemas.microsoft.com/office/drawing/2014/main" id="{EF31CA8D-F773-B7A0-BF4B-230DDB5D0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352873"/>
              </p:ext>
            </p:extLst>
          </p:nvPr>
        </p:nvGraphicFramePr>
        <p:xfrm>
          <a:off x="411480" y="9055675"/>
          <a:ext cx="6737040" cy="72170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5179031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558009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721700">
                <a:tc>
                  <a:txBody>
                    <a:bodyPr/>
                    <a:lstStyle/>
                    <a:p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L’impresa dispone di un meccanismo di trattamento delle denunce per la nostra </a:t>
                      </a:r>
                      <a:r>
                        <a:rPr lang="it-IT" sz="825" b="1" u="sng" noProof="0">
                          <a:solidFill>
                            <a:schemeClr val="tx2"/>
                          </a:solidFill>
                        </a:rPr>
                        <a:t xml:space="preserve">forza lavoro</a:t>
                      </a:r>
                      <a:r>
                        <a:rPr lang="it-IT" sz="825" b="0" u="sng" noProof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(punto 61c)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noProof="0">
                          <a:solidFill>
                            <a:srgbClr val="1B4528"/>
                          </a:solidFill>
                          <a:latin typeface="+mn-lt"/>
                          <a:cs typeface="Calibri"/>
                        </a:rPr>
                        <a:t>{{whistleblower?}}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441729"/>
                  </a:ext>
                </a:extLst>
              </a:tr>
            </a:tbl>
          </a:graphicData>
        </a:graphic>
      </p:graphicFrame>
      <p:sp>
        <p:nvSpPr>
          <p:cNvPr id="10" name="Tekstfelt 9">
            <a:extLst>
              <a:ext uri="{FF2B5EF4-FFF2-40B4-BE49-F238E27FC236}">
                <a16:creationId xmlns:a16="http://schemas.microsoft.com/office/drawing/2014/main" id="{DE98A347-CF52-AA6C-DDC5-06292C717A69}"/>
              </a:ext>
            </a:extLst>
          </p:cNvPr>
          <p:cNvSpPr txBox="1"/>
          <p:nvPr/>
        </p:nvSpPr>
        <p:spPr>
          <a:xfrm>
            <a:off x="411480" y="5321206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0"/>
              </a:spcBef>
            </a:pPr>
            <a:r>
              <a:rPr lang="it-IT" sz="82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Di seguito sono </a:t>
            </a:r>
            <a:r>
              <a:rPr lang="it-IT" sz="825" noProof="0">
                <a:solidFill>
                  <a:schemeClr val="tx2"/>
                </a:solidFill>
                <a:latin typeface="Inter"/>
              </a:rPr>
              <a:t xml:space="preserve">indicate informazioni sul </a:t>
            </a:r>
            <a:r>
              <a:rPr lang="it-IT" sz="82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codice di condotta e/o sulla politica in materia di diritti umani dell’impresa per la forza lavoro propri</a:t>
            </a:r>
            <a:r>
              <a:rPr lang="it-IT" sz="825" noProof="0">
                <a:solidFill>
                  <a:schemeClr val="tx2"/>
                </a:solidFill>
                <a:latin typeface="Inter"/>
              </a:rPr>
              <a:t xml:space="preserve">a. Si indica inoltre se l’impresa dispone di un meccanismo di trattamento delle denunce che consenta ai dipendenti di segnalare fatti connessi a violazioni dei diritti umani, discriminazioni, molestie o altre condotte censurabili.</a:t>
            </a:r>
          </a:p>
        </p:txBody>
      </p:sp>
    </p:spTree>
    <p:extLst>
      <p:ext uri="{BB962C8B-B14F-4D97-AF65-F5344CB8AC3E}">
        <p14:creationId xmlns:p14="http://schemas.microsoft.com/office/powerpoint/2010/main" val="1095913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C62860-972E-E884-9828-460A25BD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32321"/>
            <a:ext cx="6737040" cy="207741"/>
          </a:xfrm>
        </p:spPr>
        <p:txBody>
          <a:bodyPr/>
          <a:lstStyle/>
          <a:p>
            <a:r>
              <a:rPr lang="it-IT" sz="1475" b="1" i="0" u="none" strike="noStrike" kern="1200" spc="-10" noProof="0">
                <a:solidFill>
                  <a:srgbClr val="1B4528"/>
                </a:solidFill>
                <a:latin typeface="+mn-lt"/>
                <a:ea typeface="+mn-ea"/>
                <a:cs typeface="+mn-cs"/>
              </a:rPr>
              <a:t xml:space="preserve">Incidenti gravi in materia di diritti umani (C7</a:t>
            </a:r>
            <a:r>
              <a:rPr lang="it-IT" noProof="0"/>
              <a:t xml:space="preserve">) – Forza lavoro propria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2C860F-3613-E98B-42C7-204BDA28A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17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F24C5-33C0-4C2D-8193-33A504950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endParaRPr lang="it-IT" noProof="0"/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A420AFF6-414E-4EC8-A668-F0BFECC82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119581"/>
              </p:ext>
            </p:extLst>
          </p:nvPr>
        </p:nvGraphicFramePr>
        <p:xfrm>
          <a:off x="411480" y="2153762"/>
          <a:ext cx="6737040" cy="2579984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364547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4372493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</a:tblGrid>
              <a:tr h="272122">
                <a:tc gridSpan="2"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Si sono verificati, nella </a:t>
                      </a:r>
                      <a:r>
                        <a:rPr lang="it-IT" sz="975" b="1" u="sng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forza lavoro propria</a:t>
                      </a:r>
                      <a:r>
                        <a:rPr lang="it-IT" sz="975" b="1" u="none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incidenti negativi confermati relativi a quanto segue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62a-b)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487671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Lavoro minorile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</a:rPr>
                        <a:t>{{child_labour_yes?}}</a:t>
                      </a:r>
                      <a:endParaRPr lang="it-IT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</a:rPr>
                        <a:t>{{child_labour_desc}}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  <a:tr h="487671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Lavoro forzato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</a:rPr>
                        <a:t>{{forced_labour_yes?}}</a:t>
                      </a:r>
                      <a:endParaRPr lang="it-IT"/>
                    </a:p>
                    <a:p>
                      <a:pPr lvl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</a:rPr>
                        <a:t>{{forced_labour_desc}}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256071"/>
                  </a:ext>
                </a:extLst>
              </a:tr>
              <a:tr h="487671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Tratta di esseri umani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</a:rPr>
                        <a:t>{{human_trafficking_yes?}}</a:t>
                      </a:r>
                      <a:endParaRPr lang="it-IT"/>
                    </a:p>
                    <a:p>
                      <a:pPr lvl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</a:rPr>
                        <a:t>{{human_trafficking_desc}}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156864"/>
                  </a:ext>
                </a:extLst>
              </a:tr>
              <a:tr h="487671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Discriminazione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</a:rPr>
                        <a:t>{{discrimination_yes?}}</a:t>
                      </a:r>
                      <a:endParaRPr lang="it-IT"/>
                    </a:p>
                    <a:p>
                      <a:pPr lvl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</a:rPr>
                        <a:t>{{discrimination_desc}}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746340"/>
                  </a:ext>
                </a:extLst>
              </a:tr>
              <a:tr h="343972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Altro </a:t>
                      </a:r>
                      <a:endParaRPr lang="it-IT" b="1">
                        <a:latin typeface="+mn-lt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BM Plex Sans"/>
                          <a:cs typeface="Calibri"/>
                        </a:rPr>
                        <a:t>{{other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_yes?}}</a:t>
                      </a:r>
                      <a:endParaRPr lang="it-IT" sz="975" b="0" i="0" u="none" strike="noStrike" noProof="0">
                        <a:solidFill>
                          <a:srgbClr val="000000"/>
                        </a:solidFill>
                        <a:latin typeface="IBM Plex Sans"/>
                      </a:endParaRPr>
                    </a:p>
                    <a:p>
                      <a:pPr lvl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{{other_desc}}</a:t>
                      </a:r>
                      <a:endParaRPr lang="it-IT" sz="975" b="0" i="0" u="none" strike="noStrike" noProof="0">
                        <a:solidFill>
                          <a:srgbClr val="000000"/>
                        </a:solidFill>
                        <a:latin typeface="IBM Plex San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359221"/>
                  </a:ext>
                </a:extLst>
              </a:tr>
            </a:tbl>
          </a:graphicData>
        </a:graphic>
      </p:graphicFrame>
      <p:sp>
        <p:nvSpPr>
          <p:cNvPr id="14" name="Tekstfelt 13">
            <a:extLst>
              <a:ext uri="{FF2B5EF4-FFF2-40B4-BE49-F238E27FC236}">
                <a16:creationId xmlns:a16="http://schemas.microsoft.com/office/drawing/2014/main" id="{6621372E-99B2-9153-2F88-5157BF16DADB}"/>
              </a:ext>
            </a:extLst>
          </p:cNvPr>
          <p:cNvSpPr txBox="1"/>
          <p:nvPr/>
        </p:nvSpPr>
        <p:spPr>
          <a:xfrm>
            <a:off x="411480" y="1317755"/>
            <a:ext cx="6737040" cy="6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Le informative seguenti riguardano la comunicazione da parte dell’impresa di incidenti negativi connessi a lavoro minorile, lavoro forzato, tratta di esseri umani e discriminazione. In questa sezione l’impresa indica se quanto precede riguarda la forza lavoro propria.</a:t>
            </a:r>
            <a:endParaRPr lang="it-IT" sz="975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br>
              <a:rPr lang="it-IT" sz="975" noProof="0">
                <a:solidFill>
                  <a:schemeClr val="tx2"/>
                </a:solidFill>
                <a:latin typeface="Inter"/>
              </a:rPr>
            </a:br>
            <a:endParaRPr lang="it-IT" sz="975" noProof="0">
              <a:solidFill>
                <a:schemeClr val="tx2"/>
              </a:solidFill>
              <a:latin typeface="Inter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41F3A84E-89CC-12F3-053B-7720F7BEBDF4}"/>
              </a:ext>
            </a:extLst>
          </p:cNvPr>
          <p:cNvSpPr txBox="1">
            <a:spLocks/>
          </p:cNvSpPr>
          <p:nvPr/>
        </p:nvSpPr>
        <p:spPr>
          <a:xfrm>
            <a:off x="411480" y="5186632"/>
            <a:ext cx="6737040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B4528"/>
                </a:solidFill>
                <a:latin typeface="+mn-lt"/>
                <a:ea typeface="+mn-ea"/>
                <a:cs typeface="+mn-cs"/>
              </a:rPr>
              <a:t xml:space="preserve">Incidenti gravi in materia di diritti umani (C7</a:t>
            </a:r>
            <a:r>
              <a:rPr lang="it-IT"/>
              <a:t xml:space="preserve">) – Nella catena del valore</a:t>
            </a:r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C2849829-EDEC-28FD-0347-B091216B2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969331"/>
              </p:ext>
            </p:extLst>
          </p:nvPr>
        </p:nvGraphicFramePr>
        <p:xfrm>
          <a:off x="411480" y="6039725"/>
          <a:ext cx="6737040" cy="1658137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486246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5250794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</a:tblGrid>
              <a:tr h="251982">
                <a:tc gridSpan="2"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L’impresa è a conoscenza di incidenti negativi confermati in materia di diritti umani nella catena del valore di </a:t>
                      </a:r>
                      <a:r>
                        <a:rPr lang="it-IT" sz="975" b="1" kern="120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{{company_name}}</a:t>
                      </a:r>
                      <a:r>
                        <a:rPr lang="it-IT" sz="97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/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62c)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433653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Lavoratori nella catena del valore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{{incidents_workers_value_chain}}</a:t>
                      </a:r>
                      <a:endParaRPr lang="it-IT" sz="975" noProof="0">
                        <a:solidFill>
                          <a:srgbClr val="1B4528"/>
                        </a:solidFill>
                        <a:latin typeface="+mn-lt"/>
                        <a:cs typeface="Calibri"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  <a:tr h="433653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Comunità interessate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{{incidents_affected_communities}}</a:t>
                      </a:r>
                      <a:endParaRPr lang="it-IT" sz="975" kern="1200" noProof="0">
                        <a:solidFill>
                          <a:srgbClr val="1B4528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256071"/>
                  </a:ext>
                </a:extLst>
              </a:tr>
              <a:tr h="433653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Consumatori e utilizzatori finali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incidents_consumers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4495947"/>
                  </a:ext>
                </a:extLst>
              </a:tr>
            </a:tbl>
          </a:graphicData>
        </a:graphic>
      </p:graphicFrame>
      <p:sp>
        <p:nvSpPr>
          <p:cNvPr id="7" name="Tekstfelt 6">
            <a:extLst>
              <a:ext uri="{FF2B5EF4-FFF2-40B4-BE49-F238E27FC236}">
                <a16:creationId xmlns:a16="http://schemas.microsoft.com/office/drawing/2014/main" id="{D86CEC8F-33AD-EB43-97CC-8C565BD2D1E9}"/>
              </a:ext>
            </a:extLst>
          </p:cNvPr>
          <p:cNvSpPr txBox="1"/>
          <p:nvPr/>
        </p:nvSpPr>
        <p:spPr>
          <a:xfrm>
            <a:off x="411480" y="5538666"/>
            <a:ext cx="6737040" cy="230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0"/>
              </a:spcBef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Di seguito sono </a:t>
            </a:r>
            <a:r>
              <a:rPr lang="it-IT" sz="975" noProof="0">
                <a:solidFill>
                  <a:schemeClr val="tx2"/>
                </a:solidFill>
                <a:latin typeface="Inter"/>
              </a:rPr>
              <a:t xml:space="preserve">indicate informazioni sulla </a:t>
            </a: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conoscenza da parte dell’impresa di incidenti negativi confermati in materia di diritti umani nella propria catena del valore.</a:t>
            </a:r>
          </a:p>
        </p:txBody>
      </p:sp>
    </p:spTree>
    <p:extLst>
      <p:ext uri="{BB962C8B-B14F-4D97-AF65-F5344CB8AC3E}">
        <p14:creationId xmlns:p14="http://schemas.microsoft.com/office/powerpoint/2010/main" val="3705068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C62860-972E-E884-9828-460A25BD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788246"/>
            <a:ext cx="6737040" cy="207741"/>
          </a:xfrm>
        </p:spPr>
        <p:txBody>
          <a:bodyPr/>
          <a:lstStyle/>
          <a:p>
            <a:r>
              <a:rPr lang="it-IT" sz="1475" b="1" i="0" u="none" strike="noStrike" kern="1200" spc="-10" noProof="0">
                <a:solidFill>
                  <a:srgbClr val="1B4528"/>
                </a:solidFill>
              </a:rPr>
              <a:t xml:space="preserve">Ricavi da determinate attività (C8)</a:t>
            </a:r>
            <a:endParaRPr lang="it-IT" noProof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2C860F-3613-E98B-42C7-204BDA28A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18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F24C5-33C0-4C2D-8193-33A504950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endParaRPr lang="it-IT" noProof="0"/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A420AFF6-414E-4EC8-A668-F0BFECC82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469184"/>
              </p:ext>
            </p:extLst>
          </p:nvPr>
        </p:nvGraphicFramePr>
        <p:xfrm>
          <a:off x="411480" y="1792933"/>
          <a:ext cx="6737040" cy="2504114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4617489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2119551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</a:tblGrid>
              <a:tr h="2865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Ricavi da determinati settori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(punto 63 a-d)</a:t>
                      </a:r>
                    </a:p>
                    <a:p>
                      <a:pPr algn="l"/>
                      <a:endParaRPr lang="it-IT" sz="975" b="0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25" noProof="0">
                        <a:solidFill>
                          <a:srgbClr val="1B4528"/>
                        </a:solidFill>
                        <a:latin typeface="+mn-lt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461323"/>
                  </a:ext>
                </a:extLst>
              </a:tr>
              <a:tr h="286516">
                <a:tc>
                  <a:txBody>
                    <a:bodyPr/>
                    <a:lstStyle/>
                    <a:p>
                      <a:pPr algn="l"/>
                      <a:endParaRPr lang="it-IT" sz="975" b="0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1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 xml:space="preserve">Ricavi nell’anno </a:t>
                      </a:r>
                      <a:r>
                        <a:rPr lang="it-IT" sz="975" b="1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{{Insert year}}</a:t>
                      </a:r>
                      <a:endParaRPr lang="it-IT" sz="975" noProof="0">
                        <a:effectLst/>
                      </a:endParaRPr>
                    </a:p>
                  </a:txBody>
                  <a:tcPr marL="31749" marR="31749" marT="21166" marB="2116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761105"/>
                  </a:ext>
                </a:extLst>
              </a:tr>
              <a:tr h="286516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Armi controverse (mine antiuomo, munizioni a grappolo, armi chimiche e biologiche)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{{revenue_weapons}}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  <a:tr h="286516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Coltivazione e/o produzione di tabacco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{{revenue_cultivation}}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256071"/>
                  </a:ext>
                </a:extLst>
              </a:tr>
              <a:tr h="286516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Combustibili fossili: carbone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{{revenue_coal}}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156864"/>
                  </a:ext>
                </a:extLst>
              </a:tr>
              <a:tr h="286516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Combustibili fossili: petrolio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{{revenue_oil}}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746340"/>
                  </a:ext>
                </a:extLst>
              </a:tr>
              <a:tr h="286516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Combustibili fossili: gas/gas naturale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{{revenue_gas}}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359221"/>
                  </a:ext>
                </a:extLst>
              </a:tr>
              <a:tr h="286516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Produzione di sostanze chimiche per pesticidi e altri prodotti chimici per l’agricoltura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{{revenue_chemichal}}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094391"/>
                  </a:ext>
                </a:extLst>
              </a:tr>
            </a:tbl>
          </a:graphicData>
        </a:graphic>
      </p:graphicFrame>
      <p:sp>
        <p:nvSpPr>
          <p:cNvPr id="9" name="Tekstfelt 8">
            <a:extLst>
              <a:ext uri="{FF2B5EF4-FFF2-40B4-BE49-F238E27FC236}">
                <a16:creationId xmlns:a16="http://schemas.microsoft.com/office/drawing/2014/main" id="{919C8F24-DB64-A6E9-713A-0D402DE90CB8}"/>
              </a:ext>
            </a:extLst>
          </p:cNvPr>
          <p:cNvSpPr txBox="1"/>
          <p:nvPr/>
        </p:nvSpPr>
        <p:spPr>
          <a:xfrm>
            <a:off x="411480" y="1266643"/>
            <a:ext cx="6737040" cy="230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noProof="0">
                <a:solidFill>
                  <a:schemeClr val="tx2"/>
                </a:solidFill>
                <a:latin typeface="Inter"/>
              </a:rPr>
              <a:t xml:space="preserve">L</a:t>
            </a: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’impresa ha indicato i ricavi da determinati settori e gli importi derivanti da tali attività.</a:t>
            </a:r>
            <a:endParaRPr lang="it-IT" noProof="0">
              <a:solidFill>
                <a:schemeClr val="tx2"/>
              </a:solidFill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36344292-9D49-4ECA-2BB5-0243CF820322}"/>
              </a:ext>
            </a:extLst>
          </p:cNvPr>
          <p:cNvSpPr txBox="1">
            <a:spLocks/>
          </p:cNvSpPr>
          <p:nvPr/>
        </p:nvSpPr>
        <p:spPr>
          <a:xfrm>
            <a:off x="411480" y="4686387"/>
            <a:ext cx="6737040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noProof="0">
                <a:solidFill>
                  <a:srgbClr val="1B4528"/>
                </a:solidFill>
              </a:rPr>
              <a:t xml:space="preserve">Diversità di genere nell’organo di governance (C9)</a:t>
            </a:r>
            <a:endParaRPr lang="it-IT" noProof="0"/>
          </a:p>
        </p:txBody>
      </p:sp>
      <p:graphicFrame>
        <p:nvGraphicFramePr>
          <p:cNvPr id="13" name="Table 7">
            <a:extLst>
              <a:ext uri="{FF2B5EF4-FFF2-40B4-BE49-F238E27FC236}">
                <a16:creationId xmlns:a16="http://schemas.microsoft.com/office/drawing/2014/main" id="{5010B50D-163D-69DE-999C-3BC9FA39E2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177221"/>
              </p:ext>
            </p:extLst>
          </p:nvPr>
        </p:nvGraphicFramePr>
        <p:xfrm>
          <a:off x="411480" y="5679204"/>
          <a:ext cx="6737040" cy="47998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4648693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088347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239990">
                <a:tc rowSpan="2">
                  <a:txBody>
                    <a:bodyPr/>
                    <a:lstStyle/>
                    <a:p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+mn-cs"/>
                        </a:rPr>
                        <a:t xml:space="preserve">Rapporto tra donne e uomini nell’organo di governance (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+mn-cs"/>
                        </a:rPr>
                        <a:t xml:space="preserve">punto 64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Anno </a:t>
                      </a:r>
                      <a:r>
                        <a:rPr lang="it-IT" sz="975" b="1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{{Insert year}}</a:t>
                      </a:r>
                      <a:endParaRPr lang="it-IT" sz="975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39990">
                <a:tc vMerge="1">
                  <a:txBody>
                    <a:bodyPr/>
                    <a:lstStyle/>
                    <a:p>
                      <a:endParaRPr lang="it-IT" sz="72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975" b="0" noProof="0">
                          <a:solidFill>
                            <a:srgbClr val="1B4528"/>
                          </a:solidFill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BM Plex Sans"/>
                        </a:rPr>
                        <a:t>gender_supreme_body</a:t>
                      </a:r>
                      <a:r>
                        <a:rPr lang="it-IT" sz="975" b="0" noProof="0">
                          <a:solidFill>
                            <a:srgbClr val="1B4528"/>
                          </a:solidFill>
                        </a:rPr>
                        <a:t>}}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</a:tbl>
          </a:graphicData>
        </a:graphic>
      </p:graphicFrame>
      <p:sp>
        <p:nvSpPr>
          <p:cNvPr id="19" name="Tekstfelt 18">
            <a:extLst>
              <a:ext uri="{FF2B5EF4-FFF2-40B4-BE49-F238E27FC236}">
                <a16:creationId xmlns:a16="http://schemas.microsoft.com/office/drawing/2014/main" id="{299A6B5A-11F5-BD48-FC7A-B6A967C62C71}"/>
              </a:ext>
            </a:extLst>
          </p:cNvPr>
          <p:cNvSpPr txBox="1"/>
          <p:nvPr/>
        </p:nvSpPr>
        <p:spPr>
          <a:xfrm>
            <a:off x="411480" y="2493514"/>
            <a:ext cx="6737040" cy="30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noProof="0">
                <a:effectLst/>
              </a:rPr>
              <a:t> </a:t>
            </a:r>
            <a:endParaRPr lang="it-IT" noProof="0"/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3F21186B-0691-91C9-5FC9-0771DBEFE852}"/>
              </a:ext>
            </a:extLst>
          </p:cNvPr>
          <p:cNvSpPr txBox="1"/>
          <p:nvPr/>
        </p:nvSpPr>
        <p:spPr>
          <a:xfrm>
            <a:off x="411480" y="5139662"/>
            <a:ext cx="6737040" cy="230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noProof="0">
                <a:solidFill>
                  <a:schemeClr val="tx2"/>
                </a:solidFill>
                <a:latin typeface="Inter"/>
              </a:rPr>
              <a:t xml:space="preserve">L</a:t>
            </a: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’impresa ha indicato il rapporto tra donne e uomini nell’organo di governance.</a:t>
            </a:r>
          </a:p>
        </p:txBody>
      </p:sp>
    </p:spTree>
    <p:extLst>
      <p:ext uri="{BB962C8B-B14F-4D97-AF65-F5344CB8AC3E}">
        <p14:creationId xmlns:p14="http://schemas.microsoft.com/office/powerpoint/2010/main" val="373981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37B3177-8AE4-2BCB-D392-E3B969EBB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6007478"/>
            <a:ext cx="6737040" cy="861898"/>
          </a:xfrm>
          <a:noFill/>
        </p:spPr>
        <p:txBody>
          <a:bodyPr>
            <a:normAutofit/>
          </a:bodyPr>
          <a:lstStyle/>
          <a:p>
            <a:pPr algn="ctr"/>
            <a:r>
              <a:rPr lang="it-IT" sz="1475" b="1" noProof="0">
                <a:solidFill>
                  <a:srgbClr val="FFFFFF"/>
                </a:solidFill>
                <a:latin typeface="IBM Plex Sans" panose="020B0503050203000203" pitchFamily="34" charset="0"/>
              </a:rPr>
              <a:t>{{company_name}}</a:t>
            </a:r>
          </a:p>
          <a:p>
            <a:pPr algn="ctr"/>
            <a:r>
              <a:rPr lang="it-IT" sz="1475" b="1" noProof="0">
                <a:solidFill>
                  <a:srgbClr val="FFFFFF"/>
                </a:solidFill>
                <a:latin typeface="IBM Plex Sans" panose="020B0503050203000203" pitchFamily="34" charset="0"/>
              </a:rPr>
              <a:t>{{insert_year}}</a:t>
            </a:r>
            <a:br>
              <a:rPr lang="it-IT" sz="1475" b="1" noProof="0">
                <a:solidFill>
                  <a:srgbClr val="FFFFFF"/>
                </a:solidFill>
                <a:latin typeface="IBM Plex Sans" panose="020B0503050203000203" pitchFamily="34" charset="0"/>
              </a:rPr>
            </a:br>
            <a:endParaRPr lang="it-IT" sz="1475" noProof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8F46A40-E7BB-3909-2FA6-1A954E10A81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11480" y="10152285"/>
            <a:ext cx="6737040" cy="128235"/>
          </a:xfrm>
        </p:spPr>
        <p:txBody>
          <a:bodyPr/>
          <a:lstStyle/>
          <a:p>
            <a:fld id="{5A0D23CF-C5A3-5445-819D-C647D180BB4B}" type="slidenum">
              <a:rPr lang="it-IT" noProof="0" smtClean="0"/>
              <a:pPr/>
              <a:t>19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1407082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ESG skabelon 2023">
  <a:themeElements>
    <a:clrScheme name="Custom 63">
      <a:dk1>
        <a:srgbClr val="000000"/>
      </a:dk1>
      <a:lt1>
        <a:srgbClr val="FFFFFF"/>
      </a:lt1>
      <a:dk2>
        <a:srgbClr val="1B4528"/>
      </a:dk2>
      <a:lt2>
        <a:srgbClr val="D1DAD4"/>
      </a:lt2>
      <a:accent1>
        <a:srgbClr val="1B4528"/>
      </a:accent1>
      <a:accent2>
        <a:srgbClr val="2D55FF"/>
      </a:accent2>
      <a:accent3>
        <a:srgbClr val="FCFC95"/>
      </a:accent3>
      <a:accent4>
        <a:srgbClr val="5F7D69"/>
      </a:accent4>
      <a:accent5>
        <a:srgbClr val="8DA294"/>
      </a:accent5>
      <a:accent6>
        <a:srgbClr val="BBC7BF"/>
      </a:accent6>
      <a:hlink>
        <a:srgbClr val="00A65A"/>
      </a:hlink>
      <a:folHlink>
        <a:srgbClr val="A6A6A6"/>
      </a:folHlink>
    </a:clrScheme>
    <a:fontScheme name="Custom 19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5F7D69"/>
        </a:solidFill>
        <a:ln>
          <a:noFill/>
        </a:ln>
      </a:spPr>
      <a:bodyPr lIns="126000" tIns="108000" rIns="108000" bIns="144000" rtlCol="0" anchor="t" anchorCtr="0"/>
      <a:lstStyle>
        <a:defPPr algn="l">
          <a:lnSpc>
            <a:spcPct val="106000"/>
          </a:lnSpc>
          <a:defRPr sz="900" spc="-10"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20000"/>
          </a:lnSpc>
          <a:defRPr sz="900" spc="-10" dirty="0" smtClean="0">
            <a:solidFill>
              <a:schemeClr val="bg1"/>
            </a:solidFill>
          </a:defRPr>
        </a:defPPr>
      </a:lstStyle>
    </a:txDef>
  </a:objectDefaults>
  <a:extraClrSchemeLst/>
  <a:custClrLst>
    <a:custClr name="Grøn 100%">
      <a:srgbClr val="1B4529"/>
    </a:custClr>
    <a:custClr name="Grøn 90%">
      <a:srgbClr val="32583E"/>
    </a:custClr>
    <a:custClr name="Grøn 80%">
      <a:srgbClr val="496A54"/>
    </a:custClr>
    <a:custClr name="Grøn 70%">
      <a:srgbClr val="5F7D69"/>
    </a:custClr>
    <a:custClr name="Grøn 60%">
      <a:srgbClr val="768F7F"/>
    </a:custClr>
    <a:custClr name="Grøn 50%">
      <a:srgbClr val="8DA294"/>
    </a:custClr>
    <a:custClr name="Grøn 40%">
      <a:srgbClr val="A4B5A9"/>
    </a:custClr>
    <a:custClr name="Grøn 30%">
      <a:srgbClr val="BBC7BF"/>
    </a:custClr>
    <a:custClr name="Grøn 20%">
      <a:srgbClr val="D1DAD4"/>
    </a:custClr>
    <a:custClr name="Grøn 10%">
      <a:srgbClr val="E8ECEA"/>
    </a:custClr>
  </a:custClrLst>
  <a:extLst>
    <a:ext uri="{05A4C25C-085E-4340-85A3-A5531E510DB2}">
      <thm15:themeFamily xmlns:thm15="http://schemas.microsoft.com/office/thememl/2012/main" name="Tema ESG skabelon 2023" id="{4F616B44-E23C-9D4B-A414-B698B6CB0592}" vid="{C1CEAE3D-34EF-BE45-B60E-4DC3BCA22C44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3a5b9ff-ef68-4e08-86c8-07b185fdc818" xsi:nil="true"/>
    <indhold xmlns="a1c42b88-5e29-4fe4-8139-416e072a19cb" xsi:nil="true"/>
    <lcf76f155ced4ddcb4097134ff3c332f xmlns="a1c42b88-5e29-4fe4-8139-416e072a19c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C5C98558ED72C4BBCB756F8247CFA4C" ma:contentTypeVersion="18" ma:contentTypeDescription="Opret et nyt dokument." ma:contentTypeScope="" ma:versionID="05a2f073985d4662672e64bc9a421606">
  <xsd:schema xmlns:xsd="http://www.w3.org/2001/XMLSchema" xmlns:xs="http://www.w3.org/2001/XMLSchema" xmlns:p="http://schemas.microsoft.com/office/2006/metadata/properties" xmlns:ns2="a1c42b88-5e29-4fe4-8139-416e072a19cb" xmlns:ns3="202ccbda-223a-4645-9097-be5f8cdf3aa6" xmlns:ns4="43a5b9ff-ef68-4e08-86c8-07b185fdc818" targetNamespace="http://schemas.microsoft.com/office/2006/metadata/properties" ma:root="true" ma:fieldsID="50f1595d426bd689bc07261444f354ae" ns2:_="" ns3:_="" ns4:_="">
    <xsd:import namespace="a1c42b88-5e29-4fe4-8139-416e072a19cb"/>
    <xsd:import namespace="202ccbda-223a-4645-9097-be5f8cdf3aa6"/>
    <xsd:import namespace="43a5b9ff-ef68-4e08-86c8-07b185fdc8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lcf76f155ced4ddcb4097134ff3c332f" minOccurs="0"/>
                <xsd:element ref="ns4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indhold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c42b88-5e29-4fe4-8139-416e072a19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illedmærker" ma:readOnly="false" ma:fieldId="{5cf76f15-5ced-4ddc-b409-7134ff3c332f}" ma:taxonomyMulti="true" ma:sspId="5bc8fd69-a729-4468-93ff-8d64956d1b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indhold" ma:index="22" nillable="true" ma:displayName="indhold" ma:format="Dropdown" ma:internalName="indhold">
      <xsd:simpleType>
        <xsd:restriction base="dms:Text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2ccbda-223a-4645-9097-be5f8cdf3aa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a5b9ff-ef68-4e08-86c8-07b185fdc81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a2a80f0-0fad-4372-b264-33bf0361a80c}" ma:internalName="TaxCatchAll" ma:showField="CatchAllData" ma:web="202ccbda-223a-4645-9097-be5f8cdf3a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2C55C2-A88D-45C1-99A2-B6C1D18AED07}">
  <ds:schemaRefs>
    <ds:schemaRef ds:uri="43a5b9ff-ef68-4e08-86c8-07b185fdc818"/>
    <ds:schemaRef ds:uri="a1c42b88-5e29-4fe4-8139-416e072a19cb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C3C50CC-B1F2-4B3E-8326-2BA1B8993967}">
  <ds:schemaRefs>
    <ds:schemaRef ds:uri="202ccbda-223a-4645-9097-be5f8cdf3aa6"/>
    <ds:schemaRef ds:uri="43a5b9ff-ef68-4e08-86c8-07b185fdc818"/>
    <ds:schemaRef ds:uri="a1c42b88-5e29-4fe4-8139-416e072a19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7C2DE4E-10FC-4FD7-BA3A-6232093B728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4975</Words>
  <Application>Microsoft Office PowerPoint</Application>
  <PresentationFormat>Brugerdefineret</PresentationFormat>
  <Paragraphs>637</Paragraphs>
  <Slides>19</Slides>
  <Notes>16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19</vt:i4>
      </vt:variant>
    </vt:vector>
  </HeadingPairs>
  <TitlesOfParts>
    <vt:vector size="24" baseType="lpstr">
      <vt:lpstr>Arial</vt:lpstr>
      <vt:lpstr>Calibri</vt:lpstr>
      <vt:lpstr>IBM Plex Sans</vt:lpstr>
      <vt:lpstr>Inter</vt:lpstr>
      <vt:lpstr>Tema ESG skabelon 2023</vt:lpstr>
      <vt:lpstr>ESG REPORT {{insert_year}}</vt:lpstr>
      <vt:lpstr>ESG report  </vt:lpstr>
      <vt:lpstr>Basis for preparation (B1) </vt:lpstr>
      <vt:lpstr>Practices, policies and future initiatives for transitioning towards a more sustainable economy (B2)</vt:lpstr>
      <vt:lpstr>Energy consumption (B3)</vt:lpstr>
      <vt:lpstr>Pollution of air, water and soil (B4)</vt:lpstr>
      <vt:lpstr>Resource use, circular economy and waste management (B7) – continued</vt:lpstr>
      <vt:lpstr>Own workforce: General characteristics (B8) </vt:lpstr>
      <vt:lpstr>Business conduct: Number of convictions and fines related to corruption &amp; bribery (B11) </vt:lpstr>
      <vt:lpstr>PowerPoint-præsentation</vt:lpstr>
      <vt:lpstr>Strategy: Business model and sustainability-related initiatives (C1)</vt:lpstr>
      <vt:lpstr>Practices, policies and future initiatives for transitioning towards a more sustainable economy (C2)</vt:lpstr>
      <vt:lpstr>CO₂e emissions under B3 in the Basic Module</vt:lpstr>
      <vt:lpstr>Climate risks (C4)</vt:lpstr>
      <vt:lpstr>Climate risks (C4) - continued</vt:lpstr>
      <vt:lpstr>Additional (general) workforce characteristics (C5)</vt:lpstr>
      <vt:lpstr>Severe negative human rights incidents (C7) – Own workforce</vt:lpstr>
      <vt:lpstr>Revenues from certain activities (C8)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Simonsen</dc:creator>
  <cp:lastModifiedBy>Amanda Simonsen</cp:lastModifiedBy>
  <cp:revision>28</cp:revision>
  <dcterms:created xsi:type="dcterms:W3CDTF">2025-02-28T18:51:17Z</dcterms:created>
  <dcterms:modified xsi:type="dcterms:W3CDTF">2026-08-12T20:10:01Z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0x0101004C5C98558ED72C4BBCB756F8247CFA4C</vt:lpwstr>
  </property>
  <property fmtid="{D5CDD505-2E9C-101B-9397-08002B2CF9AE}" pid="3" name="MediaServiceImageTags">
    <vt:lpwstr/>
  </property>
</Properties>
</file>