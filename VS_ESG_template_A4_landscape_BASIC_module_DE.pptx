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272" r:id="rId29"/>
  </p:sldIdLst>
  <p:sldSz cx="10692000" cy="7560000" type="A4"/>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e-DE"/>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e-DE" smtClean="0"/>
              <a:pPr/>
              <a:t xml:space="preserve">06-08-2026</a:t>
            </a:fld>
            <a:endParaRPr lang="de-DE"/>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 xml:space="preserve">Mastertextformate durch Klicken bearbeiten</a:t>
            </a:r>
          </a:p>
          <a:p>
            <a:pPr lvl="1"/>
            <a:r>
              <a:rPr lang="de-DE"/>
              <a:t xml:space="preserve">Zweite Ebene</a:t>
            </a:r>
          </a:p>
          <a:p>
            <a:pPr lvl="2"/>
            <a:r>
              <a:rPr lang="de-DE"/>
              <a:t xml:space="preserve">Dritte Ebene</a:t>
            </a:r>
          </a:p>
          <a:p>
            <a:pPr lvl="3"/>
            <a:r>
              <a:rPr lang="de-DE"/>
              <a:t xml:space="preserve">Vierte Ebene</a:t>
            </a:r>
          </a:p>
          <a:p>
            <a:pPr lvl="4"/>
            <a:r>
              <a:rPr lang="de-DE"/>
              <a:t xml:space="preserve">Fünfte Ebene</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e-DE"/>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e-DE" smtClean="0"/>
              <a:pPr/>
              <a:t xml:space="preserve">‹Nr.›</a:t>
            </a:fld>
            <a:endParaRPr lang="de-DE"/>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1</a:t>
            </a:fld>
            <a:endParaRPr lang="de-DE"/>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2</a:t>
            </a:fld>
            <a:endParaRPr lang="de-DE"/>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3</a:t>
            </a:fld>
            <a:endParaRPr lang="de-DE"/>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4</a:t>
            </a:fld>
            <a:endParaRPr lang="de-DE"/>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e-DE"/>
              <a:t xml:space="preserve">Entfernt: </a:t>
            </a:r>
            <a:r>
              <a:rPr lang="en-GB" sz="1200" b="0" i="0" u="none" strike="noStrike" kern="1200">
                <a:solidFill>
                  <a:schemeClr val="tx1"/>
                </a:solidFill>
                <a:effectLst/>
                <a:latin typeface="IBM Plex Sans" panose="020B0503050203000203" pitchFamily="34" charset="0"/>
                <a:ea typeface="+mn-ea"/>
                <a:cs typeface="+mn-cs"/>
              </a:rPr>
              <a:t xml:space="preserve">{{documents_B2}}</a:t>
            </a:r>
          </a:p>
          <a:p>
            <a:r>
              <a:rPr lang="en-GB" sz="1200" b="0" i="0" u="none" strike="noStrike" kern="1200" err="1">
                <a:solidFill>
                  <a:schemeClr val="tx1"/>
                </a:solidFill>
                <a:effectLst/>
                <a:latin typeface="IBM Plex Sans" panose="020B0503050203000203" pitchFamily="34" charset="0"/>
                <a:ea typeface="+mn-ea"/>
                <a:cs typeface="+mn-cs"/>
              </a:rPr>
              <a:t xml:space="preserve">Hinzugefügt</a:t>
            </a:r>
            <a:r>
              <a:rPr lang="en-GB" sz="1200" b="0" i="0" u="none" strike="noStrike" kern="1200">
                <a:solidFill>
                  <a:schemeClr val="tx1"/>
                </a:solidFill>
                <a:effectLst/>
                <a:latin typeface="IBM Plex Sans" panose="020B0503050203000203" pitchFamily="34" charset="0"/>
                <a:ea typeface="+mn-ea"/>
                <a:cs typeface="+mn-cs"/>
              </a:rPr>
              <a:t xml:space="preserve">: </a:t>
            </a:r>
            <a:r>
              <a:rPr lang="en-GB" sz="1200" b="0" i="0" u="none" strike="noStrike" kern="1200" err="1">
                <a:solidFill>
                  <a:schemeClr val="tx1"/>
                </a:solidFill>
                <a:effectLst/>
                <a:latin typeface="IBM Plex Sans" panose="020B0503050203000203" pitchFamily="34" charset="0"/>
                <a:ea typeface="+mn-ea"/>
                <a:cs typeface="+mn-cs"/>
              </a:rPr>
              <a:t xml:space="preserve">Spalte</a:t>
            </a:r>
            <a:r>
              <a:rPr lang="en-GB" sz="1200" b="0" i="0" u="none" strike="noStrike" kern="1200">
                <a:solidFill>
                  <a:schemeClr val="tx1"/>
                </a:solidFill>
                <a:effectLst/>
                <a:latin typeface="IBM Plex Sans" panose="020B0503050203000203" pitchFamily="34" charset="0"/>
                <a:ea typeface="+mn-ea"/>
                <a:cs typeface="+mn-cs"/>
              </a:rPr>
              <a:t xml:space="preserve"> zur </a:t>
            </a:r>
            <a:r>
              <a:rPr lang="en-GB" sz="1200" b="0" i="0" u="none" strike="noStrike" kern="1200" err="1">
                <a:solidFill>
                  <a:schemeClr val="tx1"/>
                </a:solidFill>
                <a:effectLst/>
                <a:latin typeface="IBM Plex Sans" panose="020B0503050203000203" pitchFamily="34" charset="0"/>
                <a:ea typeface="+mn-ea"/>
                <a:cs typeface="+mn-cs"/>
              </a:rPr>
              <a:t xml:space="preserve">Überwachung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5</a:t>
            </a:fld>
            <a:endParaRPr lang="de-DE"/>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e-DE"/>
          </a:p>
        </p:txBody>
      </p:sp>
      <p:sp>
        <p:nvSpPr>
          <p:cNvPr id="3" name="Pladsholder til noter 2"/>
          <p:cNvSpPr>
            <a:spLocks noGrp="1"/>
          </p:cNvSpPr>
          <p:nvPr>
            <p:ph type="body" idx="1"/>
          </p:nvPr>
        </p:nvSpPr>
        <p:spPr/>
        <p:txBody>
          <a:bodyPr/>
          <a:lstStyle/>
          <a:p>
            <a:pPr rtl="0"/>
            <a:r>
              <a:rPr lang="de-DE"/>
              <a:t xml:space="preserve">Entfernt: </a:t>
            </a:r>
            <a:r>
              <a:rPr lang="en-GB" sz="1200" b="0" i="0" u="none" strike="noStrike" kern="1200">
                <a:solidFill>
                  <a:schemeClr val="tx1"/>
                </a:solidFill>
                <a:effectLst/>
                <a:latin typeface="IBM Plex Sans" panose="020B0503050203000203" pitchFamily="34" charset="0"/>
                <a:ea typeface="+mn-ea"/>
                <a:cs typeface="+mn-cs"/>
              </a:rPr>
              <a:t xml:space="preserve">{{Insert_CO2e_intensity}}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6</a:t>
            </a:fld>
            <a:endParaRPr lang="de-DE"/>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e-DE"/>
              <a:t xml:space="preserve">Entfernt: </a:t>
            </a:r>
            <a:r>
              <a:rPr lang="en-GB" sz="1200" b="0" i="0" u="none" strike="noStrike" kern="1200">
                <a:solidFill>
                  <a:schemeClr val="tx1"/>
                </a:solidFill>
                <a:effectLst/>
                <a:latin typeface="IBM Plex Sans" panose="020B0503050203000203" pitchFamily="34" charset="0"/>
                <a:ea typeface="+mn-ea"/>
                <a:cs typeface="+mn-cs"/>
              </a:rPr>
              <a:t xml:space="preserve">{{uploaded_documents_B4}}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7</a:t>
            </a:fld>
            <a:endParaRPr lang="de-DE"/>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e-DE"/>
              <a:t xml:space="preserve">Entfernt: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waterstress_withdrawal</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8</a:t>
            </a:fld>
            <a:endParaRPr lang="de-DE"/>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9</a:t>
            </a:fld>
            <a:endParaRPr lang="de-DE"/>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e-DE"/>
              <a:t xml:space="preserve">Entfernt: </a:t>
            </a:r>
            <a:r>
              <a:rPr lang="en-GB" sz="1200" b="0" i="0" u="none" strike="noStrike" kern="1200">
                <a:solidFill>
                  <a:schemeClr val="tx1"/>
                </a:solidFill>
                <a:effectLst/>
                <a:latin typeface="IBM Plex Sans" panose="020B0503050203000203" pitchFamily="34" charset="0"/>
                <a:ea typeface="+mn-ea"/>
                <a:cs typeface="+mn-cs"/>
              </a:rPr>
              <a:t xml:space="preserve">{{</a:t>
            </a:r>
            <a:r>
              <a:rPr lang="en-GB" sz="1200" b="0" i="0" u="none" strike="noStrike" kern="1200" err="1">
                <a:solidFill>
                  <a:schemeClr val="tx1"/>
                </a:solidFill>
                <a:effectLst/>
                <a:latin typeface="IBM Plex Sans" panose="020B0503050203000203" pitchFamily="34" charset="0"/>
                <a:ea typeface="+mn-ea"/>
                <a:cs typeface="+mn-cs"/>
              </a:rPr>
              <a:t xml:space="preserve">omsatningsrate</a:t>
            </a:r>
            <a:r>
              <a:rPr lang="en-GB" sz="1200" b="0" i="0" u="none" strike="noStrike" kern="1200">
                <a:solidFill>
                  <a:schemeClr val="tx1"/>
                </a:solidFill>
                <a:effectLst/>
                <a:latin typeface="IBM Plex Sans" panose="020B0503050203000203" pitchFamily="34" charset="0"/>
                <a:ea typeface="+mn-ea"/>
                <a:cs typeface="+mn-cs"/>
              </a:rPr>
              <a:t xml:space="preserve">}}</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10</a:t>
            </a:fld>
            <a:endParaRPr lang="de-DE"/>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e-DE"/>
          </a:p>
        </p:txBody>
      </p:sp>
      <p:sp>
        <p:nvSpPr>
          <p:cNvPr id="3" name="Pladsholder til noter 2"/>
          <p:cNvSpPr>
            <a:spLocks noGrp="1"/>
          </p:cNvSpPr>
          <p:nvPr>
            <p:ph type="body" idx="1"/>
          </p:nvPr>
        </p:nvSpPr>
        <p:spPr/>
        <p:txBody>
          <a:bodyPr/>
          <a:lstStyle/>
          <a:p>
            <a:pPr rtl="0" eaLnBrk="1" fontAlgn="ctr" latinLnBrk="0" hangingPunct="1"/>
            <a:r>
              <a:rPr lang="de-DE" b="0">
                <a:effectLst/>
              </a:rPr>
              <a:t xml:space="preserve">Entfernt: </a:t>
            </a:r>
            <a:r>
              <a:rPr lang="de-DE" sz="1200" b="0" i="0" u="none" strike="noStrike" kern="1200">
                <a:solidFill>
                  <a:schemeClr val="tx1"/>
                </a:solidFill>
                <a:effectLst/>
                <a:latin typeface="IBM Plex Sans" panose="020B0503050203000203" pitchFamily="34" charset="0"/>
                <a:ea typeface="+mn-ea"/>
                <a:cs typeface="+mn-cs"/>
              </a:rPr>
              <a:t xml:space="preserve">{{</a:t>
            </a:r>
            <a:r>
              <a:rPr lang="de-DE" sz="1200" b="0" i="0" u="none" strike="noStrike" kern="1200" err="1">
                <a:solidFill>
                  <a:schemeClr val="tx1"/>
                </a:solidFill>
                <a:effectLst/>
                <a:latin typeface="IBM Plex Sans" panose="020B0503050203000203" pitchFamily="34" charset="0"/>
                <a:ea typeface="+mn-ea"/>
                <a:cs typeface="+mn-cs"/>
              </a:rPr>
              <a:t xml:space="preserve">men_gennemsnitstimer</a:t>
            </a:r>
            <a:r>
              <a:rPr lang="de-DE"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e-DE" sz="1200" b="0" i="0" u="none" strike="noStrike" kern="1200">
                <a:solidFill>
                  <a:schemeClr val="tx1"/>
                </a:solidFill>
                <a:effectLst/>
                <a:latin typeface="IBM Plex Sans" panose="020B0503050203000203" pitchFamily="34" charset="0"/>
                <a:ea typeface="+mn-ea"/>
                <a:cs typeface="+mn-cs"/>
              </a:rPr>
              <a:t xml:space="preserve">{{</a:t>
            </a:r>
            <a:r>
              <a:rPr lang="de-DE" sz="1200" b="0" i="0" u="none" strike="noStrike" kern="1200" err="1">
                <a:solidFill>
                  <a:schemeClr val="tx1"/>
                </a:solidFill>
                <a:effectLst/>
                <a:latin typeface="IBM Plex Sans" panose="020B0503050203000203" pitchFamily="34" charset="0"/>
                <a:ea typeface="+mn-ea"/>
                <a:cs typeface="+mn-cs"/>
              </a:rPr>
              <a:t xml:space="preserve">women_gennemsnitstimer</a:t>
            </a:r>
            <a:r>
              <a:rPr lang="de-DE"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e-DE" sz="1200" b="0" i="0" u="none" strike="noStrike" kern="1200">
                <a:solidFill>
                  <a:schemeClr val="tx1"/>
                </a:solidFill>
                <a:effectLst/>
                <a:latin typeface="IBM Plex Sans" panose="020B0503050203000203" pitchFamily="34" charset="0"/>
                <a:ea typeface="+mn-ea"/>
                <a:cs typeface="+mn-cs"/>
              </a:rPr>
              <a:t xml:space="preserve">{{</a:t>
            </a:r>
            <a:r>
              <a:rPr lang="de-DE" sz="1200" b="0" i="0" u="none" strike="noStrike" kern="1200" err="1">
                <a:solidFill>
                  <a:schemeClr val="tx1"/>
                </a:solidFill>
                <a:effectLst/>
                <a:latin typeface="IBM Plex Sans" panose="020B0503050203000203" pitchFamily="34" charset="0"/>
                <a:ea typeface="+mn-ea"/>
                <a:cs typeface="+mn-cs"/>
              </a:rPr>
              <a:t xml:space="preserve">other_gennemsnitstimer</a:t>
            </a:r>
            <a:r>
              <a:rPr lang="de-DE" sz="1200" b="0" i="0" u="none" strike="noStrike" kern="1200">
                <a:solidFill>
                  <a:schemeClr val="tx1"/>
                </a:solidFill>
                <a:effectLst/>
                <a:latin typeface="IBM Plex Sans" panose="020B0503050203000203" pitchFamily="34" charset="0"/>
                <a:ea typeface="+mn-ea"/>
                <a:cs typeface="+mn-cs"/>
              </a:rPr>
              <a:t xml:space="preserve">}}</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11</a:t>
            </a:fld>
            <a:endParaRPr lang="de-DE"/>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e-DE" smtClean="0"/>
              <a:pPr/>
              <a:t xml:space="preserve">12</a:t>
            </a:fld>
            <a:endParaRPr lang="de-DE"/>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text</a:t>
            </a:r>
            <a:r>
              <a:rPr lang="de-DE" noProof="0"/>
              <a:t xml:space="preserve">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text</a:t>
            </a:r>
            <a:r>
              <a:rPr lang="de-DE" noProof="0"/>
              <a:t xml:space="preserve">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20400" b="1" spc="-510" dirty="0">
                <a:solidFill>
                  <a:srgbClr val="FFFFFF"/>
                </a:solidFill>
                <a:latin typeface="+mn-lt"/>
              </a:rPr>
              <a:t>ESG</a:t>
            </a:r>
            <a:endParaRPr lang="en-GB" sz="20400" b="1" spc="-51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de-DE"/>
              <a:t xml:space="preserve">KLICKEN, UM FIRMENNAME EINZUFÜGEN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de-DE"/>
              <a:t xml:space="preserve">TITEL EINFÜGEN</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text</a:t>
            </a:r>
            <a:r>
              <a:rPr lang="de-DE" noProof="0"/>
              <a:t xml:space="preserve">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text</a:t>
            </a:r>
            <a:r>
              <a:rPr lang="de-DE" noProof="0"/>
              <a:t xml:space="preserve">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e-DE"/>
              <a:t xml:space="preserve">KLICKEN, UM FIRMENNAME EINZUFÜGEN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e-DE" smtClean="0"/>
              <a:pPr/>
              <a:t xml:space="preserve">‹Nr.›</a:t>
            </a:fld>
            <a:endParaRPr lang="de-DE"/>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 xml:space="preserve">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title</a:t>
            </a:r>
            <a:r>
              <a:rPr lang="de-DE" noProof="0"/>
              <a:t xml:space="preserve">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e-DE"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e-DE" noProof="0"/>
              <a:t xml:space="preserve">KLICKEN, UM FIRMENNAME EINZUFÜGEN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e-DE" noProof="0" smtClean="0"/>
              <a:pPr/>
              <a:t xml:space="preserve">‹Nr.›</a:t>
            </a:fld>
            <a:endParaRPr lang="de-DE"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de-DE" noProof="0"/>
              <a:t xml:space="preserve">Unternehmensinformationen einfügen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e-DE" noProof="0" err="1"/>
              <a:t xml:space="preserve">Click</a:t>
            </a:r>
            <a:r>
              <a:rPr lang="de-DE" noProof="0"/>
              <a:t xml:space="preserve"> to </a:t>
            </a:r>
            <a:r>
              <a:rPr lang="de-DE" noProof="0" err="1"/>
              <a:t xml:space="preserve">edit</a:t>
            </a:r>
            <a:r>
              <a:rPr lang="de-DE" noProof="0"/>
              <a:t xml:space="preserve"> Master </a:t>
            </a:r>
            <a:r>
              <a:rPr lang="de-DE" noProof="0" err="1"/>
              <a:t xml:space="preserve">title</a:t>
            </a:r>
            <a:r>
              <a:rPr lang="de-DE" noProof="0"/>
              <a:t xml:space="preserve">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e-DE" noProof="0"/>
              <a:t xml:space="preserve">KLICKEN, UM FIRMENNAME EINZUFÜGEN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e-DE" noProof="0" smtClean="0"/>
              <a:pPr/>
              <a:t xml:space="preserve">‹Nr.›</a:t>
            </a:fld>
            <a:endParaRPr lang="de-DE"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de-DE" noProof="0"/>
              <a:t xml:space="preserve">Mastertextformate durch Klicken bearbeiten</a:t>
            </a:r>
          </a:p>
          <a:p>
            <a:pPr lvl="1"/>
            <a:r>
              <a:rPr lang="de-DE" noProof="0"/>
              <a:t xml:space="preserve">Zweite Ebene</a:t>
            </a:r>
          </a:p>
          <a:p>
            <a:pPr lvl="2"/>
            <a:r>
              <a:rPr lang="de-DE" noProof="0"/>
              <a:t xml:space="preserve">Dritte Ebene</a:t>
            </a:r>
          </a:p>
          <a:p>
            <a:pPr lvl="3"/>
            <a:r>
              <a:rPr lang="de-DE" noProof="0"/>
              <a:t xml:space="preserve">Vierte Ebene</a:t>
            </a:r>
          </a:p>
          <a:p>
            <a:pPr lvl="4"/>
            <a:r>
              <a:rPr lang="de-DE" noProof="0"/>
              <a:t xml:space="preserve">Fünfte Ebene</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de-DE"/>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de-DE"/>
              <a:t xml:space="preserve">KLICKEN, UM FIRMENNAME EINZUFÜGEN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de-DE" smtClean="0"/>
              <a:pPr/>
              <a:t xml:space="preserve">‹Nr.›</a:t>
            </a:fld>
            <a:endParaRPr lang="de-DE"/>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de-DE" noProof="0"/>
              <a:t xml:space="preserve">Mastertitelformat durch Klicken bearbeiten</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de-DE"/>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de-DE" noProof="0"/>
              <a:t xml:space="preserve">ESG-BERICHT {{insert_year}}</a:t>
            </a:r>
            <a:r>
              <a:rPr lang="de-DE" noProof="0"/>
              <a:t xml:space="preserve"/>
            </a:r>
            <a:r>
              <a:rPr lang="de-DE" noProof="0"/>
              <a:t xml:space="preserve"/>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de-DE" noProof="0"/>
              <a:t>{{</a:t>
            </a:r>
            <a:r>
              <a:rPr lang="de-DE" noProof="0"/>
              <a:t>company_name</a:t>
            </a:r>
            <a:r>
              <a:rPr lang="de-DE" noProof="0"/>
              <a:t>}}</a:t>
            </a:r>
            <a:endParaRPr lang="de-DE"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de-DE" noProof="0"/>
              <a:t xml:space="preserve">ESG-Bericht</a:t>
            </a:r>
            <a:r>
              <a:rPr lang="de-DE" b="0" noProof="0">
                <a:solidFill>
                  <a:srgbClr val="1B4528"/>
                </a:solidFill>
                <a:ea typeface="+mn-ea"/>
                <a:cs typeface="+mn-cs"/>
              </a:rPr>
              <a:t> </a:t>
            </a:r>
            <a:br>
              <a:rPr lang="de-DE" b="0" noProof="0">
                <a:solidFill>
                  <a:srgbClr val="1B4528"/>
                </a:solidFill>
                <a:ea typeface="+mn-ea"/>
                <a:cs typeface="+mn-cs"/>
              </a:rPr>
            </a:br>
            <a:endParaRPr lang="de-DE"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de-DE" sz="1050" b="1" noProof="0">
              <a:latin typeface="+mj-lt"/>
            </a:endParaRPr>
          </a:p>
          <a:p>
            <a:pPr>
              <a:lnSpc>
                <a:spcPct val="150000"/>
              </a:lnSpc>
              <a:tabLst>
                <a:tab pos="251986" algn="l"/>
                <a:tab pos="409303" algn="l"/>
                <a:tab pos="3932930" algn="r"/>
              </a:tabLst>
            </a:pPr>
            <a:endParaRPr lang="de-DE" sz="1050" b="1" noProof="0">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Allgemeine Informationen				</a:t>
            </a:r>
            <a:endParaRPr lang="de-DE"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e-DE" sz="1050" b="1" kern="1200" spc="-10" noProof="0">
                <a:solidFill>
                  <a:schemeClr val="tx2"/>
                </a:solidFill>
                <a:latin typeface="+mn-lt"/>
                <a:ea typeface="+mn-ea"/>
                <a:cs typeface="+mn-cs"/>
              </a:rPr>
              <a:t xml:space="preserve">Verfahrensweisen, Richtlinien und Initiativen für eine nachhaltigere Wirtschaft	</a:t>
            </a:r>
            <a:endParaRPr lang="de-DE" sz="1050" b="1" noProof="0">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Energieverbrauch				</a:t>
            </a:r>
            <a:endParaRPr lang="de-DE" sz="1050" noProof="0">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CO₂e-Emissionen 				</a:t>
            </a:r>
            <a:r>
              <a:rPr lang="de-DE" sz="1050" b="1" noProof="0">
                <a:latin typeface="+mj-lt"/>
              </a:rPr>
              <a:t xml:space="preserve"/>
            </a:r>
            <a:endParaRPr lang="de-DE" sz="1050" noProof="0">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Luft-, Wasser- und Bodenverschmutzung</a:t>
            </a:r>
            <a:r>
              <a:rPr lang="de-DE" sz="1050" noProof="0">
                <a:latin typeface="+mj-lt"/>
              </a:rPr>
              <a:t>				</a:t>
            </a: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Biodiversität</a:t>
            </a:r>
            <a:r>
              <a:rPr lang="de-DE" sz="1050" noProof="0">
                <a:latin typeface="+mj-lt"/>
              </a:rPr>
              <a:t>				</a:t>
            </a: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Wasser	</a:t>
            </a:r>
            <a:r>
              <a:rPr lang="de-DE" sz="1050" noProof="0">
                <a:latin typeface="+mj-lt"/>
              </a:rPr>
              <a:t> 			</a:t>
            </a: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Ressourcennutzung, Kreislaufwirtschaft und Abfallbewirtschaftung</a:t>
            </a:r>
            <a:r>
              <a:rPr lang="de-DE" sz="1050" noProof="0">
                <a:latin typeface="+mj-lt"/>
              </a:rPr>
              <a:t>				</a:t>
            </a:r>
            <a:endParaRPr lang="de-DE"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Eigene Arbeitskräfte: Allgemeine Merkmale</a:t>
            </a:r>
            <a:r>
              <a:rPr lang="de-DE" sz="1050" noProof="0">
                <a:latin typeface="+mj-lt"/>
              </a:rPr>
              <a:t>				</a:t>
            </a:r>
            <a:endParaRPr lang="de-DE"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Eigene Arbeitskräfte: Gesundheit &amp; Sicherheit</a:t>
            </a:r>
            <a:r>
              <a:rPr lang="de-DE" sz="1050" noProof="0">
                <a:latin typeface="+mj-lt"/>
              </a:rPr>
              <a:t>				</a:t>
            </a:r>
            <a:endParaRPr lang="de-DE"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Eigene Arbeitskräfte: Vergütung, Tarifverhandlungen und Schulung</a:t>
            </a:r>
            <a:r>
              <a:rPr lang="de-DE" sz="1050" noProof="0">
                <a:latin typeface="+mj-lt"/>
              </a:rPr>
              <a:t>		</a:t>
            </a:r>
            <a:endParaRPr lang="de-DE"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e-DE" sz="1050" b="1" noProof="0">
                <a:latin typeface="+mj-lt"/>
              </a:rPr>
              <a:t xml:space="preserve">Unternehmenspolitik</a:t>
            </a:r>
            <a:r>
              <a:rPr lang="de-DE" sz="1050" noProof="0">
                <a:latin typeface="+mj-lt"/>
              </a:rPr>
              <a:t>	 			</a:t>
            </a:r>
            <a:endParaRPr lang="de-DE" sz="1050" noProof="0">
              <a:solidFill>
                <a:srgbClr val="1B4528"/>
              </a:solidFill>
              <a:latin typeface="+mj-lt"/>
            </a:endParaRPr>
          </a:p>
          <a:p>
            <a:pPr>
              <a:tabLst>
                <a:tab pos="251986" algn="l"/>
                <a:tab pos="409303" algn="l"/>
                <a:tab pos="3932930" algn="r"/>
              </a:tabLst>
            </a:pPr>
            <a:endParaRPr lang="de-DE" sz="1050" noProof="0">
              <a:latin typeface="+mj-lt"/>
            </a:endParaRPr>
          </a:p>
          <a:p>
            <a:pPr>
              <a:tabLst>
                <a:tab pos="251986" algn="l"/>
                <a:tab pos="409303" algn="l"/>
                <a:tab pos="3932930" algn="r"/>
              </a:tabLst>
            </a:pPr>
            <a:endParaRPr lang="de-DE" sz="1050" noProof="0">
              <a:latin typeface="+mj-lt"/>
            </a:endParaRPr>
          </a:p>
          <a:p>
            <a:pPr>
              <a:tabLst>
                <a:tab pos="251986" algn="l"/>
                <a:tab pos="409303" algn="l"/>
                <a:tab pos="3932930" algn="r"/>
              </a:tabLst>
            </a:pPr>
            <a:endParaRPr lang="de-DE" noProof="0">
              <a:latin typeface="+mj-lt"/>
            </a:endParaRPr>
          </a:p>
          <a:p>
            <a:pPr>
              <a:tabLst>
                <a:tab pos="251986" algn="l"/>
                <a:tab pos="409303" algn="l"/>
                <a:tab pos="3932930" algn="r"/>
              </a:tabLst>
            </a:pPr>
            <a:endParaRPr lang="de-DE"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de-DE" noProof="0"/>
              <a:t>{{</a:t>
            </a:r>
            <a:r>
              <a:rPr lang="de-DE" noProof="0"/>
              <a:t>company_name</a:t>
            </a:r>
            <a:r>
              <a:rPr lang="de-DE"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de-DE" noProof="0" smtClean="0"/>
              <a:pPr/>
              <a:t>2</a:t>
            </a:fld>
            <a:endParaRPr lang="de-DE"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de-DE" noProof="0"/>
              <a:t xml:space="preserve">Grundlagen für die Erstellung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de-DE"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68749"/>
          <a:ext cx="6449555" cy="1092520"/>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88551">
                <a:tc gridSpan="2">
                  <a:txBody>
                    <a:bodyPr/>
                    <a:lstStyle/>
                    <a:p>
                      <a:pPr marL="0" algn="l" defTabSz="914400" rtl="0" eaLnBrk="1" latinLnBrk="0" hangingPunct="1"/>
                      <a:r>
                        <a:rPr lang="de-DE" sz="1050" b="1" kern="1200" spc="-10" noProof="0">
                          <a:solidFill>
                            <a:schemeClr val="tx2"/>
                          </a:solidFill>
                          <a:latin typeface="+mn-lt"/>
                          <a:ea typeface="+mn-ea"/>
                          <a:cs typeface="+mn-cs"/>
                        </a:rPr>
                        <a:t xml:space="preserve">Liste der in diesem ESG-Bericht erfassten Tochterunternehmen </a:t>
                      </a:r>
                      <a:r>
                        <a:rPr lang="de-DE" sz="1050" b="0" kern="1200" spc="-10" noProof="0">
                          <a:solidFill>
                            <a:schemeClr val="tx2"/>
                          </a:solidFill>
                          <a:latin typeface="+mn-lt"/>
                          <a:ea typeface="+mn-ea"/>
                          <a:cs typeface="+mn-cs"/>
                        </a:rPr>
                        <a:t xml:space="preserve">(Nr. 27d)</a:t>
                      </a:r>
                      <a:endParaRPr lang="de-DE"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de-DE" sz="1050" b="1" kern="1200" spc="-10" noProof="0">
                          <a:solidFill>
                            <a:schemeClr val="tx2"/>
                          </a:solidFill>
                          <a:latin typeface="+mn-lt"/>
                          <a:ea typeface="+mn-ea"/>
                          <a:cs typeface="+mn-cs"/>
                        </a:rPr>
                        <a:t xml:space="preserve">Name des Tochterunternehmens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1050" b="1" kern="1200" spc="-10" noProof="0">
                          <a:solidFill>
                            <a:schemeClr val="tx2"/>
                          </a:solidFill>
                          <a:latin typeface="+mn-lt"/>
                          <a:ea typeface="+mn-ea"/>
                          <a:cs typeface="+mn-cs"/>
                        </a:rPr>
                        <a:t xml:space="preserve">Anschrift des Tochterunternehmens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de-DE" sz="1050" b="0" i="0" u="none" strike="noStrike" noProof="0">
                          <a:solidFill>
                            <a:srgbClr val="1B4528"/>
                          </a:solidFill>
                          <a:effectLst/>
                          <a:latin typeface="Inter"/>
                        </a:rPr>
                        <a:t>{{subsidiary}}</a:t>
                      </a:r>
                      <a:endParaRPr lang="de-DE"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de-DE" sz="1050" b="0" i="0" u="none" strike="noStrike" noProof="0">
                          <a:solidFill>
                            <a:srgbClr val="1B4528"/>
                          </a:solidFill>
                          <a:effectLst/>
                          <a:latin typeface="Inter"/>
                        </a:rPr>
                        <a:t>{{subsidiary_address}}</a:t>
                      </a:r>
                      <a:endParaRPr lang="de-DE"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e-DE" noProof="0" smtClean="0"/>
              <a:pPr/>
              <a:t>3</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de-DE" noProof="0"/>
              <a:t>{{</a:t>
            </a:r>
            <a:r>
              <a:rPr lang="de-DE" noProof="0"/>
              <a:t>company_name</a:t>
            </a:r>
            <a:r>
              <a:rPr lang="de-DE" noProof="0"/>
              <a:t>}}</a:t>
            </a:r>
            <a:endParaRPr lang="de-DE" b="0" noProof="0"/>
          </a:p>
          <a:p>
            <a:br>
              <a:rPr lang="de-DE" noProof="0"/>
            </a:br>
            <a:endParaRPr lang="de-DE"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87189"/>
          <a:ext cx="6449555" cy="1064982"/>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de-DE" sz="1050" b="1" noProof="0">
                          <a:solidFill>
                            <a:schemeClr val="tx2"/>
                          </a:solidFill>
                        </a:rPr>
                        <a:t xml:space="preserve">Individuelle oder konsolidierte Berichterstattung</a:t>
                      </a:r>
                      <a:r>
                        <a:rPr lang="de-DE" sz="1050" b="0" noProof="0">
                          <a:solidFill>
                            <a:schemeClr val="tx2"/>
                          </a:solidFill>
                        </a:rPr>
                        <a:t xml:space="preserve"> (Nr.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kern="1200" spc="-10" noProof="0">
                          <a:solidFill>
                            <a:schemeClr val="tx2"/>
                          </a:solidFill>
                          <a:latin typeface="+mn-lt"/>
                          <a:ea typeface="+mn-ea"/>
                          <a:cs typeface="+mn-cs"/>
                        </a:rPr>
                        <a:t xml:space="preserve">Der Bericht wurde auf </a:t>
                      </a:r>
                      <a:r>
                        <a:rPr lang="de-DE" sz="1050" b="1" kern="1200" spc="-10" noProof="0">
                          <a:solidFill>
                            <a:schemeClr val="tx2"/>
                          </a:solidFill>
                          <a:latin typeface="+mn-lt"/>
                          <a:ea typeface="+mn-ea"/>
                          <a:cs typeface="+mn-cs"/>
                        </a:rPr>
                        <a:t xml:space="preserve">individueller Basis </a:t>
                      </a:r>
                      <a:r>
                        <a:rPr lang="de-DE" sz="1050" b="0" kern="1200" spc="-10" noProof="0">
                          <a:solidFill>
                            <a:schemeClr val="tx2"/>
                          </a:solidFill>
                          <a:latin typeface="+mn-lt"/>
                          <a:ea typeface="+mn-ea"/>
                          <a:cs typeface="+mn-cs"/>
                        </a:rPr>
                        <a:t xml:space="preserve">erstellt (d. h. der Bericht erfasst keine Tochterunternehmen)</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yes_subsidiary</a:t>
                      </a:r>
                      <a:r>
                        <a:rPr lang="de-DE" sz="1050" b="0" i="0" u="none" strike="noStrike" noProof="0">
                          <a:solidFill>
                            <a:srgbClr val="1B4528"/>
                          </a:solidFill>
                          <a:effectLst/>
                          <a:latin typeface="Inter"/>
                        </a:rPr>
                        <a:t>?}}</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25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kern="1200" spc="-10" noProof="0">
                          <a:solidFill>
                            <a:schemeClr val="tx2"/>
                          </a:solidFill>
                          <a:latin typeface="+mn-lt"/>
                          <a:ea typeface="+mn-ea"/>
                          <a:cs typeface="+mn-cs"/>
                        </a:rPr>
                        <a:t xml:space="preserve">Der Bericht wurde auf </a:t>
                      </a:r>
                      <a:r>
                        <a:rPr lang="de-DE" sz="1050" b="1" kern="1200" spc="-10" noProof="0">
                          <a:solidFill>
                            <a:schemeClr val="tx2"/>
                          </a:solidFill>
                          <a:latin typeface="+mn-lt"/>
                          <a:ea typeface="+mn-ea"/>
                          <a:cs typeface="+mn-cs"/>
                        </a:rPr>
                        <a:t xml:space="preserve">konsolidierter Basis </a:t>
                      </a:r>
                      <a:r>
                        <a:rPr lang="de-DE" sz="1050" b="0" kern="1200" spc="-10" noProof="0">
                          <a:solidFill>
                            <a:schemeClr val="tx2"/>
                          </a:solidFill>
                          <a:latin typeface="+mn-lt"/>
                          <a:ea typeface="+mn-ea"/>
                          <a:cs typeface="+mn-cs"/>
                        </a:rPr>
                        <a:t xml:space="preserve">erstellt (d. h. der Bericht umfasst die Tochterunternehmen des Unternehmens) </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no_subsidiary</a:t>
                      </a:r>
                      <a:r>
                        <a:rPr lang="de-DE" sz="1050" b="0" i="0" u="none" strike="noStrike" noProof="0">
                          <a:solidFill>
                            <a:srgbClr val="1B4528"/>
                          </a:solidFill>
                          <a:effectLst/>
                          <a:latin typeface="Inter"/>
                        </a:rPr>
                        <a:t>?}}</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167535"/>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43061">
                <a:tc gridSpan="2">
                  <a:txBody>
                    <a:bodyPr/>
                    <a:lstStyle/>
                    <a:p>
                      <a:r>
                        <a:rPr lang="de-DE" sz="1050" b="1" kern="1200" spc="-10" noProof="0">
                          <a:solidFill>
                            <a:schemeClr val="tx2"/>
                          </a:solidFill>
                          <a:latin typeface="+mn-lt"/>
                          <a:ea typeface="+mn-ea"/>
                          <a:cs typeface="+mn-cs"/>
                        </a:rPr>
                        <a:t xml:space="preserve">Basismodul oder Basismodul +</a:t>
                      </a:r>
                      <a:r>
                        <a:rPr lang="de-DE" sz="1050" b="1" kern="1200" spc="-10" noProof="0">
                          <a:solidFill>
                            <a:schemeClr val="tx2"/>
                          </a:solidFill>
                          <a:latin typeface="+mn-lt"/>
                          <a:ea typeface="+mn-ea"/>
                          <a:cs typeface="+mn-cs"/>
                        </a:rPr>
                        <a:t xml:space="preserve"/>
                      </a:r>
                      <a:r>
                        <a:rPr lang="de-DE" sz="1050" b="1" kern="1200" spc="-10" noProof="0">
                          <a:solidFill>
                            <a:schemeClr val="tx2"/>
                          </a:solidFill>
                          <a:latin typeface="+mn-lt"/>
                          <a:ea typeface="+mn-ea"/>
                          <a:cs typeface="+mn-cs"/>
                        </a:rPr>
                        <a:t xml:space="preserve"/>
                      </a:r>
                      <a:r>
                        <a:rPr lang="de-DE" sz="1050" b="1" kern="1200" spc="-10" noProof="0">
                          <a:solidFill>
                            <a:schemeClr val="tx2"/>
                          </a:solidFill>
                          <a:latin typeface="+mn-lt"/>
                          <a:ea typeface="+mn-ea"/>
                          <a:cs typeface="+mn-cs"/>
                        </a:rPr>
                        <a:t xml:space="preserve"/>
                      </a:r>
                      <a:r>
                        <a:rPr lang="de-DE" sz="1050" b="0" kern="1200" spc="-10" noProof="0">
                          <a:solidFill>
                            <a:schemeClr val="tx2"/>
                          </a:solidFill>
                          <a:latin typeface="+mn-lt"/>
                          <a:ea typeface="+mn-ea"/>
                          <a:cs typeface="+mn-cs"/>
                        </a:rPr>
                        <a:t> </a:t>
                      </a:r>
                      <a:r>
                        <a:rPr lang="de-DE" sz="1050" b="1" kern="1200" spc="-10" noProof="0">
                          <a:solidFill>
                            <a:schemeClr val="tx2"/>
                          </a:solidFill>
                          <a:latin typeface="+mn-lt"/>
                          <a:ea typeface="+mn-ea"/>
                          <a:cs typeface="+mn-cs"/>
                        </a:rPr>
                        <a:t xml:space="preserve">Zusatzmodul </a:t>
                      </a:r>
                      <a:r>
                        <a:rPr lang="de-DE" sz="1050" b="0" kern="1200" spc="-10" noProof="0">
                          <a:solidFill>
                            <a:schemeClr val="tx2"/>
                          </a:solidFill>
                          <a:latin typeface="+mn-lt"/>
                          <a:ea typeface="+mn-ea"/>
                          <a:cs typeface="+mn-cs"/>
                        </a:rPr>
                        <a:t xml:space="preserve">(Nr. 27a)</a:t>
                      </a:r>
                      <a:r>
                        <a:rPr lang="de-DE" sz="1050" b="1" kern="1200" spc="-10" noProof="0">
                          <a:solidFill>
                            <a:schemeClr val="tx2"/>
                          </a:solidFill>
                          <a:latin typeface="+mn-lt"/>
                          <a:ea typeface="+mn-ea"/>
                          <a:cs typeface="+mn-cs"/>
                        </a:rPr>
                        <a:t> </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kern="1200" spc="-10" noProof="0">
                          <a:solidFill>
                            <a:schemeClr val="tx2"/>
                          </a:solidFill>
                          <a:latin typeface="+mn-lt"/>
                          <a:ea typeface="+mn-ea"/>
                          <a:cs typeface="+mn-cs"/>
                        </a:rPr>
                        <a:t xml:space="preserve">Der Bericht basiert auf dem </a:t>
                      </a:r>
                      <a:r>
                        <a:rPr lang="de-DE" sz="1050" b="1" kern="1200" spc="-10" noProof="0">
                          <a:solidFill>
                            <a:schemeClr val="tx2"/>
                          </a:solidFill>
                          <a:latin typeface="+mn-lt"/>
                          <a:ea typeface="+mn-ea"/>
                          <a:cs typeface="+mn-cs"/>
                        </a:rPr>
                        <a:t xml:space="preserve">Basismodul</a:t>
                      </a:r>
                      <a:r>
                        <a:rPr lang="de-DE" sz="1050" b="0" kern="1200" spc="-10" noProof="0">
                          <a:solidFill>
                            <a:schemeClr val="tx2"/>
                          </a:solidFill>
                          <a:latin typeface="+mn-lt"/>
                          <a:ea typeface="+mn-ea"/>
                          <a:cs typeface="+mn-cs"/>
                        </a:rPr>
                        <a:t xml:space="preserve"> des freiwilligen KMU-Standards </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basic_module</a:t>
                      </a:r>
                      <a:r>
                        <a:rPr lang="de-DE" sz="1050" b="0" i="0" u="none" strike="noStrike" noProof="0">
                          <a:solidFill>
                            <a:srgbClr val="1B4528"/>
                          </a:solidFill>
                          <a:effectLst/>
                          <a:latin typeface="Inter"/>
                        </a:rPr>
                        <a:t>?}}</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6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kern="1200" spc="-10" noProof="0">
                          <a:solidFill>
                            <a:schemeClr val="tx2"/>
                          </a:solidFill>
                          <a:latin typeface="+mn-lt"/>
                          <a:ea typeface="+mn-ea"/>
                          <a:cs typeface="+mn-cs"/>
                        </a:rPr>
                        <a:t xml:space="preserve">Der Bericht basiert auf dem </a:t>
                      </a:r>
                      <a:r>
                        <a:rPr lang="de-DE" sz="1050" b="1" kern="1200" spc="-10" noProof="0">
                          <a:solidFill>
                            <a:schemeClr val="tx2"/>
                          </a:solidFill>
                          <a:latin typeface="+mn-lt"/>
                          <a:ea typeface="+mn-ea"/>
                          <a:cs typeface="+mn-cs"/>
                        </a:rPr>
                        <a:t xml:space="preserve">Basismodul</a:t>
                      </a:r>
                      <a:r>
                        <a:rPr lang="de-DE" sz="1050" b="0" kern="1200" spc="-10" noProof="0">
                          <a:solidFill>
                            <a:schemeClr val="tx2"/>
                          </a:solidFill>
                          <a:latin typeface="+mn-lt"/>
                          <a:ea typeface="+mn-ea"/>
                          <a:cs typeface="+mn-cs"/>
                        </a:rPr>
                        <a:t xml:space="preserve"> und </a:t>
                      </a:r>
                      <a:r>
                        <a:rPr lang="de-DE" sz="1050" b="1" kern="1200" spc="-10" noProof="0">
                          <a:solidFill>
                            <a:schemeClr val="tx2"/>
                          </a:solidFill>
                          <a:latin typeface="+mn-lt"/>
                          <a:ea typeface="+mn-ea"/>
                          <a:cs typeface="+mn-cs"/>
                        </a:rPr>
                        <a:t xml:space="preserve">Zusatzmodul </a:t>
                      </a:r>
                      <a:r>
                        <a:rPr lang="de-DE" sz="1050" b="0" kern="1200" spc="-10" noProof="0">
                          <a:solidFill>
                            <a:schemeClr val="tx2"/>
                          </a:solidFill>
                          <a:latin typeface="+mn-lt"/>
                          <a:ea typeface="+mn-ea"/>
                          <a:cs typeface="+mn-cs"/>
                        </a:rPr>
                        <a:t xml:space="preserve">des freiwilligen KMU-Standards</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comprehensive</a:t>
                      </a:r>
                      <a:r>
                        <a:rPr lang="de-DE" sz="1050" b="0" i="0" u="none" strike="noStrike" noProof="0">
                          <a:solidFill>
                            <a:srgbClr val="1B4528"/>
                          </a:solidFill>
                          <a:effectLst/>
                          <a:latin typeface="Inter"/>
                        </a:rPr>
                        <a:t>?}}</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lang="de-DE"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87189"/>
          <a:ext cx="3073007" cy="2174080"/>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404982">
                <a:tc gridSpan="2">
                  <a:txBody>
                    <a:bodyPr/>
                    <a:lstStyle/>
                    <a:p>
                      <a:pPr algn="l"/>
                      <a:r>
                        <a:rPr lang="de-DE" sz="1050" b="1" kern="1200" spc="-10" noProof="0">
                          <a:solidFill>
                            <a:schemeClr val="tx2"/>
                          </a:solidFill>
                          <a:latin typeface="+mn-lt"/>
                          <a:ea typeface="+mn-ea"/>
                          <a:cs typeface="+mn-cs"/>
                        </a:rPr>
                        <a:t xml:space="preserve">Grundlegende Informationen über das Unternehmen</a:t>
                      </a:r>
                      <a:r>
                        <a:rPr lang="de-DE" sz="1050" b="0" kern="1200" spc="-10" noProof="0">
                          <a:solidFill>
                            <a:schemeClr val="tx2"/>
                          </a:solidFill>
                          <a:latin typeface="+mn-lt"/>
                          <a:ea typeface="+mn-ea"/>
                          <a:cs typeface="+mn-cs"/>
                        </a:rPr>
                        <a:t xml:space="preserve"> (Nr.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77595">
                <a:tc>
                  <a:txBody>
                    <a:bodyPr/>
                    <a:lstStyle/>
                    <a:p>
                      <a:pPr algn="l"/>
                      <a:r>
                        <a:rPr lang="de-DE" sz="1050" b="1" kern="1200" spc="-10" noProof="0">
                          <a:solidFill>
                            <a:schemeClr val="tx2"/>
                          </a:solidFill>
                          <a:latin typeface="+mn-lt"/>
                          <a:ea typeface="+mn-ea"/>
                          <a:cs typeface="+mn-cs"/>
                        </a:rPr>
                        <a:t xml:space="preserve">Rechtsform</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1050" b="0" i="0" u="none" strike="noStrike" noProof="0">
                          <a:solidFill>
                            <a:srgbClr val="1B4528"/>
                          </a:solidFill>
                          <a:effectLst/>
                          <a:latin typeface="Inter"/>
                        </a:rPr>
                        <a:t>{{branchekode}}</a:t>
                      </a:r>
                      <a:endParaRPr lang="de-DE"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67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kern="1200" spc="-10" noProof="0">
                          <a:solidFill>
                            <a:schemeClr val="tx2"/>
                          </a:solidFill>
                          <a:latin typeface="+mn-lt"/>
                          <a:ea typeface="+mn-ea"/>
                          <a:cs typeface="+mn-cs"/>
                        </a:rPr>
                        <a:t xml:space="preserve">NACE-Code(s)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1050" b="0" i="0" u="none" strike="noStrike" noProof="0">
                          <a:solidFill>
                            <a:srgbClr val="1B4528"/>
                          </a:solidFill>
                          <a:effectLst/>
                          <a:latin typeface="Inter"/>
                        </a:rPr>
                        <a:t>{{NACE}}</a:t>
                      </a:r>
                      <a:endParaRPr lang="de-DE"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77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kern="1200" spc="-10" noProof="0">
                          <a:solidFill>
                            <a:schemeClr val="tx2"/>
                          </a:solidFill>
                          <a:latin typeface="+mn-lt"/>
                          <a:ea typeface="+mn-ea"/>
                          <a:cs typeface="+mn-cs"/>
                        </a:rPr>
                        <a:t xml:space="preserve">Bilanzsumme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1050" b="0" i="0" u="none" strike="noStrike" noProof="0">
                          <a:solidFill>
                            <a:srgbClr val="1B4528"/>
                          </a:solidFill>
                          <a:effectLst/>
                          <a:latin typeface="Inter"/>
                        </a:rPr>
                        <a:t>{{balance}}</a:t>
                      </a:r>
                      <a:endParaRPr lang="de-DE"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77595">
                <a:tc>
                  <a:txBody>
                    <a:bodyPr/>
                    <a:lstStyle/>
                    <a:p>
                      <a:pPr algn="l"/>
                      <a:r>
                        <a:rPr lang="de-DE" sz="1050" b="1" kern="1200" spc="-10" noProof="0">
                          <a:solidFill>
                            <a:schemeClr val="tx2"/>
                          </a:solidFill>
                          <a:latin typeface="+mn-lt"/>
                          <a:ea typeface="+mn-ea"/>
                          <a:cs typeface="+mn-cs"/>
                        </a:rPr>
                        <a:t xml:space="preserve">Umsatzerlöse (EUR)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1050" b="0" i="0" u="none" strike="noStrike" noProof="0">
                          <a:solidFill>
                            <a:srgbClr val="1B4528"/>
                          </a:solidFill>
                          <a:effectLst/>
                          <a:latin typeface="Inter"/>
                        </a:rPr>
                        <a:t>{{revenue}}</a:t>
                      </a:r>
                      <a:endParaRPr lang="de-DE"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9577">
                <a:tc>
                  <a:txBody>
                    <a:bodyPr/>
                    <a:lstStyle/>
                    <a:p>
                      <a:pPr algn="l"/>
                      <a:r>
                        <a:rPr lang="de-DE" sz="1050" b="1" kern="1200" spc="-10" noProof="0">
                          <a:solidFill>
                            <a:schemeClr val="tx2"/>
                          </a:solidFill>
                          <a:latin typeface="+mn-lt"/>
                          <a:ea typeface="+mn-ea"/>
                          <a:cs typeface="+mn-cs"/>
                        </a:rPr>
                        <a:t xml:space="preserve">Beschäftigte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1050" b="0" i="0" u="none" strike="noStrike" noProof="0">
                          <a:solidFill>
                            <a:srgbClr val="1B4528"/>
                          </a:solidFill>
                          <a:effectLst/>
                          <a:latin typeface="Inter"/>
                        </a:rPr>
                        <a:t>{{total_employees}}</a:t>
                      </a:r>
                      <a:endParaRPr lang="de-DE"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167534"/>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437299">
                <a:tc gridSpan="2">
                  <a:txBody>
                    <a:bodyPr/>
                    <a:lstStyle/>
                    <a:p>
                      <a:pPr algn="l"/>
                      <a:r>
                        <a:rPr lang="de-DE" sz="1050" b="1" kern="1200" spc="-10" noProof="0">
                          <a:solidFill>
                            <a:schemeClr val="tx2"/>
                          </a:solidFill>
                          <a:latin typeface="+mn-lt"/>
                          <a:ea typeface="+mn-ea"/>
                          <a:cs typeface="+mn-cs"/>
                        </a:rPr>
                        <a:t xml:space="preserve">Der ESG-Bericht enthält Auslassungen aufgrund vertraulicher Geschäftsinformationen </a:t>
                      </a:r>
                      <a:r>
                        <a:rPr lang="de-DE" sz="1050" b="0" kern="1200" spc="-10" noProof="0">
                          <a:solidFill>
                            <a:schemeClr val="tx2"/>
                          </a:solidFill>
                          <a:latin typeface="+mn-lt"/>
                          <a:ea typeface="+mn-ea"/>
                          <a:cs typeface="+mn-cs"/>
                        </a:rPr>
                        <a:t xml:space="preserve">(Nr.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730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kern="1200" spc="-10" noProof="0">
                          <a:solidFill>
                            <a:schemeClr val="tx2"/>
                          </a:solidFill>
                          <a:latin typeface="+mn-lt"/>
                          <a:ea typeface="+mn-ea"/>
                          <a:cs typeface="+mn-cs"/>
                        </a:rPr>
                        <a:t xml:space="preserve">Folgende Angaben wurden ausgelassen</a:t>
                      </a:r>
                    </a:p>
                    <a:p>
                      <a:pPr algn="l"/>
                      <a:endParaRPr lang="de-DE"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1050" noProof="0">
                          <a:solidFill>
                            <a:srgbClr val="1B4528"/>
                          </a:solidFill>
                          <a:latin typeface="+mn-lt"/>
                          <a:cs typeface="Calibri" panose="020F0502020204030204" pitchFamily="34" charset="0"/>
                        </a:rPr>
                        <a:t>{{</a:t>
                      </a:r>
                      <a:r>
                        <a:rPr lang="de-DE" sz="1050" noProof="0">
                          <a:solidFill>
                            <a:srgbClr val="1B4528"/>
                          </a:solidFill>
                          <a:latin typeface="+mn-lt"/>
                          <a:cs typeface="Calibri" panose="020F0502020204030204" pitchFamily="34" charset="0"/>
                        </a:rPr>
                        <a:t>confidentiality_info</a:t>
                      </a:r>
                      <a:r>
                        <a:rPr lang="de-DE"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de-DE" noProof="0"/>
              <a:t xml:space="preserve">Grundlagen für die Erstellung (B1) - Fortsetzung</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e-DE" noProof="0" smtClean="0"/>
              <a:pPr/>
              <a:t>4</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de-DE" noProof="0"/>
              <a:t>{{</a:t>
            </a:r>
            <a:r>
              <a:rPr lang="de-DE" noProof="0"/>
              <a:t>company_name</a:t>
            </a:r>
            <a:r>
              <a:rPr lang="de-DE" noProof="0"/>
              <a:t>}}</a:t>
            </a:r>
            <a:endParaRPr lang="de-DE" b="0" noProof="0"/>
          </a:p>
          <a:p>
            <a:endParaRPr lang="de-DE"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de-DE" sz="1050" b="1" kern="1200" spc="-10" noProof="0">
                          <a:solidFill>
                            <a:schemeClr val="tx2"/>
                          </a:solidFill>
                          <a:latin typeface="+mn-lt"/>
                          <a:ea typeface="+mn-ea"/>
                          <a:cs typeface="+mn-cs"/>
                        </a:rPr>
                        <a:t xml:space="preserve">Name des ESG-Zertifikats/Umweltsiegels </a:t>
                      </a:r>
                      <a:r>
                        <a:rPr lang="de-DE" sz="1050" b="0" kern="1200" spc="-10" noProof="0">
                          <a:solidFill>
                            <a:schemeClr val="tx2"/>
                          </a:solidFill>
                          <a:latin typeface="+mn-lt"/>
                          <a:ea typeface="+mn-ea"/>
                          <a:cs typeface="+mn-cs"/>
                        </a:rPr>
                        <a:t xml:space="preserve">(Nr.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1050" b="1" kern="1200" spc="-10" noProof="0">
                          <a:solidFill>
                            <a:schemeClr val="tx2"/>
                          </a:solidFill>
                          <a:latin typeface="+mn-lt"/>
                          <a:ea typeface="+mn-ea"/>
                          <a:cs typeface="+mn-cs"/>
                        </a:rPr>
                        <a:t xml:space="preserve">Kurze Beschreibung</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1050" b="1" kern="1200" spc="-10" noProof="0">
                          <a:solidFill>
                            <a:schemeClr val="tx2"/>
                          </a:solidFill>
                          <a:latin typeface="+mn-lt"/>
                          <a:ea typeface="+mn-ea"/>
                          <a:cs typeface="+mn-cs"/>
                        </a:rPr>
                        <a:t xml:space="preserve">Datum der Ausstellung/</a:t>
                      </a:r>
                    </a:p>
                    <a:p>
                      <a:pPr algn="l"/>
                      <a:r>
                        <a:rPr lang="de-DE" sz="1050" b="1" kern="1200" spc="-10" noProof="0">
                          <a:solidFill>
                            <a:schemeClr val="tx2"/>
                          </a:solidFill>
                          <a:latin typeface="+mn-lt"/>
                          <a:ea typeface="+mn-ea"/>
                          <a:cs typeface="+mn-cs"/>
                        </a:rPr>
                        <a:t xml:space="preserve">Gültigkeit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1050" b="1" kern="1200" spc="-10" noProof="0">
                          <a:solidFill>
                            <a:schemeClr val="tx2"/>
                          </a:solidFill>
                          <a:latin typeface="+mn-lt"/>
                          <a:ea typeface="+mn-ea"/>
                          <a:cs typeface="+mn-cs"/>
                        </a:rPr>
                        <a:t xml:space="preserve">Etwaige Bewertungsnote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de-DE" sz="1050" b="0" i="0" u="none" strike="noStrike" noProof="0">
                          <a:solidFill>
                            <a:srgbClr val="1B4528"/>
                          </a:solidFill>
                          <a:effectLst/>
                          <a:latin typeface="Inter"/>
                        </a:rPr>
                        <a:t>{{certificate_or_ecolabel}}</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1050" b="0" i="0" u="none" strike="noStrike" noProof="0">
                          <a:solidFill>
                            <a:srgbClr val="1B4528"/>
                          </a:solidFill>
                          <a:effectLst/>
                          <a:latin typeface="Inter"/>
                        </a:rPr>
                        <a:t>{{description_certificate}}</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1050" b="0" i="0" u="none" strike="noStrike" noProof="0">
                          <a:solidFill>
                            <a:srgbClr val="1B4528"/>
                          </a:solidFill>
                          <a:effectLst/>
                          <a:latin typeface="Inter"/>
                        </a:rPr>
                        <a:t>{{date_certicate}}</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1050" b="0" i="0" u="none" strike="noStrike" noProof="0">
                          <a:solidFill>
                            <a:srgbClr val="1B4528"/>
                          </a:solidFill>
                          <a:effectLst/>
                          <a:latin typeface="Inter"/>
                        </a:rPr>
                        <a:t>{{certiciate_possible_rating}}</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kern="1200" spc="-10" noProof="0">
                          <a:solidFill>
                            <a:schemeClr val="tx2"/>
                          </a:solidFill>
                          <a:latin typeface="+mn-lt"/>
                          <a:ea typeface="+mn-ea"/>
                          <a:cs typeface="+mn-cs"/>
                        </a:rPr>
                        <a:t xml:space="preserve">Anschriften und Geoposition </a:t>
                      </a:r>
                      <a:r>
                        <a:rPr lang="de-DE" sz="1050" b="1" u="none" kern="1200" spc="-10" noProof="0">
                          <a:solidFill>
                            <a:schemeClr val="tx2"/>
                          </a:solidFill>
                          <a:latin typeface="+mn-lt"/>
                          <a:ea typeface="+mn-ea"/>
                          <a:cs typeface="+mn-cs"/>
                        </a:rPr>
                        <a:t xml:space="preserve">wesentlicher</a:t>
                      </a:r>
                      <a:r>
                        <a:rPr lang="de-DE" sz="1050" b="1" kern="1200" spc="-10" noProof="0">
                          <a:solidFill>
                            <a:schemeClr val="tx2"/>
                          </a:solidFill>
                          <a:latin typeface="+mn-lt"/>
                          <a:ea typeface="+mn-ea"/>
                          <a:cs typeface="+mn-cs"/>
                        </a:rPr>
                        <a:t xml:space="preserve"> Vermögenswerte und Standorte, die das Unternehmen</a:t>
                      </a:r>
                      <a:r>
                        <a:rPr lang="de-DE" sz="1050" b="0" kern="1200" spc="-10" noProof="0">
                          <a:solidFill>
                            <a:schemeClr val="tx2"/>
                          </a:solidFill>
                          <a:latin typeface="+mn-lt"/>
                          <a:ea typeface="+mn-ea"/>
                          <a:cs typeface="+mn-cs"/>
                        </a:rPr>
                        <a:t> </a:t>
                      </a:r>
                      <a:r>
                        <a:rPr lang="de-DE" sz="1050" b="1" kern="1200" spc="-10" noProof="0">
                          <a:solidFill>
                            <a:schemeClr val="tx2"/>
                          </a:solidFill>
                          <a:latin typeface="+mn-lt"/>
                          <a:ea typeface="+mn-ea"/>
                          <a:cs typeface="+mn-cs"/>
                        </a:rPr>
                        <a:t xml:space="preserve">besitzt, gepachtet hat oder bewirtschaftet </a:t>
                      </a:r>
                      <a:r>
                        <a:rPr lang="de-DE" sz="1050" b="0" kern="1200" spc="-10" noProof="0">
                          <a:solidFill>
                            <a:schemeClr val="tx2"/>
                          </a:solidFill>
                          <a:latin typeface="+mn-lt"/>
                          <a:ea typeface="+mn-ea"/>
                          <a:cs typeface="+mn-cs"/>
                        </a:rPr>
                        <a:t xml:space="preserve">(Nr.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de-DE" sz="1050" b="1" kern="1200" spc="-10" noProof="0">
                          <a:solidFill>
                            <a:schemeClr val="tx2"/>
                          </a:solidFill>
                          <a:latin typeface="+mn-lt"/>
                          <a:ea typeface="+mn-ea"/>
                          <a:cs typeface="+mn-cs"/>
                        </a:rPr>
                        <a:t xml:space="preserve">Standort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Anschrift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PLZ</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Stadt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Land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Geoposition (Koordinaten)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de-DE" sz="1050" b="0" i="0" u="none" strike="noStrike" noProof="0">
                          <a:solidFill>
                            <a:srgbClr val="1B4528"/>
                          </a:solidFill>
                          <a:effectLst/>
                          <a:latin typeface="Inter"/>
                        </a:rPr>
                        <a:t>{{geolocation}}</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1050" b="0" i="0" u="none" strike="noStrike" noProof="0">
                          <a:solidFill>
                            <a:srgbClr val="1B4528"/>
                          </a:solidFill>
                          <a:effectLst/>
                          <a:latin typeface="Inter"/>
                        </a:rPr>
                        <a:t>{{geolocation_adress}}</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1050" b="0" i="0" u="none" strike="noStrike" noProof="0">
                          <a:solidFill>
                            <a:srgbClr val="1B4528"/>
                          </a:solidFill>
                          <a:effectLst/>
                          <a:latin typeface="Inter"/>
                        </a:rPr>
                        <a:t>{{geolocation_postcode}}</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1050" b="0" i="0" u="none" strike="noStrike" noProof="0">
                          <a:solidFill>
                            <a:srgbClr val="1B4528"/>
                          </a:solidFill>
                          <a:effectLst/>
                          <a:latin typeface="Inter"/>
                        </a:rPr>
                        <a:t>{{geolocation_city}}</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1050" b="0" i="0" u="none" strike="noStrike" noProof="0">
                          <a:solidFill>
                            <a:srgbClr val="1B4528"/>
                          </a:solidFill>
                          <a:effectLst/>
                          <a:latin typeface="Inter"/>
                        </a:rPr>
                        <a:t>{{geolocation_country}}</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1050" b="0" i="0" u="none" strike="noStrike" noProof="0">
                          <a:solidFill>
                            <a:srgbClr val="1B4528"/>
                          </a:solidFill>
                          <a:effectLst/>
                          <a:latin typeface="Inter"/>
                        </a:rPr>
                        <a:t>{{geolocation_coordinates}}</a:t>
                      </a:r>
                      <a:endParaRPr lang="de-DE"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de-DE" sz="1050" b="0" i="0" u="none" strike="noStrike" noProof="0">
                <a:solidFill>
                  <a:schemeClr val="tx2"/>
                </a:solidFill>
                <a:effectLst/>
                <a:latin typeface="Inter"/>
              </a:rPr>
              <a:t xml:space="preserve">Nachstehend werden die Geopositionen des Unternehmens und die Orte seiner Tätigkeit beschrieben. Diese Angaben können für klimabedingte Risikozonen genutzt werden und informieren über Anlagen, Einrichtungen und/oder den Hauptsitz</a:t>
            </a:r>
            <a:r>
              <a:rPr lang="de-DE" sz="1050" noProof="0">
                <a:solidFill>
                  <a:schemeClr val="tx2"/>
                </a:solidFill>
                <a:latin typeface="Inter"/>
              </a:rPr>
              <a:t xml:space="preserve">. Relevante Nachhaltigkeitszertifizierungen oder -siegel sind ebenfalls angegeben, einschließlich Aussteller, Datum und etwaiger Bewertungsnote.</a:t>
            </a:r>
            <a:endParaRPr lang="de-DE"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de-DE" sz="1050" noProof="0">
                <a:solidFill>
                  <a:srgbClr val="487477"/>
                </a:solidFill>
                <a:latin typeface="Inter"/>
              </a:rPr>
              <a:t xml:space="preserve">Die Zertifikate und Umweltsiegel des Unternehmens sind nachstehend aufgeführt.</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de-DE" noProof="0"/>
              <a:t xml:space="preserve">Verfahrensweisen, Richtlinien und künftige Initiativen für den Übergang zu einer nachhaltigeren Wirtschaft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de-DE" sz="1050" b="1" kern="1200" spc="-10" noProof="0">
                          <a:solidFill>
                            <a:schemeClr val="tx2"/>
                          </a:solidFill>
                          <a:latin typeface="+mn-lt"/>
                          <a:ea typeface="+mn-ea"/>
                          <a:cs typeface="+mn-cs"/>
                        </a:rPr>
                        <a:t xml:space="preserve">Bereich</a:t>
                      </a:r>
                    </a:p>
                    <a:p>
                      <a:r>
                        <a:rPr lang="de-DE" sz="1050" b="0" kern="1200" spc="-10" noProof="0">
                          <a:solidFill>
                            <a:schemeClr val="tx2"/>
                          </a:solidFill>
                          <a:latin typeface="+mn-lt"/>
                          <a:ea typeface="+mn-ea"/>
                          <a:cs typeface="+mn-cs"/>
                        </a:rPr>
                        <a:t xml:space="preserve">(Nr.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Konkrete Verfahrensweise oder Richtlinie vorhanden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Ist die Richtlinie öffentlich zugänglich?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Das Unternehmen hat künftige Initiativen und Pläne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1050" b="1" kern="1200" spc="-10" noProof="0">
                          <a:solidFill>
                            <a:schemeClr val="tx2"/>
                          </a:solidFill>
                          <a:latin typeface="+mn-lt"/>
                          <a:ea typeface="+mn-ea"/>
                          <a:cs typeface="+mn-cs"/>
                        </a:rPr>
                        <a:t xml:space="preserve">Konkrete Ziele zur Überwachung der Umsetzung von Verfahrensweisen und Richtlinien vorhanden?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de-DE" sz="1050" b="1" kern="1200" spc="-10" noProof="0">
                          <a:solidFill>
                            <a:schemeClr val="tx2"/>
                          </a:solidFill>
                          <a:latin typeface="+mn-lt"/>
                          <a:ea typeface="+mn-ea"/>
                          <a:cs typeface="+mn-cs"/>
                        </a:rPr>
                        <a:t xml:space="preserve">Klimawandel</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{{climate_change_concrete}}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{{climate_change_publicly}}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{{climate_change_future}}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{{climate_change_plan}}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de-DE" sz="1050" b="1" kern="1200" spc="-10" noProof="0">
                          <a:solidFill>
                            <a:schemeClr val="tx2"/>
                          </a:solidFill>
                          <a:latin typeface="+mn-lt"/>
                          <a:ea typeface="+mn-ea"/>
                          <a:cs typeface="+mn-cs"/>
                        </a:rPr>
                        <a:t xml:space="preserve">Umweltver­schmutzung</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{{pollution_concrete}}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{{pollution_publicly}}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{{pollution_future}}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{{pollution_plan}}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de-DE" sz="1050" b="1" kern="1200" spc="-10" noProof="0">
                          <a:solidFill>
                            <a:schemeClr val="tx2"/>
                          </a:solidFill>
                          <a:latin typeface="+mn-lt"/>
                          <a:ea typeface="+mn-ea"/>
                          <a:cs typeface="+mn-cs"/>
                        </a:rPr>
                        <a:t xml:space="preserve">Wasser- und Meeresressourcen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{{water_concrete}}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{{water_publicly}}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{{water_future}}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{{water_plan}}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de-DE" sz="1050" b="1" kern="1200" spc="-10" noProof="0">
                          <a:solidFill>
                            <a:schemeClr val="tx2"/>
                          </a:solidFill>
                          <a:latin typeface="+mn-lt"/>
                          <a:ea typeface="+mn-ea"/>
                          <a:cs typeface="+mn-cs"/>
                        </a:rPr>
                        <a:t xml:space="preserve">Biodiversität und Ökosysteme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{{biodiversity_concrete}}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{{biodiversity_publicly}}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{{biodiversity_future}}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{{biodiversity_plan}}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de-DE" sz="1050" b="1" kern="1200" spc="-10" noProof="0">
                          <a:solidFill>
                            <a:schemeClr val="tx2"/>
                          </a:solidFill>
                          <a:latin typeface="+mn-lt"/>
                          <a:ea typeface="+mn-ea"/>
                          <a:cs typeface="+mn-cs"/>
                        </a:rPr>
                        <a:t xml:space="preserve">Kreislaufwirt­schaft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{{circular_concrete}}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{{circular_publicly}}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{{circular_future}}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{{circular_plan}}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de-DE" sz="1050" b="1" kern="1200" spc="-10" noProof="0">
                          <a:solidFill>
                            <a:schemeClr val="tx2"/>
                          </a:solidFill>
                          <a:latin typeface="+mn-lt"/>
                          <a:ea typeface="+mn-ea"/>
                          <a:cs typeface="+mn-cs"/>
                        </a:rPr>
                        <a:t xml:space="preserve">Arbeitskräfte des Unternehmens</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{{workforce_concrete}}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{{workforce_publicly}}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{{workforce_future}}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{{workforce_plan}}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de-DE" sz="1050" b="1" kern="1200" spc="-10" noProof="0">
                          <a:solidFill>
                            <a:schemeClr val="tx2"/>
                          </a:solidFill>
                          <a:latin typeface="+mn-lt"/>
                          <a:ea typeface="+mn-ea"/>
                          <a:cs typeface="+mn-cs"/>
                        </a:rPr>
                        <a:t xml:space="preserve">Arbeitskräfte in der Wertschöpfungs­kette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{{workers_concrete}}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{{workers_publicly}}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{{workers_future}}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{{workers_plan}}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de-DE" sz="1050" b="1" kern="1200" spc="-10" noProof="0">
                          <a:solidFill>
                            <a:schemeClr val="tx2"/>
                          </a:solidFill>
                          <a:latin typeface="+mn-lt"/>
                          <a:ea typeface="+mn-ea"/>
                          <a:cs typeface="+mn-cs"/>
                        </a:rPr>
                        <a:t xml:space="preserve">Betroffene Gemeinschaften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{{communities_concrete}}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{{communities_publicly}}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{{communities_future}}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{{communities_plan}}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de-DE" sz="1050" b="1" kern="1200" spc="-10" noProof="0">
                          <a:solidFill>
                            <a:schemeClr val="tx2"/>
                          </a:solidFill>
                          <a:latin typeface="+mn-lt"/>
                          <a:ea typeface="+mn-ea"/>
                          <a:cs typeface="+mn-cs"/>
                        </a:rPr>
                        <a:t xml:space="preserve">Verbraucher und Endnutzer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{{consumers_concrete}}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{{consumers_publicly}}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{{consumers_future}}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{{consumers_plan}}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de-DE" sz="1050" b="1" kern="1200" spc="-10" noProof="0">
                          <a:solidFill>
                            <a:schemeClr val="tx2"/>
                          </a:solidFill>
                          <a:latin typeface="+mn-lt"/>
                          <a:ea typeface="+mn-ea"/>
                          <a:cs typeface="+mn-cs"/>
                        </a:rPr>
                        <a:t xml:space="preserve">Unternehmenspolitik</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1050" b="0" i="0" u="none" strike="noStrike" noProof="0">
                          <a:solidFill>
                            <a:srgbClr val="1B4528"/>
                          </a:solidFill>
                          <a:effectLst/>
                          <a:latin typeface="Inter"/>
                        </a:rPr>
                        <a:t>{{governance_concrete}}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{{governance_publicly}}</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1050" b="0" i="0" u="none" strike="noStrike" noProof="0">
                          <a:solidFill>
                            <a:srgbClr val="1B4528"/>
                          </a:solidFill>
                          <a:effectLst/>
                          <a:latin typeface="Inter"/>
                        </a:rPr>
                        <a:t>{{governance_future}}</a:t>
                      </a:r>
                      <a:endParaRPr lang="de-DE"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1050" b="0" i="0" u="none" strike="noStrike" noProof="0">
                          <a:solidFill>
                            <a:srgbClr val="1B4528"/>
                          </a:solidFill>
                          <a:latin typeface="Inter"/>
                        </a:rPr>
                        <a:t>{{governance_plan}}</a:t>
                      </a:r>
                      <a:endParaRPr lang="de-DE">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de-DE" sz="1050" b="0" i="0" u="none" strike="noStrike" noProof="0">
                <a:solidFill>
                  <a:schemeClr val="tx2"/>
                </a:solidFill>
                <a:effectLst/>
                <a:latin typeface="Inter"/>
              </a:rPr>
              <a:t xml:space="preserve">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1050" noProof="0">
                <a:solidFill>
                  <a:schemeClr val="tx2"/>
                </a:solidFill>
              </a:rPr>
            </a:br>
            <a:endParaRPr lang="de-DE"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e-DE" noProof="0" smtClean="0"/>
              <a:pPr/>
              <a:t>5</a:t>
            </a:fld>
            <a:endParaRPr lang="de-DE"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Energieverbrauch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Energieverbrauch in MWh </a:t>
                      </a:r>
                      <a:r>
                        <a:rPr lang="de-DE" sz="1050" b="0" noProof="0">
                          <a:solidFill>
                            <a:schemeClr val="tx2"/>
                          </a:solidFill>
                        </a:rPr>
                        <a:t xml:space="preserve">(Nr.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e-DE"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de-DE"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1050" b="1" noProof="0">
                          <a:solidFill>
                            <a:schemeClr val="tx2"/>
                          </a:solidFill>
                        </a:rPr>
                        <a:t xml:space="preserve">Erneuerbarer Energieverbrauch</a:t>
                      </a:r>
                      <a:r>
                        <a:rPr lang="de-DE"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1050" b="1" noProof="0">
                          <a:solidFill>
                            <a:schemeClr val="tx2"/>
                          </a:solidFill>
                        </a:rPr>
                        <a:t xml:space="preserve">Nicht erneuerbarer Energieverbrauch</a:t>
                      </a:r>
                      <a:r>
                        <a:rPr lang="de-DE" sz="1050" b="1" noProof="0">
                          <a:solidFill>
                            <a:schemeClr val="tx2"/>
                          </a:solidFill>
                        </a:rPr>
                        <a:t xml:space="preserve">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Gesamtenergieverbrauch (MWh)</a:t>
                      </a:r>
                    </a:p>
                    <a:p>
                      <a:pPr marL="0" marR="0" lvl="0" indent="0" algn="r" defTabSz="914400" rtl="0" eaLnBrk="1" fontAlgn="auto" latinLnBrk="0" hangingPunct="1">
                        <a:lnSpc>
                          <a:spcPct val="106000"/>
                        </a:lnSpc>
                        <a:spcBef>
                          <a:spcPts val="0"/>
                        </a:spcBef>
                        <a:spcAft>
                          <a:spcPts val="0"/>
                        </a:spcAft>
                        <a:buClrTx/>
                        <a:buSzTx/>
                        <a:buFontTx/>
                        <a:buNone/>
                        <a:tabLst/>
                        <a:defRPr/>
                      </a:pPr>
                      <a:r>
                        <a:rPr lang="de-DE" sz="1050" b="1" noProof="0">
                          <a:solidFill>
                            <a:srgbClr val="1B4528"/>
                          </a:solidFill>
                        </a:rPr>
                        <a:t>{{</a:t>
                      </a:r>
                      <a:r>
                        <a:rPr lang="de-DE" sz="1050" b="1" noProof="0">
                          <a:solidFill>
                            <a:srgbClr val="1B4528"/>
                          </a:solidFill>
                        </a:rPr>
                        <a:t>insert_year</a:t>
                      </a:r>
                      <a:r>
                        <a:rPr lang="de-DE"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de-DE" sz="1050" b="1" noProof="0">
                          <a:solidFill>
                            <a:schemeClr val="tx2"/>
                          </a:solidFill>
                        </a:rPr>
                        <a:t xml:space="preserve">Strom </a:t>
                      </a:r>
                      <a:r>
                        <a:rPr lang="de-DE" sz="1050" b="0" noProof="0">
                          <a:solidFill>
                            <a:schemeClr val="tx2"/>
                          </a:solidFill>
                        </a:rPr>
                        <a:t xml:space="preserve">(wie in den Rechnungen der Versorgungsunternehmen angegeben)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electricity_renewable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electricity_non_rewenable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total_electricity</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de-DE" sz="1050" b="1" noProof="0">
                          <a:solidFill>
                            <a:schemeClr val="tx2"/>
                          </a:solidFill>
                        </a:rPr>
                        <a:t xml:space="preserve">Kraft-/Brennstoffe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fuel_renewable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fuel_non_rewenable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total_fuel</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de-DE" sz="1050" b="1" noProof="0">
                          <a:solidFill>
                            <a:schemeClr val="tx2"/>
                          </a:solidFill>
                        </a:rPr>
                        <a:t xml:space="preserve">Sonstiges (z. B. Fernwärme)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district_heating_rewenable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district_heating_non_rewenable</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total_district_heating</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de-DE" sz="1050" b="1" noProof="0">
                          <a:solidFill>
                            <a:schemeClr val="tx2"/>
                          </a:solidFill>
                        </a:rPr>
                        <a:t xml:space="preserve">Insgesamt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renewable_energy_total</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non_rewenable_energy_total</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BM Plex Sans" panose="020B0503050203000203" pitchFamily="34" charset="0"/>
                        </a:rPr>
                        <a:t>{{</a:t>
                      </a:r>
                      <a:r>
                        <a:rPr lang="de-DE" sz="1050" b="0" i="0" u="none" strike="noStrike" noProof="0">
                          <a:solidFill>
                            <a:srgbClr val="1B4528"/>
                          </a:solidFill>
                          <a:effectLst/>
                          <a:latin typeface="IBM Plex Sans" panose="020B0503050203000203" pitchFamily="34" charset="0"/>
                        </a:rPr>
                        <a:t>total_energy_consumption</a:t>
                      </a:r>
                      <a:r>
                        <a:rPr lang="de-DE" sz="1050" b="0" i="0" u="none" strike="noStrike" noProof="0">
                          <a:solidFill>
                            <a:srgbClr val="1B4528"/>
                          </a:solidFill>
                          <a:effectLst/>
                          <a:latin typeface="IBM Plex Sans" panose="020B0503050203000203" pitchFamily="34" charset="0"/>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6</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de-DE" sz="1050" b="0" i="0" u="none" strike="noStrike" noProof="0">
                <a:solidFill>
                  <a:schemeClr val="tx2"/>
                </a:solidFill>
                <a:effectLst/>
                <a:latin typeface="Inter"/>
              </a:rPr>
              <a:t xml:space="preserve">Dieser Abschnitt gibt die CO2-Emissionen aus dem Energieverbrauch an, aufgeteilt in erneuerbaren und nicht erneuerbaren Verbrauch. </a:t>
            </a:r>
            <a:r>
              <a:rPr lang="de-DE" sz="1050" noProof="0">
                <a:solidFill>
                  <a:schemeClr val="tx2"/>
                </a:solidFill>
                <a:latin typeface="Inter"/>
              </a:rPr>
              <a:t xml:space="preserve">Die Emissionen werden nach </a:t>
            </a:r>
            <a:r>
              <a:rPr lang="de-DE" sz="1050" b="0" i="0" u="none" strike="noStrike" noProof="0">
                <a:solidFill>
                  <a:schemeClr val="tx2"/>
                </a:solidFill>
                <a:effectLst/>
                <a:latin typeface="Inter"/>
              </a:rPr>
              <a:t xml:space="preserve">den Festlegungen des THG-Protokolls zu direkten und indirekten Emissionen angegeben. </a:t>
            </a:r>
            <a:br>
              <a:rPr lang="de-DE" sz="1050" b="0" i="0" u="none" strike="noStrike" noProof="0" dirty="0">
                <a:effectLst/>
                <a:latin typeface="Inter"/>
              </a:rPr>
            </a:br>
            <a:br>
              <a:rPr lang="de-DE" sz="1050" dirty="0">
                <a:latin typeface="Inter"/>
              </a:rPr>
            </a:br>
            <a:r>
              <a:rPr lang="de-DE" sz="700" b="0" i="0" u="none" strike="noStrike" noProof="0">
                <a:solidFill>
                  <a:schemeClr val="tx2"/>
                </a:solidFill>
                <a:effectLst/>
                <a:latin typeface="Inter"/>
              </a:rPr>
              <a:t> </a:t>
            </a:r>
            <a:endParaRPr lang="de-DE" sz="1050" b="0" i="0" u="none" strike="noStrike" noProof="0" dirty="0">
              <a:solidFill>
                <a:schemeClr val="tx2"/>
              </a:solidFill>
              <a:effectLst/>
              <a:latin typeface="Inter"/>
            </a:endParaRPr>
          </a:p>
          <a:p>
            <a:pPr rtl="0">
              <a:buNone/>
            </a:pPr>
            <a:endParaRPr lang="de-DE" sz="1050" b="0" noProof="0">
              <a:solidFill>
                <a:schemeClr val="tx2"/>
              </a:solidFill>
              <a:effectLst/>
              <a:latin typeface="Inter"/>
            </a:endParaRPr>
          </a:p>
          <a:p>
            <a:pPr>
              <a:buNone/>
            </a:pPr>
            <a:endParaRPr lang="de-DE" b="0" noProof="0">
              <a:solidFill>
                <a:schemeClr val="tx2"/>
              </a:solidFill>
              <a:effectLst/>
              <a:latin typeface="Inter"/>
            </a:endParaRPr>
          </a:p>
          <a:p>
            <a:pPr>
              <a:buNone/>
            </a:pPr>
            <a:endParaRPr lang="de-DE" sz="1400" noProof="0">
              <a:solidFill>
                <a:schemeClr val="tx2"/>
              </a:solidFill>
              <a:latin typeface="Inter"/>
            </a:endParaRPr>
          </a:p>
          <a:p>
            <a:pPr>
              <a:buNone/>
            </a:pPr>
            <a:endParaRPr lang="de-DE" sz="1400" b="0" noProof="0">
              <a:solidFill>
                <a:schemeClr val="tx2"/>
              </a:solidFill>
              <a:effectLst/>
              <a:latin typeface="Inter"/>
            </a:endParaRPr>
          </a:p>
          <a:p>
            <a:pPr>
              <a:buNone/>
            </a:pPr>
            <a:endParaRPr lang="de-DE" sz="1400" noProof="0">
              <a:solidFill>
                <a:schemeClr val="tx2"/>
              </a:solidFill>
              <a:latin typeface="Inter"/>
            </a:endParaRPr>
          </a:p>
          <a:p>
            <a:pPr>
              <a:buNone/>
            </a:pPr>
            <a:endParaRPr lang="de-DE" sz="1400" b="0" noProof="0">
              <a:solidFill>
                <a:schemeClr val="tx2"/>
              </a:solidFill>
              <a:effectLst/>
              <a:latin typeface="Inter"/>
            </a:endParaRPr>
          </a:p>
          <a:p>
            <a:endParaRPr lang="de-DE" sz="1400" b="1">
              <a:latin typeface="+mj-lt"/>
            </a:endParaRPr>
          </a:p>
          <a:p>
            <a:endParaRPr lang="de-DE" sz="1400" b="1">
              <a:latin typeface="+mj-lt"/>
            </a:endParaRPr>
          </a:p>
          <a:p>
            <a:br>
              <a:rPr lang="de-DE" b="1" dirty="0">
                <a:latin typeface="+mj-lt"/>
              </a:rPr>
            </a:br>
            <a:r>
              <a:rPr lang="de-DE" b="1" i="0" u="none" strike="noStrike" noProof="0">
                <a:solidFill>
                  <a:schemeClr val="tx2"/>
                </a:solidFill>
                <a:effectLst/>
                <a:latin typeface="+mj-lt"/>
              </a:rPr>
              <a:t xml:space="preserve">CO₂e-Emissionen (B3)</a:t>
            </a:r>
            <a:endParaRPr lang="de-DE" noProof="0">
              <a:solidFill>
                <a:schemeClr val="tx2"/>
              </a:solidFill>
              <a:effectLst/>
              <a:latin typeface="+mj-lt"/>
            </a:endParaRPr>
          </a:p>
          <a:p>
            <a:r>
              <a:rPr lang="de-DE" sz="700">
                <a:latin typeface="Inter"/>
              </a:rPr>
              <a:t> </a:t>
            </a:r>
            <a:br>
              <a:rPr lang="de-DE" sz="1050" dirty="0">
                <a:solidFill>
                  <a:schemeClr val="tx2"/>
                </a:solidFill>
                <a:latin typeface="Inter"/>
              </a:rPr>
            </a:br>
            <a:r>
              <a:rPr lang="de-DE" sz="1050" b="0" i="0" u="none" strike="noStrike" noProof="0">
                <a:solidFill>
                  <a:schemeClr val="tx2"/>
                </a:solidFill>
                <a:effectLst/>
                <a:latin typeface="Inter"/>
              </a:rPr>
              <a:t xml:space="preserve">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1050" noProof="0">
                <a:solidFill>
                  <a:schemeClr val="tx2"/>
                </a:solidFill>
                <a:latin typeface="Inter"/>
              </a:rPr>
              <a:t> </a:t>
            </a:r>
            <a:r>
              <a:rPr lang="de-DE" sz="1050" b="0" i="0" u="none" strike="noStrike" noProof="0">
                <a:solidFill>
                  <a:schemeClr val="tx2"/>
                </a:solidFill>
                <a:effectLst/>
                <a:latin typeface="Inter"/>
              </a:rPr>
              <a:t>Scope 2</a:t>
            </a:r>
            <a:r>
              <a:rPr lang="de-DE" sz="1050" noProof="0">
                <a:solidFill>
                  <a:schemeClr val="tx2"/>
                </a:solidFill>
                <a:latin typeface="Inter"/>
              </a:rPr>
              <a:t xml:space="preserve"> umfasst i</a:t>
            </a:r>
            <a:r>
              <a:rPr lang="de-DE" sz="1050" b="0" i="0" u="none" strike="noStrike" noProof="0">
                <a:solidFill>
                  <a:schemeClr val="tx2"/>
                </a:solidFill>
                <a:effectLst/>
                <a:latin typeface="Inter"/>
              </a:rPr>
              <a:t xml:space="preserve">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lang="de-DE"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de-DE" sz="1050" b="1" noProof="0">
                          <a:solidFill>
                            <a:schemeClr val="tx2"/>
                          </a:solidFill>
                        </a:rPr>
                        <a:t xml:space="preserve">Treibhausgasemissionen </a:t>
                      </a:r>
                      <a:r>
                        <a:rPr lang="de-DE" sz="1050" b="0" noProof="0">
                          <a:solidFill>
                            <a:schemeClr val="tx2"/>
                          </a:solidFill>
                        </a:rPr>
                        <a:t xml:space="preserve">(Nr. 33)</a:t>
                      </a:r>
                      <a:endParaRPr lang="de-DE"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Jahr </a:t>
                      </a:r>
                      <a:r>
                        <a:rPr lang="de-DE" sz="1050" b="1" noProof="0">
                          <a:solidFill>
                            <a:srgbClr val="1B4528"/>
                          </a:solidFill>
                          <a:latin typeface="Calibri" panose="020F0502020204030204" pitchFamily="34" charset="0"/>
                          <a:cs typeface="Calibri" panose="020F0502020204030204" pitchFamily="34" charset="0"/>
                        </a:rPr>
                        <a:t>{{</a:t>
                      </a:r>
                      <a:r>
                        <a:rPr lang="de-DE" sz="1050" b="1" noProof="0">
                          <a:solidFill>
                            <a:srgbClr val="1B4528"/>
                          </a:solidFill>
                          <a:latin typeface="Calibri" panose="020F0502020204030204" pitchFamily="34" charset="0"/>
                          <a:cs typeface="Calibri" panose="020F0502020204030204" pitchFamily="34" charset="0"/>
                        </a:rPr>
                        <a:t>insert_year</a:t>
                      </a:r>
                      <a:r>
                        <a:rPr lang="de-DE"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de-DE" sz="1050" b="1" noProof="0">
                          <a:solidFill>
                            <a:schemeClr val="tx2"/>
                          </a:solidFill>
                        </a:rPr>
                        <a:t xml:space="preserve">Scope-1-CO₂e-Emissionen</a:t>
                      </a:r>
                      <a:r>
                        <a:rPr lang="de-DE" sz="1050" b="1" noProof="0">
                          <a:solidFill>
                            <a:schemeClr val="tx2"/>
                          </a:solidFill>
                        </a:rPr>
                        <a:t xml:space="preserve"/>
                      </a:r>
                      <a:r>
                        <a:rPr lang="de-DE" sz="1050" b="1" noProof="0">
                          <a:solidFill>
                            <a:schemeClr val="tx2"/>
                          </a:solidFill>
                        </a:rPr>
                        <a:t xml:space="preserve"/>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{{scope1}}</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de-DE" sz="1050" b="1" noProof="0">
                          <a:solidFill>
                            <a:schemeClr val="tx2"/>
                          </a:solidFill>
                        </a:rPr>
                        <a:t xml:space="preserve">Scope-2-CO₂e-Emissionen (standortbezogen) </a:t>
                      </a:r>
                      <a:r>
                        <a:rPr lang="de-DE" sz="1050" b="1" noProof="0">
                          <a:solidFill>
                            <a:schemeClr val="tx2"/>
                          </a:solidFill>
                        </a:rPr>
                        <a:t xml:space="preserve"/>
                      </a:r>
                      <a:r>
                        <a:rPr lang="de-DE" sz="1050" b="1" noProof="0">
                          <a:solidFill>
                            <a:schemeClr val="tx2"/>
                          </a:solidFill>
                        </a:rPr>
                        <a:t xml:space="preserve"/>
                      </a:r>
                      <a:r>
                        <a:rPr lang="de-DE" sz="1050" b="1" noProof="0">
                          <a:solidFill>
                            <a:schemeClr val="tx2"/>
                          </a:solidFill>
                        </a:rPr>
                        <a:t xml:space="preserve"/>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{{scope2}}</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de-DE" sz="1050" b="1" noProof="0">
                          <a:solidFill>
                            <a:schemeClr val="tx2"/>
                          </a:solidFill>
                        </a:rPr>
                        <a:t xml:space="preserve">Gesamte CO₂e-Emissionen aus Scope 1 und Scope 2 </a:t>
                      </a:r>
                      <a:r>
                        <a:rPr lang="de-DE" sz="1050" b="1" noProof="0">
                          <a:solidFill>
                            <a:schemeClr val="tx2"/>
                          </a:solidFill>
                        </a:rPr>
                        <a:t xml:space="preserve"/>
                      </a:r>
                      <a:r>
                        <a:rPr lang="de-DE" sz="1050" b="1" noProof="0">
                          <a:solidFill>
                            <a:schemeClr val="tx2"/>
                          </a:solidFill>
                        </a:rPr>
                        <a:t xml:space="preserve"/>
                      </a:r>
                      <a:r>
                        <a:rPr lang="de-DE" sz="1050" b="1" noProof="0">
                          <a:solidFill>
                            <a:schemeClr val="tx2"/>
                          </a:solidFill>
                        </a:rPr>
                        <a:t xml:space="preserve"/>
                      </a:r>
                      <a:r>
                        <a:rPr lang="de-DE" sz="1050" b="1" noProof="0">
                          <a:solidFill>
                            <a:schemeClr val="tx2"/>
                          </a:solidFill>
                        </a:rPr>
                        <a:t xml:space="preserve"/>
                      </a:r>
                      <a:r>
                        <a:rPr lang="de-DE" sz="1050" b="1" noProof="0">
                          <a:solidFill>
                            <a:schemeClr val="tx2"/>
                          </a:solidFill>
                        </a:rPr>
                        <a:t xml:space="preserve"/>
                      </a:r>
                      <a:r>
                        <a:rPr lang="de-DE" sz="1050" b="1" noProof="0">
                          <a:solidFill>
                            <a:schemeClr val="tx2"/>
                          </a:solidFill>
                        </a:rPr>
                        <a:t xml:space="preserve"/>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total_scope</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de-DE" sz="1050" b="1" noProof="0">
                          <a:solidFill>
                            <a:schemeClr val="tx2"/>
                          </a:solidFill>
                        </a:rPr>
                        <a:t xml:space="preserve">Scope-2-CO₂e-Emissionen (marktbezogen) (freiwillig)</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{{scope1_marked}}</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de-DE" sz="1050" b="1" noProof="0">
                          <a:solidFill>
                            <a:schemeClr val="tx2"/>
                          </a:solidFill>
                        </a:rPr>
                        <a:t xml:space="preserve">Gesamte CO₂e-Emissionen aus Scope 1 und Scope 2 (marktbezogen) (freiwillig)</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{{scope2_marked}}</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Luft-, Wasser- und Bodenverschmutzung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de-DE" sz="1050" b="1" noProof="0">
                          <a:solidFill>
                            <a:schemeClr val="tx2"/>
                          </a:solidFill>
                        </a:rPr>
                        <a:t xml:space="preserve">Luft-, Wasser- und Bodenverschmutzung </a:t>
                      </a:r>
                      <a:r>
                        <a:rPr lang="de-DE" sz="1050" b="0" noProof="0">
                          <a:solidFill>
                            <a:schemeClr val="tx2"/>
                          </a:solidFill>
                        </a:rPr>
                        <a:t xml:space="preserve">(Nr.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Art der Verschmutzung </a:t>
                      </a:r>
                      <a:r>
                        <a:rPr lang="de-DE" sz="1050" b="0" noProof="0">
                          <a:solidFill>
                            <a:schemeClr val="tx2"/>
                          </a:solidFill>
                        </a:rPr>
                        <a:t xml:space="preserve">(z. B. Schadstoff)</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1050" b="1" noProof="0">
                          <a:solidFill>
                            <a:schemeClr val="tx2"/>
                          </a:solidFill>
                        </a:rPr>
                        <a:t xml:space="preserve">Wo? </a:t>
                      </a:r>
                      <a:r>
                        <a:rPr lang="de-DE" sz="1050" b="0" noProof="0">
                          <a:solidFill>
                            <a:schemeClr val="tx2"/>
                          </a:solidFill>
                        </a:rPr>
                        <a:t xml:space="preserve">(Luft, Wasser, Boden)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1050" b="1" noProof="0">
                          <a:solidFill>
                            <a:schemeClr val="tx2"/>
                          </a:solidFill>
                        </a:rPr>
                        <a:t xml:space="preserve">Menge</a:t>
                      </a:r>
                      <a:endParaRPr lang="de-DE"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de-DE" sz="1050" b="0" i="0" u="none" strike="noStrike" noProof="0">
                          <a:solidFill>
                            <a:srgbClr val="1B4528"/>
                          </a:solidFill>
                          <a:effectLst/>
                          <a:latin typeface="Inter"/>
                        </a:rPr>
                        <a:t>{{type_of_pollution}}</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de-DE" sz="1050" b="0" i="0" u="none" strike="noStrike" noProof="0">
                          <a:solidFill>
                            <a:srgbClr val="1B4528"/>
                          </a:solidFill>
                          <a:effectLst/>
                          <a:latin typeface="Inter"/>
                        </a:rPr>
                        <a:t>{{scope_pollution}}</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1050" b="0" i="0" u="none" strike="noStrike" noProof="0">
                          <a:solidFill>
                            <a:srgbClr val="1B4528"/>
                          </a:solidFill>
                          <a:effectLst/>
                          <a:latin typeface="Inter"/>
                        </a:rPr>
                        <a:t>{{pollution_medium}}</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7</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Das Unternehmen berichtet die Gesamtmenge der Schadstoffe, die aus seinen Anlagen emittiert werden. Die Angaben zu den einzelnen Schadstoffen und deren Mengen, die in Luft, Wasser und Boden emittiert werden,</a:t>
            </a:r>
            <a:r>
              <a:rPr lang="de-DE" sz="1050" noProof="0">
                <a:solidFill>
                  <a:schemeClr val="tx2"/>
                </a:solidFill>
                <a:latin typeface="Inter"/>
              </a:rPr>
              <a:t xml:space="preserve"> sind nachstehend aufgeführt.</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e-DE" noProof="0"/>
              <a:t xml:space="preserve">Biodiversität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de-DE" sz="1050" b="1" noProof="0">
                          <a:solidFill>
                            <a:schemeClr val="tx2"/>
                          </a:solidFill>
                        </a:rPr>
                        <a:t xml:space="preserve">Standorte in oder in der Nähe von ‚Gebieten mit schutzbedürftiger Biodiversität‘, die das Unternehmen besitzt, gepachtet hat oder bewirtschaftet </a:t>
                      </a:r>
                      <a:r>
                        <a:rPr lang="de-DE" sz="1050" b="0" noProof="0">
                          <a:solidFill>
                            <a:schemeClr val="tx2"/>
                          </a:solidFill>
                        </a:rPr>
                        <a:t xml:space="preserve">(Nr.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de-DE" sz="1050" b="1" noProof="0">
                          <a:solidFill>
                            <a:schemeClr val="tx2"/>
                          </a:solidFill>
                        </a:rPr>
                        <a:t xml:space="preserve">Standort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Fläche in Hektar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Gebiet mit schutzbedürftiger Biodiversität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Angabe: in oder in der Nähe eines Gebiets mit schutzbedürftiger Biodiversität</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de-DE" sz="1050" b="0" i="0" u="none" strike="noStrike" noProof="0">
                          <a:solidFill>
                            <a:srgbClr val="1B4528"/>
                          </a:solidFill>
                          <a:effectLst/>
                          <a:latin typeface="Inter"/>
                        </a:rPr>
                        <a:t>{{country_location}}</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1050" b="0" i="0" u="none" strike="noStrike" noProof="0">
                          <a:solidFill>
                            <a:srgbClr val="1B4528"/>
                          </a:solidFill>
                          <a:effectLst/>
                          <a:latin typeface="Inter"/>
                        </a:rPr>
                        <a:t> {{area_hect}}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nter"/>
                        </a:rPr>
                        <a:t>{{area_name}}</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nter"/>
                        </a:rPr>
                        <a:t>{{biosensitive_area}}</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de-DE" sz="1050" b="0" i="0" u="none" strike="noStrike" noProof="0">
                <a:solidFill>
                  <a:schemeClr val="tx2"/>
                </a:solidFill>
                <a:effectLst/>
                <a:latin typeface="Inter"/>
              </a:rPr>
              <a:t xml:space="preserve">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r>
              <a:rPr lang="de-DE" sz="1050" b="0" i="0" u="none" strike="noStrike" noProof="0">
                <a:solidFill>
                  <a:schemeClr val="tx2"/>
                </a:solidFill>
                <a:effectLst/>
                <a:latin typeface="Inter"/>
              </a:rPr>
              <a:t xml:space="preserve"/>
            </a:r>
            <a:r>
              <a:rPr lang="de-DE" sz="1050" b="0" i="0" u="none" strike="noStrike" noProof="0">
                <a:solidFill>
                  <a:schemeClr val="tx2"/>
                </a:solidFill>
                <a:effectLst/>
                <a:latin typeface="Inter"/>
              </a:rPr>
              <a:t xml:space="preserve"/>
            </a:r>
            <a:endParaRPr lang="de-DE"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Wasser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1011309"/>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510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Wasserentnahme </a:t>
                      </a:r>
                      <a:r>
                        <a:rPr lang="de-DE" sz="1050" b="0" noProof="0">
                          <a:solidFill>
                            <a:schemeClr val="tx2"/>
                          </a:solidFill>
                        </a:rPr>
                        <a:t xml:space="preserve">(Nr.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Jahr </a:t>
                      </a:r>
                      <a:r>
                        <a:rPr lang="de-DE" sz="1050" b="1" noProof="0">
                          <a:solidFill>
                            <a:srgbClr val="1B4528"/>
                          </a:solidFill>
                        </a:rPr>
                        <a:t>{{</a:t>
                      </a:r>
                      <a:r>
                        <a:rPr lang="de-DE" sz="1050" b="1" noProof="0">
                          <a:solidFill>
                            <a:srgbClr val="1B4528"/>
                          </a:solidFill>
                        </a:rPr>
                        <a:t>insert_year</a:t>
                      </a:r>
                      <a:r>
                        <a:rPr lang="de-DE"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1084">
                <a:tc>
                  <a:txBody>
                    <a:bodyPr/>
                    <a:lstStyle/>
                    <a:p>
                      <a:r>
                        <a:rPr lang="de-DE" sz="1050" b="0" noProof="0">
                          <a:solidFill>
                            <a:schemeClr val="tx2"/>
                          </a:solidFill>
                        </a:rPr>
                        <a:t xml:space="preserve">Insgesamt für alle Standorte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B4528"/>
                          </a:solidFill>
                          <a:effectLst/>
                          <a:uLnTx/>
                          <a:uFillTx/>
                          <a:latin typeface="+mn-lt"/>
                          <a:ea typeface="+mn-ea"/>
                          <a:cs typeface="+mn-cs"/>
                        </a:rPr>
                        <a:t>{{</a:t>
                      </a:r>
                      <a:r>
                        <a:rPr kumimoji="0" lang="de-DE" sz="1050" b="0" i="0" u="none" strike="noStrike" kern="1200" cap="none" spc="0" normalizeH="0" baseline="0" noProof="0">
                          <a:ln>
                            <a:noFill/>
                          </a:ln>
                          <a:solidFill>
                            <a:srgbClr val="1B4528"/>
                          </a:solidFill>
                          <a:effectLst/>
                          <a:uLnTx/>
                          <a:uFillTx/>
                          <a:latin typeface="+mn-lt"/>
                          <a:ea typeface="+mn-ea"/>
                          <a:cs typeface="+mn-cs"/>
                        </a:rPr>
                        <a:t>total_withdrawal</a:t>
                      </a:r>
                      <a:r>
                        <a:rPr kumimoji="0" lang="de-DE"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1011309"/>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25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Wasserverbrauch </a:t>
                      </a:r>
                      <a:r>
                        <a:rPr lang="de-DE" sz="1050" b="0" noProof="0">
                          <a:solidFill>
                            <a:schemeClr val="tx2"/>
                          </a:solidFill>
                        </a:rPr>
                        <a:t xml:space="preserve">(Nr.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1050" b="1" noProof="0">
                          <a:solidFill>
                            <a:schemeClr val="tx2"/>
                          </a:solidFill>
                        </a:rPr>
                        <a:t xml:space="preserve">Jahr </a:t>
                      </a:r>
                      <a:r>
                        <a:rPr lang="de-DE" sz="1050" b="1" noProof="0">
                          <a:solidFill>
                            <a:srgbClr val="1B4528"/>
                          </a:solidFill>
                        </a:rPr>
                        <a:t>{{</a:t>
                      </a:r>
                      <a:r>
                        <a:rPr lang="de-DE" sz="1050" b="1" noProof="0">
                          <a:solidFill>
                            <a:srgbClr val="1B4528"/>
                          </a:solidFill>
                        </a:rPr>
                        <a:t>insert_year</a:t>
                      </a:r>
                      <a:r>
                        <a:rPr lang="de-DE"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de-DE" sz="1050" b="0" noProof="0">
                          <a:solidFill>
                            <a:schemeClr val="tx2"/>
                          </a:solidFill>
                        </a:rPr>
                        <a:t xml:space="preserve">Insgesamt für alle Standorte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consumption_total</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noProof="0">
                          <a:solidFill>
                            <a:schemeClr val="tx2"/>
                          </a:solidFill>
                        </a:rPr>
                        <a:t xml:space="preserve">Von Standorten in Gebieten mit Wasserknappheit (hoher Wasserstress)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consumption_waterstress</a:t>
                      </a:r>
                      <a:r>
                        <a:rPr lang="de-DE" sz="1050" b="0" i="0" u="none" strike="noStrike" noProof="0">
                          <a:solidFill>
                            <a:srgbClr val="1B4528"/>
                          </a:solidFill>
                          <a:effectLst/>
                          <a:latin typeface="Inter"/>
                        </a:rPr>
                        <a:t>}}</a:t>
                      </a:r>
                      <a:endParaRPr lang="de-DE"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8</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de-DE" sz="1050" b="0" i="0" u="none" strike="noStrike" noProof="0">
                <a:solidFill>
                  <a:schemeClr val="tx2"/>
                </a:solidFill>
                <a:effectLst/>
                <a:latin typeface="Inter"/>
              </a:rPr>
              <a:t xml:space="preserve">Die Wasserentnahme ist die vom Unternehmen genutzte Wassermenge, wobei </a:t>
            </a:r>
            <a:r>
              <a:rPr lang="de-DE" sz="1050" noProof="0">
                <a:solidFill>
                  <a:schemeClr val="tx2"/>
                </a:solidFill>
                <a:latin typeface="Inter"/>
              </a:rPr>
              <a:t xml:space="preserve">der Verbrauch das Wasser bezeichnet, das </a:t>
            </a:r>
            <a:r>
              <a:rPr lang="de-DE" sz="1050" b="0" i="0" u="none" strike="noStrike" noProof="0">
                <a:solidFill>
                  <a:schemeClr val="tx2"/>
                </a:solidFill>
                <a:effectLst/>
                <a:latin typeface="Inter"/>
              </a:rPr>
              <a:t xml:space="preserve">nicht in Gewässer oder an Dritte abgeleitet wird bzw. werden soll. Dieser Abschnitt gibt die gesamte Wasserentnahme des Unternehmens an. Wasserverbrauch</a:t>
            </a:r>
            <a:r>
              <a:rPr lang="de-DE" sz="1050" noProof="0">
                <a:solidFill>
                  <a:schemeClr val="tx2"/>
                </a:solidFill>
                <a:latin typeface="Inter"/>
              </a:rPr>
              <a:t> </a:t>
            </a:r>
            <a:r>
              <a:rPr lang="de-DE" sz="1050" b="0" i="0" u="none" strike="noStrike" noProof="0">
                <a:solidFill>
                  <a:schemeClr val="tx2"/>
                </a:solidFill>
                <a:effectLst/>
                <a:latin typeface="Inter"/>
              </a:rPr>
              <a:t xml:space="preserve">und Wasserableitung aus Gebieten mit hohem Wasserstress sind nachstehend aufgeführt.</a:t>
            </a:r>
            <a:endParaRPr lang="de-DE"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74247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e-DE" noProof="0"/>
              <a:t xml:space="preserve">Ressourcennutzung, Kreislaufwirtschaft und Abfallbewirtschaftung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28095"/>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Anwendung der Grundsätze der Kreislaufwirtschaft </a:t>
                      </a:r>
                      <a:r>
                        <a:rPr lang="de-DE" sz="1050" b="0" noProof="0">
                          <a:solidFill>
                            <a:schemeClr val="tx2"/>
                          </a:solidFill>
                        </a:rPr>
                        <a:t xml:space="preserve">(Nr.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de-DE" sz="1050" b="0" noProof="0">
                          <a:solidFill>
                            <a:schemeClr val="tx2"/>
                          </a:solidFill>
                        </a:rPr>
                        <a:t xml:space="preserve">Mein Unternehmen wendet Kreislaufgrundsätze an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1050" b="1" noProof="0">
                          <a:solidFill>
                            <a:schemeClr val="tx2"/>
                          </a:solidFill>
                        </a:rPr>
                        <a:t>Ja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1050" b="1" noProof="0">
                          <a:solidFill>
                            <a:schemeClr val="tx2"/>
                          </a:solidFill>
                        </a:rPr>
                        <a:t xml:space="preserve">Nein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circular_economy_princples_yes</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circular_economy_princples_no</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074564"/>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de-DE" sz="1050" b="1" noProof="0">
                          <a:solidFill>
                            <a:schemeClr val="tx2"/>
                          </a:solidFill>
                        </a:rPr>
                        <a:t xml:space="preserve">Beschreibung, wie das Unternehmen die Grundsätze der Kreislaufwirtschaft anwendet </a:t>
                      </a:r>
                      <a:r>
                        <a:rPr lang="de-DE" sz="1050" b="0" noProof="0">
                          <a:solidFill>
                            <a:schemeClr val="tx2"/>
                          </a:solidFill>
                        </a:rPr>
                        <a:t xml:space="preserve">(Nr. 38 Fortsetzung)</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de-DE" sz="1050" b="0" kern="1200" noProof="0">
                          <a:solidFill>
                            <a:srgbClr val="1B4528"/>
                          </a:solidFill>
                          <a:latin typeface="+mn-lt"/>
                          <a:ea typeface="+mn-ea"/>
                          <a:cs typeface="+mn-cs"/>
                        </a:rPr>
                        <a:t>{{</a:t>
                      </a:r>
                      <a:r>
                        <a:rPr lang="de-DE" sz="1050" b="0" kern="1200" noProof="0">
                          <a:solidFill>
                            <a:srgbClr val="1B4528"/>
                          </a:solidFill>
                          <a:latin typeface="+mn-lt"/>
                          <a:ea typeface="+mn-ea"/>
                          <a:cs typeface="+mn-cs"/>
                        </a:rPr>
                        <a:t>description_of_circular_economies</a:t>
                      </a:r>
                      <a:r>
                        <a:rPr lang="de-DE" sz="1050" b="0" kern="1200" noProof="0">
                          <a:solidFill>
                            <a:srgbClr val="1B4528"/>
                          </a:solidFill>
                          <a:latin typeface="+mn-lt"/>
                          <a:ea typeface="+mn-ea"/>
                          <a:cs typeface="+mn-cs"/>
                        </a:rPr>
                        <a:t>}}</a:t>
                      </a:r>
                    </a:p>
                    <a:p>
                      <a:pPr algn="l"/>
                      <a:endParaRPr lang="de-DE"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147944"/>
            <a:ext cx="4247524" cy="728758"/>
          </a:xfrm>
          <a:prstGeom prst="rect">
            <a:avLst/>
          </a:prstGeom>
          <a:noFill/>
        </p:spPr>
        <p:txBody>
          <a:bodyPr wrap="square" lIns="80190" tIns="40095" rIns="80190" bIns="40095" anchor="t">
            <a:spAutoFit/>
          </a:bodyPr>
          <a:lstStyle/>
          <a:p>
            <a:pPr rtl="0">
              <a:buNone/>
            </a:pPr>
            <a:r>
              <a:rPr lang="de-DE" sz="1050" b="0" i="0" u="none" strike="noStrike" noProof="0">
                <a:solidFill>
                  <a:schemeClr val="tx2"/>
                </a:solidFill>
                <a:effectLst/>
                <a:latin typeface="Inter"/>
              </a:rPr>
              <a:t xml:space="preserve">Diese Angabepflicht informiert darüber, ob das Unternehmen</a:t>
            </a:r>
            <a:r>
              <a:rPr lang="de-DE" sz="1050" noProof="0">
                <a:solidFill>
                  <a:schemeClr val="tx2"/>
                </a:solidFill>
                <a:latin typeface="Inter"/>
              </a:rPr>
              <a:t xml:space="preserve"> die Grundsätze der Kreislaufwirtschaft anwendet, u. a. Grundsätze zur Verringerung von Abfall und Umweltverschmutzung sowie einen Fokus auf kreislauffähige Produkte und Materialien.</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Ressourcennutzung, Kreislaufwirtschaft und Abfallbewirtschaftung (B7) – Fortsetzung</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2059440"/>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de-DE" sz="1050" b="1" noProof="0">
                          <a:solidFill>
                            <a:schemeClr val="tx2"/>
                          </a:solidFill>
                        </a:rPr>
                        <a:t xml:space="preserve">Jährliches Gesamtabfallaufkommen</a:t>
                      </a:r>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758742">
                <a:tc>
                  <a:txBody>
                    <a:bodyPr/>
                    <a:lstStyle/>
                    <a:p>
                      <a:endParaRPr lang="de-DE"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Gesamtabfallmenge </a:t>
                      </a:r>
                      <a:r>
                        <a:rPr lang="de-DE" sz="1050" b="0" noProof="0">
                          <a:solidFill>
                            <a:schemeClr val="tx2"/>
                          </a:solidFill>
                        </a:rPr>
                        <a:t xml:space="preserve">(Nr.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Abfälle, die zum Recycling oder zur Vorbereitung der Wiederverwendung umgeleitet werden </a:t>
                      </a:r>
                      <a:r>
                        <a:rPr lang="de-DE" sz="1050" b="0" noProof="0">
                          <a:solidFill>
                            <a:schemeClr val="tx2"/>
                          </a:solidFill>
                        </a:rPr>
                        <a:t xml:space="preserve">(Nr.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Nicht gefährliche Abfälle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de-DE" sz="1050" b="0" i="0" u="none" strike="noStrike" noProof="0">
                          <a:solidFill>
                            <a:srgbClr val="1B4528"/>
                          </a:solidFill>
                          <a:effectLst/>
                          <a:latin typeface="Inter"/>
                        </a:rPr>
                        <a:t>{{Type_af_affald}}</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{{kg_tons_total}}</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nter"/>
                        </a:rPr>
                        <a:t>{{genbrug_kg_tons}}</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de-DE" sz="1050" b="1" noProof="0">
                          <a:solidFill>
                            <a:schemeClr val="tx2"/>
                          </a:solidFill>
                        </a:rPr>
                        <a:t xml:space="preserve">Gefährliche Abfälle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de-DE" sz="1050" b="0" i="0" u="none" strike="noStrike" noProof="0">
                          <a:solidFill>
                            <a:srgbClr val="1B4528"/>
                          </a:solidFill>
                          <a:effectLst/>
                          <a:latin typeface="Inter"/>
                        </a:rPr>
                        <a:t>{{Type_af_affald_farlig}}</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{{farlig_kg_tons}}</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1050" b="0" i="0" u="none" strike="noStrike" noProof="0">
                          <a:solidFill>
                            <a:srgbClr val="1B4528"/>
                          </a:solidFill>
                          <a:effectLst/>
                          <a:latin typeface="Inter"/>
                        </a:rPr>
                        <a:t>{{farlig_genbrug_kg_tons}}</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9</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lang="de-DE"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2059440"/>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1107423">
                <a:tc>
                  <a:txBody>
                    <a:bodyPr/>
                    <a:lstStyle/>
                    <a:p>
                      <a:r>
                        <a:rPr lang="de-DE" sz="1050" b="1" noProof="0">
                          <a:solidFill>
                            <a:schemeClr val="tx2"/>
                          </a:solidFill>
                        </a:rPr>
                        <a:t xml:space="preserve">Relevante Materialien </a:t>
                      </a:r>
                      <a:r>
                        <a:rPr lang="de-DE" sz="1050" b="0" noProof="0">
                          <a:solidFill>
                            <a:schemeClr val="tx2"/>
                          </a:solidFill>
                        </a:rPr>
                        <a:t xml:space="preserve">(Nr.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1050" b="1" noProof="0">
                          <a:solidFill>
                            <a:schemeClr val="tx2"/>
                          </a:solidFill>
                        </a:rPr>
                        <a:t xml:space="preserve">Jährlicher Massenstrom </a:t>
                      </a:r>
                      <a:r>
                        <a:rPr lang="de-DE" sz="1050" b="1" noProof="0">
                          <a:solidFill>
                            <a:srgbClr val="1B4528"/>
                          </a:solidFill>
                        </a:rPr>
                        <a:t>{{insert_year}}</a:t>
                      </a:r>
                      <a:endParaRPr lang="de-DE"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52018">
                <a:tc>
                  <a:txBody>
                    <a:bodyPr/>
                    <a:lstStyle/>
                    <a:p>
                      <a:pPr algn="l"/>
                      <a:r>
                        <a:rPr lang="de-DE" sz="1050" b="0" i="0" u="none" strike="noStrike" noProof="0">
                          <a:solidFill>
                            <a:srgbClr val="1B4528"/>
                          </a:solidFill>
                          <a:latin typeface="Inter"/>
                        </a:rPr>
                        <a:t>{{significant_material}}</a:t>
                      </a:r>
                      <a:endParaRPr lang="de-DE"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e-DE" sz="1050" b="0" i="0" u="none" strike="noStrike" noProof="0">
                          <a:solidFill>
                            <a:srgbClr val="1B4528"/>
                          </a:solidFill>
                          <a:latin typeface="Inter"/>
                        </a:rPr>
                        <a:t>{{significant_material_unit}}</a:t>
                      </a:r>
                      <a:endParaRPr lang="de-DE"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Allgemeine Merkmale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646779"/>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569357">
                <a:tc>
                  <a:txBody>
                    <a:bodyPr/>
                    <a:lstStyle/>
                    <a:p>
                      <a:r>
                        <a:rPr lang="de-DE" sz="1050" b="1" noProof="0">
                          <a:solidFill>
                            <a:schemeClr val="tx2"/>
                          </a:solidFill>
                        </a:rPr>
                        <a:t xml:space="preserve">Art des Arbeitsvertrags </a:t>
                      </a:r>
                      <a:r>
                        <a:rPr lang="de-DE" sz="1050" b="0" noProof="0">
                          <a:solidFill>
                            <a:schemeClr val="tx2"/>
                          </a:solidFill>
                        </a:rPr>
                        <a:t xml:space="preserve">(Nr.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1050" b="1" noProof="0">
                          <a:solidFill>
                            <a:schemeClr val="tx2"/>
                          </a:solidFill>
                        </a:rPr>
                        <a:t xml:space="preserve">Zahl der Beschäftigten (Anzahl der Personen oder Vollzeitäquivalente)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9141">
                <a:tc>
                  <a:txBody>
                    <a:bodyPr/>
                    <a:lstStyle/>
                    <a:p>
                      <a:r>
                        <a:rPr lang="de-DE" sz="1050" b="0" noProof="0">
                          <a:solidFill>
                            <a:schemeClr val="tx2"/>
                          </a:solidFill>
                        </a:rPr>
                        <a:t xml:space="preserve">Befristete Beschäftigung</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temporary</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59141">
                <a:tc>
                  <a:txBody>
                    <a:bodyPr/>
                    <a:lstStyle/>
                    <a:p>
                      <a:r>
                        <a:rPr lang="de-DE" sz="1050" b="0" noProof="0">
                          <a:solidFill>
                            <a:schemeClr val="tx2"/>
                          </a:solidFill>
                        </a:rPr>
                        <a:t xml:space="preserve">Unbefristete Beschäftigung</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fulltime</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9141">
                <a:tc>
                  <a:txBody>
                    <a:bodyPr/>
                    <a:lstStyle/>
                    <a:p>
                      <a:r>
                        <a:rPr lang="de-DE" sz="1050" b="0" noProof="0">
                          <a:solidFill>
                            <a:schemeClr val="tx2"/>
                          </a:solidFill>
                        </a:rPr>
                        <a:t xml:space="preserve">Beschäftigte insgesamt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total_employees</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646777"/>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de-DE" sz="1050" b="1" noProof="0">
                          <a:solidFill>
                            <a:schemeClr val="tx2"/>
                          </a:solidFill>
                          <a:latin typeface="+mn-lt"/>
                        </a:rPr>
                        <a:t xml:space="preserve">Geschlecht</a:t>
                      </a:r>
                      <a:r>
                        <a:rPr lang="de-DE" sz="1050" b="0" noProof="0">
                          <a:solidFill>
                            <a:schemeClr val="tx2"/>
                          </a:solidFill>
                          <a:latin typeface="+mn-lt"/>
                        </a:rPr>
                        <a:t xml:space="preserve"> (Nr. 40b)</a:t>
                      </a:r>
                      <a:r>
                        <a:rPr lang="de-DE" sz="1050" b="0" noProof="0">
                          <a:solidFill>
                            <a:schemeClr val="tx2"/>
                          </a:solidFill>
                        </a:rPr>
                        <a:t xml:space="preserve"/>
                      </a:r>
                      <a:endParaRPr lang="de-DE"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1050" b="1" noProof="0">
                          <a:solidFill>
                            <a:schemeClr val="tx2"/>
                          </a:solidFill>
                          <a:latin typeface="+mn-lt"/>
                        </a:rPr>
                        <a:t xml:space="preserve">Zahl der Beschäftigten (Anzahl der Personen oder Vollzeitäquivalente)</a:t>
                      </a:r>
                      <a:r>
                        <a:rPr lang="de-DE" sz="1050" b="1" noProof="0">
                          <a:solidFill>
                            <a:schemeClr val="tx2"/>
                          </a:solidFill>
                        </a:rPr>
                        <a:t xml:space="preserve"/>
                      </a:r>
                      <a:endParaRPr lang="de-DE"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de-DE" sz="1050" b="0" noProof="0">
                          <a:solidFill>
                            <a:schemeClr val="tx2"/>
                          </a:solidFill>
                          <a:latin typeface="+mn-lt"/>
                        </a:rPr>
                        <a:t xml:space="preserve">Männlich</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{{men}}</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de-DE" sz="1050" b="0" noProof="0">
                          <a:solidFill>
                            <a:schemeClr val="tx2"/>
                          </a:solidFill>
                          <a:latin typeface="+mn-lt"/>
                        </a:rPr>
                        <a:t xml:space="preserve">Weiblich</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women</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52567">
                <a:tc>
                  <a:txBody>
                    <a:bodyPr/>
                    <a:lstStyle/>
                    <a:p>
                      <a:r>
                        <a:rPr lang="de-DE" sz="1050" b="0" noProof="0">
                          <a:solidFill>
                            <a:schemeClr val="tx2"/>
                          </a:solidFill>
                          <a:latin typeface="+mn-lt"/>
                        </a:rPr>
                        <a:t xml:space="preserve">Sonstiges</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others</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52567">
                <a:tc>
                  <a:txBody>
                    <a:bodyPr/>
                    <a:lstStyle/>
                    <a:p>
                      <a:r>
                        <a:rPr lang="de-DE" sz="1050" b="0" noProof="0">
                          <a:solidFill>
                            <a:schemeClr val="tx2"/>
                          </a:solidFill>
                          <a:latin typeface="+mn-lt"/>
                        </a:rPr>
                        <a:t xml:space="preserve">Nicht erfasst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not_registeret</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52567">
                <a:tc>
                  <a:txBody>
                    <a:bodyPr/>
                    <a:lstStyle/>
                    <a:p>
                      <a:r>
                        <a:rPr lang="de-DE" sz="1050" b="0" noProof="0">
                          <a:solidFill>
                            <a:schemeClr val="tx2"/>
                          </a:solidFill>
                          <a:latin typeface="+mn-lt"/>
                        </a:rPr>
                        <a:t xml:space="preserve">Beschäftigte insgesamt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total_employees</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10</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de-DE" sz="1050" b="0" i="0" u="none" strike="noStrike" noProof="0">
                <a:solidFill>
                  <a:srgbClr val="25595D"/>
                </a:solidFill>
                <a:effectLst/>
                <a:latin typeface="Inter"/>
              </a:rPr>
              <a:t xml:space="preserve">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lang="de-DE" sz="1050" b="0" noProof="0">
              <a:effectLst/>
              <a:latin typeface="Inter"/>
            </a:endParaRPr>
          </a:p>
          <a:p>
            <a:pPr>
              <a:buNone/>
            </a:pPr>
            <a:br>
              <a:rPr lang="de-DE" sz="1050" noProof="0">
                <a:latin typeface="Inter"/>
              </a:rPr>
            </a:br>
            <a:endParaRPr lang="de-DE"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de-DE" sz="1050" b="1" noProof="0">
                          <a:solidFill>
                            <a:schemeClr val="tx2"/>
                          </a:solidFill>
                        </a:rPr>
                        <a:t xml:space="preserve">Land (in dem der Arbeitsvertrag geschlossen wurde) </a:t>
                      </a:r>
                      <a:r>
                        <a:rPr lang="de-DE" sz="1050" b="0" noProof="0">
                          <a:solidFill>
                            <a:schemeClr val="tx2"/>
                          </a:solidFill>
                        </a:rPr>
                        <a:t xml:space="preserve">(Nr.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1050" b="1" noProof="0">
                          <a:solidFill>
                            <a:schemeClr val="tx2"/>
                          </a:solidFill>
                        </a:rPr>
                        <a:t xml:space="preserve">Zahl der Beschäftigten (Anzahl der Personen oder Vollzeitäquivalente)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de-DE" sz="1050" b="0" noProof="0">
                          <a:solidFill>
                            <a:schemeClr val="tx2"/>
                          </a:solidFill>
                        </a:rPr>
                        <a:t xml:space="preserve">Dänemark</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1050" b="0" i="0" u="none" strike="noStrike" noProof="0">
                          <a:solidFill>
                            <a:srgbClr val="1B4528"/>
                          </a:solidFill>
                          <a:effectLst/>
                          <a:latin typeface="Inter"/>
                        </a:rPr>
                        <a:t>{{Denmark}}</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de-DE" sz="1050" b="0" i="0" u="none" strike="noStrike" noProof="0">
                          <a:solidFill>
                            <a:srgbClr val="1B4528"/>
                          </a:solidFill>
                          <a:effectLst/>
                          <a:latin typeface="Inter"/>
                        </a:rPr>
                        <a:t>{{Land_b}}</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1050" b="0" i="0" u="none" strike="noStrike" noProof="0">
                          <a:solidFill>
                            <a:srgbClr val="1B4528"/>
                          </a:solidFill>
                          <a:effectLst/>
                          <a:latin typeface="Inter"/>
                        </a:rPr>
                        <a:t>{{</a:t>
                      </a:r>
                      <a:r>
                        <a:rPr lang="de-DE" sz="1050" b="0" i="0" u="none" strike="noStrike" noProof="0">
                          <a:solidFill>
                            <a:srgbClr val="1B4528"/>
                          </a:solidFill>
                          <a:effectLst/>
                        </a:rPr>
                        <a:t>FTE_eller_antal_personer_land_b</a:t>
                      </a:r>
                      <a:r>
                        <a:rPr lang="de-DE" sz="1050" b="0" i="0" u="none" strike="noStrike" noProof="0">
                          <a:solidFill>
                            <a:srgbClr val="1B4528"/>
                          </a:solidFill>
                          <a:effectLst/>
                          <a:latin typeface="Inter"/>
                        </a:rPr>
                        <a:t>}}</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de-DE" sz="1050" b="0" noProof="0">
                          <a:solidFill>
                            <a:schemeClr val="tx2"/>
                          </a:solidFill>
                        </a:rPr>
                        <a:t xml:space="preserve">Beschäftigte insgesamt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1050" b="0" i="0" u="none" strike="noStrike" noProof="0">
                          <a:solidFill>
                            <a:srgbClr val="1B4528"/>
                          </a:solidFill>
                          <a:effectLst/>
                          <a:latin typeface="Inter"/>
                        </a:rPr>
                        <a:t>{{Total_out_of_countries}}</a:t>
                      </a:r>
                      <a:endParaRPr lang="de-DE"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Gesundheitsschutz und Sicherheit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6650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3221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Meldepflichtige Arbeitsunfälle </a:t>
                      </a:r>
                      <a:r>
                        <a:rPr lang="de-DE" sz="1050" b="0" noProof="0">
                          <a:solidFill>
                            <a:schemeClr val="tx2"/>
                          </a:solidFill>
                        </a:rPr>
                        <a:t xml:space="preserve">(Nr.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Jahr</a:t>
                      </a:r>
                      <a:r>
                        <a:rPr lang="de-DE"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22168">
                <a:tc>
                  <a:txBody>
                    <a:bodyPr/>
                    <a:lstStyle/>
                    <a:p>
                      <a:r>
                        <a:rPr lang="de-DE" sz="1050" b="0" noProof="0">
                          <a:solidFill>
                            <a:schemeClr val="tx2"/>
                          </a:solidFill>
                        </a:rPr>
                        <a:t xml:space="preserve">Anzahl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050" b="0" i="0" u="none" strike="noStrike" kern="1200" cap="none" spc="0" normalizeH="0" baseline="0" noProof="0">
                          <a:ln>
                            <a:noFill/>
                          </a:ln>
                          <a:solidFill>
                            <a:srgbClr val="1B4528"/>
                          </a:solidFill>
                          <a:effectLst/>
                          <a:uLnTx/>
                          <a:uFillTx/>
                          <a:latin typeface="Inter"/>
                          <a:ea typeface="+mn-ea"/>
                          <a:cs typeface="+mn-cs"/>
                        </a:rPr>
                        <a:t>{{</a:t>
                      </a:r>
                      <a:r>
                        <a:rPr lang="de-DE" sz="1050" b="0" i="0" u="none" strike="noStrike" kern="1200" cap="none" spc="0" normalizeH="0" baseline="0" noProof="0">
                          <a:ln>
                            <a:noFill/>
                          </a:ln>
                          <a:solidFill>
                            <a:srgbClr val="1B4528"/>
                          </a:solidFill>
                          <a:effectLst/>
                          <a:uLnTx/>
                          <a:uFillTx/>
                          <a:latin typeface="Inter"/>
                        </a:rPr>
                        <a:t>indsat_antal_accidents</a:t>
                      </a:r>
                      <a:r>
                        <a:rPr lang="de-DE" sz="1050" b="0" i="0" u="none" strike="noStrike" kern="1200" cap="none" spc="0" normalizeH="0" baseline="0" noProof="0">
                          <a:ln>
                            <a:noFill/>
                          </a:ln>
                          <a:solidFill>
                            <a:srgbClr val="1B4528"/>
                          </a:solidFill>
                          <a:effectLst/>
                          <a:uLnTx/>
                          <a:uFillTx/>
                          <a:latin typeface="Inter"/>
                          <a:ea typeface="+mn-ea"/>
                          <a:cs typeface="+mn-cs"/>
                        </a:rPr>
                        <a:t>}}</a:t>
                      </a:r>
                      <a:endParaRPr kumimoji="0" lang="de-DE"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22168">
                <a:tc>
                  <a:txBody>
                    <a:bodyPr/>
                    <a:lstStyle/>
                    <a:p>
                      <a:r>
                        <a:rPr lang="de-DE" sz="1050" b="0" noProof="0">
                          <a:solidFill>
                            <a:schemeClr val="tx2"/>
                          </a:solidFill>
                        </a:rPr>
                        <a:t xml:space="preserve">Quote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050" b="0" i="0" u="none" strike="noStrike" kern="1200" cap="none" spc="0" normalizeH="0" baseline="0" noProof="0">
                          <a:ln>
                            <a:noFill/>
                          </a:ln>
                          <a:solidFill>
                            <a:srgbClr val="1B4528"/>
                          </a:solidFill>
                          <a:effectLst/>
                          <a:uLnTx/>
                          <a:uFillTx/>
                          <a:latin typeface="Inter"/>
                          <a:ea typeface="+mn-ea"/>
                          <a:cs typeface="+mn-cs"/>
                        </a:rPr>
                        <a:t>{{</a:t>
                      </a:r>
                      <a:r>
                        <a:rPr lang="de-DE" sz="1050" b="0" i="0" u="none" strike="noStrike" kern="1200" cap="none" spc="0" normalizeH="0" baseline="0" noProof="0">
                          <a:ln>
                            <a:noFill/>
                          </a:ln>
                          <a:solidFill>
                            <a:srgbClr val="1B4528"/>
                          </a:solidFill>
                          <a:effectLst/>
                          <a:uLnTx/>
                          <a:uFillTx/>
                          <a:latin typeface="Inter"/>
                        </a:rPr>
                        <a:t>indsat_accidents_frequents</a:t>
                      </a:r>
                      <a:r>
                        <a:rPr lang="de-DE" sz="1050" b="0" i="0" u="none" strike="noStrike" kern="1200" cap="none" spc="0" normalizeH="0" baseline="0" noProof="0">
                          <a:ln>
                            <a:noFill/>
                          </a:ln>
                          <a:solidFill>
                            <a:srgbClr val="1B4528"/>
                          </a:solidFill>
                          <a:effectLst/>
                          <a:uLnTx/>
                          <a:uFillTx/>
                          <a:latin typeface="Inter"/>
                          <a:ea typeface="+mn-ea"/>
                          <a:cs typeface="+mn-cs"/>
                        </a:rPr>
                        <a:t>}}</a:t>
                      </a:r>
                      <a:endParaRPr kumimoji="0" lang="de-DE"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6650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291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Arbeitsbedingte Todesfälle </a:t>
                      </a:r>
                      <a:r>
                        <a:rPr lang="de-DE" sz="1050" b="0" noProof="0">
                          <a:solidFill>
                            <a:schemeClr val="tx2"/>
                          </a:solidFill>
                        </a:rPr>
                        <a:t xml:space="preserve">(Nr.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Jahr</a:t>
                      </a:r>
                      <a:r>
                        <a:rPr lang="de-DE"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3942">
                <a:tc>
                  <a:txBody>
                    <a:bodyPr/>
                    <a:lstStyle/>
                    <a:p>
                      <a:r>
                        <a:rPr lang="de-DE" sz="1050" b="0" noProof="0">
                          <a:solidFill>
                            <a:schemeClr val="tx2"/>
                          </a:solidFill>
                        </a:rPr>
                        <a:t xml:space="preserve">Infolge arbeitsbedingter Verletzung/Unfall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de-DE" sz="1050" b="0" i="0" u="none" strike="noStrike" kern="1200" cap="none" spc="0" normalizeH="0" baseline="0" noProof="0">
                          <a:ln>
                            <a:noFill/>
                          </a:ln>
                          <a:solidFill>
                            <a:srgbClr val="1B4528"/>
                          </a:solidFill>
                          <a:effectLst/>
                          <a:uLnTx/>
                          <a:uFillTx/>
                          <a:latin typeface="Inter"/>
                          <a:ea typeface="+mn-ea"/>
                          <a:cs typeface="+mn-cs"/>
                        </a:rPr>
                        <a:t>{{</a:t>
                      </a:r>
                      <a:r>
                        <a:rPr lang="de-DE" sz="1050" b="0" i="0" u="none" strike="noStrike" kern="1200" cap="none" spc="0" normalizeH="0" baseline="0" noProof="0">
                          <a:ln>
                            <a:noFill/>
                          </a:ln>
                          <a:solidFill>
                            <a:srgbClr val="1B4528"/>
                          </a:solidFill>
                          <a:effectLst/>
                          <a:uLnTx/>
                          <a:uFillTx/>
                          <a:latin typeface="Inter"/>
                        </a:rPr>
                        <a:t>deaths_by_accidents</a:t>
                      </a:r>
                      <a:r>
                        <a:rPr lang="de-DE" sz="1050" b="0" i="0" u="none" strike="noStrike" kern="1200" cap="none" spc="0" normalizeH="0" baseline="0" noProof="0">
                          <a:ln>
                            <a:noFill/>
                          </a:ln>
                          <a:solidFill>
                            <a:srgbClr val="1B4528"/>
                          </a:solidFill>
                          <a:effectLst/>
                          <a:uLnTx/>
                          <a:uFillTx/>
                          <a:latin typeface="Inter"/>
                          <a:ea typeface="+mn-ea"/>
                          <a:cs typeface="+mn-cs"/>
                        </a:rPr>
                        <a:t>}}</a:t>
                      </a:r>
                      <a:endParaRPr kumimoji="0" lang="de-DE"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1281">
                <a:tc>
                  <a:txBody>
                    <a:bodyPr/>
                    <a:lstStyle/>
                    <a:p>
                      <a:r>
                        <a:rPr lang="de-DE" sz="1050" b="0" noProof="0">
                          <a:solidFill>
                            <a:schemeClr val="tx2"/>
                          </a:solidFill>
                        </a:rPr>
                        <a:t xml:space="preserve">Infolge arbeitsbedingter Erkrankung</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050" b="0" i="0" u="none" strike="noStrike" kern="1200" cap="none" spc="0" normalizeH="0" baseline="0" noProof="0">
                          <a:ln>
                            <a:noFill/>
                          </a:ln>
                          <a:solidFill>
                            <a:srgbClr val="1B4528"/>
                          </a:solidFill>
                          <a:effectLst/>
                          <a:uLnTx/>
                          <a:uFillTx/>
                          <a:latin typeface="Inter"/>
                          <a:ea typeface="+mn-ea"/>
                          <a:cs typeface="+mn-cs"/>
                        </a:rPr>
                        <a:t>{{</a:t>
                      </a:r>
                      <a:r>
                        <a:rPr lang="de-DE" sz="1050" b="0" i="0" u="none" strike="noStrike" kern="1200" cap="none" spc="0" normalizeH="0" baseline="0" noProof="0">
                          <a:ln>
                            <a:noFill/>
                          </a:ln>
                          <a:solidFill>
                            <a:srgbClr val="1B4528"/>
                          </a:solidFill>
                          <a:effectLst/>
                          <a:uLnTx/>
                          <a:uFillTx/>
                          <a:latin typeface="Inter"/>
                        </a:rPr>
                        <a:t>deaths_by_health</a:t>
                      </a:r>
                      <a:r>
                        <a:rPr lang="de-DE" sz="1050" b="0" i="0" u="none" strike="noStrike" kern="1200" cap="none" spc="0" normalizeH="0" baseline="0" noProof="0">
                          <a:ln>
                            <a:noFill/>
                          </a:ln>
                          <a:solidFill>
                            <a:srgbClr val="1B4528"/>
                          </a:solidFill>
                          <a:effectLst/>
                          <a:uLnTx/>
                          <a:uFillTx/>
                          <a:latin typeface="Inter"/>
                          <a:ea typeface="+mn-ea"/>
                          <a:cs typeface="+mn-cs"/>
                        </a:rPr>
                        <a:t>}}</a:t>
                      </a:r>
                      <a:endParaRPr kumimoji="0" lang="de-DE"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11</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Das Unternehmen hat Informationen über die Zahl der meldepflichtigen Arbeitsunfälle und der arbeitsbedingten Todesfälle zu folgenden Aufschlüsselungen angegeben: Anzahl und Quote. Darüber hinaus, ob arbeitsbedingte Todesfälle auf arbeitsbedingte Verletzungen/Unfälle oder auf Erkrankungen zurückzuführen sind.</a:t>
            </a:r>
            <a:endParaRPr lang="de-DE" sz="1050" b="0" noProof="0">
              <a:solidFill>
                <a:schemeClr val="tx2"/>
              </a:solidFill>
              <a:effectLst/>
              <a:latin typeface="Inter"/>
            </a:endParaRPr>
          </a:p>
          <a:p>
            <a:pPr>
              <a:buNone/>
            </a:pPr>
            <a:br>
              <a:rPr lang="de-DE" sz="1050" noProof="0">
                <a:solidFill>
                  <a:schemeClr val="tx2"/>
                </a:solidFill>
                <a:latin typeface="Inter"/>
              </a:rPr>
            </a:br>
            <a:endParaRPr lang="de-DE"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e-DE" noProof="0"/>
              <a:t xml:space="preserve">Eigene Arbeitskräfte: Vergütung, Tarifverhandlungen und Schulung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Entgeltgefälle zwischen männlichen und weiblichen Beschäftigten </a:t>
                      </a:r>
                      <a:r>
                        <a:rPr lang="de-DE" sz="1050" b="0" noProof="0">
                          <a:solidFill>
                            <a:schemeClr val="tx2"/>
                          </a:solidFill>
                        </a:rPr>
                        <a:t xml:space="preserve">(Nr.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Jahr</a:t>
                      </a:r>
                      <a:r>
                        <a:rPr lang="de-DE" sz="1050" b="1" noProof="0">
                          <a:solidFill>
                            <a:srgbClr val="1B4528"/>
                          </a:solidFill>
                          <a:latin typeface="Calibri" panose="020F0502020204030204" pitchFamily="34" charset="0"/>
                          <a:cs typeface="Calibri" panose="020F0502020204030204" pitchFamily="34" charset="0"/>
                        </a:rPr>
                        <a:t> </a:t>
                      </a:r>
                      <a:r>
                        <a:rPr lang="de-DE" sz="1050" b="1" noProof="0">
                          <a:solidFill>
                            <a:srgbClr val="1B4528"/>
                          </a:solidFill>
                        </a:rPr>
                        <a:t>{{</a:t>
                      </a:r>
                      <a:r>
                        <a:rPr lang="de-DE" sz="1050" b="1" noProof="0">
                          <a:solidFill>
                            <a:srgbClr val="1B4528"/>
                          </a:solidFill>
                        </a:rPr>
                        <a:t>insert_year</a:t>
                      </a:r>
                      <a:r>
                        <a:rPr lang="de-DE"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1050" b="0" noProof="0">
                          <a:solidFill>
                            <a:srgbClr val="1B4528"/>
                          </a:solidFill>
                        </a:rPr>
                        <a:t>{{</a:t>
                      </a:r>
                      <a:r>
                        <a:rPr lang="de-DE" sz="1050" b="0" noProof="0">
                          <a:solidFill>
                            <a:srgbClr val="1B4528"/>
                          </a:solidFill>
                        </a:rPr>
                        <a:t>indsat_procentvise_lonforskel</a:t>
                      </a:r>
                      <a:r>
                        <a:rPr lang="de-DE"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758742"/>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de-DE" sz="1050" b="1" noProof="0">
                          <a:solidFill>
                            <a:schemeClr val="tx2"/>
                          </a:solidFill>
                        </a:rPr>
                        <a:t xml:space="preserve">Angaben zum Mindestlohn </a:t>
                      </a:r>
                      <a:r>
                        <a:rPr lang="de-DE"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1050" b="1" noProof="0">
                          <a:solidFill>
                            <a:schemeClr val="tx2"/>
                          </a:solidFill>
                        </a:rPr>
                        <a:t>Ja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1050" b="1" noProof="0">
                          <a:solidFill>
                            <a:schemeClr val="tx2"/>
                          </a:solidFill>
                        </a:rPr>
                        <a:t xml:space="preserve">Nein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39347">
                <a:tc>
                  <a:txBody>
                    <a:bodyPr/>
                    <a:lstStyle/>
                    <a:p>
                      <a:r>
                        <a:rPr lang="de-DE" sz="1050" b="0" noProof="0">
                          <a:solidFill>
                            <a:schemeClr val="tx2"/>
                          </a:solidFill>
                        </a:rPr>
                        <a:t xml:space="preserve">Im Unternehmen erhalten alle Beschäftigten ein Entgelt mindestens in Höhe des Mindestlohns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minumum_wage_yes</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minimum_wage_no</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5858"/>
          <a:ext cx="4796552" cy="805477"/>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36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Tarifvertrag </a:t>
                      </a:r>
                      <a:r>
                        <a:rPr lang="de-DE" sz="1050" b="0" noProof="0">
                          <a:solidFill>
                            <a:schemeClr val="tx2"/>
                          </a:solidFill>
                        </a:rPr>
                        <a:t xml:space="preserve">(Nr.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Jahr</a:t>
                      </a:r>
                      <a:r>
                        <a:rPr lang="de-DE" sz="1050" b="1" noProof="0">
                          <a:solidFill>
                            <a:srgbClr val="1B4528"/>
                          </a:solidFill>
                          <a:latin typeface="Calibri" panose="020F0502020204030204" pitchFamily="34" charset="0"/>
                          <a:cs typeface="Calibri" panose="020F0502020204030204" pitchFamily="34" charset="0"/>
                        </a:rPr>
                        <a:t> {{</a:t>
                      </a:r>
                      <a:r>
                        <a:rPr lang="de-DE" sz="1050" b="1" noProof="0">
                          <a:solidFill>
                            <a:srgbClr val="1B4528"/>
                          </a:solidFill>
                          <a:latin typeface="Calibri" panose="020F0502020204030204" pitchFamily="34" charset="0"/>
                          <a:cs typeface="Calibri" panose="020F0502020204030204" pitchFamily="34" charset="0"/>
                        </a:rPr>
                        <a:t>insert_year</a:t>
                      </a:r>
                      <a:r>
                        <a:rPr lang="de-DE" sz="1050" b="1" noProof="0">
                          <a:solidFill>
                            <a:srgbClr val="1B4528"/>
                          </a:solidFill>
                          <a:latin typeface="Calibri" panose="020F0502020204030204" pitchFamily="34" charset="0"/>
                          <a:cs typeface="Calibri" panose="020F0502020204030204" pitchFamily="34" charset="0"/>
                        </a:rPr>
                        <a:t>}}</a:t>
                      </a:r>
                      <a:endParaRPr lang="de-DE"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50" b="0" noProof="0">
                          <a:solidFill>
                            <a:schemeClr val="tx2"/>
                          </a:solidFill>
                        </a:rPr>
                        <a:t xml:space="preserve">Prozentualer Anteil der Beschäftigten, die von einem Tarifvertrag abgedeckt sind</a:t>
                      </a:r>
                      <a:endParaRPr kumimoji="0" lang="de-DE"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srgbClr val="1B4528"/>
                          </a:solidFill>
                          <a:effectLst/>
                          <a:uLnTx/>
                          <a:uFillTx/>
                          <a:latin typeface="+mn-lt"/>
                          <a:ea typeface="+mn-ea"/>
                          <a:cs typeface="+mn-cs"/>
                        </a:rPr>
                        <a:t>{{</a:t>
                      </a:r>
                      <a:r>
                        <a:rPr kumimoji="0" lang="de-DE" sz="1050" b="0" i="0" u="none" strike="noStrike" kern="1200" cap="none" spc="0" normalizeH="0" baseline="0" noProof="0">
                          <a:ln>
                            <a:noFill/>
                          </a:ln>
                          <a:solidFill>
                            <a:srgbClr val="1B4528"/>
                          </a:solidFill>
                          <a:effectLst/>
                          <a:uLnTx/>
                          <a:uFillTx/>
                          <a:latin typeface="+mn-lt"/>
                          <a:ea typeface="+mn-ea"/>
                          <a:cs typeface="+mn-cs"/>
                        </a:rPr>
                        <a:t>indsat_procentvis_ansatte</a:t>
                      </a:r>
                      <a:r>
                        <a:rPr kumimoji="0" lang="de-DE"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804487"/>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47932">
                <a:tc>
                  <a:txBody>
                    <a:bodyPr/>
                    <a:lstStyle/>
                    <a:p>
                      <a:r>
                        <a:rPr lang="de-DE" sz="1050" b="1" noProof="0">
                          <a:solidFill>
                            <a:schemeClr val="tx2"/>
                          </a:solidFill>
                        </a:rPr>
                        <a:t xml:space="preserve">Durchschnittliche Schulungsstunden je Beschäftigtem </a:t>
                      </a:r>
                      <a:r>
                        <a:rPr lang="de-DE" sz="1050" b="0" noProof="0">
                          <a:solidFill>
                            <a:schemeClr val="tx2"/>
                          </a:solidFill>
                        </a:rPr>
                        <a:t xml:space="preserve">(Nr.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050" b="1" noProof="0">
                          <a:solidFill>
                            <a:schemeClr val="tx2"/>
                          </a:solidFill>
                        </a:rPr>
                        <a:t xml:space="preserve">Jahr</a:t>
                      </a:r>
                      <a:r>
                        <a:rPr lang="de-DE"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55">
                <a:tc>
                  <a:txBody>
                    <a:bodyPr/>
                    <a:lstStyle/>
                    <a:p>
                      <a:r>
                        <a:rPr lang="de-DE" sz="1050" b="0" noProof="0">
                          <a:solidFill>
                            <a:schemeClr val="tx2"/>
                          </a:solidFill>
                        </a:rPr>
                        <a:t xml:space="preserve">Stunde(n) je Beschäftigtem</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1050" b="0" i="0" u="none" strike="noStrike" noProof="0">
                          <a:solidFill>
                            <a:srgbClr val="1B4528"/>
                          </a:solidFill>
                          <a:effectLst/>
                          <a:latin typeface="Inter"/>
                        </a:rPr>
                        <a:t>{{gennemsnitstimer}}</a:t>
                      </a:r>
                      <a:endParaRPr lang="de-DE"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p>
          <a:p>
            <a:pPr>
              <a:buNone/>
            </a:pPr>
            <a:br>
              <a:rPr lang="de-DE" sz="1050" noProof="0">
                <a:solidFill>
                  <a:schemeClr val="tx2"/>
                </a:solidFill>
                <a:latin typeface="Inter"/>
              </a:rPr>
            </a:br>
            <a:endParaRPr lang="de-DE"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Unternehmenspolitik: Anzahl der Verurteilungen und Geldstrafen wegen Korruption &amp; Bestechung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de-DE" sz="1050" b="1" noProof="0">
                          <a:solidFill>
                            <a:schemeClr val="tx2"/>
                          </a:solidFill>
                        </a:rPr>
                        <a:t xml:space="preserve">Korruption und Bestechung </a:t>
                      </a:r>
                      <a:r>
                        <a:rPr lang="de-DE" sz="1050" b="0" noProof="0">
                          <a:solidFill>
                            <a:schemeClr val="tx2"/>
                          </a:solidFill>
                        </a:rPr>
                        <a:t xml:space="preserve">(Nr.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e-DE" sz="1050" b="1" noProof="0">
                          <a:solidFill>
                            <a:schemeClr val="tx2"/>
                          </a:solidFill>
                        </a:rPr>
                        <a:t xml:space="preserve">Anzahl der Verurteilungen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1050" b="1" noProof="0">
                          <a:solidFill>
                            <a:schemeClr val="tx2"/>
                          </a:solidFill>
                        </a:rPr>
                        <a:t xml:space="preserve">Gesamtbetrag der Geldstrafen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1050" b="0" i="0" u="none" strike="noStrike" noProof="0">
                          <a:solidFill>
                            <a:srgbClr val="1B4528"/>
                          </a:solidFill>
                          <a:effectLst/>
                          <a:latin typeface="Inter"/>
                        </a:rPr>
                        <a:t>{{domme}}</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1050" b="0" i="0" u="none" strike="noStrike" noProof="0">
                          <a:solidFill>
                            <a:srgbClr val="1B4528"/>
                          </a:solidFill>
                          <a:effectLst/>
                          <a:latin typeface="Inter"/>
                        </a:rPr>
                        <a:t>{{</a:t>
                      </a:r>
                      <a:r>
                        <a:rPr lang="de-DE" sz="1050" b="0" i="0" u="none" strike="noStrike" noProof="0">
                          <a:solidFill>
                            <a:srgbClr val="1B4528"/>
                          </a:solidFill>
                          <a:effectLst/>
                          <a:latin typeface="Inter"/>
                        </a:rPr>
                        <a:t>samlet_bodestorrelse</a:t>
                      </a:r>
                      <a:r>
                        <a:rPr lang="de-DE" sz="1050" b="0" i="0" u="none" strike="noStrike" noProof="0">
                          <a:solidFill>
                            <a:srgbClr val="1B4528"/>
                          </a:solidFill>
                          <a:effectLst/>
                          <a:latin typeface="Inter"/>
                        </a:rPr>
                        <a:t>}}</a:t>
                      </a:r>
                      <a:endParaRPr lang="de-DE"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12</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endParaRPr lang="de-DE"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de-DE" sz="1050" b="0" i="0" u="none" strike="noStrike" noProof="0">
                <a:solidFill>
                  <a:schemeClr val="tx2"/>
                </a:solidFill>
                <a:effectLst/>
                <a:latin typeface="Inter"/>
              </a:rPr>
              <a:t xml:space="preserve">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r>
              <a:rPr lang="de-DE" sz="1050" b="0" i="0" u="none" strike="noStrike" noProof="0">
                <a:solidFill>
                  <a:schemeClr val="tx2"/>
                </a:solidFill>
                <a:effectLst/>
                <a:latin typeface="Inter"/>
              </a:rPr>
              <a:t xml:space="preserve"/>
            </a:r>
            <a:r>
              <a:rPr lang="de-DE" sz="1050" b="0" i="0" u="none" strike="noStrike" noProof="0">
                <a:solidFill>
                  <a:schemeClr val="tx2"/>
                </a:solidFill>
                <a:effectLst/>
                <a:latin typeface="Inter"/>
              </a:rPr>
              <a:t xml:space="preserve"/>
            </a:r>
            <a:endParaRPr lang="de-DE" sz="1050" b="0" noProof="0">
              <a:solidFill>
                <a:schemeClr val="tx2"/>
              </a:solidFill>
              <a:effectLst/>
              <a:latin typeface="Inter"/>
            </a:endParaRPr>
          </a:p>
          <a:p>
            <a:pPr>
              <a:buNone/>
            </a:pPr>
            <a:br>
              <a:rPr lang="de-DE" sz="1050" noProof="0">
                <a:solidFill>
                  <a:schemeClr val="tx2"/>
                </a:solidFill>
                <a:latin typeface="Inter"/>
              </a:rPr>
            </a:br>
            <a:endParaRPr lang="de-DE"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de-DE" sz="1575" b="1" noProof="0">
                <a:solidFill>
                  <a:srgbClr val="FFFFFF"/>
                </a:solidFill>
                <a:latin typeface="IBM Plex Sans" panose="020B0503050203000203" pitchFamily="34" charset="0"/>
              </a:rPr>
              <a:t>{{</a:t>
            </a:r>
            <a:r>
              <a:rPr lang="de-DE" sz="1575" b="1" noProof="0">
                <a:solidFill>
                  <a:srgbClr val="FFFFFF"/>
                </a:solidFill>
                <a:latin typeface="IBM Plex Sans" panose="020B0503050203000203" pitchFamily="34" charset="0"/>
              </a:rPr>
              <a:t>company_name</a:t>
            </a:r>
            <a:r>
              <a:rPr lang="de-DE" sz="1575" b="1" noProof="0">
                <a:solidFill>
                  <a:srgbClr val="FFFFFF"/>
                </a:solidFill>
                <a:latin typeface="IBM Plex Sans" panose="020B0503050203000203" pitchFamily="34" charset="0"/>
              </a:rPr>
              <a:t>}}</a:t>
            </a:r>
          </a:p>
          <a:p>
            <a:pPr algn="ctr"/>
            <a:r>
              <a:rPr lang="de-DE" sz="1575" b="1" noProof="0">
                <a:solidFill>
                  <a:srgbClr val="FFFFFF"/>
                </a:solidFill>
                <a:latin typeface="IBM Plex Sans" panose="020B0503050203000203" pitchFamily="34" charset="0"/>
              </a:rPr>
              <a:t>{{</a:t>
            </a:r>
            <a:r>
              <a:rPr lang="de-DE" sz="1575" b="1" noProof="0">
                <a:solidFill>
                  <a:srgbClr val="FFFFFF"/>
                </a:solidFill>
                <a:latin typeface="IBM Plex Sans" panose="020B0503050203000203" pitchFamily="34" charset="0"/>
              </a:rPr>
              <a:t>insert_year</a:t>
            </a:r>
            <a:r>
              <a:rPr lang="de-DE" sz="1575" b="1" noProof="0">
                <a:solidFill>
                  <a:srgbClr val="FFFFFF"/>
                </a:solidFill>
                <a:latin typeface="IBM Plex Sans" panose="020B0503050203000203" pitchFamily="34" charset="0"/>
              </a:rPr>
              <a:t>}}</a:t>
            </a:r>
            <a:br>
              <a:rPr lang="de-DE" sz="1575" b="1" noProof="0">
                <a:solidFill>
                  <a:srgbClr val="FFFFFF"/>
                </a:solidFill>
                <a:latin typeface="IBM Plex Sans" panose="020B0503050203000203" pitchFamily="34" charset="0"/>
              </a:rPr>
            </a:br>
            <a:endParaRPr lang="de-DE"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de-DE" noProof="0" smtClean="0"/>
              <a:pPr/>
              <a:t>25</a:t>
            </a:fld>
            <a:endParaRPr lang="de-DE"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