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6858000" cx="12192000"/>
  <p:notesSz cx="6858000" cy="9144000"/>
  <p:embeddedFontLst>
    <p:embeddedFont>
      <p:font typeface="IBM Plex Sans"/>
      <p:regular r:id="rId32"/>
      <p:bold r:id="rId33"/>
      <p:italic r:id="rId34"/>
      <p:boldItalic r:id="rId35"/>
    </p:embeddedFont>
    <p:embeddedFont>
      <p:font typeface="Inter"/>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2D200454-40CA-4A62-9FC3-DE9A4176ACB9}">
      <p15:notesGuideLst>
        <p15:guide id="1" orient="horz" pos="2880">
          <p15:clr>
            <a:srgbClr val="A4A3A4"/>
          </p15:clr>
        </p15:guide>
        <p15:guide id="2" pos="2160">
          <p15:clr>
            <a:srgbClr val="A4A3A4"/>
          </p15:clr>
        </p15:guide>
      </p15:notesGuideLst>
    </p:ext>
    <p:ext uri="GoogleSlidesCustomDataVersion2">
      <go:slidesCustomData xmlns:go="http://customooxmlschemas.google.com/" r:id="rId40" roundtripDataSignature="AMtx7mijfh5LTzVDXbb0ZuKNcbUd24GKS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8659190-FCFE-4D70-9B86-54A6606F5F58}">
  <a:tblStyle styleId="{08659190-FCFE-4D70-9B86-54A6606F5F58}" styleName="Table_0">
    <a:wholeTbl>
      <a:tcTxStyle b="off" i="off">
        <a:font>
          <a:latin typeface="IBM Plex Sans"/>
          <a:ea typeface="IBM Plex Sans"/>
          <a:cs typeface="IBM Plex Sans"/>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25400">
              <a:solidFill>
                <a:schemeClr val="dk1"/>
              </a:solidFill>
              <a:prstDash val="solid"/>
              <a:round/>
              <a:headEnd len="sm" w="sm" type="none"/>
              <a:tailEnd len="sm" w="sm" type="none"/>
            </a:ln>
          </a:top>
          <a:bottom>
            <a:ln cap="flat" cmpd="sng" w="25400">
              <a:solidFill>
                <a:schemeClr val="dk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lt1"/>
          </a:solidFill>
        </a:fill>
      </a:tcStyle>
    </a:wholeTbl>
    <a:band1H>
      <a:tcTxStyle/>
      <a:tcStyle>
        <a:fill>
          <a:solidFill>
            <a:srgbClr val="E6E6E6"/>
          </a:solidFill>
        </a:fill>
      </a:tcStyle>
    </a:band1H>
    <a:band2H>
      <a:tcTxStyle/>
    </a:band2H>
    <a:band1V>
      <a:tcTxStyle/>
      <a:tcStyle>
        <a:fill>
          <a:solidFill>
            <a:srgbClr val="E6E6E6"/>
          </a:solidFill>
        </a:fill>
      </a:tcStyle>
    </a:band1V>
    <a:band2V>
      <a:tcTxStyle/>
    </a:band2V>
    <a:lastCol>
      <a:tcTxStyle b="on" i="off">
        <a:font>
          <a:latin typeface="IBM Plex Sans"/>
          <a:ea typeface="IBM Plex Sans"/>
          <a:cs typeface="IBM Plex Sans"/>
        </a:font>
        <a:schemeClr val="lt1"/>
      </a:tcTxStyle>
      <a:tcStyle>
        <a:fill>
          <a:solidFill>
            <a:schemeClr val="accent6"/>
          </a:solidFill>
        </a:fill>
      </a:tcStyle>
    </a:lastCol>
    <a:firstCol>
      <a:tcTxStyle b="on" i="off">
        <a:font>
          <a:latin typeface="IBM Plex Sans"/>
          <a:ea typeface="IBM Plex Sans"/>
          <a:cs typeface="IBM Plex Sans"/>
        </a:font>
        <a:schemeClr val="lt1"/>
      </a:tcTxStyle>
      <a:tcStyle>
        <a:fill>
          <a:solidFill>
            <a:schemeClr val="accent6"/>
          </a:solidFill>
        </a:fill>
      </a:tcStyle>
    </a:firstCol>
    <a:lastRow>
      <a:tcTxStyle b="on" i="off"/>
      <a:tcStyle>
        <a:tcBdr>
          <a:top>
            <a:ln cap="flat" cmpd="sng" w="50800">
              <a:solidFill>
                <a:schemeClr val="dk1"/>
              </a:solidFill>
              <a:prstDash val="solid"/>
              <a:round/>
              <a:headEnd len="sm" w="sm" type="none"/>
              <a:tailEnd len="sm" w="sm" type="none"/>
            </a:ln>
          </a:top>
        </a:tcBdr>
        <a:fill>
          <a:solidFill>
            <a:schemeClr val="lt1"/>
          </a:solidFill>
        </a:fill>
      </a:tcStyle>
    </a:lastRow>
    <a:seCell>
      <a:tcTxStyle b="on" i="off">
        <a:font>
          <a:latin typeface="IBM Plex Sans"/>
          <a:ea typeface="IBM Plex Sans"/>
          <a:cs typeface="IBM Plex Sans"/>
        </a:font>
        <a:schemeClr val="dk1"/>
      </a:tcTxStyle>
    </a:seCell>
    <a:swCell>
      <a:tcTxStyle b="on" i="off">
        <a:font>
          <a:latin typeface="IBM Plex Sans"/>
          <a:ea typeface="IBM Plex Sans"/>
          <a:cs typeface="IBM Plex Sans"/>
        </a:font>
        <a:schemeClr val="dk1"/>
      </a:tcTxStyle>
    </a:swCell>
    <a:firstRow>
      <a:tcTxStyle b="on" i="off">
        <a:font>
          <a:latin typeface="IBM Plex Sans"/>
          <a:ea typeface="IBM Plex Sans"/>
          <a:cs typeface="IBM Plex Sans"/>
        </a:font>
        <a:schemeClr val="lt1"/>
      </a:tcTxStyle>
      <a:tcStyle>
        <a:tcBdr>
          <a:bottom>
            <a:ln cap="flat" cmpd="sng" w="25400">
              <a:solidFill>
                <a:schemeClr val="dk1"/>
              </a:solidFill>
              <a:prstDash val="solid"/>
              <a:round/>
              <a:headEnd len="sm" w="sm" type="none"/>
              <a:tailEnd len="sm" w="sm" type="none"/>
            </a:ln>
          </a:bottom>
        </a:tcBdr>
        <a:fill>
          <a:solidFill>
            <a:schemeClr val="accent6"/>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IBMPlexSans-bold.fntdata"/><Relationship Id="rId10" Type="http://schemas.openxmlformats.org/officeDocument/2006/relationships/slide" Target="slides/slide4.xml"/><Relationship Id="rId32" Type="http://schemas.openxmlformats.org/officeDocument/2006/relationships/font" Target="fonts/IBMPlexSans-regular.fntdata"/><Relationship Id="rId13" Type="http://schemas.openxmlformats.org/officeDocument/2006/relationships/slide" Target="slides/slide7.xml"/><Relationship Id="rId35" Type="http://schemas.openxmlformats.org/officeDocument/2006/relationships/font" Target="fonts/IBMPlexSans-boldItalic.fntdata"/><Relationship Id="rId12" Type="http://schemas.openxmlformats.org/officeDocument/2006/relationships/slide" Target="slides/slide6.xml"/><Relationship Id="rId34" Type="http://schemas.openxmlformats.org/officeDocument/2006/relationships/font" Target="fonts/IBMPlexSans-italic.fntdata"/><Relationship Id="rId15" Type="http://schemas.openxmlformats.org/officeDocument/2006/relationships/slide" Target="slides/slide9.xml"/><Relationship Id="rId37" Type="http://schemas.openxmlformats.org/officeDocument/2006/relationships/font" Target="fonts/Inter-bold.fntdata"/><Relationship Id="rId14" Type="http://schemas.openxmlformats.org/officeDocument/2006/relationships/slide" Target="slides/slide8.xml"/><Relationship Id="rId36" Type="http://schemas.openxmlformats.org/officeDocument/2006/relationships/font" Target="fonts/Inter-regular.fntdata"/><Relationship Id="rId17" Type="http://schemas.openxmlformats.org/officeDocument/2006/relationships/slide" Target="slides/slide11.xml"/><Relationship Id="rId39" Type="http://schemas.openxmlformats.org/officeDocument/2006/relationships/font" Target="fonts/Inter-boldItalic.fntdata"/><Relationship Id="rId16" Type="http://schemas.openxmlformats.org/officeDocument/2006/relationships/slide" Target="slides/slide10.xml"/><Relationship Id="rId38" Type="http://schemas.openxmlformats.org/officeDocument/2006/relationships/font" Target="fonts/Inter-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indent="-228600" lvl="1" marL="9144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2pPr>
            <a:lvl3pPr indent="-228600" lvl="2" marL="13716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3pPr>
            <a:lvl4pPr indent="-228600" lvl="3" marL="18288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4pPr>
            <a:lvl5pPr indent="-228600" lvl="4" marL="22860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de-DE" sz="1200" u="none" cap="none" strike="noStrike">
                <a:solidFill>
                  <a:schemeClr val="dk1"/>
                </a:solidFill>
                <a:latin typeface="IBM Plex Sans"/>
                <a:ea typeface="IBM Plex Sans"/>
                <a:cs typeface="IBM Plex Sans"/>
                <a:sym typeface="IBM Plex Sans"/>
              </a:rPr>
              <a:t>‹#›</a:t>
            </a:fld>
            <a:endParaRPr b="0" i="0" sz="1200" u="none" cap="none" strike="noStrike">
              <a:solidFill>
                <a:schemeClr val="dk1"/>
              </a:solidFill>
              <a:latin typeface="IBM Plex Sans"/>
              <a:ea typeface="IBM Plex Sans"/>
              <a:cs typeface="IBM Plex Sans"/>
              <a:sym typeface="IBM Plex Sans"/>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 name="Google Shape;4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 name="Google Shape;4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 name="Google Shape;5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 name="Google Shape;5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 name="Google Shape;5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 name="Google Shape;6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 name="Google Shape;7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 name="Google Shape;7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e-DE"/>
              <a:t>Entfernt: </a:t>
            </a:r>
            <a:r>
              <a:rPr b="0" i="0" lang="de-DE" sz="1200" u="none" strike="noStrike">
                <a:solidFill>
                  <a:schemeClr val="dk1"/>
                </a:solidFill>
                <a:latin typeface="IBM Plex Sans"/>
                <a:ea typeface="IBM Plex Sans"/>
                <a:cs typeface="IBM Plex Sans"/>
                <a:sym typeface="IBM Plex Sans"/>
              </a:rPr>
              <a:t>{{documents_B2}}</a:t>
            </a:r>
            <a:endParaRPr/>
          </a:p>
          <a:p>
            <a:pPr indent="0" lvl="0" marL="0" rtl="0" algn="l">
              <a:spcBef>
                <a:spcPts val="0"/>
              </a:spcBef>
              <a:spcAft>
                <a:spcPts val="0"/>
              </a:spcAft>
              <a:buNone/>
            </a:pPr>
            <a:r>
              <a:rPr b="0" i="0" lang="de-DE" sz="1200" u="none" strike="noStrike">
                <a:solidFill>
                  <a:schemeClr val="dk1"/>
                </a:solidFill>
                <a:latin typeface="IBM Plex Sans"/>
                <a:ea typeface="IBM Plex Sans"/>
                <a:cs typeface="IBM Plex Sans"/>
                <a:sym typeface="IBM Plex Sans"/>
              </a:rPr>
              <a:t>Hinzugefügt: Spalte zur Überwachung</a:t>
            </a:r>
            <a:endParaRPr/>
          </a:p>
        </p:txBody>
      </p:sp>
      <p:sp>
        <p:nvSpPr>
          <p:cNvPr id="88" name="Google Shape;8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e-DE"/>
              <a:t>Entfernt: </a:t>
            </a:r>
            <a:r>
              <a:rPr b="0" i="0" lang="de-DE" sz="1200" u="none" strike="noStrike">
                <a:solidFill>
                  <a:schemeClr val="dk1"/>
                </a:solidFill>
                <a:latin typeface="IBM Plex Sans"/>
                <a:ea typeface="IBM Plex Sans"/>
                <a:cs typeface="IBM Plex Sans"/>
                <a:sym typeface="IBM Plex Sans"/>
              </a:rPr>
              <a:t>{{Insert_CO2e_intensity}}</a:t>
            </a:r>
            <a:endParaRPr b="0"/>
          </a:p>
        </p:txBody>
      </p:sp>
      <p:sp>
        <p:nvSpPr>
          <p:cNvPr id="98" name="Google Shape;9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e-DE"/>
              <a:t>Entfernt: </a:t>
            </a:r>
            <a:r>
              <a:rPr b="0" i="0" lang="de-DE" sz="1200" u="none" strike="noStrike">
                <a:solidFill>
                  <a:schemeClr val="dk1"/>
                </a:solidFill>
                <a:latin typeface="IBM Plex Sans"/>
                <a:ea typeface="IBM Plex Sans"/>
                <a:cs typeface="IBM Plex Sans"/>
                <a:sym typeface="IBM Plex Sans"/>
              </a:rPr>
              <a:t>{{uploaded_documents_B4}}</a:t>
            </a:r>
            <a:endParaRPr b="0"/>
          </a:p>
        </p:txBody>
      </p:sp>
      <p:sp>
        <p:nvSpPr>
          <p:cNvPr id="109" name="Google Shape;10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e-DE"/>
              <a:t>Entfernt: </a:t>
            </a:r>
            <a:r>
              <a:rPr b="0" i="0" lang="de-DE" sz="1200" u="none" strike="noStrike">
                <a:solidFill>
                  <a:schemeClr val="dk1"/>
                </a:solidFill>
                <a:latin typeface="IBM Plex Sans"/>
                <a:ea typeface="IBM Plex Sans"/>
                <a:cs typeface="IBM Plex Sans"/>
                <a:sym typeface="IBM Plex Sans"/>
              </a:rPr>
              <a:t>{{waterstress_withdrawal}}</a:t>
            </a:r>
            <a:endParaRPr b="0"/>
          </a:p>
          <a:p>
            <a:pPr indent="0" lvl="0" marL="0" rtl="0" algn="l">
              <a:spcBef>
                <a:spcPts val="0"/>
              </a:spcBef>
              <a:spcAft>
                <a:spcPts val="0"/>
              </a:spcAft>
              <a:buNone/>
            </a:pPr>
            <a:br>
              <a:rPr lang="de-DE"/>
            </a:br>
            <a:endParaRPr/>
          </a:p>
        </p:txBody>
      </p:sp>
      <p:sp>
        <p:nvSpPr>
          <p:cNvPr id="122" name="Google Shape;12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e-DE"/>
              <a:t>Entfernt: </a:t>
            </a:r>
            <a:r>
              <a:rPr b="0" i="0" lang="de-DE" sz="1200" u="none" strike="noStrike">
                <a:solidFill>
                  <a:schemeClr val="dk1"/>
                </a:solidFill>
                <a:latin typeface="IBM Plex Sans"/>
                <a:ea typeface="IBM Plex Sans"/>
                <a:cs typeface="IBM Plex Sans"/>
                <a:sym typeface="IBM Plex Sans"/>
              </a:rPr>
              <a:t>{{omsatningsrate}}</a:t>
            </a:r>
            <a:endParaRPr b="0"/>
          </a:p>
        </p:txBody>
      </p:sp>
      <p:sp>
        <p:nvSpPr>
          <p:cNvPr id="148" name="Google Shape;14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de-DE"/>
              <a:t>Entfernt: </a:t>
            </a:r>
            <a:r>
              <a:rPr b="0" i="0" lang="de-DE" sz="1200" u="none" strike="noStrike">
                <a:solidFill>
                  <a:schemeClr val="dk1"/>
                </a:solidFill>
                <a:latin typeface="IBM Plex Sans"/>
                <a:ea typeface="IBM Plex Sans"/>
                <a:cs typeface="IBM Plex Sans"/>
                <a:sym typeface="IBM Plex Sans"/>
              </a:rPr>
              <a:t>{{men_gennemsnitstimer}}</a:t>
            </a:r>
            <a:endParaRPr b="0" i="0" sz="1200" u="none" strike="noStrike">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b="0" i="0" lang="de-DE" sz="1200" u="none" strike="noStrike">
                <a:solidFill>
                  <a:schemeClr val="dk1"/>
                </a:solidFill>
                <a:latin typeface="IBM Plex Sans"/>
                <a:ea typeface="IBM Plex Sans"/>
                <a:cs typeface="IBM Plex Sans"/>
                <a:sym typeface="IBM Plex Sans"/>
              </a:rPr>
              <a:t>{{women_gennemsnitstimer}}</a:t>
            </a:r>
            <a:endParaRPr b="0" i="0" sz="1200" u="none" strike="noStrike">
              <a:solidFill>
                <a:schemeClr val="dk1"/>
              </a:solidFill>
              <a:latin typeface="IBM Plex Sans"/>
              <a:ea typeface="IBM Plex Sans"/>
              <a:cs typeface="IBM Plex Sans"/>
              <a:sym typeface="IBM Plex Sans"/>
            </a:endParaRPr>
          </a:p>
          <a:p>
            <a:pPr indent="0" lvl="0" marL="0" rtl="0" algn="l">
              <a:spcBef>
                <a:spcPts val="0"/>
              </a:spcBef>
              <a:spcAft>
                <a:spcPts val="0"/>
              </a:spcAft>
              <a:buNone/>
            </a:pPr>
            <a:r>
              <a:rPr b="0" i="0" lang="de-DE" sz="1200" u="none" strike="noStrike">
                <a:solidFill>
                  <a:schemeClr val="dk1"/>
                </a:solidFill>
                <a:latin typeface="IBM Plex Sans"/>
                <a:ea typeface="IBM Plex Sans"/>
                <a:cs typeface="IBM Plex Sans"/>
                <a:sym typeface="IBM Plex Sans"/>
              </a:rPr>
              <a:t>{{other_gennemsnitstimer}}</a:t>
            </a:r>
            <a:endParaRPr b="0" i="0" sz="1200" u="none" strike="noStrike">
              <a:solidFill>
                <a:schemeClr val="dk1"/>
              </a:solidFill>
              <a:latin typeface="IBM Plex Sans"/>
              <a:ea typeface="IBM Plex Sans"/>
              <a:cs typeface="IBM Plex Sans"/>
              <a:sym typeface="IBM Plex Sans"/>
            </a:endParaRPr>
          </a:p>
          <a:p>
            <a:pPr indent="0" lvl="0" marL="0" rtl="0" algn="l">
              <a:spcBef>
                <a:spcPts val="0"/>
              </a:spcBef>
              <a:spcAft>
                <a:spcPts val="0"/>
              </a:spcAft>
              <a:buNone/>
            </a:pPr>
            <a:r>
              <a:t/>
            </a:r>
            <a:endParaRPr b="0"/>
          </a:p>
        </p:txBody>
      </p:sp>
      <p:sp>
        <p:nvSpPr>
          <p:cNvPr id="160" name="Google Shape;16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e-DE"/>
              <a:t>Hinzugefügt aus B8: </a:t>
            </a:r>
            <a:r>
              <a:rPr b="0" i="0" lang="de-DE" sz="1200" u="none" strike="noStrike">
                <a:solidFill>
                  <a:schemeClr val="dk1"/>
                </a:solidFill>
                <a:latin typeface="IBM Plex Sans"/>
                <a:ea typeface="IBM Plex Sans"/>
                <a:cs typeface="IBM Plex Sans"/>
                <a:sym typeface="IBM Plex Sans"/>
              </a:rPr>
              <a:t>{{omsatningsrate}}</a:t>
            </a:r>
            <a:endParaRPr b="0"/>
          </a:p>
        </p:txBody>
      </p:sp>
      <p:sp>
        <p:nvSpPr>
          <p:cNvPr id="266" name="Google Shape;266;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7" name="Google Shape;297;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de-DE"/>
              <a:t>Entfernt: EU benchmark exclusion</a:t>
            </a:r>
            <a:endParaRPr/>
          </a:p>
          <a:p>
            <a:pPr indent="0" lvl="0" marL="0" rtl="0" algn="l">
              <a:spcBef>
                <a:spcPts val="0"/>
              </a:spcBef>
              <a:spcAft>
                <a:spcPts val="0"/>
              </a:spcAft>
              <a:buNone/>
            </a:pPr>
            <a:r>
              <a:rPr lang="de-DE"/>
              <a:t>Entfernt: </a:t>
            </a:r>
            <a:endParaRPr/>
          </a:p>
        </p:txBody>
      </p:sp>
      <p:sp>
        <p:nvSpPr>
          <p:cNvPr id="298" name="Google Shape;298;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rside med billedebaggrund">
  <p:cSld name="Forside med billedebaggrund">
    <p:bg>
      <p:bgPr>
        <a:blipFill>
          <a:blip r:embed="rId2">
            <a:alphaModFix/>
          </a:blip>
          <a:stretch>
            <a:fillRect/>
          </a:stretch>
        </a:blipFill>
      </p:bgPr>
    </p:bg>
    <p:spTree>
      <p:nvGrpSpPr>
        <p:cNvPr id="15" name="Shape 15"/>
        <p:cNvGrpSpPr/>
        <p:nvPr/>
      </p:nvGrpSpPr>
      <p:grpSpPr>
        <a:xfrm>
          <a:off x="0" y="0"/>
          <a:ext cx="0" cy="0"/>
          <a:chOff x="0" y="0"/>
          <a:chExt cx="0" cy="0"/>
        </a:xfrm>
      </p:grpSpPr>
      <p:sp>
        <p:nvSpPr>
          <p:cNvPr id="16" name="Google Shape;16;p27"/>
          <p:cNvSpPr/>
          <p:nvPr/>
        </p:nvSpPr>
        <p:spPr>
          <a:xfrm>
            <a:off x="3422854" y="2136228"/>
            <a:ext cx="1394622" cy="2068689"/>
          </a:xfrm>
          <a:prstGeom prst="rect">
            <a:avLst/>
          </a:prstGeom>
          <a:noFill/>
          <a:ln>
            <a:noFill/>
          </a:ln>
        </p:spPr>
      </p:sp>
      <p:sp>
        <p:nvSpPr>
          <p:cNvPr id="17" name="Google Shape;17;p27"/>
          <p:cNvSpPr/>
          <p:nvPr/>
        </p:nvSpPr>
        <p:spPr>
          <a:xfrm>
            <a:off x="7013220" y="2085593"/>
            <a:ext cx="1781124" cy="2156098"/>
          </a:xfrm>
          <a:prstGeom prst="rect">
            <a:avLst/>
          </a:prstGeom>
          <a:noFill/>
          <a:ln>
            <a:noFill/>
          </a:ln>
        </p:spPr>
      </p:sp>
      <p:sp>
        <p:nvSpPr>
          <p:cNvPr id="18" name="Google Shape;18;p27"/>
          <p:cNvSpPr/>
          <p:nvPr/>
        </p:nvSpPr>
        <p:spPr>
          <a:xfrm>
            <a:off x="5103319" y="2085593"/>
            <a:ext cx="1658004" cy="2210671"/>
          </a:xfrm>
          <a:prstGeom prst="rect">
            <a:avLst/>
          </a:prstGeom>
          <a:noFill/>
          <a:ln>
            <a:noFill/>
          </a:ln>
        </p:spPr>
      </p:sp>
      <p:sp>
        <p:nvSpPr>
          <p:cNvPr id="19" name="Google Shape;19;p27"/>
          <p:cNvSpPr txBox="1"/>
          <p:nvPr>
            <p:ph idx="11" type="ftr"/>
          </p:nvPr>
        </p:nvSpPr>
        <p:spPr>
          <a:xfrm>
            <a:off x="3503727" y="4971382"/>
            <a:ext cx="5176690" cy="281214"/>
          </a:xfrm>
          <a:prstGeom prst="rect">
            <a:avLst/>
          </a:prstGeom>
          <a:noFill/>
          <a:ln>
            <a:noFill/>
          </a:ln>
        </p:spPr>
        <p:txBody>
          <a:bodyPr anchorCtr="0" anchor="t" bIns="0" lIns="0" spcFirstLastPara="1" rIns="0" wrap="square" tIns="0">
            <a:noAutofit/>
          </a:bodyPr>
          <a:lstStyle>
            <a:lvl1pPr lvl="0" algn="ctr">
              <a:spcBef>
                <a:spcPts val="0"/>
              </a:spcBef>
              <a:spcAft>
                <a:spcPts val="0"/>
              </a:spcAft>
              <a:buSzPts val="1400"/>
              <a:buNone/>
              <a:defRPr sz="14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7"/>
          <p:cNvSpPr txBox="1"/>
          <p:nvPr>
            <p:ph type="title"/>
          </p:nvPr>
        </p:nvSpPr>
        <p:spPr>
          <a:xfrm>
            <a:off x="1079500" y="4619652"/>
            <a:ext cx="10033000" cy="182736"/>
          </a:xfrm>
          <a:prstGeom prst="rect">
            <a:avLst/>
          </a:prstGeom>
          <a:noFill/>
          <a:ln>
            <a:noFill/>
          </a:ln>
        </p:spPr>
        <p:txBody>
          <a:bodyPr anchorCtr="0" anchor="t" bIns="0" lIns="0" spcFirstLastPara="1" rIns="0" wrap="square" tIns="0">
            <a:spAutoFit/>
          </a:bodyPr>
          <a:lstStyle>
            <a:lvl1pPr lvl="0" algn="ctr">
              <a:lnSpc>
                <a:spcPct val="90000"/>
              </a:lnSpc>
              <a:spcBef>
                <a:spcPts val="0"/>
              </a:spcBef>
              <a:spcAft>
                <a:spcPts val="0"/>
              </a:spcAft>
              <a:buClr>
                <a:schemeClr val="lt1"/>
              </a:buClr>
              <a:buSzPts val="1100"/>
              <a:buFont typeface="IBM Plex Sans"/>
              <a:buNone/>
              <a:defRPr sz="11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SG opgørelse">
  <p:cSld name="ESG opgørelse">
    <p:bg>
      <p:bgPr>
        <a:solidFill>
          <a:schemeClr val="lt1"/>
        </a:solidFill>
      </p:bgPr>
    </p:bg>
    <p:spTree>
      <p:nvGrpSpPr>
        <p:cNvPr id="21" name="Shape 21"/>
        <p:cNvGrpSpPr/>
        <p:nvPr/>
      </p:nvGrpSpPr>
      <p:grpSpPr>
        <a:xfrm>
          <a:off x="0" y="0"/>
          <a:ext cx="0" cy="0"/>
          <a:chOff x="0" y="0"/>
          <a:chExt cx="0" cy="0"/>
        </a:xfrm>
      </p:grpSpPr>
      <p:sp>
        <p:nvSpPr>
          <p:cNvPr id="22" name="Google Shape;22;p28"/>
          <p:cNvSpPr txBox="1"/>
          <p:nvPr>
            <p:ph idx="1" type="body"/>
          </p:nvPr>
        </p:nvSpPr>
        <p:spPr>
          <a:xfrm>
            <a:off x="518599" y="985520"/>
            <a:ext cx="4558013" cy="5364480"/>
          </a:xfrm>
          <a:prstGeom prst="rect">
            <a:avLst/>
          </a:prstGeom>
          <a:noFill/>
          <a:ln>
            <a:noFill/>
          </a:ln>
        </p:spPr>
        <p:txBody>
          <a:bodyPr anchorCtr="0" anchor="t" bIns="0" lIns="0" spcFirstLastPara="1" rIns="0" wrap="square" tIns="0">
            <a:noAutofit/>
          </a:bodyPr>
          <a:lstStyle>
            <a:lvl1pPr indent="-228600" lvl="0" marL="457200" algn="l">
              <a:lnSpc>
                <a:spcPct val="129000"/>
              </a:lnSpc>
              <a:spcBef>
                <a:spcPts val="0"/>
              </a:spcBef>
              <a:spcAft>
                <a:spcPts val="0"/>
              </a:spcAft>
              <a:buClr>
                <a:schemeClr val="dk2"/>
              </a:buClr>
              <a:buSzPts val="900"/>
              <a:buNone/>
              <a:defRPr sz="900">
                <a:solidFill>
                  <a:schemeClr val="dk2"/>
                </a:solidFill>
              </a:defRPr>
            </a:lvl1pPr>
            <a:lvl2pPr indent="-342900" lvl="1" marL="914400" algn="l">
              <a:lnSpc>
                <a:spcPct val="106000"/>
              </a:lnSpc>
              <a:spcBef>
                <a:spcPts val="0"/>
              </a:spcBef>
              <a:spcAft>
                <a:spcPts val="0"/>
              </a:spcAft>
              <a:buClr>
                <a:schemeClr val="dk2"/>
              </a:buClr>
              <a:buSzPts val="1800"/>
              <a:buChar char="•"/>
              <a:defRPr/>
            </a:lvl2pPr>
            <a:lvl3pPr indent="-342900" lvl="2" marL="1371600" algn="l">
              <a:lnSpc>
                <a:spcPct val="106000"/>
              </a:lnSpc>
              <a:spcBef>
                <a:spcPts val="0"/>
              </a:spcBef>
              <a:spcAft>
                <a:spcPts val="0"/>
              </a:spcAft>
              <a:buClr>
                <a:schemeClr val="dk2"/>
              </a:buClr>
              <a:buSzPts val="1800"/>
              <a:buChar char="•"/>
              <a:defRPr/>
            </a:lvl3pPr>
            <a:lvl4pPr indent="-342900" lvl="3" marL="1828800" algn="l">
              <a:lnSpc>
                <a:spcPct val="106000"/>
              </a:lnSpc>
              <a:spcBef>
                <a:spcPts val="0"/>
              </a:spcBef>
              <a:spcAft>
                <a:spcPts val="0"/>
              </a:spcAft>
              <a:buClr>
                <a:schemeClr val="dk2"/>
              </a:buClr>
              <a:buSzPts val="1800"/>
              <a:buChar char="•"/>
              <a:defRPr/>
            </a:lvl4pPr>
            <a:lvl5pPr indent="-342900" lvl="4" marL="2286000" algn="l">
              <a:lnSpc>
                <a:spcPct val="106000"/>
              </a:lnSpc>
              <a:spcBef>
                <a:spcPts val="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28"/>
          <p:cNvSpPr txBox="1"/>
          <p:nvPr>
            <p:ph idx="2" type="body"/>
          </p:nvPr>
        </p:nvSpPr>
        <p:spPr>
          <a:xfrm>
            <a:off x="6472011" y="979593"/>
            <a:ext cx="4558013" cy="5364479"/>
          </a:xfrm>
          <a:prstGeom prst="rect">
            <a:avLst/>
          </a:prstGeom>
          <a:noFill/>
          <a:ln>
            <a:noFill/>
          </a:ln>
        </p:spPr>
        <p:txBody>
          <a:bodyPr anchorCtr="0" anchor="t" bIns="0" lIns="0" spcFirstLastPara="1" rIns="0" wrap="square" tIns="0">
            <a:noAutofit/>
          </a:bodyPr>
          <a:lstStyle>
            <a:lvl1pPr indent="-228600" lvl="0" marL="457200" algn="l">
              <a:lnSpc>
                <a:spcPct val="129000"/>
              </a:lnSpc>
              <a:spcBef>
                <a:spcPts val="0"/>
              </a:spcBef>
              <a:spcAft>
                <a:spcPts val="0"/>
              </a:spcAft>
              <a:buClr>
                <a:schemeClr val="dk2"/>
              </a:buClr>
              <a:buSzPts val="900"/>
              <a:buNone/>
              <a:defRPr sz="900">
                <a:solidFill>
                  <a:schemeClr val="dk2"/>
                </a:solidFill>
              </a:defRPr>
            </a:lvl1pPr>
            <a:lvl2pPr indent="-342900" lvl="1" marL="914400" algn="l">
              <a:lnSpc>
                <a:spcPct val="106000"/>
              </a:lnSpc>
              <a:spcBef>
                <a:spcPts val="0"/>
              </a:spcBef>
              <a:spcAft>
                <a:spcPts val="0"/>
              </a:spcAft>
              <a:buClr>
                <a:schemeClr val="dk2"/>
              </a:buClr>
              <a:buSzPts val="1800"/>
              <a:buChar char="•"/>
              <a:defRPr/>
            </a:lvl2pPr>
            <a:lvl3pPr indent="-342900" lvl="2" marL="1371600" algn="l">
              <a:lnSpc>
                <a:spcPct val="106000"/>
              </a:lnSpc>
              <a:spcBef>
                <a:spcPts val="0"/>
              </a:spcBef>
              <a:spcAft>
                <a:spcPts val="0"/>
              </a:spcAft>
              <a:buClr>
                <a:schemeClr val="dk2"/>
              </a:buClr>
              <a:buSzPts val="1800"/>
              <a:buChar char="•"/>
              <a:defRPr/>
            </a:lvl3pPr>
            <a:lvl4pPr indent="-342900" lvl="3" marL="1828800" algn="l">
              <a:lnSpc>
                <a:spcPct val="106000"/>
              </a:lnSpc>
              <a:spcBef>
                <a:spcPts val="0"/>
              </a:spcBef>
              <a:spcAft>
                <a:spcPts val="0"/>
              </a:spcAft>
              <a:buClr>
                <a:schemeClr val="dk2"/>
              </a:buClr>
              <a:buSzPts val="1800"/>
              <a:buChar char="•"/>
              <a:defRPr/>
            </a:lvl4pPr>
            <a:lvl5pPr indent="-342900" lvl="4" marL="2286000" algn="l">
              <a:lnSpc>
                <a:spcPct val="106000"/>
              </a:lnSpc>
              <a:spcBef>
                <a:spcPts val="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28"/>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8"/>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DE"/>
              <a:t>‹#›</a:t>
            </a:fld>
            <a:endParaRPr/>
          </a:p>
        </p:txBody>
      </p:sp>
      <p:sp>
        <p:nvSpPr>
          <p:cNvPr id="26" name="Google Shape;26;p28"/>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7" name="Shape 27"/>
        <p:cNvGrpSpPr/>
        <p:nvPr/>
      </p:nvGrpSpPr>
      <p:grpSpPr>
        <a:xfrm>
          <a:off x="0" y="0"/>
          <a:ext cx="0" cy="0"/>
          <a:chOff x="0" y="0"/>
          <a:chExt cx="0" cy="0"/>
        </a:xfrm>
      </p:grpSpPr>
      <p:sp>
        <p:nvSpPr>
          <p:cNvPr id="28" name="Google Shape;28;p29"/>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9"/>
          <p:cNvSpPr txBox="1"/>
          <p:nvPr>
            <p:ph idx="10" type="dt"/>
          </p:nvPr>
        </p:nvSpPr>
        <p:spPr>
          <a:xfrm>
            <a:off x="268800" y="6450239"/>
            <a:ext cx="2743200" cy="153888"/>
          </a:xfrm>
          <a:prstGeom prst="rect">
            <a:avLst/>
          </a:prstGeom>
          <a:noFill/>
          <a:ln>
            <a:noFill/>
          </a:ln>
        </p:spPr>
        <p:txBody>
          <a:bodyPr anchorCtr="0" anchor="t"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9"/>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9"/>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fslutningsslide">
  <p:cSld name="Afslutningsslide">
    <p:bg>
      <p:bgPr>
        <a:solidFill>
          <a:srgbClr val="1B4529"/>
        </a:solidFill>
      </p:bgPr>
    </p:bg>
    <p:spTree>
      <p:nvGrpSpPr>
        <p:cNvPr id="32" name="Shape 32"/>
        <p:cNvGrpSpPr/>
        <p:nvPr/>
      </p:nvGrpSpPr>
      <p:grpSpPr>
        <a:xfrm>
          <a:off x="0" y="0"/>
          <a:ext cx="0" cy="0"/>
          <a:chOff x="0" y="0"/>
          <a:chExt cx="0" cy="0"/>
        </a:xfrm>
      </p:grpSpPr>
      <p:sp>
        <p:nvSpPr>
          <p:cNvPr id="33" name="Google Shape;33;p30"/>
          <p:cNvSpPr txBox="1"/>
          <p:nvPr>
            <p:ph idx="1" type="body"/>
          </p:nvPr>
        </p:nvSpPr>
        <p:spPr>
          <a:xfrm>
            <a:off x="1079500" y="1587501"/>
            <a:ext cx="10033000" cy="1460499"/>
          </a:xfrm>
          <a:prstGeom prst="rect">
            <a:avLst/>
          </a:prstGeom>
          <a:solidFill>
            <a:srgbClr val="1B4529"/>
          </a:solidFill>
          <a:ln>
            <a:noFill/>
          </a:ln>
        </p:spPr>
        <p:txBody>
          <a:bodyPr anchorCtr="0" anchor="t" bIns="0" lIns="0" spcFirstLastPara="1" rIns="0" wrap="square" tIns="0">
            <a:normAutofit/>
          </a:bodyPr>
          <a:lstStyle>
            <a:lvl1pPr indent="-228600" lvl="0" marL="457200" algn="l">
              <a:lnSpc>
                <a:spcPct val="100000"/>
              </a:lnSpc>
              <a:spcBef>
                <a:spcPts val="200"/>
              </a:spcBef>
              <a:spcAft>
                <a:spcPts val="0"/>
              </a:spcAft>
              <a:buClr>
                <a:schemeClr val="lt1"/>
              </a:buClr>
              <a:buSzPts val="1100"/>
              <a:buFont typeface="IBM Plex Sans"/>
              <a:buNone/>
              <a:defRPr sz="1100">
                <a:solidFill>
                  <a:schemeClr val="lt1"/>
                </a:solidFill>
              </a:defRPr>
            </a:lvl1pPr>
            <a:lvl2pPr indent="-228600" lvl="1" marL="914400" algn="l">
              <a:lnSpc>
                <a:spcPct val="106000"/>
              </a:lnSpc>
              <a:spcBef>
                <a:spcPts val="0"/>
              </a:spcBef>
              <a:spcAft>
                <a:spcPts val="0"/>
              </a:spcAft>
              <a:buClr>
                <a:schemeClr val="lt1"/>
              </a:buClr>
              <a:buSzPts val="1100"/>
              <a:buFont typeface="IBM Plex Sans"/>
              <a:buNone/>
              <a:defRPr sz="1100">
                <a:solidFill>
                  <a:schemeClr val="lt1"/>
                </a:solidFill>
              </a:defRPr>
            </a:lvl2pPr>
            <a:lvl3pPr indent="-298450" lvl="2" marL="1371600" algn="l">
              <a:lnSpc>
                <a:spcPct val="106000"/>
              </a:lnSpc>
              <a:spcBef>
                <a:spcPts val="0"/>
              </a:spcBef>
              <a:spcAft>
                <a:spcPts val="0"/>
              </a:spcAft>
              <a:buClr>
                <a:schemeClr val="lt1"/>
              </a:buClr>
              <a:buSzPts val="1100"/>
              <a:buChar char="•"/>
              <a:defRPr sz="1100">
                <a:solidFill>
                  <a:schemeClr val="lt1"/>
                </a:solidFill>
              </a:defRPr>
            </a:lvl3pPr>
            <a:lvl4pPr indent="-298450" lvl="3" marL="1828800" algn="l">
              <a:lnSpc>
                <a:spcPct val="106000"/>
              </a:lnSpc>
              <a:spcBef>
                <a:spcPts val="0"/>
              </a:spcBef>
              <a:spcAft>
                <a:spcPts val="0"/>
              </a:spcAft>
              <a:buClr>
                <a:schemeClr val="lt1"/>
              </a:buClr>
              <a:buSzPts val="1100"/>
              <a:buChar char="•"/>
              <a:defRPr sz="1100">
                <a:solidFill>
                  <a:schemeClr val="lt1"/>
                </a:solidFill>
              </a:defRPr>
            </a:lvl4pPr>
            <a:lvl5pPr indent="-298450" lvl="4" marL="2286000" algn="l">
              <a:lnSpc>
                <a:spcPct val="106000"/>
              </a:lnSpc>
              <a:spcBef>
                <a:spcPts val="0"/>
              </a:spcBef>
              <a:spcAft>
                <a:spcPts val="0"/>
              </a:spcAft>
              <a:buClr>
                <a:schemeClr val="lt1"/>
              </a:buClr>
              <a:buSzPts val="1100"/>
              <a:buChar char="•"/>
              <a:defRPr sz="1100">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30"/>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lt1"/>
              </a:buClr>
              <a:buSzPts val="1800"/>
              <a:buFont typeface="IBM Plex Sans"/>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0"/>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30"/>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lvl1pPr indent="0" lvl="0" marL="0" algn="r">
              <a:spcBef>
                <a:spcPts val="0"/>
              </a:spcBef>
              <a:buNone/>
              <a:defRPr sz="1000">
                <a:solidFill>
                  <a:schemeClr val="lt1"/>
                </a:solidFill>
                <a:latin typeface="IBM Plex Sans"/>
                <a:ea typeface="IBM Plex Sans"/>
                <a:cs typeface="IBM Plex Sans"/>
                <a:sym typeface="IBM Plex Sans"/>
              </a:defRPr>
            </a:lvl1pPr>
            <a:lvl2pPr indent="0" lvl="1" marL="0" algn="r">
              <a:spcBef>
                <a:spcPts val="0"/>
              </a:spcBef>
              <a:buNone/>
              <a:defRPr sz="1000">
                <a:solidFill>
                  <a:schemeClr val="lt1"/>
                </a:solidFill>
                <a:latin typeface="IBM Plex Sans"/>
                <a:ea typeface="IBM Plex Sans"/>
                <a:cs typeface="IBM Plex Sans"/>
                <a:sym typeface="IBM Plex Sans"/>
              </a:defRPr>
            </a:lvl2pPr>
            <a:lvl3pPr indent="0" lvl="2" marL="0" algn="r">
              <a:spcBef>
                <a:spcPts val="0"/>
              </a:spcBef>
              <a:buNone/>
              <a:defRPr sz="1000">
                <a:solidFill>
                  <a:schemeClr val="lt1"/>
                </a:solidFill>
                <a:latin typeface="IBM Plex Sans"/>
                <a:ea typeface="IBM Plex Sans"/>
                <a:cs typeface="IBM Plex Sans"/>
                <a:sym typeface="IBM Plex Sans"/>
              </a:defRPr>
            </a:lvl3pPr>
            <a:lvl4pPr indent="0" lvl="3" marL="0" algn="r">
              <a:spcBef>
                <a:spcPts val="0"/>
              </a:spcBef>
              <a:buNone/>
              <a:defRPr sz="1000">
                <a:solidFill>
                  <a:schemeClr val="lt1"/>
                </a:solidFill>
                <a:latin typeface="IBM Plex Sans"/>
                <a:ea typeface="IBM Plex Sans"/>
                <a:cs typeface="IBM Plex Sans"/>
                <a:sym typeface="IBM Plex Sans"/>
              </a:defRPr>
            </a:lvl4pPr>
            <a:lvl5pPr indent="0" lvl="4" marL="0" algn="r">
              <a:spcBef>
                <a:spcPts val="0"/>
              </a:spcBef>
              <a:buNone/>
              <a:defRPr sz="1000">
                <a:solidFill>
                  <a:schemeClr val="lt1"/>
                </a:solidFill>
                <a:latin typeface="IBM Plex Sans"/>
                <a:ea typeface="IBM Plex Sans"/>
                <a:cs typeface="IBM Plex Sans"/>
                <a:sym typeface="IBM Plex Sans"/>
              </a:defRPr>
            </a:lvl5pPr>
            <a:lvl6pPr indent="0" lvl="5" marL="0" algn="r">
              <a:spcBef>
                <a:spcPts val="0"/>
              </a:spcBef>
              <a:buNone/>
              <a:defRPr sz="1000">
                <a:solidFill>
                  <a:schemeClr val="lt1"/>
                </a:solidFill>
                <a:latin typeface="IBM Plex Sans"/>
                <a:ea typeface="IBM Plex Sans"/>
                <a:cs typeface="IBM Plex Sans"/>
                <a:sym typeface="IBM Plex Sans"/>
              </a:defRPr>
            </a:lvl6pPr>
            <a:lvl7pPr indent="0" lvl="6" marL="0" algn="r">
              <a:spcBef>
                <a:spcPts val="0"/>
              </a:spcBef>
              <a:buNone/>
              <a:defRPr sz="1000">
                <a:solidFill>
                  <a:schemeClr val="lt1"/>
                </a:solidFill>
                <a:latin typeface="IBM Plex Sans"/>
                <a:ea typeface="IBM Plex Sans"/>
                <a:cs typeface="IBM Plex Sans"/>
                <a:sym typeface="IBM Plex Sans"/>
              </a:defRPr>
            </a:lvl7pPr>
            <a:lvl8pPr indent="0" lvl="7" marL="0" algn="r">
              <a:spcBef>
                <a:spcPts val="0"/>
              </a:spcBef>
              <a:buNone/>
              <a:defRPr sz="1000">
                <a:solidFill>
                  <a:schemeClr val="lt1"/>
                </a:solidFill>
                <a:latin typeface="IBM Plex Sans"/>
                <a:ea typeface="IBM Plex Sans"/>
                <a:cs typeface="IBM Plex Sans"/>
                <a:sym typeface="IBM Plex Sans"/>
              </a:defRPr>
            </a:lvl8pPr>
            <a:lvl9pPr indent="0" lvl="8" marL="0" algn="r">
              <a:spcBef>
                <a:spcPts val="0"/>
              </a:spcBef>
              <a:buNone/>
              <a:defRPr sz="1000">
                <a:solidFill>
                  <a:schemeClr val="lt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 template">
  <p:cSld name="Intro template">
    <p:bg>
      <p:bgPr>
        <a:solidFill>
          <a:schemeClr val="lt1"/>
        </a:solidFill>
      </p:bgPr>
    </p:bg>
    <p:spTree>
      <p:nvGrpSpPr>
        <p:cNvPr id="37" name="Shape 37"/>
        <p:cNvGrpSpPr/>
        <p:nvPr/>
      </p:nvGrpSpPr>
      <p:grpSpPr>
        <a:xfrm>
          <a:off x="0" y="0"/>
          <a:ext cx="0" cy="0"/>
          <a:chOff x="0" y="0"/>
          <a:chExt cx="0" cy="0"/>
        </a:xfrm>
      </p:grpSpPr>
      <p:sp>
        <p:nvSpPr>
          <p:cNvPr id="38" name="Google Shape;38;p31"/>
          <p:cNvSpPr txBox="1"/>
          <p:nvPr>
            <p:ph idx="1" type="body"/>
          </p:nvPr>
        </p:nvSpPr>
        <p:spPr>
          <a:xfrm>
            <a:off x="508000" y="1015788"/>
            <a:ext cx="3513138" cy="5328285"/>
          </a:xfrm>
          <a:prstGeom prst="rect">
            <a:avLst/>
          </a:prstGeom>
          <a:noFill/>
          <a:ln>
            <a:noFill/>
          </a:ln>
        </p:spPr>
        <p:txBody>
          <a:bodyPr anchorCtr="0" anchor="t" bIns="0" lIns="0" spcFirstLastPara="1" rIns="0" wrap="square" tIns="0">
            <a:noAutofit/>
          </a:bodyPr>
          <a:lstStyle>
            <a:lvl1pPr indent="-228600" lvl="0" marL="457200" algn="l">
              <a:lnSpc>
                <a:spcPct val="106000"/>
              </a:lnSpc>
              <a:spcBef>
                <a:spcPts val="0"/>
              </a:spcBef>
              <a:spcAft>
                <a:spcPts val="0"/>
              </a:spcAft>
              <a:buClr>
                <a:schemeClr val="dk2"/>
              </a:buClr>
              <a:buSzPts val="900"/>
              <a:buNone/>
              <a:defRPr/>
            </a:lvl1pPr>
            <a:lvl2pPr indent="-342900" lvl="1" marL="914400" algn="l">
              <a:lnSpc>
                <a:spcPct val="106000"/>
              </a:lnSpc>
              <a:spcBef>
                <a:spcPts val="0"/>
              </a:spcBef>
              <a:spcAft>
                <a:spcPts val="0"/>
              </a:spcAft>
              <a:buClr>
                <a:schemeClr val="dk2"/>
              </a:buClr>
              <a:buSzPts val="1800"/>
              <a:buChar char="•"/>
              <a:defRPr/>
            </a:lvl2pPr>
            <a:lvl3pPr indent="-342900" lvl="2" marL="1371600" algn="l">
              <a:lnSpc>
                <a:spcPct val="106000"/>
              </a:lnSpc>
              <a:spcBef>
                <a:spcPts val="0"/>
              </a:spcBef>
              <a:spcAft>
                <a:spcPts val="0"/>
              </a:spcAft>
              <a:buClr>
                <a:schemeClr val="dk2"/>
              </a:buClr>
              <a:buSzPts val="1800"/>
              <a:buChar char="•"/>
              <a:defRPr/>
            </a:lvl3pPr>
            <a:lvl4pPr indent="-342900" lvl="3" marL="1828800" algn="l">
              <a:lnSpc>
                <a:spcPct val="106000"/>
              </a:lnSpc>
              <a:spcBef>
                <a:spcPts val="0"/>
              </a:spcBef>
              <a:spcAft>
                <a:spcPts val="0"/>
              </a:spcAft>
              <a:buClr>
                <a:schemeClr val="dk2"/>
              </a:buClr>
              <a:buSzPts val="1800"/>
              <a:buChar char="•"/>
              <a:defRPr/>
            </a:lvl4pPr>
            <a:lvl5pPr indent="-342900" lvl="4" marL="2286000" algn="l">
              <a:lnSpc>
                <a:spcPct val="106000"/>
              </a:lnSpc>
              <a:spcBef>
                <a:spcPts val="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31"/>
          <p:cNvSpPr txBox="1"/>
          <p:nvPr>
            <p:ph idx="2" type="body"/>
          </p:nvPr>
        </p:nvSpPr>
        <p:spPr>
          <a:xfrm>
            <a:off x="4338638" y="1015789"/>
            <a:ext cx="3513137" cy="5328284"/>
          </a:xfrm>
          <a:prstGeom prst="rect">
            <a:avLst/>
          </a:prstGeom>
          <a:noFill/>
          <a:ln>
            <a:noFill/>
          </a:ln>
        </p:spPr>
        <p:txBody>
          <a:bodyPr anchorCtr="0" anchor="t" bIns="0" lIns="0" spcFirstLastPara="1" rIns="0" wrap="square" tIns="0">
            <a:noAutofit/>
          </a:bodyPr>
          <a:lstStyle>
            <a:lvl1pPr indent="-228600" lvl="0" marL="457200" algn="l">
              <a:lnSpc>
                <a:spcPct val="106000"/>
              </a:lnSpc>
              <a:spcBef>
                <a:spcPts val="0"/>
              </a:spcBef>
              <a:spcAft>
                <a:spcPts val="0"/>
              </a:spcAft>
              <a:buClr>
                <a:schemeClr val="dk2"/>
              </a:buClr>
              <a:buSzPts val="900"/>
              <a:buNone/>
              <a:defRPr/>
            </a:lvl1pPr>
            <a:lvl2pPr indent="-342900" lvl="1" marL="914400" algn="l">
              <a:lnSpc>
                <a:spcPct val="106000"/>
              </a:lnSpc>
              <a:spcBef>
                <a:spcPts val="0"/>
              </a:spcBef>
              <a:spcAft>
                <a:spcPts val="0"/>
              </a:spcAft>
              <a:buClr>
                <a:schemeClr val="dk2"/>
              </a:buClr>
              <a:buSzPts val="1800"/>
              <a:buChar char="•"/>
              <a:defRPr/>
            </a:lvl2pPr>
            <a:lvl3pPr indent="-342900" lvl="2" marL="1371600" algn="l">
              <a:lnSpc>
                <a:spcPct val="106000"/>
              </a:lnSpc>
              <a:spcBef>
                <a:spcPts val="0"/>
              </a:spcBef>
              <a:spcAft>
                <a:spcPts val="0"/>
              </a:spcAft>
              <a:buClr>
                <a:schemeClr val="dk2"/>
              </a:buClr>
              <a:buSzPts val="1800"/>
              <a:buChar char="•"/>
              <a:defRPr/>
            </a:lvl3pPr>
            <a:lvl4pPr indent="-342900" lvl="3" marL="1828800" algn="l">
              <a:lnSpc>
                <a:spcPct val="106000"/>
              </a:lnSpc>
              <a:spcBef>
                <a:spcPts val="0"/>
              </a:spcBef>
              <a:spcAft>
                <a:spcPts val="0"/>
              </a:spcAft>
              <a:buClr>
                <a:schemeClr val="dk2"/>
              </a:buClr>
              <a:buSzPts val="1800"/>
              <a:buChar char="•"/>
              <a:defRPr/>
            </a:lvl4pPr>
            <a:lvl5pPr indent="-342900" lvl="4" marL="2286000" algn="l">
              <a:lnSpc>
                <a:spcPct val="106000"/>
              </a:lnSpc>
              <a:spcBef>
                <a:spcPts val="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31"/>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6"/>
          <p:cNvSpPr txBox="1"/>
          <p:nvPr>
            <p:ph idx="1" type="body"/>
          </p:nvPr>
        </p:nvSpPr>
        <p:spPr>
          <a:xfrm>
            <a:off x="518599" y="1015999"/>
            <a:ext cx="11165399" cy="5328073"/>
          </a:xfrm>
          <a:prstGeom prst="rect">
            <a:avLst/>
          </a:prstGeom>
          <a:noFill/>
          <a:ln>
            <a:noFill/>
          </a:ln>
        </p:spPr>
        <p:txBody>
          <a:bodyPr anchorCtr="0" anchor="t" bIns="0" lIns="0" spcFirstLastPara="1" rIns="0" wrap="square" tIns="0">
            <a:noAutofit/>
          </a:bodyPr>
          <a:lstStyle>
            <a:lvl1pPr indent="-285750" lvl="0" marL="457200" marR="0" rtl="0" algn="l">
              <a:lnSpc>
                <a:spcPct val="106000"/>
              </a:lnSpc>
              <a:spcBef>
                <a:spcPts val="0"/>
              </a:spcBef>
              <a:spcAft>
                <a:spcPts val="0"/>
              </a:spcAft>
              <a:buClr>
                <a:schemeClr val="dk2"/>
              </a:buClr>
              <a:buSzPts val="900"/>
              <a:buFont typeface="Arial"/>
              <a:buChar char="•"/>
              <a:defRPr b="0" i="0" sz="900" u="none" cap="none" strike="noStrike">
                <a:solidFill>
                  <a:schemeClr val="dk2"/>
                </a:solidFill>
                <a:latin typeface="IBM Plex Sans"/>
                <a:ea typeface="IBM Plex Sans"/>
                <a:cs typeface="IBM Plex Sans"/>
                <a:sym typeface="IBM Plex Sans"/>
              </a:defRPr>
            </a:lvl1pPr>
            <a:lvl2pPr indent="-285750" lvl="1" marL="914400" marR="0" rtl="0" algn="l">
              <a:lnSpc>
                <a:spcPct val="106000"/>
              </a:lnSpc>
              <a:spcBef>
                <a:spcPts val="0"/>
              </a:spcBef>
              <a:spcAft>
                <a:spcPts val="0"/>
              </a:spcAft>
              <a:buClr>
                <a:schemeClr val="dk2"/>
              </a:buClr>
              <a:buSzPts val="900"/>
              <a:buFont typeface="Arial"/>
              <a:buChar char="•"/>
              <a:defRPr b="0" i="0" sz="900" u="none" cap="none" strike="noStrike">
                <a:solidFill>
                  <a:schemeClr val="dk2"/>
                </a:solidFill>
                <a:latin typeface="IBM Plex Sans"/>
                <a:ea typeface="IBM Plex Sans"/>
                <a:cs typeface="IBM Plex Sans"/>
                <a:sym typeface="IBM Plex Sans"/>
              </a:defRPr>
            </a:lvl2pPr>
            <a:lvl3pPr indent="-285750" lvl="2" marL="1371600" marR="0" rtl="0" algn="l">
              <a:lnSpc>
                <a:spcPct val="106000"/>
              </a:lnSpc>
              <a:spcBef>
                <a:spcPts val="0"/>
              </a:spcBef>
              <a:spcAft>
                <a:spcPts val="0"/>
              </a:spcAft>
              <a:buClr>
                <a:schemeClr val="dk2"/>
              </a:buClr>
              <a:buSzPts val="900"/>
              <a:buFont typeface="Arial"/>
              <a:buChar char="•"/>
              <a:defRPr b="0" i="0" sz="900" u="none" cap="none" strike="noStrike">
                <a:solidFill>
                  <a:schemeClr val="dk2"/>
                </a:solidFill>
                <a:latin typeface="IBM Plex Sans"/>
                <a:ea typeface="IBM Plex Sans"/>
                <a:cs typeface="IBM Plex Sans"/>
                <a:sym typeface="IBM Plex Sans"/>
              </a:defRPr>
            </a:lvl3pPr>
            <a:lvl4pPr indent="-285750" lvl="3" marL="1828800" marR="0" rtl="0" algn="l">
              <a:lnSpc>
                <a:spcPct val="106000"/>
              </a:lnSpc>
              <a:spcBef>
                <a:spcPts val="0"/>
              </a:spcBef>
              <a:spcAft>
                <a:spcPts val="0"/>
              </a:spcAft>
              <a:buClr>
                <a:schemeClr val="dk2"/>
              </a:buClr>
              <a:buSzPts val="900"/>
              <a:buFont typeface="Arial"/>
              <a:buChar char="•"/>
              <a:defRPr b="0" i="0" sz="900" u="none" cap="none" strike="noStrike">
                <a:solidFill>
                  <a:schemeClr val="dk2"/>
                </a:solidFill>
                <a:latin typeface="IBM Plex Sans"/>
                <a:ea typeface="IBM Plex Sans"/>
                <a:cs typeface="IBM Plex Sans"/>
                <a:sym typeface="IBM Plex Sans"/>
              </a:defRPr>
            </a:lvl4pPr>
            <a:lvl5pPr indent="-285750" lvl="4" marL="2286000" marR="0" rtl="0" algn="l">
              <a:lnSpc>
                <a:spcPct val="106000"/>
              </a:lnSpc>
              <a:spcBef>
                <a:spcPts val="0"/>
              </a:spcBef>
              <a:spcAft>
                <a:spcPts val="0"/>
              </a:spcAft>
              <a:buClr>
                <a:schemeClr val="dk2"/>
              </a:buClr>
              <a:buSzPts val="900"/>
              <a:buFont typeface="Arial"/>
              <a:buChar char="•"/>
              <a:defRPr b="0" i="0" sz="900" u="none" cap="none" strike="noStrike">
                <a:solidFill>
                  <a:schemeClr val="dk2"/>
                </a:solidFill>
                <a:latin typeface="IBM Plex Sans"/>
                <a:ea typeface="IBM Plex Sans"/>
                <a:cs typeface="IBM Plex Sans"/>
                <a:sym typeface="IBM Plex Sa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IBM Plex Sans"/>
                <a:ea typeface="IBM Plex Sans"/>
                <a:cs typeface="IBM Plex Sans"/>
                <a:sym typeface="IBM Plex San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IBM Plex Sans"/>
                <a:ea typeface="IBM Plex Sans"/>
                <a:cs typeface="IBM Plex Sans"/>
                <a:sym typeface="IBM Plex San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IBM Plex Sans"/>
                <a:ea typeface="IBM Plex Sans"/>
                <a:cs typeface="IBM Plex Sans"/>
                <a:sym typeface="IBM Plex San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IBM Plex Sans"/>
                <a:ea typeface="IBM Plex Sans"/>
                <a:cs typeface="IBM Plex Sans"/>
                <a:sym typeface="IBM Plex Sans"/>
              </a:defRPr>
            </a:lvl9pPr>
          </a:lstStyle>
          <a:p/>
        </p:txBody>
      </p:sp>
      <p:sp>
        <p:nvSpPr>
          <p:cNvPr id="11" name="Google Shape;11;p26"/>
          <p:cNvSpPr txBox="1"/>
          <p:nvPr>
            <p:ph idx="10" type="dt"/>
          </p:nvPr>
        </p:nvSpPr>
        <p:spPr>
          <a:xfrm>
            <a:off x="268800" y="6450239"/>
            <a:ext cx="2743200" cy="153888"/>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000" u="none" cap="none" strike="noStrike">
                <a:solidFill>
                  <a:srgbClr val="5F7D69"/>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12" name="Google Shape;12;p26"/>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lvl1pPr lvl="0" marR="0" rtl="0" algn="r">
              <a:spcBef>
                <a:spcPts val="0"/>
              </a:spcBef>
              <a:spcAft>
                <a:spcPts val="0"/>
              </a:spcAft>
              <a:buSzPts val="1400"/>
              <a:buNone/>
              <a:defRPr b="1" i="0" sz="1000" u="none" cap="none" strike="noStrike">
                <a:solidFill>
                  <a:srgbClr val="5F7D69"/>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13" name="Google Shape;13;p26"/>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lvl1pPr indent="0" lvl="0" marL="0" marR="0" rtl="0" algn="r">
              <a:spcBef>
                <a:spcPts val="0"/>
              </a:spcBef>
              <a:buNone/>
              <a:defRPr b="0" i="0" sz="1000" u="none" cap="none" strike="noStrike">
                <a:solidFill>
                  <a:schemeClr val="dk2"/>
                </a:solidFill>
                <a:latin typeface="IBM Plex Sans"/>
                <a:ea typeface="IBM Plex Sans"/>
                <a:cs typeface="IBM Plex Sans"/>
                <a:sym typeface="IBM Plex Sans"/>
              </a:defRPr>
            </a:lvl1pPr>
            <a:lvl2pPr indent="0" lvl="1" marL="0" marR="0" rtl="0" algn="r">
              <a:spcBef>
                <a:spcPts val="0"/>
              </a:spcBef>
              <a:buNone/>
              <a:defRPr b="0" i="0" sz="1000" u="none" cap="none" strike="noStrike">
                <a:solidFill>
                  <a:schemeClr val="dk2"/>
                </a:solidFill>
                <a:latin typeface="IBM Plex Sans"/>
                <a:ea typeface="IBM Plex Sans"/>
                <a:cs typeface="IBM Plex Sans"/>
                <a:sym typeface="IBM Plex Sans"/>
              </a:defRPr>
            </a:lvl2pPr>
            <a:lvl3pPr indent="0" lvl="2" marL="0" marR="0" rtl="0" algn="r">
              <a:spcBef>
                <a:spcPts val="0"/>
              </a:spcBef>
              <a:buNone/>
              <a:defRPr b="0" i="0" sz="1000" u="none" cap="none" strike="noStrike">
                <a:solidFill>
                  <a:schemeClr val="dk2"/>
                </a:solidFill>
                <a:latin typeface="IBM Plex Sans"/>
                <a:ea typeface="IBM Plex Sans"/>
                <a:cs typeface="IBM Plex Sans"/>
                <a:sym typeface="IBM Plex Sans"/>
              </a:defRPr>
            </a:lvl3pPr>
            <a:lvl4pPr indent="0" lvl="3" marL="0" marR="0" rtl="0" algn="r">
              <a:spcBef>
                <a:spcPts val="0"/>
              </a:spcBef>
              <a:buNone/>
              <a:defRPr b="0" i="0" sz="1000" u="none" cap="none" strike="noStrike">
                <a:solidFill>
                  <a:schemeClr val="dk2"/>
                </a:solidFill>
                <a:latin typeface="IBM Plex Sans"/>
                <a:ea typeface="IBM Plex Sans"/>
                <a:cs typeface="IBM Plex Sans"/>
                <a:sym typeface="IBM Plex Sans"/>
              </a:defRPr>
            </a:lvl4pPr>
            <a:lvl5pPr indent="0" lvl="4" marL="0" marR="0" rtl="0" algn="r">
              <a:spcBef>
                <a:spcPts val="0"/>
              </a:spcBef>
              <a:buNone/>
              <a:defRPr b="0" i="0" sz="1000" u="none" cap="none" strike="noStrike">
                <a:solidFill>
                  <a:schemeClr val="dk2"/>
                </a:solidFill>
                <a:latin typeface="IBM Plex Sans"/>
                <a:ea typeface="IBM Plex Sans"/>
                <a:cs typeface="IBM Plex Sans"/>
                <a:sym typeface="IBM Plex Sans"/>
              </a:defRPr>
            </a:lvl5pPr>
            <a:lvl6pPr indent="0" lvl="5" marL="0" marR="0" rtl="0" algn="r">
              <a:spcBef>
                <a:spcPts val="0"/>
              </a:spcBef>
              <a:buNone/>
              <a:defRPr b="0" i="0" sz="1000" u="none" cap="none" strike="noStrike">
                <a:solidFill>
                  <a:schemeClr val="dk2"/>
                </a:solidFill>
                <a:latin typeface="IBM Plex Sans"/>
                <a:ea typeface="IBM Plex Sans"/>
                <a:cs typeface="IBM Plex Sans"/>
                <a:sym typeface="IBM Plex Sans"/>
              </a:defRPr>
            </a:lvl6pPr>
            <a:lvl7pPr indent="0" lvl="6" marL="0" marR="0" rtl="0" algn="r">
              <a:spcBef>
                <a:spcPts val="0"/>
              </a:spcBef>
              <a:buNone/>
              <a:defRPr b="0" i="0" sz="1000" u="none" cap="none" strike="noStrike">
                <a:solidFill>
                  <a:schemeClr val="dk2"/>
                </a:solidFill>
                <a:latin typeface="IBM Plex Sans"/>
                <a:ea typeface="IBM Plex Sans"/>
                <a:cs typeface="IBM Plex Sans"/>
                <a:sym typeface="IBM Plex Sans"/>
              </a:defRPr>
            </a:lvl7pPr>
            <a:lvl8pPr indent="0" lvl="7" marL="0" marR="0" rtl="0" algn="r">
              <a:spcBef>
                <a:spcPts val="0"/>
              </a:spcBef>
              <a:buNone/>
              <a:defRPr b="0" i="0" sz="1000" u="none" cap="none" strike="noStrike">
                <a:solidFill>
                  <a:schemeClr val="dk2"/>
                </a:solidFill>
                <a:latin typeface="IBM Plex Sans"/>
                <a:ea typeface="IBM Plex Sans"/>
                <a:cs typeface="IBM Plex Sans"/>
                <a:sym typeface="IBM Plex Sans"/>
              </a:defRPr>
            </a:lvl8pPr>
            <a:lvl9pPr indent="0" lvl="8" marL="0" marR="0" rtl="0" algn="r">
              <a:spcBef>
                <a:spcPts val="0"/>
              </a:spcBef>
              <a:buNone/>
              <a:defRPr b="0" i="0" sz="1000" u="none" cap="none" strike="noStrike">
                <a:solidFill>
                  <a:schemeClr val="dk2"/>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de-DE"/>
              <a:t>‹#›</a:t>
            </a:fld>
            <a:endParaRPr/>
          </a:p>
        </p:txBody>
      </p:sp>
      <p:sp>
        <p:nvSpPr>
          <p:cNvPr id="14" name="Google Shape;14;p26"/>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lvl1pPr lvl="0" marR="0" rtl="0" algn="l">
              <a:lnSpc>
                <a:spcPct val="90000"/>
              </a:lnSpc>
              <a:spcBef>
                <a:spcPts val="0"/>
              </a:spcBef>
              <a:spcAft>
                <a:spcPts val="0"/>
              </a:spcAft>
              <a:buClr>
                <a:schemeClr val="dk2"/>
              </a:buClr>
              <a:buSzPts val="1800"/>
              <a:buFont typeface="IBM Plex Sans"/>
              <a:buNone/>
              <a:defRPr b="1" i="0" sz="1800" u="none" cap="none" strike="noStrike">
                <a:solidFill>
                  <a:schemeClr val="dk2"/>
                </a:solidFill>
                <a:latin typeface="IBM Plex Sans"/>
                <a:ea typeface="IBM Plex Sans"/>
                <a:cs typeface="IBM Plex Sans"/>
                <a:sym typeface="IBM Plex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15:clr>
            <a:srgbClr val="F26B43"/>
          </p15:clr>
        </p15:guide>
        <p15:guide id="2" pos="7680">
          <p15:clr>
            <a:srgbClr val="F26B43"/>
          </p15:clr>
        </p15:guide>
        <p15:guide id="3" pos="320">
          <p15:clr>
            <a:srgbClr val="F26B43"/>
          </p15:clr>
        </p15:guide>
        <p15:guide id="4" pos="2533">
          <p15:clr>
            <a:srgbClr val="F26B43"/>
          </p15:clr>
        </p15:guide>
        <p15:guide id="5" pos="2733">
          <p15:clr>
            <a:srgbClr val="F26B43"/>
          </p15:clr>
        </p15:guide>
        <p15:guide id="6" pos="4946">
          <p15:clr>
            <a:srgbClr val="F26B43"/>
          </p15:clr>
        </p15:guide>
        <p15:guide id="7" pos="5146">
          <p15:clr>
            <a:srgbClr val="F26B43"/>
          </p15:clr>
        </p15:guide>
        <p15:guide id="8" pos="7360">
          <p15:clr>
            <a:srgbClr val="F26B43"/>
          </p15:clr>
        </p15:guide>
        <p15:guide id="9" orient="horz">
          <p15:clr>
            <a:srgbClr val="F26B43"/>
          </p15:clr>
        </p15:guide>
        <p15:guide id="10" orient="horz" pos="4320">
          <p15:clr>
            <a:srgbClr val="F26B43"/>
          </p15:clr>
        </p15:guide>
        <p15:guide id="11" orient="horz" pos="320">
          <p15:clr>
            <a:srgbClr val="F26B43"/>
          </p15:clr>
        </p15:guide>
        <p15:guide id="12" orient="horz" pos="4000">
          <p15:clr>
            <a:srgbClr val="F26B43"/>
          </p15:clr>
        </p15:guide>
        <p15:guide id="13" orient="horz" pos="6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p1"/>
          <p:cNvSpPr txBox="1"/>
          <p:nvPr>
            <p:ph type="title"/>
          </p:nvPr>
        </p:nvSpPr>
        <p:spPr>
          <a:xfrm>
            <a:off x="1079500" y="4619652"/>
            <a:ext cx="10033000" cy="152349"/>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Clr>
                <a:schemeClr val="lt1"/>
              </a:buClr>
              <a:buSzPts val="1100"/>
              <a:buFont typeface="IBM Plex Sans"/>
              <a:buNone/>
            </a:pPr>
            <a:r>
              <a:rPr lang="de-DE"/>
              <a:t>ESG-BERICHT {{insert_year}}</a:t>
            </a:r>
            <a:endParaRPr/>
          </a:p>
        </p:txBody>
      </p:sp>
      <p:sp>
        <p:nvSpPr>
          <p:cNvPr id="47" name="Google Shape;47;p1"/>
          <p:cNvSpPr txBox="1"/>
          <p:nvPr>
            <p:ph idx="11" type="ftr"/>
          </p:nvPr>
        </p:nvSpPr>
        <p:spPr>
          <a:xfrm>
            <a:off x="3503727" y="4971382"/>
            <a:ext cx="5176690" cy="281214"/>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de-DE"/>
              <a:t>{{company_name}}</a:t>
            </a:r>
            <a:endParaRPr b="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2"/>
          <p:cNvSpPr txBox="1"/>
          <p:nvPr>
            <p:ph type="title"/>
          </p:nvPr>
        </p:nvSpPr>
        <p:spPr>
          <a:xfrm>
            <a:off x="518600" y="513927"/>
            <a:ext cx="11165400" cy="498598"/>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e-DE"/>
              <a:t>ESG-Bericht</a:t>
            </a:r>
            <a:r>
              <a:rPr b="0" lang="de-DE">
                <a:solidFill>
                  <a:schemeClr val="accent2"/>
                </a:solidFill>
              </a:rPr>
              <a:t> </a:t>
            </a:r>
            <a:br>
              <a:rPr b="0" lang="de-DE">
                <a:solidFill>
                  <a:schemeClr val="accent2"/>
                </a:solidFill>
              </a:rPr>
            </a:br>
            <a:endParaRPr b="0">
              <a:solidFill>
                <a:schemeClr val="accent2"/>
              </a:solidFill>
            </a:endParaRPr>
          </a:p>
        </p:txBody>
      </p:sp>
      <p:sp>
        <p:nvSpPr>
          <p:cNvPr id="54" name="Google Shape;54;p2"/>
          <p:cNvSpPr txBox="1"/>
          <p:nvPr>
            <p:ph idx="1" type="body"/>
          </p:nvPr>
        </p:nvSpPr>
        <p:spPr>
          <a:xfrm>
            <a:off x="518597" y="985520"/>
            <a:ext cx="7845473" cy="536448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Clr>
                <a:schemeClr val="dk2"/>
              </a:buClr>
              <a:buSzPts val="1200"/>
              <a:buNone/>
            </a:pPr>
            <a:r>
              <a:t/>
            </a:r>
            <a:endParaRPr b="1" sz="1200">
              <a:latin typeface="IBM Plex Sans"/>
              <a:ea typeface="IBM Plex Sans"/>
              <a:cs typeface="IBM Plex Sans"/>
              <a:sym typeface="IBM Plex Sans"/>
            </a:endParaRPr>
          </a:p>
          <a:p>
            <a:pPr indent="0" lvl="0" marL="0" rtl="0" algn="l">
              <a:lnSpc>
                <a:spcPct val="150000"/>
              </a:lnSpc>
              <a:spcBef>
                <a:spcPts val="0"/>
              </a:spcBef>
              <a:spcAft>
                <a:spcPts val="0"/>
              </a:spcAft>
              <a:buClr>
                <a:schemeClr val="dk2"/>
              </a:buClr>
              <a:buSzPts val="1200"/>
              <a:buNone/>
            </a:pPr>
            <a:r>
              <a:t/>
            </a:r>
            <a:endParaRPr b="1" sz="1200">
              <a:latin typeface="IBM Plex Sans"/>
              <a:ea typeface="IBM Plex Sans"/>
              <a:cs typeface="IBM Plex Sans"/>
              <a:sym typeface="IBM Plex Sans"/>
            </a:endParaRPr>
          </a:p>
          <a:p>
            <a:pPr indent="-228600" lvl="0" marL="228600" rtl="0" algn="l">
              <a:lnSpc>
                <a:spcPct val="150000"/>
              </a:lnSpc>
              <a:spcBef>
                <a:spcPts val="0"/>
              </a:spcBef>
              <a:spcAft>
                <a:spcPts val="0"/>
              </a:spcAft>
              <a:buClr>
                <a:schemeClr val="dk2"/>
              </a:buClr>
              <a:buSzPts val="1200"/>
              <a:buFont typeface="IBM Plex Sans"/>
              <a:buAutoNum type="arabicPeriod"/>
            </a:pPr>
            <a:r>
              <a:rPr b="1" lang="de-DE" sz="1200">
                <a:latin typeface="IBM Plex Sans"/>
                <a:ea typeface="IBM Plex Sans"/>
                <a:cs typeface="IBM Plex Sans"/>
                <a:sym typeface="IBM Plex Sans"/>
              </a:rPr>
              <a:t>Allgemeine Informationen				</a:t>
            </a:r>
            <a:endParaRPr sz="1200">
              <a:solidFill>
                <a:schemeClr val="accent2"/>
              </a:solidFill>
              <a:latin typeface="IBM Plex Sans"/>
              <a:ea typeface="IBM Plex Sans"/>
              <a:cs typeface="IBM Plex Sans"/>
              <a:sym typeface="IBM Plex Sans"/>
            </a:endParaRPr>
          </a:p>
          <a:p>
            <a:pPr indent="-228600" lvl="0" marL="228600" rtl="0" algn="l">
              <a:lnSpc>
                <a:spcPct val="150000"/>
              </a:lnSpc>
              <a:spcBef>
                <a:spcPts val="0"/>
              </a:spcBef>
              <a:spcAft>
                <a:spcPts val="0"/>
              </a:spcAft>
              <a:buClr>
                <a:schemeClr val="dk2"/>
              </a:buClr>
              <a:buSzPts val="1200"/>
              <a:buFont typeface="IBM Plex Sans"/>
              <a:buAutoNum type="arabicPeriod"/>
            </a:pPr>
            <a:r>
              <a:rPr b="1" lang="de-DE" sz="1200">
                <a:solidFill>
                  <a:schemeClr val="dk2"/>
                </a:solidFill>
                <a:latin typeface="IBM Plex Sans"/>
                <a:ea typeface="IBM Plex Sans"/>
                <a:cs typeface="IBM Plex Sans"/>
                <a:sym typeface="IBM Plex Sans"/>
              </a:rPr>
              <a:t>Verfahrensweisen, Richtlinien und Initiativen für eine nachhaltigere Wirtschaft	</a:t>
            </a:r>
            <a:endParaRPr b="1" sz="1200">
              <a:latin typeface="IBM Plex Sans"/>
              <a:ea typeface="IBM Plex Sans"/>
              <a:cs typeface="IBM Plex Sans"/>
              <a:sym typeface="IBM Plex Sans"/>
            </a:endParaRPr>
          </a:p>
          <a:p>
            <a:pPr indent="-228600" lvl="0" marL="228600" rtl="0" algn="l">
              <a:lnSpc>
                <a:spcPct val="150000"/>
              </a:lnSpc>
              <a:spcBef>
                <a:spcPts val="0"/>
              </a:spcBef>
              <a:spcAft>
                <a:spcPts val="0"/>
              </a:spcAft>
              <a:buClr>
                <a:schemeClr val="dk2"/>
              </a:buClr>
              <a:buSzPts val="1200"/>
              <a:buFont typeface="IBM Plex Sans"/>
              <a:buAutoNum type="arabicPeriod"/>
            </a:pPr>
            <a:r>
              <a:rPr b="1" lang="de-DE" sz="1200">
                <a:latin typeface="IBM Plex Sans"/>
                <a:ea typeface="IBM Plex Sans"/>
                <a:cs typeface="IBM Plex Sans"/>
                <a:sym typeface="IBM Plex Sans"/>
              </a:rPr>
              <a:t>Energieverbrauch				</a:t>
            </a:r>
            <a:endParaRPr sz="1200">
              <a:latin typeface="IBM Plex Sans"/>
              <a:ea typeface="IBM Plex Sans"/>
              <a:cs typeface="IBM Plex Sans"/>
              <a:sym typeface="IBM Plex Sans"/>
            </a:endParaRPr>
          </a:p>
          <a:p>
            <a:pPr indent="-228600" lvl="0" marL="228600" rtl="0" algn="l">
              <a:lnSpc>
                <a:spcPct val="150000"/>
              </a:lnSpc>
              <a:spcBef>
                <a:spcPts val="0"/>
              </a:spcBef>
              <a:spcAft>
                <a:spcPts val="0"/>
              </a:spcAft>
              <a:buClr>
                <a:schemeClr val="dk2"/>
              </a:buClr>
              <a:buSzPts val="1200"/>
              <a:buFont typeface="IBM Plex Sans"/>
              <a:buAutoNum type="arabicPeriod"/>
            </a:pPr>
            <a:r>
              <a:rPr b="1" lang="de-DE" sz="1200">
                <a:latin typeface="IBM Plex Sans"/>
                <a:ea typeface="IBM Plex Sans"/>
                <a:cs typeface="IBM Plex Sans"/>
                <a:sym typeface="IBM Plex Sans"/>
              </a:rPr>
              <a:t>CO₂e-Emissionen 				</a:t>
            </a:r>
            <a:endParaRPr sz="1200">
              <a:latin typeface="IBM Plex Sans"/>
              <a:ea typeface="IBM Plex Sans"/>
              <a:cs typeface="IBM Plex Sans"/>
              <a:sym typeface="IBM Plex Sans"/>
            </a:endParaRPr>
          </a:p>
          <a:p>
            <a:pPr indent="-228600" lvl="0" marL="228600" rtl="0" algn="l">
              <a:lnSpc>
                <a:spcPct val="150000"/>
              </a:lnSpc>
              <a:spcBef>
                <a:spcPts val="0"/>
              </a:spcBef>
              <a:spcAft>
                <a:spcPts val="0"/>
              </a:spcAft>
              <a:buClr>
                <a:schemeClr val="dk2"/>
              </a:buClr>
              <a:buSzPts val="1200"/>
              <a:buFont typeface="IBM Plex Sans"/>
              <a:buAutoNum type="arabicPeriod"/>
            </a:pPr>
            <a:r>
              <a:rPr b="1" lang="de-DE" sz="1200">
                <a:latin typeface="IBM Plex Sans"/>
                <a:ea typeface="IBM Plex Sans"/>
                <a:cs typeface="IBM Plex Sans"/>
                <a:sym typeface="IBM Plex Sans"/>
              </a:rPr>
              <a:t>Luft-, Wasser- und Bodenverschmutzung</a:t>
            </a:r>
            <a:r>
              <a:rPr lang="de-DE" sz="1200">
                <a:latin typeface="IBM Plex Sans"/>
                <a:ea typeface="IBM Plex Sans"/>
                <a:cs typeface="IBM Plex Sans"/>
                <a:sym typeface="IBM Plex Sans"/>
              </a:rPr>
              <a:t>				</a:t>
            </a:r>
            <a:endParaRPr/>
          </a:p>
          <a:p>
            <a:pPr indent="-228600" lvl="0" marL="228600" rtl="0" algn="l">
              <a:lnSpc>
                <a:spcPct val="150000"/>
              </a:lnSpc>
              <a:spcBef>
                <a:spcPts val="0"/>
              </a:spcBef>
              <a:spcAft>
                <a:spcPts val="0"/>
              </a:spcAft>
              <a:buClr>
                <a:schemeClr val="dk2"/>
              </a:buClr>
              <a:buSzPts val="1200"/>
              <a:buFont typeface="IBM Plex Sans"/>
              <a:buAutoNum type="arabicPeriod"/>
            </a:pPr>
            <a:r>
              <a:rPr b="1" lang="de-DE" sz="1200">
                <a:latin typeface="IBM Plex Sans"/>
                <a:ea typeface="IBM Plex Sans"/>
                <a:cs typeface="IBM Plex Sans"/>
                <a:sym typeface="IBM Plex Sans"/>
              </a:rPr>
              <a:t>Biodiversität</a:t>
            </a:r>
            <a:r>
              <a:rPr lang="de-DE" sz="1200">
                <a:latin typeface="IBM Plex Sans"/>
                <a:ea typeface="IBM Plex Sans"/>
                <a:cs typeface="IBM Plex Sans"/>
                <a:sym typeface="IBM Plex Sans"/>
              </a:rPr>
              <a:t>				</a:t>
            </a:r>
            <a:endParaRPr/>
          </a:p>
          <a:p>
            <a:pPr indent="-228600" lvl="0" marL="228600" rtl="0" algn="l">
              <a:lnSpc>
                <a:spcPct val="150000"/>
              </a:lnSpc>
              <a:spcBef>
                <a:spcPts val="0"/>
              </a:spcBef>
              <a:spcAft>
                <a:spcPts val="0"/>
              </a:spcAft>
              <a:buClr>
                <a:schemeClr val="dk2"/>
              </a:buClr>
              <a:buSzPts val="1200"/>
              <a:buFont typeface="IBM Plex Sans"/>
              <a:buAutoNum type="arabicPeriod"/>
            </a:pPr>
            <a:r>
              <a:rPr b="1" lang="de-DE" sz="1200">
                <a:latin typeface="IBM Plex Sans"/>
                <a:ea typeface="IBM Plex Sans"/>
                <a:cs typeface="IBM Plex Sans"/>
                <a:sym typeface="IBM Plex Sans"/>
              </a:rPr>
              <a:t>Wasser	</a:t>
            </a:r>
            <a:r>
              <a:rPr lang="de-DE" sz="1200">
                <a:latin typeface="IBM Plex Sans"/>
                <a:ea typeface="IBM Plex Sans"/>
                <a:cs typeface="IBM Plex Sans"/>
                <a:sym typeface="IBM Plex Sans"/>
              </a:rPr>
              <a:t> 			</a:t>
            </a:r>
            <a:endParaRPr/>
          </a:p>
          <a:p>
            <a:pPr indent="-228600" lvl="0" marL="228600" rtl="0" algn="l">
              <a:lnSpc>
                <a:spcPct val="150000"/>
              </a:lnSpc>
              <a:spcBef>
                <a:spcPts val="0"/>
              </a:spcBef>
              <a:spcAft>
                <a:spcPts val="0"/>
              </a:spcAft>
              <a:buClr>
                <a:schemeClr val="dk2"/>
              </a:buClr>
              <a:buSzPts val="1200"/>
              <a:buFont typeface="IBM Plex Sans"/>
              <a:buAutoNum type="arabicPeriod"/>
            </a:pPr>
            <a:r>
              <a:rPr b="1" lang="de-DE" sz="1200">
                <a:latin typeface="IBM Plex Sans"/>
                <a:ea typeface="IBM Plex Sans"/>
                <a:cs typeface="IBM Plex Sans"/>
                <a:sym typeface="IBM Plex Sans"/>
              </a:rPr>
              <a:t>Ressourcennutzung, Kreislaufwirtschaft und Abfallbewirtschaftung</a:t>
            </a:r>
            <a:r>
              <a:rPr lang="de-DE" sz="1200">
                <a:latin typeface="IBM Plex Sans"/>
                <a:ea typeface="IBM Plex Sans"/>
                <a:cs typeface="IBM Plex Sans"/>
                <a:sym typeface="IBM Plex Sans"/>
              </a:rPr>
              <a:t>				</a:t>
            </a:r>
            <a:endParaRPr sz="1200">
              <a:solidFill>
                <a:schemeClr val="accent2"/>
              </a:solidFill>
              <a:latin typeface="IBM Plex Sans"/>
              <a:ea typeface="IBM Plex Sans"/>
              <a:cs typeface="IBM Plex Sans"/>
              <a:sym typeface="IBM Plex Sans"/>
            </a:endParaRPr>
          </a:p>
          <a:p>
            <a:pPr indent="-228600" lvl="0" marL="228600" rtl="0" algn="l">
              <a:lnSpc>
                <a:spcPct val="150000"/>
              </a:lnSpc>
              <a:spcBef>
                <a:spcPts val="0"/>
              </a:spcBef>
              <a:spcAft>
                <a:spcPts val="0"/>
              </a:spcAft>
              <a:buClr>
                <a:schemeClr val="dk2"/>
              </a:buClr>
              <a:buSzPts val="1200"/>
              <a:buFont typeface="IBM Plex Sans"/>
              <a:buAutoNum type="arabicPeriod"/>
            </a:pPr>
            <a:r>
              <a:rPr b="1" lang="de-DE" sz="1200">
                <a:latin typeface="IBM Plex Sans"/>
                <a:ea typeface="IBM Plex Sans"/>
                <a:cs typeface="IBM Plex Sans"/>
                <a:sym typeface="IBM Plex Sans"/>
              </a:rPr>
              <a:t>Eigene Arbeitskräfte: Allgemeine Merkmale</a:t>
            </a:r>
            <a:r>
              <a:rPr lang="de-DE" sz="1200">
                <a:latin typeface="IBM Plex Sans"/>
                <a:ea typeface="IBM Plex Sans"/>
                <a:cs typeface="IBM Plex Sans"/>
                <a:sym typeface="IBM Plex Sans"/>
              </a:rPr>
              <a:t>				</a:t>
            </a:r>
            <a:endParaRPr sz="1200">
              <a:solidFill>
                <a:schemeClr val="accent2"/>
              </a:solidFill>
              <a:latin typeface="IBM Plex Sans"/>
              <a:ea typeface="IBM Plex Sans"/>
              <a:cs typeface="IBM Plex Sans"/>
              <a:sym typeface="IBM Plex Sans"/>
            </a:endParaRPr>
          </a:p>
          <a:p>
            <a:pPr indent="-228600" lvl="0" marL="228600" rtl="0" algn="l">
              <a:lnSpc>
                <a:spcPct val="150000"/>
              </a:lnSpc>
              <a:spcBef>
                <a:spcPts val="0"/>
              </a:spcBef>
              <a:spcAft>
                <a:spcPts val="0"/>
              </a:spcAft>
              <a:buClr>
                <a:schemeClr val="dk2"/>
              </a:buClr>
              <a:buSzPts val="1200"/>
              <a:buFont typeface="IBM Plex Sans"/>
              <a:buAutoNum type="arabicPeriod"/>
            </a:pPr>
            <a:r>
              <a:rPr b="1" lang="de-DE" sz="1200">
                <a:latin typeface="IBM Plex Sans"/>
                <a:ea typeface="IBM Plex Sans"/>
                <a:cs typeface="IBM Plex Sans"/>
                <a:sym typeface="IBM Plex Sans"/>
              </a:rPr>
              <a:t>Eigene Arbeitskräfte: Gesundheit &amp; Sicherheit</a:t>
            </a:r>
            <a:r>
              <a:rPr lang="de-DE" sz="1200">
                <a:latin typeface="IBM Plex Sans"/>
                <a:ea typeface="IBM Plex Sans"/>
                <a:cs typeface="IBM Plex Sans"/>
                <a:sym typeface="IBM Plex Sans"/>
              </a:rPr>
              <a:t>				</a:t>
            </a:r>
            <a:endParaRPr sz="1200">
              <a:solidFill>
                <a:schemeClr val="accent2"/>
              </a:solidFill>
              <a:latin typeface="IBM Plex Sans"/>
              <a:ea typeface="IBM Plex Sans"/>
              <a:cs typeface="IBM Plex Sans"/>
              <a:sym typeface="IBM Plex Sans"/>
            </a:endParaRPr>
          </a:p>
          <a:p>
            <a:pPr indent="-228600" lvl="0" marL="228600" rtl="0" algn="l">
              <a:lnSpc>
                <a:spcPct val="150000"/>
              </a:lnSpc>
              <a:spcBef>
                <a:spcPts val="0"/>
              </a:spcBef>
              <a:spcAft>
                <a:spcPts val="0"/>
              </a:spcAft>
              <a:buClr>
                <a:schemeClr val="dk2"/>
              </a:buClr>
              <a:buSzPts val="1200"/>
              <a:buFont typeface="IBM Plex Sans"/>
              <a:buAutoNum type="arabicPeriod"/>
            </a:pPr>
            <a:r>
              <a:rPr b="1" lang="de-DE" sz="1200">
                <a:latin typeface="IBM Plex Sans"/>
                <a:ea typeface="IBM Plex Sans"/>
                <a:cs typeface="IBM Plex Sans"/>
                <a:sym typeface="IBM Plex Sans"/>
              </a:rPr>
              <a:t>Eigene Arbeitskräfte: Vergütung, Tarifverhandlungen und Schulung</a:t>
            </a:r>
            <a:r>
              <a:rPr lang="de-DE" sz="1200">
                <a:latin typeface="IBM Plex Sans"/>
                <a:ea typeface="IBM Plex Sans"/>
                <a:cs typeface="IBM Plex Sans"/>
                <a:sym typeface="IBM Plex Sans"/>
              </a:rPr>
              <a:t>		</a:t>
            </a:r>
            <a:endParaRPr sz="1200">
              <a:solidFill>
                <a:schemeClr val="accent2"/>
              </a:solidFill>
              <a:latin typeface="IBM Plex Sans"/>
              <a:ea typeface="IBM Plex Sans"/>
              <a:cs typeface="IBM Plex Sans"/>
              <a:sym typeface="IBM Plex Sans"/>
            </a:endParaRPr>
          </a:p>
          <a:p>
            <a:pPr indent="-228600" lvl="0" marL="228600" rtl="0" algn="l">
              <a:lnSpc>
                <a:spcPct val="150000"/>
              </a:lnSpc>
              <a:spcBef>
                <a:spcPts val="0"/>
              </a:spcBef>
              <a:spcAft>
                <a:spcPts val="0"/>
              </a:spcAft>
              <a:buClr>
                <a:schemeClr val="dk2"/>
              </a:buClr>
              <a:buSzPts val="1200"/>
              <a:buFont typeface="IBM Plex Sans"/>
              <a:buAutoNum type="arabicPeriod"/>
            </a:pPr>
            <a:r>
              <a:rPr b="1" lang="de-DE" sz="1200">
                <a:latin typeface="IBM Plex Sans"/>
                <a:ea typeface="IBM Plex Sans"/>
                <a:cs typeface="IBM Plex Sans"/>
                <a:sym typeface="IBM Plex Sans"/>
              </a:rPr>
              <a:t>Unternehmenspolitik</a:t>
            </a:r>
            <a:r>
              <a:rPr lang="de-DE" sz="1200">
                <a:latin typeface="IBM Plex Sans"/>
                <a:ea typeface="IBM Plex Sans"/>
                <a:cs typeface="IBM Plex Sans"/>
                <a:sym typeface="IBM Plex Sans"/>
              </a:rPr>
              <a:t>	 			</a:t>
            </a:r>
            <a:endParaRPr sz="1200">
              <a:solidFill>
                <a:schemeClr val="accent2"/>
              </a:solidFill>
              <a:latin typeface="IBM Plex Sans"/>
              <a:ea typeface="IBM Plex Sans"/>
              <a:cs typeface="IBM Plex Sans"/>
              <a:sym typeface="IBM Plex Sans"/>
            </a:endParaRPr>
          </a:p>
          <a:p>
            <a:pPr indent="0" lvl="0" marL="0" rtl="0" algn="l">
              <a:lnSpc>
                <a:spcPct val="129000"/>
              </a:lnSpc>
              <a:spcBef>
                <a:spcPts val="0"/>
              </a:spcBef>
              <a:spcAft>
                <a:spcPts val="0"/>
              </a:spcAft>
              <a:buClr>
                <a:schemeClr val="dk2"/>
              </a:buClr>
              <a:buSzPts val="1200"/>
              <a:buNone/>
            </a:pPr>
            <a:r>
              <a:t/>
            </a:r>
            <a:endParaRPr sz="1200">
              <a:latin typeface="IBM Plex Sans"/>
              <a:ea typeface="IBM Plex Sans"/>
              <a:cs typeface="IBM Plex Sans"/>
              <a:sym typeface="IBM Plex Sans"/>
            </a:endParaRPr>
          </a:p>
          <a:p>
            <a:pPr indent="0" lvl="0" marL="0" rtl="0" algn="l">
              <a:lnSpc>
                <a:spcPct val="129000"/>
              </a:lnSpc>
              <a:spcBef>
                <a:spcPts val="0"/>
              </a:spcBef>
              <a:spcAft>
                <a:spcPts val="0"/>
              </a:spcAft>
              <a:buClr>
                <a:schemeClr val="dk2"/>
              </a:buClr>
              <a:buSzPts val="1200"/>
              <a:buNone/>
            </a:pPr>
            <a:r>
              <a:t/>
            </a:r>
            <a:endParaRPr sz="1200">
              <a:latin typeface="IBM Plex Sans"/>
              <a:ea typeface="IBM Plex Sans"/>
              <a:cs typeface="IBM Plex Sans"/>
              <a:sym typeface="IBM Plex Sans"/>
            </a:endParaRPr>
          </a:p>
          <a:p>
            <a:pPr indent="0" lvl="0" marL="0" rtl="0" algn="l">
              <a:lnSpc>
                <a:spcPct val="129000"/>
              </a:lnSpc>
              <a:spcBef>
                <a:spcPts val="0"/>
              </a:spcBef>
              <a:spcAft>
                <a:spcPts val="0"/>
              </a:spcAft>
              <a:buClr>
                <a:schemeClr val="dk2"/>
              </a:buClr>
              <a:buSzPts val="900"/>
              <a:buNone/>
            </a:pPr>
            <a:r>
              <a:t/>
            </a:r>
            <a:endParaRPr>
              <a:latin typeface="IBM Plex Sans"/>
              <a:ea typeface="IBM Plex Sans"/>
              <a:cs typeface="IBM Plex Sans"/>
              <a:sym typeface="IBM Plex Sans"/>
            </a:endParaRPr>
          </a:p>
          <a:p>
            <a:pPr indent="0" lvl="0" marL="0" rtl="0" algn="l">
              <a:lnSpc>
                <a:spcPct val="129000"/>
              </a:lnSpc>
              <a:spcBef>
                <a:spcPts val="0"/>
              </a:spcBef>
              <a:spcAft>
                <a:spcPts val="0"/>
              </a:spcAft>
              <a:buClr>
                <a:schemeClr val="dk2"/>
              </a:buClr>
              <a:buSzPts val="900"/>
              <a:buNone/>
            </a:pPr>
            <a:r>
              <a:t/>
            </a:r>
            <a:endParaRPr>
              <a:latin typeface="IBM Plex Sans"/>
              <a:ea typeface="IBM Plex Sans"/>
              <a:cs typeface="IBM Plex Sans"/>
              <a:sym typeface="IBM Plex Sans"/>
            </a:endParaRPr>
          </a:p>
        </p:txBody>
      </p:sp>
      <p:sp>
        <p:nvSpPr>
          <p:cNvPr id="55" name="Google Shape;55;p2"/>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e-DE"/>
              <a:t>{{company_name}}</a:t>
            </a:r>
            <a:endParaRPr/>
          </a:p>
        </p:txBody>
      </p:sp>
      <p:sp>
        <p:nvSpPr>
          <p:cNvPr id="56" name="Google Shape;56;p2"/>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3"/>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e-DE"/>
              <a:t>Grundlagen für die Erstellung (B1) </a:t>
            </a:r>
            <a:endParaRPr/>
          </a:p>
        </p:txBody>
      </p:sp>
      <p:sp>
        <p:nvSpPr>
          <p:cNvPr id="63" name="Google Shape;63;p3"/>
          <p:cNvSpPr txBox="1"/>
          <p:nvPr/>
        </p:nvSpPr>
        <p:spPr>
          <a:xfrm>
            <a:off x="508000" y="2965249"/>
            <a:ext cx="3513138" cy="171795"/>
          </a:xfrm>
          <a:prstGeom prst="rect">
            <a:avLst/>
          </a:prstGeom>
          <a:noFill/>
          <a:ln>
            <a:noFill/>
          </a:ln>
        </p:spPr>
        <p:txBody>
          <a:bodyPr anchorCtr="0" anchor="t" bIns="0" lIns="0" spcFirstLastPara="1" rIns="0" wrap="square" tIns="0">
            <a:noAutofit/>
          </a:bodyPr>
          <a:lstStyle/>
          <a:p>
            <a:pPr indent="0" lvl="0" marL="0" marR="0" rtl="0" algn="l">
              <a:lnSpc>
                <a:spcPct val="106000"/>
              </a:lnSpc>
              <a:spcBef>
                <a:spcPts val="0"/>
              </a:spcBef>
              <a:spcAft>
                <a:spcPts val="0"/>
              </a:spcAft>
              <a:buClr>
                <a:schemeClr val="dk2"/>
              </a:buClr>
              <a:buSzPts val="900"/>
              <a:buFont typeface="Arial"/>
              <a:buNone/>
            </a:pPr>
            <a:r>
              <a:t/>
            </a:r>
            <a:endParaRPr b="0" i="0" sz="900" u="none" cap="none" strike="noStrike">
              <a:solidFill>
                <a:schemeClr val="accent2"/>
              </a:solidFill>
              <a:latin typeface="IBM Plex Sans"/>
              <a:ea typeface="IBM Plex Sans"/>
              <a:cs typeface="IBM Plex Sans"/>
              <a:sym typeface="IBM Plex Sans"/>
            </a:endParaRPr>
          </a:p>
        </p:txBody>
      </p:sp>
      <p:graphicFrame>
        <p:nvGraphicFramePr>
          <p:cNvPr id="64" name="Google Shape;64;p3"/>
          <p:cNvGraphicFramePr/>
          <p:nvPr/>
        </p:nvGraphicFramePr>
        <p:xfrm>
          <a:off x="518599" y="5090156"/>
          <a:ext cx="3000000" cy="3000000"/>
        </p:xfrm>
        <a:graphic>
          <a:graphicData uri="http://schemas.openxmlformats.org/drawingml/2006/table">
            <a:tbl>
              <a:tblPr firstRow="1">
                <a:noFill/>
                <a:tableStyleId>{08659190-FCFE-4D70-9B86-54A6606F5F58}</a:tableStyleId>
              </a:tblPr>
              <a:tblGrid>
                <a:gridCol w="3400875"/>
                <a:gridCol w="3953500"/>
              </a:tblGrid>
              <a:tr h="306950">
                <a:tc gridSpan="2">
                  <a:txBody>
                    <a:bodyPr/>
                    <a:lstStyle/>
                    <a:p>
                      <a:pPr indent="0" lvl="0" marL="0" marR="0" rtl="0" algn="l">
                        <a:spcBef>
                          <a:spcPts val="0"/>
                        </a:spcBef>
                        <a:spcAft>
                          <a:spcPts val="0"/>
                        </a:spcAft>
                        <a:buNone/>
                      </a:pPr>
                      <a:r>
                        <a:rPr b="1" lang="de-DE" sz="1200" u="none" cap="none" strike="noStrike">
                          <a:solidFill>
                            <a:schemeClr val="dk2"/>
                          </a:solidFill>
                          <a:latin typeface="IBM Plex Sans"/>
                          <a:ea typeface="IBM Plex Sans"/>
                          <a:cs typeface="IBM Plex Sans"/>
                          <a:sym typeface="IBM Plex Sans"/>
                        </a:rPr>
                        <a:t>Liste der in diesem ESG-Bericht erfassten Tochterunternehmen </a:t>
                      </a:r>
                      <a:r>
                        <a:rPr b="0" lang="de-DE" sz="1200" u="none" cap="none" strike="noStrike">
                          <a:solidFill>
                            <a:schemeClr val="dk2"/>
                          </a:solidFill>
                          <a:latin typeface="IBM Plex Sans"/>
                          <a:ea typeface="IBM Plex Sans"/>
                          <a:cs typeface="IBM Plex Sans"/>
                          <a:sym typeface="IBM Plex Sans"/>
                        </a:rPr>
                        <a:t>(Nr. 27d)</a:t>
                      </a:r>
                      <a:endParaRPr b="0" i="1" sz="1200" u="none" cap="none" strike="noStrike">
                        <a:solidFill>
                          <a:schemeClr val="dk2"/>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177075">
                <a:tc>
                  <a:txBody>
                    <a:bodyPr/>
                    <a:lstStyle/>
                    <a:p>
                      <a:pPr indent="0" lvl="0" marL="0" marR="0" rtl="0" algn="l">
                        <a:spcBef>
                          <a:spcPts val="0"/>
                        </a:spcBef>
                        <a:spcAft>
                          <a:spcPts val="0"/>
                        </a:spcAft>
                        <a:buNone/>
                      </a:pPr>
                      <a:r>
                        <a:rPr b="1" lang="de-DE" sz="1200" u="none" cap="none" strike="noStrike">
                          <a:solidFill>
                            <a:schemeClr val="dk2"/>
                          </a:solidFill>
                          <a:latin typeface="IBM Plex Sans"/>
                          <a:ea typeface="IBM Plex Sans"/>
                          <a:cs typeface="IBM Plex Sans"/>
                          <a:sym typeface="IBM Plex Sans"/>
                        </a:rPr>
                        <a:t>Name des Tochterunternehmens </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None/>
                      </a:pPr>
                      <a:r>
                        <a:rPr b="1" lang="de-DE" sz="1200" u="none" cap="none" strike="noStrike">
                          <a:solidFill>
                            <a:schemeClr val="dk2"/>
                          </a:solidFill>
                          <a:latin typeface="IBM Plex Sans"/>
                          <a:ea typeface="IBM Plex Sans"/>
                          <a:cs typeface="IBM Plex Sans"/>
                          <a:sym typeface="IBM Plex Sans"/>
                        </a:rPr>
                        <a:t>Anschrift des Tochterunternehmens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45275">
                <a:tc>
                  <a:txBody>
                    <a:bodyPr/>
                    <a:lstStyle/>
                    <a:p>
                      <a:pPr indent="0" lvl="0" marL="0" marR="0" rtl="0" algn="l">
                        <a:spcBef>
                          <a:spcPts val="0"/>
                        </a:spcBef>
                        <a:spcAft>
                          <a:spcPts val="0"/>
                        </a:spcAft>
                        <a:buClr>
                          <a:srgbClr val="2D55FF"/>
                        </a:buClr>
                        <a:buSzPts val="1200"/>
                        <a:buFont typeface="Inter"/>
                        <a:buNone/>
                      </a:pPr>
                      <a:r>
                        <a:rPr b="0" i="0" lang="de-DE" sz="1200" u="none" cap="none" strike="noStrike">
                          <a:solidFill>
                            <a:srgbClr val="2D55FF"/>
                          </a:solidFill>
                          <a:latin typeface="Inter"/>
                          <a:ea typeface="Inter"/>
                          <a:cs typeface="Inter"/>
                          <a:sym typeface="Inter"/>
                        </a:rPr>
                        <a:t>{{subsidiary}}</a:t>
                      </a:r>
                      <a:endParaRPr sz="1200" u="none" cap="none" strike="noStrike"/>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cap="none" strike="noStrike">
                          <a:solidFill>
                            <a:srgbClr val="2D55FF"/>
                          </a:solidFill>
                          <a:latin typeface="Inter"/>
                          <a:ea typeface="Inter"/>
                          <a:cs typeface="Inter"/>
                          <a:sym typeface="Inter"/>
                        </a:rPr>
                        <a:t>{{subsidiary_address}}</a:t>
                      </a:r>
                      <a:endParaRPr sz="1200" u="none" cap="none" strike="noStrike"/>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65" name="Google Shape;65;p3"/>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e-DE"/>
              <a:t>‹#›</a:t>
            </a:fld>
            <a:endParaRPr/>
          </a:p>
        </p:txBody>
      </p:sp>
      <p:sp>
        <p:nvSpPr>
          <p:cNvPr id="66" name="Google Shape;66;p3"/>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e-DE"/>
              <a:t>{{company_name}}</a:t>
            </a:r>
            <a:endParaRPr b="0"/>
          </a:p>
          <a:p>
            <a:pPr indent="0" lvl="0" marL="0" rtl="0" algn="r">
              <a:spcBef>
                <a:spcPts val="0"/>
              </a:spcBef>
              <a:spcAft>
                <a:spcPts val="0"/>
              </a:spcAft>
              <a:buNone/>
            </a:pPr>
            <a:br>
              <a:rPr lang="de-DE"/>
            </a:br>
            <a:endParaRPr/>
          </a:p>
        </p:txBody>
      </p:sp>
      <p:graphicFrame>
        <p:nvGraphicFramePr>
          <p:cNvPr id="67" name="Google Shape;67;p3"/>
          <p:cNvGraphicFramePr/>
          <p:nvPr/>
        </p:nvGraphicFramePr>
        <p:xfrm>
          <a:off x="518599" y="3862384"/>
          <a:ext cx="3000000" cy="3000000"/>
        </p:xfrm>
        <a:graphic>
          <a:graphicData uri="http://schemas.openxmlformats.org/drawingml/2006/table">
            <a:tbl>
              <a:tblPr firstRow="1">
                <a:noFill/>
                <a:tableStyleId>{08659190-FCFE-4D70-9B86-54A6606F5F58}</a:tableStyleId>
              </a:tblPr>
              <a:tblGrid>
                <a:gridCol w="6194425"/>
                <a:gridCol w="1159950"/>
              </a:tblGrid>
              <a:tr h="205700">
                <a:tc gridSpan="2">
                  <a:txBody>
                    <a:bodyPr/>
                    <a:lstStyle/>
                    <a:p>
                      <a:pPr indent="0" lvl="0" marL="0" marR="0" rtl="0" algn="l">
                        <a:spcBef>
                          <a:spcPts val="0"/>
                        </a:spcBef>
                        <a:spcAft>
                          <a:spcPts val="0"/>
                        </a:spcAft>
                        <a:buNone/>
                      </a:pPr>
                      <a:r>
                        <a:rPr b="1" lang="de-DE" sz="1200" u="none" cap="none" strike="noStrike">
                          <a:solidFill>
                            <a:schemeClr val="dk2"/>
                          </a:solidFill>
                        </a:rPr>
                        <a:t>Individuelle oder konsolidierte Berichterstattung</a:t>
                      </a:r>
                      <a:r>
                        <a:rPr b="0" lang="de-DE" sz="1200" u="none" cap="none" strike="noStrike">
                          <a:solidFill>
                            <a:schemeClr val="dk2"/>
                          </a:solidFill>
                        </a:rPr>
                        <a:t> (Nr. 27c)</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294275">
                <a:tc>
                  <a:txBody>
                    <a:bodyPr/>
                    <a:lstStyle/>
                    <a:p>
                      <a:pPr indent="0" lvl="0" marL="0" marR="0" rtl="0" algn="l">
                        <a:lnSpc>
                          <a:spcPct val="100000"/>
                        </a:lnSpc>
                        <a:spcBef>
                          <a:spcPts val="0"/>
                        </a:spcBef>
                        <a:spcAft>
                          <a:spcPts val="0"/>
                        </a:spcAft>
                        <a:buClr>
                          <a:schemeClr val="dk2"/>
                        </a:buClr>
                        <a:buSzPts val="1200"/>
                        <a:buFont typeface="IBM Plex Sans"/>
                        <a:buNone/>
                      </a:pPr>
                      <a:r>
                        <a:rPr b="0" lang="de-DE" sz="1200">
                          <a:solidFill>
                            <a:schemeClr val="dk2"/>
                          </a:solidFill>
                          <a:latin typeface="IBM Plex Sans"/>
                          <a:ea typeface="IBM Plex Sans"/>
                          <a:cs typeface="IBM Plex Sans"/>
                          <a:sym typeface="IBM Plex Sans"/>
                        </a:rPr>
                        <a:t>Der Bericht wurde auf </a:t>
                      </a:r>
                      <a:r>
                        <a:rPr b="1" lang="de-DE" sz="1200">
                          <a:solidFill>
                            <a:schemeClr val="dk2"/>
                          </a:solidFill>
                          <a:latin typeface="IBM Plex Sans"/>
                          <a:ea typeface="IBM Plex Sans"/>
                          <a:cs typeface="IBM Plex Sans"/>
                          <a:sym typeface="IBM Plex Sans"/>
                        </a:rPr>
                        <a:t>individueller Basis </a:t>
                      </a:r>
                      <a:r>
                        <a:rPr b="0" lang="de-DE" sz="1200">
                          <a:solidFill>
                            <a:schemeClr val="dk2"/>
                          </a:solidFill>
                          <a:latin typeface="IBM Plex Sans"/>
                          <a:ea typeface="IBM Plex Sans"/>
                          <a:cs typeface="IBM Plex Sans"/>
                          <a:sym typeface="IBM Plex Sans"/>
                        </a:rPr>
                        <a:t>erstellt (d. h. der Bericht erfasst keine Tochterunternehmen)</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{{yes_subsidiary?}}</a:t>
                      </a:r>
                      <a:endParaRPr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94275">
                <a:tc>
                  <a:txBody>
                    <a:bodyPr/>
                    <a:lstStyle/>
                    <a:p>
                      <a:pPr indent="0" lvl="0" marL="0" marR="0" rtl="0" algn="l">
                        <a:lnSpc>
                          <a:spcPct val="100000"/>
                        </a:lnSpc>
                        <a:spcBef>
                          <a:spcPts val="0"/>
                        </a:spcBef>
                        <a:spcAft>
                          <a:spcPts val="0"/>
                        </a:spcAft>
                        <a:buClr>
                          <a:schemeClr val="dk2"/>
                        </a:buClr>
                        <a:buSzPts val="1200"/>
                        <a:buFont typeface="IBM Plex Sans"/>
                        <a:buNone/>
                      </a:pPr>
                      <a:r>
                        <a:rPr b="0" lang="de-DE" sz="1200">
                          <a:solidFill>
                            <a:schemeClr val="dk2"/>
                          </a:solidFill>
                          <a:latin typeface="IBM Plex Sans"/>
                          <a:ea typeface="IBM Plex Sans"/>
                          <a:cs typeface="IBM Plex Sans"/>
                          <a:sym typeface="IBM Plex Sans"/>
                        </a:rPr>
                        <a:t>Der Bericht wurde auf </a:t>
                      </a:r>
                      <a:r>
                        <a:rPr b="1" lang="de-DE" sz="1200">
                          <a:solidFill>
                            <a:schemeClr val="dk2"/>
                          </a:solidFill>
                          <a:latin typeface="IBM Plex Sans"/>
                          <a:ea typeface="IBM Plex Sans"/>
                          <a:cs typeface="IBM Plex Sans"/>
                          <a:sym typeface="IBM Plex Sans"/>
                        </a:rPr>
                        <a:t>konsolidierter Basis </a:t>
                      </a:r>
                      <a:r>
                        <a:rPr b="0" lang="de-DE" sz="1200">
                          <a:solidFill>
                            <a:schemeClr val="dk2"/>
                          </a:solidFill>
                          <a:latin typeface="IBM Plex Sans"/>
                          <a:ea typeface="IBM Plex Sans"/>
                          <a:cs typeface="IBM Plex Sans"/>
                          <a:sym typeface="IBM Plex Sans"/>
                        </a:rPr>
                        <a:t>erstellt (d. h. der Bericht umfasst die Tochterunternehmen des Unternehmens) </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{{no_subsidiary?}}</a:t>
                      </a:r>
                      <a:endParaRPr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68" name="Google Shape;68;p3"/>
          <p:cNvGraphicFramePr/>
          <p:nvPr/>
        </p:nvGraphicFramePr>
        <p:xfrm>
          <a:off x="518600" y="2284438"/>
          <a:ext cx="3000000" cy="3000000"/>
        </p:xfrm>
        <a:graphic>
          <a:graphicData uri="http://schemas.openxmlformats.org/drawingml/2006/table">
            <a:tbl>
              <a:tblPr firstRow="1">
                <a:noFill/>
                <a:tableStyleId>{08659190-FCFE-4D70-9B86-54A6606F5F58}</a:tableStyleId>
              </a:tblPr>
              <a:tblGrid>
                <a:gridCol w="6205575"/>
                <a:gridCol w="1148800"/>
              </a:tblGrid>
              <a:tr h="391200">
                <a:tc gridSpan="2">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Basismodul oder Basismodul +</a:t>
                      </a:r>
                      <a:r>
                        <a:rPr b="0" lang="de-DE" sz="1200">
                          <a:solidFill>
                            <a:schemeClr val="dk2"/>
                          </a:solidFill>
                          <a:latin typeface="IBM Plex Sans"/>
                          <a:ea typeface="IBM Plex Sans"/>
                          <a:cs typeface="IBM Plex Sans"/>
                          <a:sym typeface="IBM Plex Sans"/>
                        </a:rPr>
                        <a:t> </a:t>
                      </a:r>
                      <a:r>
                        <a:rPr b="1" lang="de-DE" sz="1200">
                          <a:solidFill>
                            <a:schemeClr val="dk2"/>
                          </a:solidFill>
                          <a:latin typeface="IBM Plex Sans"/>
                          <a:ea typeface="IBM Plex Sans"/>
                          <a:cs typeface="IBM Plex Sans"/>
                          <a:sym typeface="IBM Plex Sans"/>
                        </a:rPr>
                        <a:t>Zusatzmodul </a:t>
                      </a:r>
                      <a:r>
                        <a:rPr b="0" lang="de-DE" sz="1200">
                          <a:solidFill>
                            <a:schemeClr val="dk2"/>
                          </a:solidFill>
                          <a:latin typeface="IBM Plex Sans"/>
                          <a:ea typeface="IBM Plex Sans"/>
                          <a:cs typeface="IBM Plex Sans"/>
                          <a:sym typeface="IBM Plex Sans"/>
                        </a:rPr>
                        <a:t>(Nr. 27a)</a:t>
                      </a:r>
                      <a:r>
                        <a:rPr b="1" lang="de-DE" sz="1200">
                          <a:solidFill>
                            <a:schemeClr val="dk2"/>
                          </a:solidFill>
                          <a:latin typeface="IBM Plex Sans"/>
                          <a:ea typeface="IBM Plex Sans"/>
                          <a:cs typeface="IBM Plex Sans"/>
                          <a:sym typeface="IBM Plex Sans"/>
                        </a:rPr>
                        <a:t> </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408850">
                <a:tc>
                  <a:txBody>
                    <a:bodyPr/>
                    <a:lstStyle/>
                    <a:p>
                      <a:pPr indent="0" lvl="0" marL="0" marR="0" rtl="0" algn="l">
                        <a:lnSpc>
                          <a:spcPct val="100000"/>
                        </a:lnSpc>
                        <a:spcBef>
                          <a:spcPts val="0"/>
                        </a:spcBef>
                        <a:spcAft>
                          <a:spcPts val="0"/>
                        </a:spcAft>
                        <a:buClr>
                          <a:schemeClr val="dk2"/>
                        </a:buClr>
                        <a:buSzPts val="1200"/>
                        <a:buFont typeface="IBM Plex Sans"/>
                        <a:buNone/>
                      </a:pPr>
                      <a:r>
                        <a:rPr b="0" lang="de-DE" sz="1200">
                          <a:solidFill>
                            <a:schemeClr val="dk2"/>
                          </a:solidFill>
                          <a:latin typeface="IBM Plex Sans"/>
                          <a:ea typeface="IBM Plex Sans"/>
                          <a:cs typeface="IBM Plex Sans"/>
                          <a:sym typeface="IBM Plex Sans"/>
                        </a:rPr>
                        <a:t>Der Bericht basiert auf dem </a:t>
                      </a:r>
                      <a:r>
                        <a:rPr b="1" lang="de-DE" sz="1200">
                          <a:solidFill>
                            <a:schemeClr val="dk2"/>
                          </a:solidFill>
                          <a:latin typeface="IBM Plex Sans"/>
                          <a:ea typeface="IBM Plex Sans"/>
                          <a:cs typeface="IBM Plex Sans"/>
                          <a:sym typeface="IBM Plex Sans"/>
                        </a:rPr>
                        <a:t>Basismodul</a:t>
                      </a:r>
                      <a:r>
                        <a:rPr b="0" lang="de-DE" sz="1200">
                          <a:solidFill>
                            <a:schemeClr val="dk2"/>
                          </a:solidFill>
                          <a:latin typeface="IBM Plex Sans"/>
                          <a:ea typeface="IBM Plex Sans"/>
                          <a:cs typeface="IBM Plex Sans"/>
                          <a:sym typeface="IBM Plex Sans"/>
                        </a:rPr>
                        <a:t> des freiwilligen KMU-Standards </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{{basic_module?}}</a:t>
                      </a:r>
                      <a:endParaRPr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531300">
                <a:tc>
                  <a:txBody>
                    <a:bodyPr/>
                    <a:lstStyle/>
                    <a:p>
                      <a:pPr indent="0" lvl="0" marL="0" marR="0" rtl="0" algn="l">
                        <a:lnSpc>
                          <a:spcPct val="100000"/>
                        </a:lnSpc>
                        <a:spcBef>
                          <a:spcPts val="0"/>
                        </a:spcBef>
                        <a:spcAft>
                          <a:spcPts val="0"/>
                        </a:spcAft>
                        <a:buClr>
                          <a:schemeClr val="dk2"/>
                        </a:buClr>
                        <a:buSzPts val="1200"/>
                        <a:buFont typeface="IBM Plex Sans"/>
                        <a:buNone/>
                      </a:pPr>
                      <a:r>
                        <a:rPr b="0" lang="de-DE" sz="1200">
                          <a:solidFill>
                            <a:schemeClr val="dk2"/>
                          </a:solidFill>
                          <a:latin typeface="IBM Plex Sans"/>
                          <a:ea typeface="IBM Plex Sans"/>
                          <a:cs typeface="IBM Plex Sans"/>
                          <a:sym typeface="IBM Plex Sans"/>
                        </a:rPr>
                        <a:t>Der Bericht basiert auf dem </a:t>
                      </a:r>
                      <a:r>
                        <a:rPr b="1" lang="de-DE" sz="1200">
                          <a:solidFill>
                            <a:schemeClr val="dk2"/>
                          </a:solidFill>
                          <a:latin typeface="IBM Plex Sans"/>
                          <a:ea typeface="IBM Plex Sans"/>
                          <a:cs typeface="IBM Plex Sans"/>
                          <a:sym typeface="IBM Plex Sans"/>
                        </a:rPr>
                        <a:t>Basismodul</a:t>
                      </a:r>
                      <a:r>
                        <a:rPr b="0" lang="de-DE" sz="1200">
                          <a:solidFill>
                            <a:schemeClr val="dk2"/>
                          </a:solidFill>
                          <a:latin typeface="IBM Plex Sans"/>
                          <a:ea typeface="IBM Plex Sans"/>
                          <a:cs typeface="IBM Plex Sans"/>
                          <a:sym typeface="IBM Plex Sans"/>
                        </a:rPr>
                        <a:t> und </a:t>
                      </a:r>
                      <a:r>
                        <a:rPr b="1" lang="de-DE" sz="1200">
                          <a:solidFill>
                            <a:schemeClr val="dk2"/>
                          </a:solidFill>
                          <a:latin typeface="IBM Plex Sans"/>
                          <a:ea typeface="IBM Plex Sans"/>
                          <a:cs typeface="IBM Plex Sans"/>
                          <a:sym typeface="IBM Plex Sans"/>
                        </a:rPr>
                        <a:t>Zusatzmodul </a:t>
                      </a:r>
                      <a:r>
                        <a:rPr b="0" lang="de-DE" sz="1200">
                          <a:solidFill>
                            <a:schemeClr val="dk2"/>
                          </a:solidFill>
                          <a:latin typeface="IBM Plex Sans"/>
                          <a:ea typeface="IBM Plex Sans"/>
                          <a:cs typeface="IBM Plex Sans"/>
                          <a:sym typeface="IBM Plex Sans"/>
                        </a:rPr>
                        <a:t>des freiwilligen KMU-Standards</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{{comprehensive?}}</a:t>
                      </a:r>
                      <a:endParaRPr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69" name="Google Shape;69;p3"/>
          <p:cNvSpPr txBox="1"/>
          <p:nvPr/>
        </p:nvSpPr>
        <p:spPr>
          <a:xfrm>
            <a:off x="508000" y="1016000"/>
            <a:ext cx="11165400"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de-DE" sz="1200" u="none" cap="none" strike="noStrike">
                <a:solidFill>
                  <a:schemeClr val="dk2"/>
                </a:solidFill>
                <a:latin typeface="Inter"/>
                <a:ea typeface="Inter"/>
                <a:cs typeface="Inter"/>
                <a:sym typeface="Inter"/>
              </a:rPr>
              <a:t>Das Unternehmen hat seinen Nachhaltigkeitsbericht nach dem VSME-Standard erstellt, der einem strukturierten Ansatz folgt, um sicherzustellen, dass die erforderlichen Informationen standardisiert und transparent berichtet werden. Der Bericht spiegelt die vom Unternehmen ausgewählten und abgedeckten Nachhaltigkeitsmodule wider. Darüber hinaus ist angegeben, ob der Nachhaltigkeitsbericht auf individueller Basis (nur eigene Daten des Unternehmens) oder auf konsolidierter Basis erstellt wird. Dieser Abschnitt enthält grundlegende Informationen über das Unternehmen, z. B. seine Rechtsform, NACE-Code(s), Bilanzsumme und Umsatzerlöse, Zahl der Beschäftigten sowie Informationen über das Land der Hauptgeschäftstätigkeit und den Standort weiterer wesentlicher Vermögenswerte.</a:t>
            </a:r>
            <a:endParaRPr b="0" i="0" sz="1200" u="none" cap="none" strike="noStrike">
              <a:solidFill>
                <a:schemeClr val="dk2"/>
              </a:solidFill>
              <a:latin typeface="IBM Plex Sans"/>
              <a:ea typeface="IBM Plex Sans"/>
              <a:cs typeface="IBM Plex Sans"/>
              <a:sym typeface="IBM Plex Sans"/>
            </a:endParaRPr>
          </a:p>
        </p:txBody>
      </p:sp>
      <p:graphicFrame>
        <p:nvGraphicFramePr>
          <p:cNvPr id="70" name="Google Shape;70;p3"/>
          <p:cNvGraphicFramePr/>
          <p:nvPr/>
        </p:nvGraphicFramePr>
        <p:xfrm>
          <a:off x="8169275" y="3862384"/>
          <a:ext cx="3000000" cy="3000000"/>
        </p:xfrm>
        <a:graphic>
          <a:graphicData uri="http://schemas.openxmlformats.org/drawingml/2006/table">
            <a:tbl>
              <a:tblPr firstRow="1">
                <a:noFill/>
                <a:tableStyleId>{08659190-FCFE-4D70-9B86-54A6606F5F58}</a:tableStyleId>
              </a:tblPr>
              <a:tblGrid>
                <a:gridCol w="1620400"/>
                <a:gridCol w="1883725"/>
              </a:tblGrid>
              <a:tr h="247925">
                <a:tc gridSpan="2">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Grundlegende Informationen über das Unternehmen</a:t>
                      </a:r>
                      <a:r>
                        <a:rPr b="0" lang="de-DE" sz="1200">
                          <a:solidFill>
                            <a:schemeClr val="dk2"/>
                          </a:solidFill>
                          <a:latin typeface="IBM Plex Sans"/>
                          <a:ea typeface="IBM Plex Sans"/>
                          <a:cs typeface="IBM Plex Sans"/>
                          <a:sym typeface="IBM Plex Sans"/>
                        </a:rPr>
                        <a:t> (Nr. 27e, i-v)</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r>
              <a:tr h="702925">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Rechtsform</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{{branchekode}}</a:t>
                      </a:r>
                      <a:endParaRPr b="0" sz="1200"/>
                    </a:p>
                  </a:txBody>
                  <a:tcPr marT="25400" marB="25400" marR="38100" marL="381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31325">
                <a:tc>
                  <a:txBody>
                    <a:bodyPr/>
                    <a:lstStyle/>
                    <a:p>
                      <a:pPr indent="0" lvl="0" marL="0" marR="0" rtl="0" algn="l">
                        <a:lnSpc>
                          <a:spcPct val="100000"/>
                        </a:lnSpc>
                        <a:spcBef>
                          <a:spcPts val="0"/>
                        </a:spcBef>
                        <a:spcAft>
                          <a:spcPts val="0"/>
                        </a:spcAft>
                        <a:buClr>
                          <a:schemeClr val="dk2"/>
                        </a:buClr>
                        <a:buSzPts val="1200"/>
                        <a:buFont typeface="IBM Plex Sans"/>
                        <a:buNone/>
                      </a:pPr>
                      <a:r>
                        <a:rPr b="1" lang="de-DE" sz="1200">
                          <a:solidFill>
                            <a:schemeClr val="dk2"/>
                          </a:solidFill>
                          <a:latin typeface="IBM Plex Sans"/>
                          <a:ea typeface="IBM Plex Sans"/>
                          <a:cs typeface="IBM Plex Sans"/>
                          <a:sym typeface="IBM Plex Sans"/>
                        </a:rPr>
                        <a:t>NACE-Code(s)</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{{NACE}}</a:t>
                      </a:r>
                      <a:endParaRPr sz="1200"/>
                    </a:p>
                  </a:txBody>
                  <a:tcPr marT="25400" marB="25400" marR="38100" marL="381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25800">
                <a:tc>
                  <a:txBody>
                    <a:bodyPr/>
                    <a:lstStyle/>
                    <a:p>
                      <a:pPr indent="0" lvl="0" marL="0" marR="0" rtl="0" algn="l">
                        <a:lnSpc>
                          <a:spcPct val="100000"/>
                        </a:lnSpc>
                        <a:spcBef>
                          <a:spcPts val="0"/>
                        </a:spcBef>
                        <a:spcAft>
                          <a:spcPts val="0"/>
                        </a:spcAft>
                        <a:buClr>
                          <a:schemeClr val="dk2"/>
                        </a:buClr>
                        <a:buSzPts val="1200"/>
                        <a:buFont typeface="IBM Plex Sans"/>
                        <a:buNone/>
                      </a:pPr>
                      <a:r>
                        <a:rPr b="1" lang="de-DE" sz="1200">
                          <a:solidFill>
                            <a:schemeClr val="dk2"/>
                          </a:solidFill>
                          <a:latin typeface="IBM Plex Sans"/>
                          <a:ea typeface="IBM Plex Sans"/>
                          <a:cs typeface="IBM Plex Sans"/>
                          <a:sym typeface="IBM Plex Sans"/>
                        </a:rPr>
                        <a:t>Bilanzsumme (EUR)</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{{balance}}</a:t>
                      </a:r>
                      <a:endParaRPr sz="1200"/>
                    </a:p>
                  </a:txBody>
                  <a:tcPr marT="25400" marB="25400" marR="38100" marL="381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25800">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Umsatzerlöse (EUR)</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{{revenue}}</a:t>
                      </a:r>
                      <a:endParaRPr sz="1200"/>
                    </a:p>
                  </a:txBody>
                  <a:tcPr marT="25400" marB="25400" marR="38100" marL="381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47925">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Beschäftigte </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{{total_employees}}</a:t>
                      </a:r>
                      <a:endParaRPr sz="1200"/>
                    </a:p>
                  </a:txBody>
                  <a:tcPr marT="25400" marB="25400" marR="38100" marL="381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71" name="Google Shape;71;p3"/>
          <p:cNvGraphicFramePr/>
          <p:nvPr/>
        </p:nvGraphicFramePr>
        <p:xfrm>
          <a:off x="8169275" y="2286881"/>
          <a:ext cx="3000000" cy="3000000"/>
        </p:xfrm>
        <a:graphic>
          <a:graphicData uri="http://schemas.openxmlformats.org/drawingml/2006/table">
            <a:tbl>
              <a:tblPr firstRow="1">
                <a:noFill/>
                <a:tableStyleId>{08659190-FCFE-4D70-9B86-54A6606F5F58}</a:tableStyleId>
              </a:tblPr>
              <a:tblGrid>
                <a:gridCol w="1620400"/>
                <a:gridCol w="1883725"/>
              </a:tblGrid>
              <a:tr h="498650">
                <a:tc gridSpan="2">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Der ESG-Bericht enthält Auslassungen aufgrund vertraulicher Geschäftsinformationen </a:t>
                      </a:r>
                      <a:r>
                        <a:rPr b="0" lang="de-DE" sz="1200">
                          <a:solidFill>
                            <a:schemeClr val="dk2"/>
                          </a:solidFill>
                          <a:latin typeface="IBM Plex Sans"/>
                          <a:ea typeface="IBM Plex Sans"/>
                          <a:cs typeface="IBM Plex Sans"/>
                          <a:sym typeface="IBM Plex Sans"/>
                        </a:rPr>
                        <a:t>(Nr. 27b)</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r>
              <a:tr h="832675">
                <a:tc>
                  <a:txBody>
                    <a:bodyPr/>
                    <a:lstStyle/>
                    <a:p>
                      <a:pPr indent="0" lvl="0" marL="0" marR="0" rtl="0" algn="l">
                        <a:lnSpc>
                          <a:spcPct val="100000"/>
                        </a:lnSpc>
                        <a:spcBef>
                          <a:spcPts val="0"/>
                        </a:spcBef>
                        <a:spcAft>
                          <a:spcPts val="0"/>
                        </a:spcAft>
                        <a:buClr>
                          <a:schemeClr val="dk1"/>
                        </a:buClr>
                        <a:buSzPts val="900"/>
                        <a:buFont typeface="IBM Plex Sans"/>
                        <a:buNone/>
                      </a:pPr>
                      <a:r>
                        <a:t/>
                      </a:r>
                      <a:endParaRPr b="0" sz="900">
                        <a:solidFill>
                          <a:schemeClr val="dk2"/>
                        </a:solidFill>
                        <a:latin typeface="IBM Plex Sans"/>
                        <a:ea typeface="IBM Plex Sans"/>
                        <a:cs typeface="IBM Plex Sans"/>
                        <a:sym typeface="IBM Plex Sans"/>
                      </a:endParaRPr>
                    </a:p>
                    <a:p>
                      <a:pPr indent="0" lvl="0" marL="0" marR="0" rtl="0" algn="l">
                        <a:lnSpc>
                          <a:spcPct val="100000"/>
                        </a:lnSpc>
                        <a:spcBef>
                          <a:spcPts val="0"/>
                        </a:spcBef>
                        <a:spcAft>
                          <a:spcPts val="0"/>
                        </a:spcAft>
                        <a:buClr>
                          <a:schemeClr val="dk2"/>
                        </a:buClr>
                        <a:buSzPts val="1200"/>
                        <a:buFont typeface="IBM Plex Sans"/>
                        <a:buNone/>
                      </a:pPr>
                      <a:r>
                        <a:rPr b="0" lang="de-DE" sz="1200">
                          <a:solidFill>
                            <a:schemeClr val="dk2"/>
                          </a:solidFill>
                          <a:latin typeface="IBM Plex Sans"/>
                          <a:ea typeface="IBM Plex Sans"/>
                          <a:cs typeface="IBM Plex Sans"/>
                          <a:sym typeface="IBM Plex Sans"/>
                        </a:rPr>
                        <a:t>Folgende Angaben wurden ausgelassen</a:t>
                      </a:r>
                      <a:endParaRPr/>
                    </a:p>
                    <a:p>
                      <a:pPr indent="0" lvl="0" marL="0" marR="0" rtl="0" algn="l">
                        <a:spcBef>
                          <a:spcPts val="0"/>
                        </a:spcBef>
                        <a:spcAft>
                          <a:spcPts val="0"/>
                        </a:spcAft>
                        <a:buNone/>
                      </a:pPr>
                      <a:r>
                        <a:t/>
                      </a:r>
                      <a:endParaRPr b="1" sz="900">
                        <a:solidFill>
                          <a:schemeClr val="dk2"/>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lang="de-DE" sz="1200">
                          <a:solidFill>
                            <a:schemeClr val="accent2"/>
                          </a:solidFill>
                          <a:latin typeface="IBM Plex Sans"/>
                          <a:ea typeface="IBM Plex Sans"/>
                          <a:cs typeface="IBM Plex Sans"/>
                          <a:sym typeface="IBM Plex Sans"/>
                        </a:rPr>
                        <a:t>{{confidentiality_info}}</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4"/>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e-DE"/>
              <a:t>Grundlagen für die Erstellung (B1) - Fortsetzung</a:t>
            </a:r>
            <a:endParaRPr/>
          </a:p>
        </p:txBody>
      </p:sp>
      <p:sp>
        <p:nvSpPr>
          <p:cNvPr id="78" name="Google Shape;78;p4"/>
          <p:cNvSpPr/>
          <p:nvPr/>
        </p:nvSpPr>
        <p:spPr>
          <a:xfrm>
            <a:off x="638979" y="1108695"/>
            <a:ext cx="207455" cy="232601"/>
          </a:xfrm>
          <a:prstGeom prst="rect">
            <a:avLst/>
          </a:prstGeom>
          <a:noFill/>
          <a:ln>
            <a:noFill/>
          </a:ln>
        </p:spPr>
      </p:sp>
      <p:sp>
        <p:nvSpPr>
          <p:cNvPr id="79" name="Google Shape;79;p4"/>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e-DE"/>
              <a:t>‹#›</a:t>
            </a:fld>
            <a:endParaRPr/>
          </a:p>
        </p:txBody>
      </p:sp>
      <p:sp>
        <p:nvSpPr>
          <p:cNvPr id="80" name="Google Shape;80;p4"/>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e-DE"/>
              <a:t>{{company_name}}</a:t>
            </a:r>
            <a:endParaRPr b="0"/>
          </a:p>
          <a:p>
            <a:pPr indent="0" lvl="0" marL="0" rtl="0" algn="r">
              <a:spcBef>
                <a:spcPts val="0"/>
              </a:spcBef>
              <a:spcAft>
                <a:spcPts val="0"/>
              </a:spcAft>
              <a:buNone/>
            </a:pPr>
            <a:r>
              <a:t/>
            </a:r>
            <a:endParaRPr/>
          </a:p>
        </p:txBody>
      </p:sp>
      <p:graphicFrame>
        <p:nvGraphicFramePr>
          <p:cNvPr id="81" name="Google Shape;81;p4"/>
          <p:cNvGraphicFramePr/>
          <p:nvPr/>
        </p:nvGraphicFramePr>
        <p:xfrm>
          <a:off x="515952" y="5116019"/>
          <a:ext cx="3000000" cy="3000000"/>
        </p:xfrm>
        <a:graphic>
          <a:graphicData uri="http://schemas.openxmlformats.org/drawingml/2006/table">
            <a:tbl>
              <a:tblPr firstRow="1">
                <a:noFill/>
                <a:tableStyleId>{08659190-FCFE-4D70-9B86-54A6606F5F58}</a:tableStyleId>
              </a:tblPr>
              <a:tblGrid>
                <a:gridCol w="3849500"/>
                <a:gridCol w="3694650"/>
                <a:gridCol w="1948875"/>
                <a:gridCol w="1704650"/>
              </a:tblGrid>
              <a:tr h="252000">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Name des ESG-Zertifikats/Umweltsiegels </a:t>
                      </a:r>
                      <a:r>
                        <a:rPr b="0" lang="de-DE" sz="1200">
                          <a:solidFill>
                            <a:schemeClr val="dk2"/>
                          </a:solidFill>
                          <a:latin typeface="IBM Plex Sans"/>
                          <a:ea typeface="IBM Plex Sans"/>
                          <a:cs typeface="IBM Plex Sans"/>
                          <a:sym typeface="IBM Plex Sans"/>
                        </a:rPr>
                        <a:t>(Nr. 28)</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Kurze Beschreibung</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Datum der Ausstellung/</a:t>
                      </a:r>
                      <a:endParaRPr/>
                    </a:p>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Gültigkeit</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Etwaige Bewertungsnote</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52000">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{{certificate_or_ecolabel}}</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{{description_certificate}}</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{{date_certicate}}</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{{certiciate_possible_rating}}</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82" name="Google Shape;82;p4"/>
          <p:cNvGraphicFramePr/>
          <p:nvPr/>
        </p:nvGraphicFramePr>
        <p:xfrm>
          <a:off x="534502" y="1788146"/>
          <a:ext cx="3000000" cy="3000000"/>
        </p:xfrm>
        <a:graphic>
          <a:graphicData uri="http://schemas.openxmlformats.org/drawingml/2006/table">
            <a:tbl>
              <a:tblPr firstRow="1">
                <a:noFill/>
                <a:tableStyleId>{08659190-FCFE-4D70-9B86-54A6606F5F58}</a:tableStyleId>
              </a:tblPr>
              <a:tblGrid>
                <a:gridCol w="2030575"/>
                <a:gridCol w="2156275"/>
                <a:gridCol w="1647600"/>
                <a:gridCol w="1610150"/>
                <a:gridCol w="1784900"/>
                <a:gridCol w="1912000"/>
              </a:tblGrid>
              <a:tr h="324000">
                <a:tc gridSpan="6">
                  <a:txBody>
                    <a:bodyPr/>
                    <a:lstStyle/>
                    <a:p>
                      <a:pPr indent="0" lvl="0" marL="0" marR="0" rtl="0" algn="l">
                        <a:lnSpc>
                          <a:spcPct val="100000"/>
                        </a:lnSpc>
                        <a:spcBef>
                          <a:spcPts val="0"/>
                        </a:spcBef>
                        <a:spcAft>
                          <a:spcPts val="0"/>
                        </a:spcAft>
                        <a:buClr>
                          <a:schemeClr val="dk2"/>
                        </a:buClr>
                        <a:buSzPts val="1200"/>
                        <a:buFont typeface="IBM Plex Sans"/>
                        <a:buNone/>
                      </a:pPr>
                      <a:r>
                        <a:rPr b="1" lang="de-DE" sz="1200">
                          <a:solidFill>
                            <a:schemeClr val="dk2"/>
                          </a:solidFill>
                          <a:latin typeface="IBM Plex Sans"/>
                          <a:ea typeface="IBM Plex Sans"/>
                          <a:cs typeface="IBM Plex Sans"/>
                          <a:sym typeface="IBM Plex Sans"/>
                        </a:rPr>
                        <a:t>Anschriften und Geoposition </a:t>
                      </a:r>
                      <a:r>
                        <a:rPr b="1" lang="de-DE" sz="1200" u="none">
                          <a:solidFill>
                            <a:schemeClr val="dk2"/>
                          </a:solidFill>
                          <a:latin typeface="IBM Plex Sans"/>
                          <a:ea typeface="IBM Plex Sans"/>
                          <a:cs typeface="IBM Plex Sans"/>
                          <a:sym typeface="IBM Plex Sans"/>
                        </a:rPr>
                        <a:t>wesentlicher</a:t>
                      </a:r>
                      <a:r>
                        <a:rPr b="1" lang="de-DE" sz="1200">
                          <a:solidFill>
                            <a:schemeClr val="dk2"/>
                          </a:solidFill>
                          <a:latin typeface="IBM Plex Sans"/>
                          <a:ea typeface="IBM Plex Sans"/>
                          <a:cs typeface="IBM Plex Sans"/>
                          <a:sym typeface="IBM Plex Sans"/>
                        </a:rPr>
                        <a:t> Vermögenswerte und Standorte, die das Unternehmen</a:t>
                      </a:r>
                      <a:r>
                        <a:rPr b="0" lang="de-DE" sz="1200">
                          <a:solidFill>
                            <a:schemeClr val="dk2"/>
                          </a:solidFill>
                          <a:latin typeface="IBM Plex Sans"/>
                          <a:ea typeface="IBM Plex Sans"/>
                          <a:cs typeface="IBM Plex Sans"/>
                          <a:sym typeface="IBM Plex Sans"/>
                        </a:rPr>
                        <a:t> </a:t>
                      </a:r>
                      <a:r>
                        <a:rPr b="1" lang="de-DE" sz="1200">
                          <a:solidFill>
                            <a:schemeClr val="dk2"/>
                          </a:solidFill>
                          <a:latin typeface="IBM Plex Sans"/>
                          <a:ea typeface="IBM Plex Sans"/>
                          <a:cs typeface="IBM Plex Sans"/>
                          <a:sym typeface="IBM Plex Sans"/>
                        </a:rPr>
                        <a:t>besitzt, gepachtet hat oder bewirtschaftet </a:t>
                      </a:r>
                      <a:r>
                        <a:rPr b="0" lang="de-DE" sz="1200">
                          <a:solidFill>
                            <a:schemeClr val="dk2"/>
                          </a:solidFill>
                          <a:latin typeface="IBM Plex Sans"/>
                          <a:ea typeface="IBM Plex Sans"/>
                          <a:cs typeface="IBM Plex Sans"/>
                          <a:sym typeface="IBM Plex Sans"/>
                        </a:rPr>
                        <a:t>(Nr. 27e, vi, vii)</a:t>
                      </a:r>
                      <a:endParaRPr/>
                    </a:p>
                    <a:p>
                      <a:pPr indent="0" lvl="0" marL="0" marR="0" rtl="0" algn="l">
                        <a:lnSpc>
                          <a:spcPct val="100000"/>
                        </a:lnSpc>
                        <a:spcBef>
                          <a:spcPts val="0"/>
                        </a:spcBef>
                        <a:spcAft>
                          <a:spcPts val="0"/>
                        </a:spcAft>
                        <a:buClr>
                          <a:schemeClr val="dk1"/>
                        </a:buClr>
                        <a:buSzPts val="1200"/>
                        <a:buFont typeface="IBM Plex Sans"/>
                        <a:buNone/>
                      </a:pPr>
                      <a:r>
                        <a:t/>
                      </a:r>
                      <a:endParaRPr b="1" sz="1200">
                        <a:solidFill>
                          <a:schemeClr val="dk2"/>
                        </a:solidFill>
                        <a:latin typeface="IBM Plex Sans"/>
                        <a:ea typeface="IBM Plex Sans"/>
                        <a:cs typeface="IBM Plex Sans"/>
                        <a:sym typeface="IBM Plex Sans"/>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c hMerge="1"/>
                <a:tc hMerge="1"/>
                <a:tc hMerge="1"/>
                <a:tc hMerge="1"/>
              </a:tr>
              <a:tr h="324000">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Standort</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Anschrift</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PLZ</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Stadt</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Land</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Geoposition (Koordinaten)</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324000">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{{geolocation}}</a:t>
                      </a:r>
                      <a:endParaRPr b="0" sz="1200"/>
                    </a:p>
                  </a:txBody>
                  <a:tcPr marT="12700" marB="12700" marR="19050" marL="190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{{geolocation_adress}}</a:t>
                      </a:r>
                      <a:endParaRPr b="0" sz="1200"/>
                    </a:p>
                  </a:txBody>
                  <a:tcPr marT="12700" marB="12700" marR="19050" marL="190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{{geolocation_postcode}}</a:t>
                      </a:r>
                      <a:endParaRPr b="0" sz="1200"/>
                    </a:p>
                  </a:txBody>
                  <a:tcPr marT="12700" marB="12700" marR="19050" marL="190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{{geolocation_city}}</a:t>
                      </a:r>
                      <a:endParaRPr b="0" sz="1200"/>
                    </a:p>
                  </a:txBody>
                  <a:tcPr marT="12700" marB="12700" marR="19050" marL="190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{{geolocation_country}}</a:t>
                      </a:r>
                      <a:endParaRPr b="0" sz="1200"/>
                    </a:p>
                  </a:txBody>
                  <a:tcPr marT="12700" marB="12700" marR="19050" marL="190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{{geolocation_coordinates}}</a:t>
                      </a:r>
                      <a:endParaRPr b="0" sz="1200"/>
                    </a:p>
                  </a:txBody>
                  <a:tcPr marT="12700" marB="12700" marR="19050" marL="1905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83" name="Google Shape;83;p4"/>
          <p:cNvSpPr txBox="1"/>
          <p:nvPr/>
        </p:nvSpPr>
        <p:spPr>
          <a:xfrm>
            <a:off x="515952" y="1016000"/>
            <a:ext cx="1116804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de-DE" sz="1200" u="none" cap="none" strike="noStrike">
                <a:solidFill>
                  <a:schemeClr val="dk2"/>
                </a:solidFill>
                <a:latin typeface="Inter"/>
                <a:ea typeface="Inter"/>
                <a:cs typeface="Inter"/>
                <a:sym typeface="Inter"/>
              </a:rPr>
              <a:t>Nachstehend werden die Geopositionen des Unternehmens und die Orte seiner Tätigkeit beschrieben. Diese Angaben können für klimabedingte Risikozonen genutzt werden und informieren über Anlagen, Einrichtungen und/oder den Hauptsitz. Relevante Nachhaltigkeitszertifizierungen oder -siegel sind ebenfalls angegeben, einschließlich Aussteller, Datum und etwaiger Bewertungsnote.</a:t>
            </a:r>
            <a:endParaRPr b="0" i="0" sz="1200" u="none" cap="none" strike="noStrike">
              <a:solidFill>
                <a:schemeClr val="dk2"/>
              </a:solidFill>
              <a:latin typeface="Inter"/>
              <a:ea typeface="Inter"/>
              <a:cs typeface="Inter"/>
              <a:sym typeface="Inter"/>
            </a:endParaRPr>
          </a:p>
        </p:txBody>
      </p:sp>
      <p:sp>
        <p:nvSpPr>
          <p:cNvPr id="84" name="Google Shape;84;p4"/>
          <p:cNvSpPr txBox="1"/>
          <p:nvPr/>
        </p:nvSpPr>
        <p:spPr>
          <a:xfrm>
            <a:off x="515952" y="4768057"/>
            <a:ext cx="8180576"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de-DE" sz="1200" u="none" cap="none" strike="noStrike">
                <a:solidFill>
                  <a:srgbClr val="487477"/>
                </a:solidFill>
                <a:latin typeface="Inter"/>
                <a:ea typeface="Inter"/>
                <a:cs typeface="Inter"/>
                <a:sym typeface="Inter"/>
              </a:rPr>
              <a:t>Die Zertifikate und Umweltsiegel des Unternehmens sind nachstehend aufgeführt.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5"/>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e-DE"/>
              <a:t>Verfahrensweisen, Richtlinien und künftige Initiativen für den Übergang zu einer nachhaltigeren Wirtschaft (B2)</a:t>
            </a:r>
            <a:endParaRPr/>
          </a:p>
        </p:txBody>
      </p:sp>
      <p:sp>
        <p:nvSpPr>
          <p:cNvPr id="91" name="Google Shape;91;p5"/>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e-DE"/>
              <a:t>{{company_name}}</a:t>
            </a:r>
            <a:endParaRPr b="0"/>
          </a:p>
          <a:p>
            <a:pPr indent="0" lvl="0" marL="0" rtl="0" algn="r">
              <a:spcBef>
                <a:spcPts val="0"/>
              </a:spcBef>
              <a:spcAft>
                <a:spcPts val="0"/>
              </a:spcAft>
              <a:buNone/>
            </a:pPr>
            <a:r>
              <a:t/>
            </a:r>
            <a:endParaRPr/>
          </a:p>
        </p:txBody>
      </p:sp>
      <p:graphicFrame>
        <p:nvGraphicFramePr>
          <p:cNvPr id="92" name="Google Shape;92;p5"/>
          <p:cNvGraphicFramePr/>
          <p:nvPr/>
        </p:nvGraphicFramePr>
        <p:xfrm>
          <a:off x="518600" y="1711777"/>
          <a:ext cx="3000000" cy="3000000"/>
        </p:xfrm>
        <a:graphic>
          <a:graphicData uri="http://schemas.openxmlformats.org/drawingml/2006/table">
            <a:tbl>
              <a:tblPr firstRow="1">
                <a:noFill/>
                <a:tableStyleId>{08659190-FCFE-4D70-9B86-54A6606F5F58}</a:tableStyleId>
              </a:tblPr>
              <a:tblGrid>
                <a:gridCol w="1996000"/>
                <a:gridCol w="2108200"/>
                <a:gridCol w="1651000"/>
                <a:gridCol w="2311400"/>
                <a:gridCol w="3098800"/>
              </a:tblGrid>
              <a:tr h="476275">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Bereich</a:t>
                      </a:r>
                      <a:endParaRPr/>
                    </a:p>
                    <a:p>
                      <a:pPr indent="0" lvl="0" marL="0" marR="0" rtl="0" algn="l">
                        <a:spcBef>
                          <a:spcPts val="0"/>
                        </a:spcBef>
                        <a:spcAft>
                          <a:spcPts val="0"/>
                        </a:spcAft>
                        <a:buNone/>
                      </a:pPr>
                      <a:r>
                        <a:rPr b="0" lang="de-DE" sz="1200">
                          <a:solidFill>
                            <a:schemeClr val="dk2"/>
                          </a:solidFill>
                          <a:latin typeface="IBM Plex Sans"/>
                          <a:ea typeface="IBM Plex Sans"/>
                          <a:cs typeface="IBM Plex Sans"/>
                          <a:sym typeface="IBM Plex Sans"/>
                        </a:rPr>
                        <a:t>(Nr. 29a-d)</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Konkrete Verfahrensweise oder Richtlinie vorhanden</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Ist die Richtlinie öffentlich zugänglich? </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Das Unternehmen hat künftige Initiativen und Pläne</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Konkrete Ziele zur Überwachung der Umsetzung von Verfahrensweisen und Richtlinien vorhanden?</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304500">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Klimawandel</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{{climate_change_concrete}}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{{climate_change_publicly}}</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{{climate_change_future}}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Inter"/>
                        <a:buNone/>
                      </a:pPr>
                      <a:r>
                        <a:rPr b="0" i="0" lang="de-DE" sz="1200" u="none" strike="noStrike">
                          <a:solidFill>
                            <a:schemeClr val="accent2"/>
                          </a:solidFill>
                          <a:latin typeface="Inter"/>
                          <a:ea typeface="Inter"/>
                          <a:cs typeface="Inter"/>
                          <a:sym typeface="Inter"/>
                        </a:rPr>
                        <a:t>{{climate_change_plan}}</a:t>
                      </a:r>
                      <a:endParaRPr sz="1800">
                        <a:latin typeface="Inter"/>
                        <a:ea typeface="Inter"/>
                        <a:cs typeface="Inter"/>
                        <a:sym typeface="Inte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88975">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Umweltver­schmutzung</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{{pollution_concrete}}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{{pollution_publicly}}</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{{pollution_future}}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Inter"/>
                        <a:buNone/>
                      </a:pPr>
                      <a:r>
                        <a:rPr b="0" i="0" lang="de-DE" sz="1200" u="none" strike="noStrike">
                          <a:solidFill>
                            <a:schemeClr val="accent2"/>
                          </a:solidFill>
                          <a:latin typeface="Inter"/>
                          <a:ea typeface="Inter"/>
                          <a:cs typeface="Inter"/>
                          <a:sym typeface="Inter"/>
                        </a:rPr>
                        <a:t>{{pollution_plan}}</a:t>
                      </a:r>
                      <a:endParaRPr sz="1800">
                        <a:latin typeface="Inter"/>
                        <a:ea typeface="Inter"/>
                        <a:cs typeface="Inter"/>
                        <a:sym typeface="Inte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7175">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Wasser- und Meeresressourcen</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{{water_concrete}}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{{water_publicly}}</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{{water_future}}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Inter"/>
                        <a:buNone/>
                      </a:pPr>
                      <a:r>
                        <a:rPr b="0" i="0" lang="de-DE" sz="1200" u="none" strike="noStrike">
                          <a:solidFill>
                            <a:schemeClr val="accent2"/>
                          </a:solidFill>
                          <a:latin typeface="Inter"/>
                          <a:ea typeface="Inter"/>
                          <a:cs typeface="Inter"/>
                          <a:sym typeface="Inter"/>
                        </a:rPr>
                        <a:t>{{water_plan}}</a:t>
                      </a:r>
                      <a:endParaRPr sz="1800">
                        <a:latin typeface="Inter"/>
                        <a:ea typeface="Inter"/>
                        <a:cs typeface="Inter"/>
                        <a:sym typeface="Inte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7175">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Biodiversität und Ökosysteme</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{{biodiversity_concrete}}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{{biodiversity_publicly}}</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{{biodiversity_future}}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Inter"/>
                        <a:buNone/>
                      </a:pPr>
                      <a:r>
                        <a:rPr b="0" i="0" lang="de-DE" sz="1200" u="none" strike="noStrike">
                          <a:solidFill>
                            <a:schemeClr val="accent2"/>
                          </a:solidFill>
                          <a:latin typeface="Inter"/>
                          <a:ea typeface="Inter"/>
                          <a:cs typeface="Inter"/>
                          <a:sym typeface="Inter"/>
                        </a:rPr>
                        <a:t>{{biodiversity_plan}}</a:t>
                      </a:r>
                      <a:endParaRPr sz="1800">
                        <a:latin typeface="Inter"/>
                        <a:ea typeface="Inter"/>
                        <a:cs typeface="Inter"/>
                        <a:sym typeface="Inte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7175">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Kreislaufwirt­schaft</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{{circular_concrete}}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{{circular_publicly}}</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{{circular_future}}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Inter"/>
                        <a:buNone/>
                      </a:pPr>
                      <a:r>
                        <a:rPr b="0" i="0" lang="de-DE" sz="1200" u="none" strike="noStrike">
                          <a:solidFill>
                            <a:schemeClr val="accent2"/>
                          </a:solidFill>
                          <a:latin typeface="Inter"/>
                          <a:ea typeface="Inter"/>
                          <a:cs typeface="Inter"/>
                          <a:sym typeface="Inter"/>
                        </a:rPr>
                        <a:t>{{circular_plan}}</a:t>
                      </a:r>
                      <a:endParaRPr sz="1800">
                        <a:latin typeface="Inter"/>
                        <a:ea typeface="Inter"/>
                        <a:cs typeface="Inter"/>
                        <a:sym typeface="Inte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7175">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Arbeitskräfte des Unternehmens</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{{workforce_concrete}}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{{workforce_publicly}}</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{{workforce_future}}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Inter"/>
                        <a:buNone/>
                      </a:pPr>
                      <a:r>
                        <a:rPr b="0" i="0" lang="de-DE" sz="1200" u="none" strike="noStrike">
                          <a:solidFill>
                            <a:schemeClr val="accent2"/>
                          </a:solidFill>
                          <a:latin typeface="Inter"/>
                          <a:ea typeface="Inter"/>
                          <a:cs typeface="Inter"/>
                          <a:sym typeface="Inter"/>
                        </a:rPr>
                        <a:t>{{workforce_plan}}</a:t>
                      </a:r>
                      <a:endParaRPr sz="1800">
                        <a:latin typeface="Inter"/>
                        <a:ea typeface="Inter"/>
                        <a:cs typeface="Inter"/>
                        <a:sym typeface="Inte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7175">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Arbeitskräfte in der Wertschöpfungs­kette</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{{workers_concrete}}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{{workers_publicly}}</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{{workers_future}}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Inter"/>
                        <a:buNone/>
                      </a:pPr>
                      <a:r>
                        <a:rPr b="0" i="0" lang="de-DE" sz="1200" u="none" strike="noStrike">
                          <a:solidFill>
                            <a:schemeClr val="accent2"/>
                          </a:solidFill>
                          <a:latin typeface="Inter"/>
                          <a:ea typeface="Inter"/>
                          <a:cs typeface="Inter"/>
                          <a:sym typeface="Inter"/>
                        </a:rPr>
                        <a:t>{{workers_plan}}</a:t>
                      </a:r>
                      <a:endParaRPr sz="1800">
                        <a:latin typeface="Inter"/>
                        <a:ea typeface="Inter"/>
                        <a:cs typeface="Inter"/>
                        <a:sym typeface="Inte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7175">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Betroffene Gemeinschaften</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{{communities_concrete}}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{{communities_publicly}}</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{{communities_future}}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Inter"/>
                        <a:buNone/>
                      </a:pPr>
                      <a:r>
                        <a:rPr b="0" i="0" lang="de-DE" sz="1200" u="none" strike="noStrike">
                          <a:solidFill>
                            <a:schemeClr val="accent2"/>
                          </a:solidFill>
                          <a:latin typeface="Inter"/>
                          <a:ea typeface="Inter"/>
                          <a:cs typeface="Inter"/>
                          <a:sym typeface="Inter"/>
                        </a:rPr>
                        <a:t>{{communities_plan}}</a:t>
                      </a:r>
                      <a:endParaRPr sz="1800">
                        <a:latin typeface="Inter"/>
                        <a:ea typeface="Inter"/>
                        <a:cs typeface="Inter"/>
                        <a:sym typeface="Inte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7175">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Verbraucher und Endnutzer</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{{consumers_concrete}}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{{consumers_publicly}}</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{{consumers_future}}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Inter"/>
                        <a:buNone/>
                      </a:pPr>
                      <a:r>
                        <a:rPr b="0" i="0" lang="de-DE" sz="1200" u="none" strike="noStrike">
                          <a:solidFill>
                            <a:schemeClr val="accent2"/>
                          </a:solidFill>
                          <a:latin typeface="Inter"/>
                          <a:ea typeface="Inter"/>
                          <a:cs typeface="Inter"/>
                          <a:sym typeface="Inter"/>
                        </a:rPr>
                        <a:t>{{consumers_plan}}</a:t>
                      </a:r>
                      <a:endParaRPr sz="1800">
                        <a:latin typeface="Inter"/>
                        <a:ea typeface="Inter"/>
                        <a:cs typeface="Inter"/>
                        <a:sym typeface="Inte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97175">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Unternehmenspolitik</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{{governance_concrete}}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{{governance_publicly}}</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{{governance_future}}</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Inter"/>
                        <a:buNone/>
                      </a:pPr>
                      <a:r>
                        <a:rPr b="0" i="0" lang="de-DE" sz="1200" u="none" strike="noStrike">
                          <a:solidFill>
                            <a:schemeClr val="accent2"/>
                          </a:solidFill>
                          <a:latin typeface="Inter"/>
                          <a:ea typeface="Inter"/>
                          <a:cs typeface="Inter"/>
                          <a:sym typeface="Inter"/>
                        </a:rPr>
                        <a:t>{{governance_plan}}</a:t>
                      </a:r>
                      <a:endParaRPr sz="1800">
                        <a:latin typeface="Inter"/>
                        <a:ea typeface="Inter"/>
                        <a:cs typeface="Inter"/>
                        <a:sym typeface="Inte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93" name="Google Shape;93;p5"/>
          <p:cNvSpPr txBox="1"/>
          <p:nvPr/>
        </p:nvSpPr>
        <p:spPr>
          <a:xfrm>
            <a:off x="518600" y="1016000"/>
            <a:ext cx="111548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de-DE" sz="1200" u="none" strike="noStrike">
                <a:solidFill>
                  <a:schemeClr val="dk2"/>
                </a:solidFill>
                <a:latin typeface="Inter"/>
                <a:ea typeface="Inter"/>
                <a:cs typeface="Inter"/>
                <a:sym typeface="Inter"/>
              </a:rPr>
              <a:t>Dieser Abschnitt beschreibt die Verfahrensweisen, Richtlinien und künftigen Initiativen, die das Unternehmen zur Unterstützung einer nachhaltigen Wirtschaft umgesetzt hat. Dazu gehört die Angabe, welche konkreten Maßnahmen das Unternehmen ergriffen hat, um negative Umweltauswirkungen zu verringern und die Arbeitsbedingungen sowie die Gleichbehandlung zu verbessern (JA/NEIN).</a:t>
            </a:r>
            <a:br>
              <a:rPr lang="de-DE" sz="1200">
                <a:solidFill>
                  <a:schemeClr val="dk2"/>
                </a:solidFill>
                <a:latin typeface="IBM Plex Sans"/>
                <a:ea typeface="IBM Plex Sans"/>
                <a:cs typeface="IBM Plex Sans"/>
                <a:sym typeface="IBM Plex Sans"/>
              </a:rPr>
            </a:br>
            <a:endParaRPr sz="1200">
              <a:solidFill>
                <a:schemeClr val="dk2"/>
              </a:solidFill>
              <a:latin typeface="IBM Plex Sans"/>
              <a:ea typeface="IBM Plex Sans"/>
              <a:cs typeface="IBM Plex Sans"/>
              <a:sym typeface="IBM Plex Sans"/>
            </a:endParaRPr>
          </a:p>
        </p:txBody>
      </p:sp>
      <p:sp>
        <p:nvSpPr>
          <p:cNvPr id="94" name="Google Shape;94;p5"/>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6"/>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e-DE"/>
              <a:t>Energieverbrauch (B3)</a:t>
            </a:r>
            <a:endParaRPr/>
          </a:p>
        </p:txBody>
      </p:sp>
      <p:graphicFrame>
        <p:nvGraphicFramePr>
          <p:cNvPr id="101" name="Google Shape;101;p6"/>
          <p:cNvGraphicFramePr/>
          <p:nvPr/>
        </p:nvGraphicFramePr>
        <p:xfrm>
          <a:off x="505570" y="1550345"/>
          <a:ext cx="3000000" cy="3000000"/>
        </p:xfrm>
        <a:graphic>
          <a:graphicData uri="http://schemas.openxmlformats.org/drawingml/2006/table">
            <a:tbl>
              <a:tblPr firstRow="1">
                <a:noFill/>
                <a:tableStyleId>{08659190-FCFE-4D70-9B86-54A6606F5F58}</a:tableStyleId>
              </a:tblPr>
              <a:tblGrid>
                <a:gridCol w="3033800"/>
                <a:gridCol w="2816100"/>
                <a:gridCol w="2969800"/>
                <a:gridCol w="2358725"/>
              </a:tblGrid>
              <a:tr h="249275">
                <a:tc gridSpan="4">
                  <a:txBody>
                    <a:bodyPr/>
                    <a:lstStyle/>
                    <a:p>
                      <a:pPr indent="0" lvl="0" marL="0" marR="0" rtl="0" algn="ctr">
                        <a:lnSpc>
                          <a:spcPct val="106000"/>
                        </a:lnSpc>
                        <a:spcBef>
                          <a:spcPts val="0"/>
                        </a:spcBef>
                        <a:spcAft>
                          <a:spcPts val="0"/>
                        </a:spcAft>
                        <a:buClr>
                          <a:schemeClr val="dk2"/>
                        </a:buClr>
                        <a:buSzPts val="1200"/>
                        <a:buFont typeface="IBM Plex Sans"/>
                        <a:buNone/>
                      </a:pPr>
                      <a:r>
                        <a:rPr b="1" lang="de-DE" sz="1200">
                          <a:solidFill>
                            <a:schemeClr val="dk2"/>
                          </a:solidFill>
                        </a:rPr>
                        <a:t>Energieverbrauch in MWh </a:t>
                      </a:r>
                      <a:r>
                        <a:rPr b="0" lang="de-DE" sz="1200">
                          <a:solidFill>
                            <a:schemeClr val="dk2"/>
                          </a:solidFill>
                        </a:rPr>
                        <a:t>(Nr. 32)</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c hMerge="1"/>
              </a:tr>
              <a:tr h="396325">
                <a:tc>
                  <a:txBody>
                    <a:bodyPr/>
                    <a:lstStyle/>
                    <a:p>
                      <a:pPr indent="0" lvl="0" marL="0" marR="0" rtl="0" algn="l">
                        <a:lnSpc>
                          <a:spcPct val="106000"/>
                        </a:lnSpc>
                        <a:spcBef>
                          <a:spcPts val="0"/>
                        </a:spcBef>
                        <a:spcAft>
                          <a:spcPts val="0"/>
                        </a:spcAft>
                        <a:buNone/>
                      </a:pPr>
                      <a:r>
                        <a:t/>
                      </a:r>
                      <a:endParaRPr b="1"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lnSpc>
                          <a:spcPct val="106000"/>
                        </a:lnSpc>
                        <a:spcBef>
                          <a:spcPts val="0"/>
                        </a:spcBef>
                        <a:spcAft>
                          <a:spcPts val="0"/>
                        </a:spcAft>
                        <a:buNone/>
                      </a:pPr>
                      <a:r>
                        <a:rPr b="1" lang="de-DE" sz="1200">
                          <a:solidFill>
                            <a:schemeClr val="dk2"/>
                          </a:solidFill>
                        </a:rPr>
                        <a:t>Erneuerbarer Energieverbrauch</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lnSpc>
                          <a:spcPct val="106000"/>
                        </a:lnSpc>
                        <a:spcBef>
                          <a:spcPts val="0"/>
                        </a:spcBef>
                        <a:spcAft>
                          <a:spcPts val="0"/>
                        </a:spcAft>
                        <a:buNone/>
                      </a:pPr>
                      <a:r>
                        <a:rPr b="1" lang="de-DE" sz="1200">
                          <a:solidFill>
                            <a:schemeClr val="dk2"/>
                          </a:solidFill>
                        </a:rPr>
                        <a:t>Nicht erneuerbarer Energieverbrauch</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Clr>
                          <a:schemeClr val="dk2"/>
                        </a:buClr>
                        <a:buSzPts val="1200"/>
                        <a:buFont typeface="IBM Plex Sans"/>
                        <a:buNone/>
                      </a:pPr>
                      <a:r>
                        <a:rPr b="1" lang="de-DE" sz="1200">
                          <a:solidFill>
                            <a:schemeClr val="dk2"/>
                          </a:solidFill>
                        </a:rPr>
                        <a:t>Gesamtenergieverbrauch (MWh)</a:t>
                      </a:r>
                      <a:endParaRPr/>
                    </a:p>
                    <a:p>
                      <a:pPr indent="0" lvl="0" marL="0" marR="0" rtl="0" algn="ctr">
                        <a:lnSpc>
                          <a:spcPct val="106000"/>
                        </a:lnSpc>
                        <a:spcBef>
                          <a:spcPts val="0"/>
                        </a:spcBef>
                        <a:spcAft>
                          <a:spcPts val="0"/>
                        </a:spcAft>
                        <a:buClr>
                          <a:schemeClr val="accent2"/>
                        </a:buClr>
                        <a:buSzPts val="1200"/>
                        <a:buFont typeface="IBM Plex Sans"/>
                        <a:buNone/>
                      </a:pPr>
                      <a:r>
                        <a:rPr b="1" lang="de-DE" sz="1200">
                          <a:solidFill>
                            <a:schemeClr val="accent2"/>
                          </a:solidFill>
                        </a:rPr>
                        <a:t>{{insert_year}}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96325">
                <a:tc>
                  <a:txBody>
                    <a:bodyPr/>
                    <a:lstStyle/>
                    <a:p>
                      <a:pPr indent="0" lvl="0" marL="0" marR="0" rtl="0" algn="l">
                        <a:lnSpc>
                          <a:spcPct val="106000"/>
                        </a:lnSpc>
                        <a:spcBef>
                          <a:spcPts val="0"/>
                        </a:spcBef>
                        <a:spcAft>
                          <a:spcPts val="0"/>
                        </a:spcAft>
                        <a:buNone/>
                      </a:pPr>
                      <a:r>
                        <a:rPr b="1" lang="de-DE" sz="1200">
                          <a:solidFill>
                            <a:schemeClr val="dk2"/>
                          </a:solidFill>
                        </a:rPr>
                        <a:t>Strom </a:t>
                      </a:r>
                      <a:r>
                        <a:rPr b="0" lang="de-DE" sz="1200">
                          <a:solidFill>
                            <a:schemeClr val="dk2"/>
                          </a:solidFill>
                        </a:rPr>
                        <a:t>(wie in den Rechnungen der Versorgungsunternehmen angegeben)</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BM Plex Sans"/>
                        <a:buNone/>
                      </a:pPr>
                      <a:r>
                        <a:rPr b="0" i="0" lang="de-DE" sz="1200" u="none" strike="noStrike">
                          <a:solidFill>
                            <a:srgbClr val="2D55FF"/>
                          </a:solidFill>
                          <a:latin typeface="IBM Plex Sans"/>
                          <a:ea typeface="IBM Plex Sans"/>
                          <a:cs typeface="IBM Plex Sans"/>
                          <a:sym typeface="IBM Plex Sans"/>
                        </a:rPr>
                        <a:t>{{electricity_renewable}}</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2D55FF"/>
                        </a:buClr>
                        <a:buSzPts val="1200"/>
                        <a:buFont typeface="IBM Plex Sans"/>
                        <a:buNone/>
                      </a:pPr>
                      <a:r>
                        <a:rPr b="0" i="0" lang="de-DE" sz="1200" u="none" strike="noStrike">
                          <a:solidFill>
                            <a:srgbClr val="2D55FF"/>
                          </a:solidFill>
                          <a:latin typeface="IBM Plex Sans"/>
                          <a:ea typeface="IBM Plex Sans"/>
                          <a:cs typeface="IBM Plex Sans"/>
                          <a:sym typeface="IBM Plex Sans"/>
                        </a:rPr>
                        <a:t>{{electricity_non_rewenable}}</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2D55FF"/>
                        </a:buClr>
                        <a:buSzPts val="1200"/>
                        <a:buFont typeface="IBM Plex Sans"/>
                        <a:buNone/>
                      </a:pPr>
                      <a:r>
                        <a:rPr b="0" i="0" lang="de-DE" sz="1200" u="none" strike="noStrike">
                          <a:solidFill>
                            <a:srgbClr val="2D55FF"/>
                          </a:solidFill>
                          <a:latin typeface="IBM Plex Sans"/>
                          <a:ea typeface="IBM Plex Sans"/>
                          <a:cs typeface="IBM Plex Sans"/>
                          <a:sym typeface="IBM Plex Sans"/>
                        </a:rPr>
                        <a:t>{{total_electricity}}</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49275">
                <a:tc>
                  <a:txBody>
                    <a:bodyPr/>
                    <a:lstStyle/>
                    <a:p>
                      <a:pPr indent="0" lvl="0" marL="0" marR="0" rtl="0" algn="l">
                        <a:lnSpc>
                          <a:spcPct val="106000"/>
                        </a:lnSpc>
                        <a:spcBef>
                          <a:spcPts val="0"/>
                        </a:spcBef>
                        <a:spcAft>
                          <a:spcPts val="0"/>
                        </a:spcAft>
                        <a:buNone/>
                      </a:pPr>
                      <a:r>
                        <a:rPr b="1" lang="de-DE" sz="1200">
                          <a:solidFill>
                            <a:schemeClr val="dk2"/>
                          </a:solidFill>
                        </a:rPr>
                        <a:t>Kraft-/Brennstoffe</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BM Plex Sans"/>
                        <a:buNone/>
                      </a:pPr>
                      <a:r>
                        <a:rPr b="0" i="0" lang="de-DE" sz="1200" u="none" strike="noStrike">
                          <a:solidFill>
                            <a:srgbClr val="2D55FF"/>
                          </a:solidFill>
                          <a:latin typeface="IBM Plex Sans"/>
                          <a:ea typeface="IBM Plex Sans"/>
                          <a:cs typeface="IBM Plex Sans"/>
                          <a:sym typeface="IBM Plex Sans"/>
                        </a:rPr>
                        <a:t>{{fuel_renewable}}</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2D55FF"/>
                        </a:buClr>
                        <a:buSzPts val="1200"/>
                        <a:buFont typeface="IBM Plex Sans"/>
                        <a:buNone/>
                      </a:pPr>
                      <a:r>
                        <a:rPr b="0" i="0" lang="de-DE" sz="1200" u="none" strike="noStrike">
                          <a:solidFill>
                            <a:srgbClr val="2D55FF"/>
                          </a:solidFill>
                          <a:latin typeface="IBM Plex Sans"/>
                          <a:ea typeface="IBM Plex Sans"/>
                          <a:cs typeface="IBM Plex Sans"/>
                          <a:sym typeface="IBM Plex Sans"/>
                        </a:rPr>
                        <a:t>{{fuel_non_rewenable}}</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2D55FF"/>
                        </a:buClr>
                        <a:buSzPts val="1200"/>
                        <a:buFont typeface="IBM Plex Sans"/>
                        <a:buNone/>
                      </a:pPr>
                      <a:r>
                        <a:rPr b="0" i="0" lang="de-DE" sz="1200" u="none" strike="noStrike">
                          <a:solidFill>
                            <a:srgbClr val="2D55FF"/>
                          </a:solidFill>
                          <a:latin typeface="IBM Plex Sans"/>
                          <a:ea typeface="IBM Plex Sans"/>
                          <a:cs typeface="IBM Plex Sans"/>
                          <a:sym typeface="IBM Plex Sans"/>
                        </a:rPr>
                        <a:t>{{total_fuel}}</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49275">
                <a:tc>
                  <a:txBody>
                    <a:bodyPr/>
                    <a:lstStyle/>
                    <a:p>
                      <a:pPr indent="0" lvl="0" marL="0" marR="0" rtl="0" algn="l">
                        <a:lnSpc>
                          <a:spcPct val="106000"/>
                        </a:lnSpc>
                        <a:spcBef>
                          <a:spcPts val="0"/>
                        </a:spcBef>
                        <a:spcAft>
                          <a:spcPts val="0"/>
                        </a:spcAft>
                        <a:buNone/>
                      </a:pPr>
                      <a:r>
                        <a:rPr b="1" lang="de-DE" sz="1200">
                          <a:solidFill>
                            <a:schemeClr val="dk2"/>
                          </a:solidFill>
                        </a:rPr>
                        <a:t>Sonstiges (z. B. Fernwärme)</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BM Plex Sans"/>
                        <a:buNone/>
                      </a:pPr>
                      <a:r>
                        <a:rPr b="0" i="0" lang="de-DE" sz="1200" u="none" strike="noStrike">
                          <a:solidFill>
                            <a:srgbClr val="2D55FF"/>
                          </a:solidFill>
                          <a:latin typeface="IBM Plex Sans"/>
                          <a:ea typeface="IBM Plex Sans"/>
                          <a:cs typeface="IBM Plex Sans"/>
                          <a:sym typeface="IBM Plex Sans"/>
                        </a:rPr>
                        <a:t>{{district_heating_rewenable}}</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2D55FF"/>
                        </a:buClr>
                        <a:buSzPts val="1200"/>
                        <a:buFont typeface="IBM Plex Sans"/>
                        <a:buNone/>
                      </a:pPr>
                      <a:r>
                        <a:rPr b="0" i="0" lang="de-DE" sz="1200" u="none" strike="noStrike">
                          <a:solidFill>
                            <a:srgbClr val="2D55FF"/>
                          </a:solidFill>
                          <a:latin typeface="IBM Plex Sans"/>
                          <a:ea typeface="IBM Plex Sans"/>
                          <a:cs typeface="IBM Plex Sans"/>
                          <a:sym typeface="IBM Plex Sans"/>
                        </a:rPr>
                        <a:t>{{district_heating_non_rewenable}}</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2D55FF"/>
                        </a:buClr>
                        <a:buSzPts val="1200"/>
                        <a:buFont typeface="IBM Plex Sans"/>
                        <a:buNone/>
                      </a:pPr>
                      <a:r>
                        <a:rPr b="0" i="0" lang="de-DE" sz="1200" u="none" strike="noStrike">
                          <a:solidFill>
                            <a:srgbClr val="2D55FF"/>
                          </a:solidFill>
                          <a:latin typeface="IBM Plex Sans"/>
                          <a:ea typeface="IBM Plex Sans"/>
                          <a:cs typeface="IBM Plex Sans"/>
                          <a:sym typeface="IBM Plex Sans"/>
                        </a:rPr>
                        <a:t>{{total_district_heating}}</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49275">
                <a:tc>
                  <a:txBody>
                    <a:bodyPr/>
                    <a:lstStyle/>
                    <a:p>
                      <a:pPr indent="0" lvl="0" marL="0" marR="0" rtl="0" algn="l">
                        <a:lnSpc>
                          <a:spcPct val="106000"/>
                        </a:lnSpc>
                        <a:spcBef>
                          <a:spcPts val="0"/>
                        </a:spcBef>
                        <a:spcAft>
                          <a:spcPts val="0"/>
                        </a:spcAft>
                        <a:buNone/>
                      </a:pPr>
                      <a:r>
                        <a:rPr b="1" lang="de-DE" sz="1200">
                          <a:solidFill>
                            <a:schemeClr val="dk2"/>
                          </a:solidFill>
                        </a:rPr>
                        <a:t>Insgesamt</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BM Plex Sans"/>
                        <a:buNone/>
                      </a:pPr>
                      <a:r>
                        <a:rPr b="0" i="0" lang="de-DE" sz="1200" u="none" strike="noStrike">
                          <a:solidFill>
                            <a:srgbClr val="2D55FF"/>
                          </a:solidFill>
                          <a:latin typeface="IBM Plex Sans"/>
                          <a:ea typeface="IBM Plex Sans"/>
                          <a:cs typeface="IBM Plex Sans"/>
                          <a:sym typeface="IBM Plex Sans"/>
                        </a:rPr>
                        <a:t>{{renewable_energy_total}}</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2D55FF"/>
                        </a:buClr>
                        <a:buSzPts val="1200"/>
                        <a:buFont typeface="IBM Plex Sans"/>
                        <a:buNone/>
                      </a:pPr>
                      <a:r>
                        <a:rPr b="0" i="0" lang="de-DE" sz="1200" u="none" strike="noStrike">
                          <a:solidFill>
                            <a:srgbClr val="2D55FF"/>
                          </a:solidFill>
                          <a:latin typeface="IBM Plex Sans"/>
                          <a:ea typeface="IBM Plex Sans"/>
                          <a:cs typeface="IBM Plex Sans"/>
                          <a:sym typeface="IBM Plex Sans"/>
                        </a:rPr>
                        <a:t>{{non_rewenable_energy_total}}</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2D55FF"/>
                        </a:buClr>
                        <a:buSzPts val="1200"/>
                        <a:buFont typeface="IBM Plex Sans"/>
                        <a:buNone/>
                      </a:pPr>
                      <a:r>
                        <a:rPr b="0" i="0" lang="de-DE" sz="1200" u="none" strike="noStrike">
                          <a:solidFill>
                            <a:srgbClr val="2D55FF"/>
                          </a:solidFill>
                          <a:latin typeface="IBM Plex Sans"/>
                          <a:ea typeface="IBM Plex Sans"/>
                          <a:cs typeface="IBM Plex Sans"/>
                          <a:sym typeface="IBM Plex Sans"/>
                        </a:rPr>
                        <a:t>{{total_energy_consumption}}</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02" name="Google Shape;102;p6"/>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e-DE"/>
              <a:t>‹#›</a:t>
            </a:fld>
            <a:endParaRPr/>
          </a:p>
        </p:txBody>
      </p:sp>
      <p:sp>
        <p:nvSpPr>
          <p:cNvPr id="103" name="Google Shape;103;p6"/>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e-DE"/>
              <a:t>{{company_name}}</a:t>
            </a:r>
            <a:endParaRPr b="0"/>
          </a:p>
          <a:p>
            <a:pPr indent="0" lvl="0" marL="0" rtl="0" algn="r">
              <a:spcBef>
                <a:spcPts val="0"/>
              </a:spcBef>
              <a:spcAft>
                <a:spcPts val="0"/>
              </a:spcAft>
              <a:buNone/>
            </a:pPr>
            <a:br>
              <a:rPr lang="de-DE"/>
            </a:br>
            <a:endParaRPr/>
          </a:p>
        </p:txBody>
      </p:sp>
      <p:sp>
        <p:nvSpPr>
          <p:cNvPr id="104" name="Google Shape;104;p6"/>
          <p:cNvSpPr txBox="1"/>
          <p:nvPr/>
        </p:nvSpPr>
        <p:spPr>
          <a:xfrm>
            <a:off x="505570" y="1024229"/>
            <a:ext cx="11178430" cy="412420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de-DE" sz="1200" u="none" strike="noStrike">
                <a:solidFill>
                  <a:schemeClr val="dk2"/>
                </a:solidFill>
                <a:latin typeface="Inter"/>
                <a:ea typeface="Inter"/>
                <a:cs typeface="Inter"/>
                <a:sym typeface="Inter"/>
              </a:rPr>
              <a:t>Dieser Abschnitt gibt die CO2-Emissionen aus dem Energieverbrauch an, aufgeteilt in erneuerbaren und nicht erneuerbaren Verbrauch. </a:t>
            </a:r>
            <a:r>
              <a:rPr lang="de-DE" sz="1200">
                <a:solidFill>
                  <a:schemeClr val="dk2"/>
                </a:solidFill>
                <a:latin typeface="Inter"/>
                <a:ea typeface="Inter"/>
                <a:cs typeface="Inter"/>
                <a:sym typeface="Inter"/>
              </a:rPr>
              <a:t>Die Emissionen werden nach </a:t>
            </a:r>
            <a:r>
              <a:rPr b="0" i="0" lang="de-DE" sz="1200" u="none" strike="noStrike">
                <a:solidFill>
                  <a:schemeClr val="dk2"/>
                </a:solidFill>
                <a:latin typeface="Inter"/>
                <a:ea typeface="Inter"/>
                <a:cs typeface="Inter"/>
                <a:sym typeface="Inter"/>
              </a:rPr>
              <a:t>den Festlegungen des THG-Protokolls zu direkten und indirekten Emissionen angegeben. </a:t>
            </a:r>
            <a:br>
              <a:rPr b="0" i="0" lang="de-DE" sz="1200" u="none" strike="noStrike">
                <a:solidFill>
                  <a:schemeClr val="dk1"/>
                </a:solidFill>
                <a:latin typeface="Inter"/>
                <a:ea typeface="Inter"/>
                <a:cs typeface="Inter"/>
                <a:sym typeface="Inter"/>
              </a:rPr>
            </a:br>
            <a:br>
              <a:rPr lang="de-DE" sz="1200">
                <a:solidFill>
                  <a:schemeClr val="dk1"/>
                </a:solidFill>
                <a:latin typeface="Inter"/>
                <a:ea typeface="Inter"/>
                <a:cs typeface="Inter"/>
                <a:sym typeface="Inter"/>
              </a:rPr>
            </a:br>
            <a:r>
              <a:rPr b="0" i="0" lang="de-DE" sz="800" u="none" strike="noStrike">
                <a:solidFill>
                  <a:schemeClr val="dk2"/>
                </a:solidFill>
                <a:latin typeface="Inter"/>
                <a:ea typeface="Inter"/>
                <a:cs typeface="Inter"/>
                <a:sym typeface="Inter"/>
              </a:rPr>
              <a:t> </a:t>
            </a:r>
            <a:endParaRPr b="0" i="0" sz="1200" u="none" strike="noStrike">
              <a:solidFill>
                <a:schemeClr val="dk2"/>
              </a:solidFill>
              <a:latin typeface="Inter"/>
              <a:ea typeface="Inter"/>
              <a:cs typeface="Inter"/>
              <a:sym typeface="Inter"/>
            </a:endParaRPr>
          </a:p>
          <a:p>
            <a:pPr indent="0" lvl="0" marL="0" marR="0" rtl="0" algn="l">
              <a:spcBef>
                <a:spcPts val="0"/>
              </a:spcBef>
              <a:spcAft>
                <a:spcPts val="0"/>
              </a:spcAft>
              <a:buClr>
                <a:schemeClr val="dk1"/>
              </a:buClr>
              <a:buSzPts val="1200"/>
              <a:buFont typeface="IBM Plex Sans"/>
              <a:buNone/>
            </a:pPr>
            <a:r>
              <a:t/>
            </a:r>
            <a:endParaRPr b="0" sz="1200">
              <a:solidFill>
                <a:schemeClr val="dk2"/>
              </a:solidFill>
              <a:latin typeface="Inter"/>
              <a:ea typeface="Inter"/>
              <a:cs typeface="Inter"/>
              <a:sym typeface="Inter"/>
            </a:endParaRPr>
          </a:p>
          <a:p>
            <a:pPr indent="0" lvl="0" marL="0" marR="0" rtl="0" algn="l">
              <a:spcBef>
                <a:spcPts val="0"/>
              </a:spcBef>
              <a:spcAft>
                <a:spcPts val="0"/>
              </a:spcAft>
              <a:buClr>
                <a:schemeClr val="dk1"/>
              </a:buClr>
              <a:buSzPts val="1800"/>
              <a:buFont typeface="IBM Plex Sans"/>
              <a:buNone/>
            </a:pPr>
            <a:r>
              <a:t/>
            </a:r>
            <a:endParaRPr b="0" sz="1800">
              <a:solidFill>
                <a:schemeClr val="dk2"/>
              </a:solidFill>
              <a:latin typeface="Inter"/>
              <a:ea typeface="Inter"/>
              <a:cs typeface="Inter"/>
              <a:sym typeface="Inter"/>
            </a:endParaRPr>
          </a:p>
          <a:p>
            <a:pPr indent="0" lvl="0" marL="0" marR="0" rtl="0" algn="l">
              <a:spcBef>
                <a:spcPts val="0"/>
              </a:spcBef>
              <a:spcAft>
                <a:spcPts val="0"/>
              </a:spcAft>
              <a:buClr>
                <a:schemeClr val="dk1"/>
              </a:buClr>
              <a:buSzPts val="1600"/>
              <a:buFont typeface="IBM Plex Sans"/>
              <a:buNone/>
            </a:pPr>
            <a:r>
              <a:t/>
            </a:r>
            <a:endParaRPr sz="1600">
              <a:solidFill>
                <a:schemeClr val="dk2"/>
              </a:solidFill>
              <a:latin typeface="Inter"/>
              <a:ea typeface="Inter"/>
              <a:cs typeface="Inter"/>
              <a:sym typeface="Inter"/>
            </a:endParaRPr>
          </a:p>
          <a:p>
            <a:pPr indent="0" lvl="0" marL="0" marR="0" rtl="0" algn="l">
              <a:spcBef>
                <a:spcPts val="0"/>
              </a:spcBef>
              <a:spcAft>
                <a:spcPts val="0"/>
              </a:spcAft>
              <a:buClr>
                <a:schemeClr val="dk1"/>
              </a:buClr>
              <a:buSzPts val="1600"/>
              <a:buFont typeface="IBM Plex Sans"/>
              <a:buNone/>
            </a:pPr>
            <a:r>
              <a:t/>
            </a:r>
            <a:endParaRPr b="0" sz="1600">
              <a:solidFill>
                <a:schemeClr val="dk2"/>
              </a:solidFill>
              <a:latin typeface="Inter"/>
              <a:ea typeface="Inter"/>
              <a:cs typeface="Inter"/>
              <a:sym typeface="Inter"/>
            </a:endParaRPr>
          </a:p>
          <a:p>
            <a:pPr indent="0" lvl="0" marL="0" marR="0" rtl="0" algn="l">
              <a:spcBef>
                <a:spcPts val="0"/>
              </a:spcBef>
              <a:spcAft>
                <a:spcPts val="0"/>
              </a:spcAft>
              <a:buClr>
                <a:schemeClr val="dk1"/>
              </a:buClr>
              <a:buSzPts val="1600"/>
              <a:buFont typeface="IBM Plex Sans"/>
              <a:buNone/>
            </a:pPr>
            <a:r>
              <a:t/>
            </a:r>
            <a:endParaRPr sz="1600">
              <a:solidFill>
                <a:schemeClr val="dk2"/>
              </a:solidFill>
              <a:latin typeface="Inter"/>
              <a:ea typeface="Inter"/>
              <a:cs typeface="Inter"/>
              <a:sym typeface="Inter"/>
            </a:endParaRPr>
          </a:p>
          <a:p>
            <a:pPr indent="0" lvl="0" marL="0" marR="0" rtl="0" algn="l">
              <a:spcBef>
                <a:spcPts val="0"/>
              </a:spcBef>
              <a:spcAft>
                <a:spcPts val="0"/>
              </a:spcAft>
              <a:buClr>
                <a:schemeClr val="dk1"/>
              </a:buClr>
              <a:buSzPts val="1600"/>
              <a:buFont typeface="IBM Plex Sans"/>
              <a:buNone/>
            </a:pPr>
            <a:r>
              <a:t/>
            </a:r>
            <a:endParaRPr b="0" sz="1600">
              <a:solidFill>
                <a:schemeClr val="dk2"/>
              </a:solidFill>
              <a:latin typeface="Inter"/>
              <a:ea typeface="Inter"/>
              <a:cs typeface="Inter"/>
              <a:sym typeface="Inter"/>
            </a:endParaRPr>
          </a:p>
          <a:p>
            <a:pPr indent="0" lvl="0" marL="0" marR="0" rtl="0" algn="l">
              <a:spcBef>
                <a:spcPts val="0"/>
              </a:spcBef>
              <a:spcAft>
                <a:spcPts val="0"/>
              </a:spcAft>
              <a:buNone/>
            </a:pPr>
            <a:r>
              <a:t/>
            </a:r>
            <a:endParaRPr b="1" sz="1600">
              <a:solidFill>
                <a:schemeClr val="dk1"/>
              </a:solidFill>
              <a:latin typeface="IBM Plex Sans"/>
              <a:ea typeface="IBM Plex Sans"/>
              <a:cs typeface="IBM Plex Sans"/>
              <a:sym typeface="IBM Plex Sans"/>
            </a:endParaRPr>
          </a:p>
          <a:p>
            <a:pPr indent="0" lvl="0" marL="0" marR="0" rtl="0" algn="l">
              <a:spcBef>
                <a:spcPts val="0"/>
              </a:spcBef>
              <a:spcAft>
                <a:spcPts val="0"/>
              </a:spcAft>
              <a:buNone/>
            </a:pPr>
            <a:br>
              <a:rPr b="1" lang="de-DE" sz="1800">
                <a:solidFill>
                  <a:schemeClr val="dk1"/>
                </a:solidFill>
                <a:latin typeface="IBM Plex Sans"/>
                <a:ea typeface="IBM Plex Sans"/>
                <a:cs typeface="IBM Plex Sans"/>
                <a:sym typeface="IBM Plex Sans"/>
              </a:rPr>
            </a:br>
            <a:r>
              <a:rPr b="1" i="0" lang="de-DE" sz="1800" u="none" strike="noStrike">
                <a:solidFill>
                  <a:schemeClr val="dk2"/>
                </a:solidFill>
                <a:latin typeface="IBM Plex Sans"/>
                <a:ea typeface="IBM Plex Sans"/>
                <a:cs typeface="IBM Plex Sans"/>
                <a:sym typeface="IBM Plex Sans"/>
              </a:rPr>
              <a:t>CO₂e-Emissionen (B3)</a:t>
            </a:r>
            <a:endParaRPr sz="1800">
              <a:solidFill>
                <a:schemeClr val="dk2"/>
              </a:solidFill>
              <a:latin typeface="IBM Plex Sans"/>
              <a:ea typeface="IBM Plex Sans"/>
              <a:cs typeface="IBM Plex Sans"/>
              <a:sym typeface="IBM Plex Sans"/>
            </a:endParaRPr>
          </a:p>
          <a:p>
            <a:pPr indent="0" lvl="0" marL="0" marR="0" rtl="0" algn="l">
              <a:spcBef>
                <a:spcPts val="0"/>
              </a:spcBef>
              <a:spcAft>
                <a:spcPts val="0"/>
              </a:spcAft>
              <a:buNone/>
            </a:pPr>
            <a:r>
              <a:rPr lang="de-DE" sz="800">
                <a:solidFill>
                  <a:schemeClr val="dk1"/>
                </a:solidFill>
                <a:latin typeface="Inter"/>
                <a:ea typeface="Inter"/>
                <a:cs typeface="Inter"/>
                <a:sym typeface="Inter"/>
              </a:rPr>
              <a:t> </a:t>
            </a:r>
            <a:br>
              <a:rPr lang="de-DE" sz="1200">
                <a:solidFill>
                  <a:schemeClr val="dk2"/>
                </a:solidFill>
                <a:latin typeface="Inter"/>
                <a:ea typeface="Inter"/>
                <a:cs typeface="Inter"/>
                <a:sym typeface="Inter"/>
              </a:rPr>
            </a:br>
            <a:r>
              <a:rPr b="0" i="0" lang="de-DE" sz="1200" u="none" strike="noStrike">
                <a:solidFill>
                  <a:schemeClr val="dk2"/>
                </a:solidFill>
                <a:latin typeface="Inter"/>
                <a:ea typeface="Inter"/>
                <a:cs typeface="Inter"/>
                <a:sym typeface="Inter"/>
              </a:rPr>
              <a:t>Nr. 33 enthält Angaben zu den Treibhausgasemissionen des Unternehmens auf Basis der Scope-1- und Scope-2-Emissionen. Scope 1 bezeichnet die direkten Emissionen aus Quellen, die das Unternehmen besitzt oder direkt kontrolliert, z. B. die Verbrennung von Kraftstoff in Firmenfahrzeugen, die Beheizung von Gebäuden mit Erdgas sowie Emissionen aus industriellen Prozessen und Leckagen in Systemen wie der Kühlung.</a:t>
            </a:r>
            <a:r>
              <a:rPr lang="de-DE" sz="1200">
                <a:solidFill>
                  <a:schemeClr val="dk2"/>
                </a:solidFill>
                <a:latin typeface="Inter"/>
                <a:ea typeface="Inter"/>
                <a:cs typeface="Inter"/>
                <a:sym typeface="Inter"/>
              </a:rPr>
              <a:t> </a:t>
            </a:r>
            <a:r>
              <a:rPr b="0" i="0" lang="de-DE" sz="1200" u="none" strike="noStrike">
                <a:solidFill>
                  <a:schemeClr val="dk2"/>
                </a:solidFill>
                <a:latin typeface="Inter"/>
                <a:ea typeface="Inter"/>
                <a:cs typeface="Inter"/>
                <a:sym typeface="Inter"/>
              </a:rPr>
              <a:t>Scope 2</a:t>
            </a:r>
            <a:r>
              <a:rPr lang="de-DE" sz="1200">
                <a:solidFill>
                  <a:schemeClr val="dk2"/>
                </a:solidFill>
                <a:latin typeface="Inter"/>
                <a:ea typeface="Inter"/>
                <a:cs typeface="Inter"/>
                <a:sym typeface="Inter"/>
              </a:rPr>
              <a:t> umfasst i</a:t>
            </a:r>
            <a:r>
              <a:rPr b="0" i="0" lang="de-DE" sz="1200" u="none" strike="noStrike">
                <a:solidFill>
                  <a:schemeClr val="dk2"/>
                </a:solidFill>
                <a:latin typeface="Inter"/>
                <a:ea typeface="Inter"/>
                <a:cs typeface="Inter"/>
                <a:sym typeface="Inter"/>
              </a:rPr>
              <a:t>ndirekte Emissionen aus erworbenem Strom, d. h. aus der Erzeugung der vom Unternehmen erworbenen und genutzten Elektrizität, des Dampfes, der Wärme oder der Kühlung. Obwohl sie bei den Energieerzeugern entstehen, werden sie dem Unternehmen zugerechnet, weil es die Energie verbraucht.</a:t>
            </a:r>
            <a:endParaRPr b="0" sz="1200">
              <a:solidFill>
                <a:schemeClr val="dk2"/>
              </a:solidFill>
              <a:latin typeface="Inter"/>
              <a:ea typeface="Inter"/>
              <a:cs typeface="Inter"/>
              <a:sym typeface="Inter"/>
            </a:endParaRPr>
          </a:p>
        </p:txBody>
      </p:sp>
      <p:graphicFrame>
        <p:nvGraphicFramePr>
          <p:cNvPr id="105" name="Google Shape;105;p6"/>
          <p:cNvGraphicFramePr/>
          <p:nvPr/>
        </p:nvGraphicFramePr>
        <p:xfrm>
          <a:off x="507990" y="5218755"/>
          <a:ext cx="3000000" cy="3000000"/>
        </p:xfrm>
        <a:graphic>
          <a:graphicData uri="http://schemas.openxmlformats.org/drawingml/2006/table">
            <a:tbl>
              <a:tblPr firstRow="1">
                <a:noFill/>
                <a:tableStyleId>{08659190-FCFE-4D70-9B86-54A6606F5F58}</a:tableStyleId>
              </a:tblPr>
              <a:tblGrid>
                <a:gridCol w="8848450"/>
                <a:gridCol w="2327550"/>
              </a:tblGrid>
              <a:tr h="271950">
                <a:tc>
                  <a:txBody>
                    <a:bodyPr/>
                    <a:lstStyle/>
                    <a:p>
                      <a:pPr indent="0" lvl="0" marL="0" marR="0" rtl="0" algn="l">
                        <a:lnSpc>
                          <a:spcPct val="106000"/>
                        </a:lnSpc>
                        <a:spcBef>
                          <a:spcPts val="0"/>
                        </a:spcBef>
                        <a:spcAft>
                          <a:spcPts val="0"/>
                        </a:spcAft>
                        <a:buNone/>
                      </a:pPr>
                      <a:r>
                        <a:rPr b="1" lang="de-DE" sz="1200">
                          <a:solidFill>
                            <a:schemeClr val="dk2"/>
                          </a:solidFill>
                        </a:rPr>
                        <a:t>Treibhausgasemissionen </a:t>
                      </a:r>
                      <a:r>
                        <a:rPr b="0" lang="de-DE" sz="1200">
                          <a:solidFill>
                            <a:schemeClr val="dk2"/>
                          </a:solidFill>
                        </a:rPr>
                        <a:t>(Nr. 33)</a:t>
                      </a:r>
                      <a:endParaRPr b="1"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Clr>
                          <a:schemeClr val="dk2"/>
                        </a:buClr>
                        <a:buSzPts val="1200"/>
                        <a:buFont typeface="IBM Plex Sans"/>
                        <a:buNone/>
                      </a:pPr>
                      <a:r>
                        <a:rPr b="1" lang="de-DE" sz="1200">
                          <a:solidFill>
                            <a:schemeClr val="dk2"/>
                          </a:solidFill>
                        </a:rPr>
                        <a:t>Jahr </a:t>
                      </a:r>
                      <a:r>
                        <a:rPr b="1" lang="de-DE" sz="1200">
                          <a:solidFill>
                            <a:schemeClr val="accent2"/>
                          </a:solidFill>
                          <a:latin typeface="Calibri"/>
                          <a:ea typeface="Calibri"/>
                          <a:cs typeface="Calibri"/>
                          <a:sym typeface="Calibri"/>
                        </a:rPr>
                        <a:t>{{insert_year}}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70800">
                <a:tc>
                  <a:txBody>
                    <a:bodyPr/>
                    <a:lstStyle/>
                    <a:p>
                      <a:pPr indent="0" lvl="0" marL="0" marR="0" rtl="0" algn="l">
                        <a:lnSpc>
                          <a:spcPct val="106000"/>
                        </a:lnSpc>
                        <a:spcBef>
                          <a:spcPts val="0"/>
                        </a:spcBef>
                        <a:spcAft>
                          <a:spcPts val="0"/>
                        </a:spcAft>
                        <a:buNone/>
                      </a:pPr>
                      <a:r>
                        <a:rPr b="1" lang="de-DE" sz="1200">
                          <a:solidFill>
                            <a:schemeClr val="dk2"/>
                          </a:solidFill>
                        </a:rPr>
                        <a:t>Scope-1-CO₂e-Emissionen</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{{scope1}}</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70800">
                <a:tc>
                  <a:txBody>
                    <a:bodyPr/>
                    <a:lstStyle/>
                    <a:p>
                      <a:pPr indent="0" lvl="0" marL="0" marR="0" rtl="0" algn="l">
                        <a:lnSpc>
                          <a:spcPct val="106000"/>
                        </a:lnSpc>
                        <a:spcBef>
                          <a:spcPts val="0"/>
                        </a:spcBef>
                        <a:spcAft>
                          <a:spcPts val="0"/>
                        </a:spcAft>
                        <a:buNone/>
                      </a:pPr>
                      <a:r>
                        <a:rPr b="1" lang="de-DE" sz="1200">
                          <a:solidFill>
                            <a:schemeClr val="dk2"/>
                          </a:solidFill>
                        </a:rPr>
                        <a:t>Scope-2-CO₂e-Emissionen (standortbezogen) </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{{scope2}}</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70800">
                <a:tc>
                  <a:txBody>
                    <a:bodyPr/>
                    <a:lstStyle/>
                    <a:p>
                      <a:pPr indent="0" lvl="0" marL="0" marR="0" rtl="0" algn="l">
                        <a:lnSpc>
                          <a:spcPct val="106000"/>
                        </a:lnSpc>
                        <a:spcBef>
                          <a:spcPts val="0"/>
                        </a:spcBef>
                        <a:spcAft>
                          <a:spcPts val="0"/>
                        </a:spcAft>
                        <a:buNone/>
                      </a:pPr>
                      <a:r>
                        <a:rPr b="1" lang="de-DE" sz="1200">
                          <a:solidFill>
                            <a:schemeClr val="dk2"/>
                          </a:solidFill>
                        </a:rPr>
                        <a:t>Gesamte CO₂e-Emissionen aus Scope 1 und Scope 2 </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{{total_scope}}</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7"/>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e-DE"/>
              <a:t>Luft-, Wasser- und Bodenverschmutzung (B4)</a:t>
            </a:r>
            <a:endParaRPr/>
          </a:p>
        </p:txBody>
      </p:sp>
      <p:graphicFrame>
        <p:nvGraphicFramePr>
          <p:cNvPr id="112" name="Google Shape;112;p7"/>
          <p:cNvGraphicFramePr/>
          <p:nvPr/>
        </p:nvGraphicFramePr>
        <p:xfrm>
          <a:off x="507998" y="1663288"/>
          <a:ext cx="3000000" cy="3000000"/>
        </p:xfrm>
        <a:graphic>
          <a:graphicData uri="http://schemas.openxmlformats.org/drawingml/2006/table">
            <a:tbl>
              <a:tblPr firstRow="1">
                <a:noFill/>
                <a:tableStyleId>{08659190-FCFE-4D70-9B86-54A6606F5F58}</a:tableStyleId>
              </a:tblPr>
              <a:tblGrid>
                <a:gridCol w="3534725"/>
                <a:gridCol w="3408100"/>
                <a:gridCol w="4214425"/>
              </a:tblGrid>
              <a:tr h="279425">
                <a:tc gridSpan="3">
                  <a:txBody>
                    <a:bodyPr/>
                    <a:lstStyle/>
                    <a:p>
                      <a:pPr indent="0" lvl="0" marL="0" marR="0" rtl="0" algn="l">
                        <a:lnSpc>
                          <a:spcPct val="106000"/>
                        </a:lnSpc>
                        <a:spcBef>
                          <a:spcPts val="0"/>
                        </a:spcBef>
                        <a:spcAft>
                          <a:spcPts val="0"/>
                        </a:spcAft>
                        <a:buNone/>
                      </a:pPr>
                      <a:r>
                        <a:rPr b="1" lang="de-DE" sz="1200">
                          <a:solidFill>
                            <a:schemeClr val="dk2"/>
                          </a:solidFill>
                        </a:rPr>
                        <a:t>Luft-, Wasser- und Bodenverschmutzung </a:t>
                      </a:r>
                      <a:r>
                        <a:rPr b="0" lang="de-DE" sz="1200">
                          <a:solidFill>
                            <a:schemeClr val="dk2"/>
                          </a:solidFill>
                        </a:rPr>
                        <a:t>(Nr. 34) </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r>
              <a:tr h="279425">
                <a:tc>
                  <a:txBody>
                    <a:bodyPr/>
                    <a:lstStyle/>
                    <a:p>
                      <a:pPr indent="0" lvl="0" marL="0" marR="0" rtl="0" algn="l">
                        <a:lnSpc>
                          <a:spcPct val="106000"/>
                        </a:lnSpc>
                        <a:spcBef>
                          <a:spcPts val="0"/>
                        </a:spcBef>
                        <a:spcAft>
                          <a:spcPts val="0"/>
                        </a:spcAft>
                        <a:buClr>
                          <a:schemeClr val="dk2"/>
                        </a:buClr>
                        <a:buSzPts val="1200"/>
                        <a:buFont typeface="IBM Plex Sans"/>
                        <a:buNone/>
                      </a:pPr>
                      <a:r>
                        <a:rPr b="1" lang="de-DE" sz="1200">
                          <a:solidFill>
                            <a:schemeClr val="dk2"/>
                          </a:solidFill>
                        </a:rPr>
                        <a:t>Art der Verschmutzung </a:t>
                      </a:r>
                      <a:r>
                        <a:rPr b="0" lang="de-DE" sz="1200">
                          <a:solidFill>
                            <a:schemeClr val="dk2"/>
                          </a:solidFill>
                        </a:rPr>
                        <a:t>(z. B. Schadstoff)</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None/>
                      </a:pPr>
                      <a:r>
                        <a:rPr b="1" lang="de-DE" sz="1200">
                          <a:solidFill>
                            <a:schemeClr val="dk2"/>
                          </a:solidFill>
                        </a:rPr>
                        <a:t>Wo? </a:t>
                      </a:r>
                      <a:r>
                        <a:rPr b="0" lang="de-DE" sz="1200">
                          <a:solidFill>
                            <a:schemeClr val="dk2"/>
                          </a:solidFill>
                        </a:rPr>
                        <a:t>(Luft, Wasser, Boden)</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None/>
                      </a:pPr>
                      <a:r>
                        <a:rPr b="1" lang="de-DE" sz="1200">
                          <a:solidFill>
                            <a:schemeClr val="dk2"/>
                          </a:solidFill>
                        </a:rPr>
                        <a:t>Menge</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41125">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{{type_of_pollution}}</a:t>
                      </a:r>
                      <a:endParaRPr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{{scope_pollution}}</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{{pollution_medium}}</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13" name="Google Shape;113;p7"/>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e-DE"/>
              <a:t>‹#›</a:t>
            </a:fld>
            <a:endParaRPr/>
          </a:p>
        </p:txBody>
      </p:sp>
      <p:sp>
        <p:nvSpPr>
          <p:cNvPr id="114" name="Google Shape;114;p7"/>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e-DE"/>
              <a:t>{{company_name}}</a:t>
            </a:r>
            <a:endParaRPr b="0"/>
          </a:p>
          <a:p>
            <a:pPr indent="0" lvl="0" marL="0" rtl="0" algn="r">
              <a:spcBef>
                <a:spcPts val="0"/>
              </a:spcBef>
              <a:spcAft>
                <a:spcPts val="0"/>
              </a:spcAft>
              <a:buNone/>
            </a:pPr>
            <a:br>
              <a:rPr lang="de-DE"/>
            </a:br>
            <a:endParaRPr/>
          </a:p>
        </p:txBody>
      </p:sp>
      <p:sp>
        <p:nvSpPr>
          <p:cNvPr id="115" name="Google Shape;115;p7"/>
          <p:cNvSpPr txBox="1"/>
          <p:nvPr/>
        </p:nvSpPr>
        <p:spPr>
          <a:xfrm>
            <a:off x="526778" y="1016000"/>
            <a:ext cx="1115722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de-DE" sz="1200" u="none" strike="noStrike">
                <a:solidFill>
                  <a:schemeClr val="dk2"/>
                </a:solidFill>
                <a:latin typeface="Inter"/>
                <a:ea typeface="Inter"/>
                <a:cs typeface="Inter"/>
                <a:sym typeface="Inter"/>
              </a:rPr>
              <a:t>Das Unternehmen berichtet die Gesamtmenge der Schadstoffe, die aus seinen Anlagen emittiert werden. Die Angaben zu den einzelnen Schadstoffen und deren Mengen, die in Luft, Wasser und Boden emittiert werden,</a:t>
            </a:r>
            <a:r>
              <a:rPr lang="de-DE" sz="1200">
                <a:solidFill>
                  <a:schemeClr val="dk2"/>
                </a:solidFill>
                <a:latin typeface="Inter"/>
                <a:ea typeface="Inter"/>
                <a:cs typeface="Inter"/>
                <a:sym typeface="Inter"/>
              </a:rPr>
              <a:t> sind nachstehend aufgeführt.</a:t>
            </a:r>
            <a:endParaRPr/>
          </a:p>
        </p:txBody>
      </p:sp>
      <p:sp>
        <p:nvSpPr>
          <p:cNvPr id="116" name="Google Shape;116;p7"/>
          <p:cNvSpPr txBox="1"/>
          <p:nvPr/>
        </p:nvSpPr>
        <p:spPr>
          <a:xfrm>
            <a:off x="518600" y="3359149"/>
            <a:ext cx="11165400" cy="249299"/>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chemeClr val="dk2"/>
              </a:buClr>
              <a:buSzPts val="1800"/>
              <a:buFont typeface="IBM Plex Sans"/>
              <a:buNone/>
            </a:pPr>
            <a:r>
              <a:rPr b="1" lang="de-DE" sz="1800">
                <a:solidFill>
                  <a:schemeClr val="dk2"/>
                </a:solidFill>
                <a:latin typeface="IBM Plex Sans"/>
                <a:ea typeface="IBM Plex Sans"/>
                <a:cs typeface="IBM Plex Sans"/>
                <a:sym typeface="IBM Plex Sans"/>
              </a:rPr>
              <a:t>Biodiversität (B5) </a:t>
            </a:r>
            <a:endParaRPr/>
          </a:p>
        </p:txBody>
      </p:sp>
      <p:graphicFrame>
        <p:nvGraphicFramePr>
          <p:cNvPr id="117" name="Google Shape;117;p7"/>
          <p:cNvGraphicFramePr/>
          <p:nvPr/>
        </p:nvGraphicFramePr>
        <p:xfrm>
          <a:off x="518599" y="4675630"/>
          <a:ext cx="3000000" cy="3000000"/>
        </p:xfrm>
        <a:graphic>
          <a:graphicData uri="http://schemas.openxmlformats.org/drawingml/2006/table">
            <a:tbl>
              <a:tblPr firstRow="1">
                <a:noFill/>
                <a:tableStyleId>{08659190-FCFE-4D70-9B86-54A6606F5F58}</a:tableStyleId>
              </a:tblPr>
              <a:tblGrid>
                <a:gridCol w="2027925"/>
                <a:gridCol w="3045825"/>
                <a:gridCol w="3045825"/>
                <a:gridCol w="3045825"/>
              </a:tblGrid>
              <a:tr h="230875">
                <a:tc gridSpan="4">
                  <a:txBody>
                    <a:bodyPr/>
                    <a:lstStyle/>
                    <a:p>
                      <a:pPr indent="0" lvl="0" marL="0" marR="0" rtl="0" algn="l">
                        <a:spcBef>
                          <a:spcPts val="0"/>
                        </a:spcBef>
                        <a:spcAft>
                          <a:spcPts val="0"/>
                        </a:spcAft>
                        <a:buNone/>
                      </a:pPr>
                      <a:r>
                        <a:rPr b="1" lang="de-DE" sz="1200">
                          <a:solidFill>
                            <a:schemeClr val="dk2"/>
                          </a:solidFill>
                        </a:rPr>
                        <a:t>Standorte in oder in der Nähe von ‚Gebieten mit schutzbedürftiger Biodiversität‘, die das Unternehmen besitzt, gepachtet hat oder bewirtschaftet </a:t>
                      </a:r>
                      <a:r>
                        <a:rPr b="0" lang="de-DE" sz="1200">
                          <a:solidFill>
                            <a:schemeClr val="dk2"/>
                          </a:solidFill>
                        </a:rPr>
                        <a:t>(Nr. 35)</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c hMerge="1"/>
              </a:tr>
              <a:tr h="345225">
                <a:tc>
                  <a:txBody>
                    <a:bodyPr/>
                    <a:lstStyle/>
                    <a:p>
                      <a:pPr indent="0" lvl="0" marL="0" marR="0" rtl="0" algn="l">
                        <a:spcBef>
                          <a:spcPts val="0"/>
                        </a:spcBef>
                        <a:spcAft>
                          <a:spcPts val="0"/>
                        </a:spcAft>
                        <a:buNone/>
                      </a:pPr>
                      <a:r>
                        <a:rPr b="1" lang="de-DE" sz="1200">
                          <a:solidFill>
                            <a:schemeClr val="dk2"/>
                          </a:solidFill>
                        </a:rPr>
                        <a:t>Standort</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e-DE" sz="1200">
                          <a:solidFill>
                            <a:schemeClr val="dk2"/>
                          </a:solidFill>
                        </a:rPr>
                        <a:t>Fläche in Hektar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e-DE" sz="1200">
                          <a:solidFill>
                            <a:schemeClr val="dk2"/>
                          </a:solidFill>
                        </a:rPr>
                        <a:t>Gebiet mit schutzbedürftiger Biodiversität</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e-DE" sz="1200">
                          <a:solidFill>
                            <a:schemeClr val="dk2"/>
                          </a:solidFill>
                        </a:rPr>
                        <a:t>Angabe: in oder in der Nähe eines Gebiets mit schutzbedürftiger Biodiversität</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71625">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{{country_location}}</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 {{area_hect}}</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{{area_name}}</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{{biosensitive_area}}</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18" name="Google Shape;118;p7"/>
          <p:cNvSpPr txBox="1"/>
          <p:nvPr/>
        </p:nvSpPr>
        <p:spPr>
          <a:xfrm>
            <a:off x="507999" y="3753340"/>
            <a:ext cx="11165399"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de-DE" sz="1200" u="none" strike="noStrike">
                <a:solidFill>
                  <a:schemeClr val="dk2"/>
                </a:solidFill>
                <a:latin typeface="Inter"/>
                <a:ea typeface="Inter"/>
                <a:cs typeface="Inter"/>
                <a:sym typeface="Inter"/>
              </a:rPr>
              <a:t>Die Angaben des Unternehmens betreffen die Standorte, an denen es tätig ist und die in oder in der Nähe von Gebieten mit schutzbedürftiger Biodiversität liegen. Gebiete mit schutzbedürftiger Biodiversität sind als solche in besonderen Naturschutzvorschriften auf europäischer oder internationaler Ebene definiert. Dazu gehören Gebiete, die zu Natura 2000, zur UNESCO und zu den Schlüsselgebieten der Biodiversität (Key Biodiversity Areas, KBAs) zählen, sowie andere Schutzgebiete.</a:t>
            </a:r>
            <a:endParaRPr sz="1200">
              <a:solidFill>
                <a:schemeClr val="dk2"/>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8"/>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e-DE"/>
              <a:t>Wasser (B6)</a:t>
            </a:r>
            <a:endParaRPr/>
          </a:p>
        </p:txBody>
      </p:sp>
      <p:graphicFrame>
        <p:nvGraphicFramePr>
          <p:cNvPr id="125" name="Google Shape;125;p8"/>
          <p:cNvGraphicFramePr/>
          <p:nvPr/>
        </p:nvGraphicFramePr>
        <p:xfrm>
          <a:off x="518600" y="1716227"/>
          <a:ext cx="3000000" cy="3000000"/>
        </p:xfrm>
        <a:graphic>
          <a:graphicData uri="http://schemas.openxmlformats.org/drawingml/2006/table">
            <a:tbl>
              <a:tblPr firstRow="1">
                <a:noFill/>
                <a:tableStyleId>{08659190-FCFE-4D70-9B86-54A6606F5F58}</a:tableStyleId>
              </a:tblPr>
              <a:tblGrid>
                <a:gridCol w="3087250"/>
                <a:gridCol w="1725275"/>
              </a:tblGrid>
              <a:tr h="496650">
                <a:tc>
                  <a:txBody>
                    <a:bodyPr/>
                    <a:lstStyle/>
                    <a:p>
                      <a:pPr indent="0" lvl="0" marL="0" marR="0" rtl="0" algn="l">
                        <a:lnSpc>
                          <a:spcPct val="100000"/>
                        </a:lnSpc>
                        <a:spcBef>
                          <a:spcPts val="0"/>
                        </a:spcBef>
                        <a:spcAft>
                          <a:spcPts val="0"/>
                        </a:spcAft>
                        <a:buClr>
                          <a:schemeClr val="dk2"/>
                        </a:buClr>
                        <a:buSzPts val="1200"/>
                        <a:buFont typeface="IBM Plex Sans"/>
                        <a:buNone/>
                      </a:pPr>
                      <a:r>
                        <a:rPr b="1" lang="de-DE" sz="1200">
                          <a:solidFill>
                            <a:schemeClr val="dk2"/>
                          </a:solidFill>
                        </a:rPr>
                        <a:t>Wasserentnahme </a:t>
                      </a:r>
                      <a:r>
                        <a:rPr b="0" lang="de-DE" sz="1200">
                          <a:solidFill>
                            <a:schemeClr val="dk2"/>
                          </a:solidFill>
                        </a:rPr>
                        <a:t>(Nr. 36)</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Clr>
                          <a:schemeClr val="dk2"/>
                        </a:buClr>
                        <a:buSzPts val="1200"/>
                        <a:buFont typeface="IBM Plex Sans"/>
                        <a:buNone/>
                      </a:pPr>
                      <a:r>
                        <a:rPr b="1" lang="de-DE" sz="1200">
                          <a:solidFill>
                            <a:schemeClr val="dk2"/>
                          </a:solidFill>
                        </a:rPr>
                        <a:t>Jahr </a:t>
                      </a:r>
                      <a:r>
                        <a:rPr b="1" lang="de-DE" sz="1200">
                          <a:solidFill>
                            <a:schemeClr val="accent2"/>
                          </a:solidFill>
                        </a:rPr>
                        <a:t>{{insert_year}}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483200">
                <a:tc>
                  <a:txBody>
                    <a:bodyPr/>
                    <a:lstStyle/>
                    <a:p>
                      <a:pPr indent="0" lvl="0" marL="0" marR="0" rtl="0" algn="l">
                        <a:spcBef>
                          <a:spcPts val="0"/>
                        </a:spcBef>
                        <a:spcAft>
                          <a:spcPts val="0"/>
                        </a:spcAft>
                        <a:buNone/>
                      </a:pPr>
                      <a:r>
                        <a:rPr b="0" lang="de-DE" sz="1200">
                          <a:solidFill>
                            <a:schemeClr val="dk2"/>
                          </a:solidFill>
                        </a:rPr>
                        <a:t>Insgesamt für alle Standorte</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2D55FF"/>
                        </a:buClr>
                        <a:buSzPts val="1200"/>
                        <a:buFont typeface="IBM Plex Sans"/>
                        <a:buNone/>
                      </a:pPr>
                      <a:r>
                        <a:rPr b="0" i="0" lang="de-DE" sz="1200" u="none" cap="none" strike="noStrike">
                          <a:solidFill>
                            <a:srgbClr val="2D55FF"/>
                          </a:solidFill>
                          <a:latin typeface="IBM Plex Sans"/>
                          <a:ea typeface="IBM Plex Sans"/>
                          <a:cs typeface="IBM Plex Sans"/>
                          <a:sym typeface="IBM Plex Sans"/>
                        </a:rPr>
                        <a:t>{{total_withdrawal}}</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26" name="Google Shape;126;p8"/>
          <p:cNvGraphicFramePr/>
          <p:nvPr/>
        </p:nvGraphicFramePr>
        <p:xfrm>
          <a:off x="5538158" y="1716227"/>
          <a:ext cx="3000000" cy="3000000"/>
        </p:xfrm>
        <a:graphic>
          <a:graphicData uri="http://schemas.openxmlformats.org/drawingml/2006/table">
            <a:tbl>
              <a:tblPr firstRow="1">
                <a:noFill/>
                <a:tableStyleId>{08659190-FCFE-4D70-9B86-54A6606F5F58}</a:tableStyleId>
              </a:tblPr>
              <a:tblGrid>
                <a:gridCol w="4631750"/>
                <a:gridCol w="1514100"/>
              </a:tblGrid>
              <a:tr h="288000">
                <a:tc>
                  <a:txBody>
                    <a:bodyPr/>
                    <a:lstStyle/>
                    <a:p>
                      <a:pPr indent="0" lvl="0" marL="0" marR="0" rtl="0" algn="l">
                        <a:lnSpc>
                          <a:spcPct val="100000"/>
                        </a:lnSpc>
                        <a:spcBef>
                          <a:spcPts val="0"/>
                        </a:spcBef>
                        <a:spcAft>
                          <a:spcPts val="0"/>
                        </a:spcAft>
                        <a:buClr>
                          <a:schemeClr val="dk2"/>
                        </a:buClr>
                        <a:buSzPts val="1200"/>
                        <a:buFont typeface="IBM Plex Sans"/>
                        <a:buNone/>
                      </a:pPr>
                      <a:r>
                        <a:rPr b="1" lang="de-DE" sz="1200">
                          <a:solidFill>
                            <a:schemeClr val="dk2"/>
                          </a:solidFill>
                        </a:rPr>
                        <a:t>Wasserverbrauch </a:t>
                      </a:r>
                      <a:r>
                        <a:rPr b="0" lang="de-DE" sz="1200">
                          <a:solidFill>
                            <a:schemeClr val="dk2"/>
                          </a:solidFill>
                        </a:rPr>
                        <a:t>(Nr. 37)</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Clr>
                          <a:schemeClr val="dk2"/>
                        </a:buClr>
                        <a:buSzPts val="1200"/>
                        <a:buFont typeface="IBM Plex Sans"/>
                        <a:buNone/>
                      </a:pPr>
                      <a:r>
                        <a:rPr b="1" lang="de-DE" sz="1200">
                          <a:solidFill>
                            <a:schemeClr val="dk2"/>
                          </a:solidFill>
                        </a:rPr>
                        <a:t>Jahr </a:t>
                      </a:r>
                      <a:r>
                        <a:rPr b="1" lang="de-DE" sz="1200">
                          <a:solidFill>
                            <a:schemeClr val="accent2"/>
                          </a:solidFill>
                        </a:rPr>
                        <a:t>{{insert_year}}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88000">
                <a:tc>
                  <a:txBody>
                    <a:bodyPr/>
                    <a:lstStyle/>
                    <a:p>
                      <a:pPr indent="0" lvl="0" marL="0" marR="0" rtl="0" algn="l">
                        <a:spcBef>
                          <a:spcPts val="0"/>
                        </a:spcBef>
                        <a:spcAft>
                          <a:spcPts val="0"/>
                        </a:spcAft>
                        <a:buNone/>
                      </a:pPr>
                      <a:r>
                        <a:rPr b="0" lang="de-DE" sz="1200">
                          <a:solidFill>
                            <a:schemeClr val="dk2"/>
                          </a:solidFill>
                        </a:rPr>
                        <a:t>Insgesamt für alle Standorte</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{{consumption_total}}</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88000">
                <a:tc>
                  <a:txBody>
                    <a:bodyPr/>
                    <a:lstStyle/>
                    <a:p>
                      <a:pPr indent="0" lvl="0" marL="0" marR="0" rtl="0" algn="l">
                        <a:lnSpc>
                          <a:spcPct val="100000"/>
                        </a:lnSpc>
                        <a:spcBef>
                          <a:spcPts val="0"/>
                        </a:spcBef>
                        <a:spcAft>
                          <a:spcPts val="0"/>
                        </a:spcAft>
                        <a:buClr>
                          <a:schemeClr val="dk2"/>
                        </a:buClr>
                        <a:buSzPts val="1200"/>
                        <a:buFont typeface="IBM Plex Sans"/>
                        <a:buNone/>
                      </a:pPr>
                      <a:r>
                        <a:rPr b="0" lang="de-DE" sz="1200">
                          <a:solidFill>
                            <a:schemeClr val="dk2"/>
                          </a:solidFill>
                        </a:rPr>
                        <a:t>Von Standorten in Gebieten mit Wasserknappheit (hoher Wasserstress)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{{consumption_waterstress}}</a:t>
                      </a:r>
                      <a:endParaRPr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27" name="Google Shape;127;p8"/>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e-DE"/>
              <a:t>‹#›</a:t>
            </a:fld>
            <a:endParaRPr/>
          </a:p>
        </p:txBody>
      </p:sp>
      <p:sp>
        <p:nvSpPr>
          <p:cNvPr id="128" name="Google Shape;128;p8"/>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e-DE"/>
              <a:t>{{company_name}}</a:t>
            </a:r>
            <a:endParaRPr b="0"/>
          </a:p>
          <a:p>
            <a:pPr indent="0" lvl="0" marL="0" rtl="0" algn="r">
              <a:spcBef>
                <a:spcPts val="0"/>
              </a:spcBef>
              <a:spcAft>
                <a:spcPts val="0"/>
              </a:spcAft>
              <a:buNone/>
            </a:pPr>
            <a:br>
              <a:rPr lang="de-DE"/>
            </a:br>
            <a:endParaRPr/>
          </a:p>
        </p:txBody>
      </p:sp>
      <p:sp>
        <p:nvSpPr>
          <p:cNvPr id="129" name="Google Shape;129;p8"/>
          <p:cNvSpPr txBox="1"/>
          <p:nvPr/>
        </p:nvSpPr>
        <p:spPr>
          <a:xfrm>
            <a:off x="508000" y="1028466"/>
            <a:ext cx="1117599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de-DE" sz="1200" u="none" strike="noStrike">
                <a:solidFill>
                  <a:schemeClr val="dk2"/>
                </a:solidFill>
                <a:latin typeface="Inter"/>
                <a:ea typeface="Inter"/>
                <a:cs typeface="Inter"/>
                <a:sym typeface="Inter"/>
              </a:rPr>
              <a:t>Die Wasserentnahme ist die vom Unternehmen genutzte Wassermenge, wobei </a:t>
            </a:r>
            <a:r>
              <a:rPr lang="de-DE" sz="1200">
                <a:solidFill>
                  <a:schemeClr val="dk2"/>
                </a:solidFill>
                <a:latin typeface="Inter"/>
                <a:ea typeface="Inter"/>
                <a:cs typeface="Inter"/>
                <a:sym typeface="Inter"/>
              </a:rPr>
              <a:t>der Verbrauch das Wasser bezeichnet, das </a:t>
            </a:r>
            <a:r>
              <a:rPr b="0" i="0" lang="de-DE" sz="1200" u="none" strike="noStrike">
                <a:solidFill>
                  <a:schemeClr val="dk2"/>
                </a:solidFill>
                <a:latin typeface="Inter"/>
                <a:ea typeface="Inter"/>
                <a:cs typeface="Inter"/>
                <a:sym typeface="Inter"/>
              </a:rPr>
              <a:t>nicht in Gewässer oder an Dritte abgeleitet wird bzw. werden soll. Dieser Abschnitt gibt die gesamte Wasserentnahme des Unternehmens an. Wasserverbrauch</a:t>
            </a:r>
            <a:r>
              <a:rPr lang="de-DE" sz="1200">
                <a:solidFill>
                  <a:schemeClr val="dk2"/>
                </a:solidFill>
                <a:latin typeface="Inter"/>
                <a:ea typeface="Inter"/>
                <a:cs typeface="Inter"/>
                <a:sym typeface="Inter"/>
              </a:rPr>
              <a:t> </a:t>
            </a:r>
            <a:r>
              <a:rPr b="0" i="0" lang="de-DE" sz="1200" u="none" strike="noStrike">
                <a:solidFill>
                  <a:schemeClr val="dk2"/>
                </a:solidFill>
                <a:latin typeface="Inter"/>
                <a:ea typeface="Inter"/>
                <a:cs typeface="Inter"/>
                <a:sym typeface="Inter"/>
              </a:rPr>
              <a:t>und Wasserableitung aus Gebieten mit hohem Wasserstress sind nachstehend aufgeführt.</a:t>
            </a:r>
            <a:endParaRPr b="0" sz="1200">
              <a:solidFill>
                <a:schemeClr val="dk2"/>
              </a:solidFill>
              <a:latin typeface="Inter"/>
              <a:ea typeface="Inter"/>
              <a:cs typeface="Inter"/>
              <a:sym typeface="Inter"/>
            </a:endParaRPr>
          </a:p>
        </p:txBody>
      </p:sp>
      <p:sp>
        <p:nvSpPr>
          <p:cNvPr id="130" name="Google Shape;130;p8"/>
          <p:cNvSpPr txBox="1"/>
          <p:nvPr/>
        </p:nvSpPr>
        <p:spPr>
          <a:xfrm>
            <a:off x="518600" y="3093502"/>
            <a:ext cx="11165400" cy="249299"/>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chemeClr val="dk2"/>
              </a:buClr>
              <a:buSzPts val="1800"/>
              <a:buFont typeface="IBM Plex Sans"/>
              <a:buNone/>
            </a:pPr>
            <a:r>
              <a:rPr b="1" lang="de-DE" sz="1800">
                <a:solidFill>
                  <a:schemeClr val="dk2"/>
                </a:solidFill>
                <a:latin typeface="IBM Plex Sans"/>
                <a:ea typeface="IBM Plex Sans"/>
                <a:cs typeface="IBM Plex Sans"/>
                <a:sym typeface="IBM Plex Sans"/>
              </a:rPr>
              <a:t>Ressourcennutzung, Kreislaufwirtschaft und Abfallbewirtschaftung (B7) </a:t>
            </a:r>
            <a:endParaRPr/>
          </a:p>
        </p:txBody>
      </p:sp>
      <p:graphicFrame>
        <p:nvGraphicFramePr>
          <p:cNvPr id="131" name="Google Shape;131;p8"/>
          <p:cNvGraphicFramePr/>
          <p:nvPr/>
        </p:nvGraphicFramePr>
        <p:xfrm>
          <a:off x="5538158" y="3566941"/>
          <a:ext cx="3000000" cy="3000000"/>
        </p:xfrm>
        <a:graphic>
          <a:graphicData uri="http://schemas.openxmlformats.org/drawingml/2006/table">
            <a:tbl>
              <a:tblPr firstRow="1">
                <a:noFill/>
                <a:tableStyleId>{08659190-FCFE-4D70-9B86-54A6606F5F58}</a:tableStyleId>
              </a:tblPr>
              <a:tblGrid>
                <a:gridCol w="2427150"/>
                <a:gridCol w="1886075"/>
                <a:gridCol w="1822025"/>
              </a:tblGrid>
              <a:tr h="269500">
                <a:tc gridSpan="3">
                  <a:txBody>
                    <a:bodyPr/>
                    <a:lstStyle/>
                    <a:p>
                      <a:pPr indent="0" lvl="0" marL="0" marR="0" rtl="0" algn="l">
                        <a:lnSpc>
                          <a:spcPct val="100000"/>
                        </a:lnSpc>
                        <a:spcBef>
                          <a:spcPts val="0"/>
                        </a:spcBef>
                        <a:spcAft>
                          <a:spcPts val="0"/>
                        </a:spcAft>
                        <a:buClr>
                          <a:schemeClr val="dk2"/>
                        </a:buClr>
                        <a:buSzPts val="1200"/>
                        <a:buFont typeface="IBM Plex Sans"/>
                        <a:buNone/>
                      </a:pPr>
                      <a:r>
                        <a:rPr b="1" lang="de-DE" sz="1200">
                          <a:solidFill>
                            <a:schemeClr val="dk2"/>
                          </a:solidFill>
                        </a:rPr>
                        <a:t>Anwendung der Grundsätze der Kreislaufwirtschaft </a:t>
                      </a:r>
                      <a:r>
                        <a:rPr b="0" lang="de-DE" sz="1200">
                          <a:solidFill>
                            <a:schemeClr val="dk2"/>
                          </a:solidFill>
                        </a:rPr>
                        <a:t>(Nr. 38)</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r>
              <a:tr h="269225">
                <a:tc rowSpan="2">
                  <a:txBody>
                    <a:bodyPr/>
                    <a:lstStyle/>
                    <a:p>
                      <a:pPr indent="0" lvl="0" marL="0" marR="0" rtl="0" algn="l">
                        <a:spcBef>
                          <a:spcPts val="0"/>
                        </a:spcBef>
                        <a:spcAft>
                          <a:spcPts val="0"/>
                        </a:spcAft>
                        <a:buNone/>
                      </a:pPr>
                      <a:r>
                        <a:rPr b="0" lang="de-DE" sz="1200">
                          <a:solidFill>
                            <a:schemeClr val="dk2"/>
                          </a:solidFill>
                        </a:rPr>
                        <a:t>Mein Unternehmen wendet Kreislaufgrundsätze an</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None/>
                      </a:pPr>
                      <a:r>
                        <a:rPr b="1" lang="de-DE" sz="1200">
                          <a:solidFill>
                            <a:schemeClr val="dk2"/>
                          </a:solidFill>
                        </a:rPr>
                        <a:t>Ja</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None/>
                      </a:pPr>
                      <a:r>
                        <a:rPr b="1" lang="de-DE" sz="1200">
                          <a:solidFill>
                            <a:schemeClr val="dk2"/>
                          </a:solidFill>
                        </a:rPr>
                        <a:t>Nein</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43100">
                <a:tc vMerge="1"/>
                <a:tc>
                  <a:txBody>
                    <a:bodyPr/>
                    <a:lstStyle/>
                    <a:p>
                      <a:pPr indent="0" lvl="0" marL="0" marR="0" rtl="0" algn="ctr">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{{circular_economy_princples_yes}}</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{{circular_economy_princples_no?}}</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32" name="Google Shape;132;p8"/>
          <p:cNvGraphicFramePr/>
          <p:nvPr/>
        </p:nvGraphicFramePr>
        <p:xfrm>
          <a:off x="507998" y="4612469"/>
          <a:ext cx="3000000" cy="3000000"/>
        </p:xfrm>
        <a:graphic>
          <a:graphicData uri="http://schemas.openxmlformats.org/drawingml/2006/table">
            <a:tbl>
              <a:tblPr firstRow="1">
                <a:noFill/>
                <a:tableStyleId>{08659190-FCFE-4D70-9B86-54A6606F5F58}</a:tableStyleId>
              </a:tblPr>
              <a:tblGrid>
                <a:gridCol w="11165400"/>
              </a:tblGrid>
              <a:tr h="292675">
                <a:tc>
                  <a:txBody>
                    <a:bodyPr/>
                    <a:lstStyle/>
                    <a:p>
                      <a:pPr indent="0" lvl="0" marL="0" marR="0" rtl="0" algn="l">
                        <a:spcBef>
                          <a:spcPts val="0"/>
                        </a:spcBef>
                        <a:spcAft>
                          <a:spcPts val="0"/>
                        </a:spcAft>
                        <a:buNone/>
                      </a:pPr>
                      <a:r>
                        <a:rPr b="1" lang="de-DE" sz="1200">
                          <a:solidFill>
                            <a:schemeClr val="dk2"/>
                          </a:solidFill>
                        </a:rPr>
                        <a:t>Beschreibung, wie das Unternehmen die Grundsätze der Kreislaufwirtschaft anwendet </a:t>
                      </a:r>
                      <a:r>
                        <a:rPr b="0" lang="de-DE" sz="1200">
                          <a:solidFill>
                            <a:schemeClr val="dk2"/>
                          </a:solidFill>
                        </a:rPr>
                        <a:t>(Nr. 38 Fortsetzung)</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1474650">
                <a:tc>
                  <a:txBody>
                    <a:bodyPr/>
                    <a:lstStyle/>
                    <a:p>
                      <a:pPr indent="0" lvl="0" marL="0" marR="0" rtl="0" algn="l">
                        <a:spcBef>
                          <a:spcPts val="0"/>
                        </a:spcBef>
                        <a:spcAft>
                          <a:spcPts val="0"/>
                        </a:spcAft>
                        <a:buNone/>
                      </a:pPr>
                      <a:r>
                        <a:rPr b="0" lang="de-DE" sz="1200">
                          <a:solidFill>
                            <a:schemeClr val="accent2"/>
                          </a:solidFill>
                          <a:latin typeface="IBM Plex Sans"/>
                          <a:ea typeface="IBM Plex Sans"/>
                          <a:cs typeface="IBM Plex Sans"/>
                          <a:sym typeface="IBM Plex Sans"/>
                        </a:rPr>
                        <a:t>{{description_of_circular_economies}}</a:t>
                      </a:r>
                      <a:endParaRPr/>
                    </a:p>
                    <a:p>
                      <a:pPr indent="0" lvl="0" marL="0" marR="0" rtl="0" algn="l">
                        <a:spcBef>
                          <a:spcPts val="0"/>
                        </a:spcBef>
                        <a:spcAft>
                          <a:spcPts val="0"/>
                        </a:spcAft>
                        <a:buNone/>
                      </a:pPr>
                      <a:r>
                        <a:t/>
                      </a:r>
                      <a:endParaRPr b="0" sz="1200">
                        <a:solidFill>
                          <a:schemeClr val="accent2"/>
                        </a:solidFill>
                        <a:latin typeface="IBM Plex Sans"/>
                        <a:ea typeface="IBM Plex Sans"/>
                        <a:cs typeface="IBM Plex Sans"/>
                        <a:sym typeface="IBM Plex Sans"/>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133" name="Google Shape;133;p8"/>
          <p:cNvSpPr txBox="1"/>
          <p:nvPr/>
        </p:nvSpPr>
        <p:spPr>
          <a:xfrm>
            <a:off x="508302" y="3555852"/>
            <a:ext cx="4843417"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de-DE" sz="1200" u="none" strike="noStrike">
                <a:solidFill>
                  <a:schemeClr val="dk2"/>
                </a:solidFill>
                <a:latin typeface="Inter"/>
                <a:ea typeface="Inter"/>
                <a:cs typeface="Inter"/>
                <a:sym typeface="Inter"/>
              </a:rPr>
              <a:t>Diese Angabepflicht informiert darüber, ob das Unternehmen</a:t>
            </a:r>
            <a:r>
              <a:rPr lang="de-DE" sz="1200">
                <a:solidFill>
                  <a:schemeClr val="dk2"/>
                </a:solidFill>
                <a:latin typeface="Inter"/>
                <a:ea typeface="Inter"/>
                <a:cs typeface="Inter"/>
                <a:sym typeface="Inter"/>
              </a:rPr>
              <a:t> die Grundsätze der Kreislaufwirtschaft anwendet, u. a. Grundsätze zur Verringerung von Abfall und Umweltverschmutzung sowie einen Fokus auf kreislauffähige Produkte und Materialien.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9"/>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e-DE"/>
              <a:t>Ressourcennutzung, Kreislaufwirtschaft und Abfallbewirtschaftung (B7) – Fortsetzung</a:t>
            </a:r>
            <a:endParaRPr/>
          </a:p>
        </p:txBody>
      </p:sp>
      <p:graphicFrame>
        <p:nvGraphicFramePr>
          <p:cNvPr id="140" name="Google Shape;140;p9"/>
          <p:cNvGraphicFramePr/>
          <p:nvPr/>
        </p:nvGraphicFramePr>
        <p:xfrm>
          <a:off x="507999" y="1645437"/>
          <a:ext cx="3000000" cy="3000000"/>
        </p:xfrm>
        <a:graphic>
          <a:graphicData uri="http://schemas.openxmlformats.org/drawingml/2006/table">
            <a:tbl>
              <a:tblPr firstRow="1">
                <a:noFill/>
                <a:tableStyleId>{08659190-FCFE-4D70-9B86-54A6606F5F58}</a:tableStyleId>
              </a:tblPr>
              <a:tblGrid>
                <a:gridCol w="2276000"/>
                <a:gridCol w="2543225"/>
                <a:gridCol w="2524550"/>
              </a:tblGrid>
              <a:tr h="328600">
                <a:tc gridSpan="3">
                  <a:txBody>
                    <a:bodyPr/>
                    <a:lstStyle/>
                    <a:p>
                      <a:pPr indent="0" lvl="0" marL="0" marR="0" rtl="0" algn="ctr">
                        <a:spcBef>
                          <a:spcPts val="0"/>
                        </a:spcBef>
                        <a:spcAft>
                          <a:spcPts val="0"/>
                        </a:spcAft>
                        <a:buNone/>
                      </a:pPr>
                      <a:r>
                        <a:rPr b="1" lang="de-DE" sz="1200">
                          <a:solidFill>
                            <a:schemeClr val="dk2"/>
                          </a:solidFill>
                        </a:rPr>
                        <a:t>Jährliches Gesamtabfallaufkommen</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c hMerge="1"/>
              </a:tr>
              <a:tr h="343625">
                <a:tc>
                  <a:txBody>
                    <a:bodyPr/>
                    <a:lstStyle/>
                    <a:p>
                      <a:pPr indent="0" lvl="0" marL="0" marR="0" rtl="0" algn="l">
                        <a:spcBef>
                          <a:spcPts val="0"/>
                        </a:spcBef>
                        <a:spcAft>
                          <a:spcPts val="0"/>
                        </a:spcAft>
                        <a:buNone/>
                      </a:pPr>
                      <a:r>
                        <a:t/>
                      </a:r>
                      <a:endParaRPr b="1"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e-DE" sz="1200">
                          <a:solidFill>
                            <a:schemeClr val="dk2"/>
                          </a:solidFill>
                        </a:rPr>
                        <a:t>Gesamtabfallmenge </a:t>
                      </a:r>
                      <a:r>
                        <a:rPr b="0" lang="de-DE" sz="1200">
                          <a:solidFill>
                            <a:schemeClr val="dk2"/>
                          </a:solidFill>
                        </a:rPr>
                        <a:t>(Nr. 39a)</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e-DE" sz="1200">
                          <a:solidFill>
                            <a:schemeClr val="dk2"/>
                          </a:solidFill>
                        </a:rPr>
                        <a:t>Abfälle, die zum Recycling oder zur Vorbereitung der Wiederverwendung umgeleitet werden </a:t>
                      </a:r>
                      <a:r>
                        <a:rPr b="0" lang="de-DE" sz="1200">
                          <a:solidFill>
                            <a:schemeClr val="dk2"/>
                          </a:solidFill>
                        </a:rPr>
                        <a:t>(Nr. 39b)</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43625">
                <a:tc>
                  <a:txBody>
                    <a:bodyPr/>
                    <a:lstStyle/>
                    <a:p>
                      <a:pPr indent="0" lvl="0" marL="0" marR="0" rtl="0" algn="l">
                        <a:lnSpc>
                          <a:spcPct val="100000"/>
                        </a:lnSpc>
                        <a:spcBef>
                          <a:spcPts val="0"/>
                        </a:spcBef>
                        <a:spcAft>
                          <a:spcPts val="0"/>
                        </a:spcAft>
                        <a:buClr>
                          <a:schemeClr val="dk2"/>
                        </a:buClr>
                        <a:buSzPts val="1200"/>
                        <a:buFont typeface="IBM Plex Sans"/>
                        <a:buNone/>
                      </a:pPr>
                      <a:r>
                        <a:rPr b="1" lang="de-DE" sz="1200">
                          <a:solidFill>
                            <a:schemeClr val="dk2"/>
                          </a:solidFill>
                        </a:rPr>
                        <a:t>Nicht gefährliche Abfälle </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33675">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{{Type_af_affald}}</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{{kg_tons_total}}</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{{genbrug_kg_tons}}</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43625">
                <a:tc>
                  <a:txBody>
                    <a:bodyPr/>
                    <a:lstStyle/>
                    <a:p>
                      <a:pPr indent="0" lvl="0" marL="0" marR="0" rtl="0" algn="l">
                        <a:spcBef>
                          <a:spcPts val="0"/>
                        </a:spcBef>
                        <a:spcAft>
                          <a:spcPts val="0"/>
                        </a:spcAft>
                        <a:buNone/>
                      </a:pPr>
                      <a:r>
                        <a:rPr b="1" lang="de-DE" sz="1200">
                          <a:solidFill>
                            <a:schemeClr val="dk2"/>
                          </a:solidFill>
                        </a:rPr>
                        <a:t>Gefährliche Abfälle</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33675">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{{Type_af_affald_farlig}}</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{{farlig_kg_tons}}</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{{farlig_genbrug_kg_tons}}</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41" name="Google Shape;141;p9"/>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e-DE"/>
              <a:t>‹#›</a:t>
            </a:fld>
            <a:endParaRPr/>
          </a:p>
        </p:txBody>
      </p:sp>
      <p:sp>
        <p:nvSpPr>
          <p:cNvPr id="142" name="Google Shape;142;p9"/>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e-DE"/>
              <a:t>{{company_name}}</a:t>
            </a:r>
            <a:endParaRPr b="0"/>
          </a:p>
          <a:p>
            <a:pPr indent="0" lvl="0" marL="0" rtl="0" algn="r">
              <a:spcBef>
                <a:spcPts val="0"/>
              </a:spcBef>
              <a:spcAft>
                <a:spcPts val="0"/>
              </a:spcAft>
              <a:buNone/>
            </a:pPr>
            <a:br>
              <a:rPr lang="de-DE"/>
            </a:br>
            <a:endParaRPr/>
          </a:p>
        </p:txBody>
      </p:sp>
      <p:sp>
        <p:nvSpPr>
          <p:cNvPr id="143" name="Google Shape;143;p9"/>
          <p:cNvSpPr txBox="1"/>
          <p:nvPr/>
        </p:nvSpPr>
        <p:spPr>
          <a:xfrm>
            <a:off x="518600" y="1016000"/>
            <a:ext cx="111654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de-DE" sz="1200" u="none" strike="noStrike">
                <a:solidFill>
                  <a:schemeClr val="dk2"/>
                </a:solidFill>
                <a:latin typeface="Inter"/>
                <a:ea typeface="Inter"/>
                <a:cs typeface="Inter"/>
                <a:sym typeface="Inter"/>
              </a:rPr>
              <a:t>Der folgende Abschnitt enthält Informationen über den Materialverbrauch und die Abfallbewirtschaftung. Die Informationen beziehen sich auf die Kreislaufwirtschaft und zeigen, wie sich das jährliche Gesamtabfallaufkommen des Unternehmens (gefährlich/nicht gefährlich) aufteilt; ebenso werden die Mengen relevanter Materialien angegeben. </a:t>
            </a:r>
            <a:endParaRPr sz="1200">
              <a:solidFill>
                <a:schemeClr val="dk2"/>
              </a:solidFill>
              <a:latin typeface="Inter"/>
              <a:ea typeface="Inter"/>
              <a:cs typeface="Inter"/>
              <a:sym typeface="Inter"/>
            </a:endParaRPr>
          </a:p>
        </p:txBody>
      </p:sp>
      <p:graphicFrame>
        <p:nvGraphicFramePr>
          <p:cNvPr id="144" name="Google Shape;144;p9"/>
          <p:cNvGraphicFramePr/>
          <p:nvPr/>
        </p:nvGraphicFramePr>
        <p:xfrm>
          <a:off x="8160963" y="1680195"/>
          <a:ext cx="3000000" cy="3000000"/>
        </p:xfrm>
        <a:graphic>
          <a:graphicData uri="http://schemas.openxmlformats.org/drawingml/2006/table">
            <a:tbl>
              <a:tblPr firstRow="1">
                <a:noFill/>
                <a:tableStyleId>{08659190-FCFE-4D70-9B86-54A6606F5F58}</a:tableStyleId>
              </a:tblPr>
              <a:tblGrid>
                <a:gridCol w="2253575"/>
                <a:gridCol w="1258875"/>
              </a:tblGrid>
              <a:tr h="901850">
                <a:tc>
                  <a:txBody>
                    <a:bodyPr/>
                    <a:lstStyle/>
                    <a:p>
                      <a:pPr indent="0" lvl="0" marL="0" marR="0" rtl="0" algn="l">
                        <a:spcBef>
                          <a:spcPts val="0"/>
                        </a:spcBef>
                        <a:spcAft>
                          <a:spcPts val="0"/>
                        </a:spcAft>
                        <a:buNone/>
                      </a:pPr>
                      <a:r>
                        <a:rPr b="1" lang="de-DE" sz="1200">
                          <a:solidFill>
                            <a:schemeClr val="dk2"/>
                          </a:solidFill>
                        </a:rPr>
                        <a:t>Relevante Materialien </a:t>
                      </a:r>
                      <a:r>
                        <a:rPr b="0" lang="de-DE" sz="1200">
                          <a:solidFill>
                            <a:schemeClr val="dk2"/>
                          </a:solidFill>
                        </a:rPr>
                        <a:t>(Nr. 39c)</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e-DE" sz="1200">
                          <a:solidFill>
                            <a:schemeClr val="dk2"/>
                          </a:solidFill>
                        </a:rPr>
                        <a:t>Jährlicher Massenstrom </a:t>
                      </a:r>
                      <a:r>
                        <a:rPr b="1" lang="de-DE" sz="1200">
                          <a:solidFill>
                            <a:schemeClr val="accent2"/>
                          </a:solidFill>
                        </a:rPr>
                        <a:t>{{insert_year}}</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708050">
                <a:tc>
                  <a:txBody>
                    <a:bodyPr/>
                    <a:lstStyle/>
                    <a:p>
                      <a:pPr indent="0" lvl="0" marL="0" marR="0" rtl="0" algn="l">
                        <a:spcBef>
                          <a:spcPts val="0"/>
                        </a:spcBef>
                        <a:spcAft>
                          <a:spcPts val="0"/>
                        </a:spcAft>
                        <a:buNone/>
                      </a:pPr>
                      <a:r>
                        <a:rPr b="0" i="0" lang="de-DE" sz="1200" u="none" strike="noStrike">
                          <a:solidFill>
                            <a:srgbClr val="2D55FF"/>
                          </a:solidFill>
                          <a:latin typeface="Inter"/>
                          <a:ea typeface="Inter"/>
                          <a:cs typeface="Inter"/>
                          <a:sym typeface="Inter"/>
                        </a:rPr>
                        <a:t>{{significant_material}}</a:t>
                      </a:r>
                      <a:endParaRPr b="0" sz="1200">
                        <a:solidFill>
                          <a:schemeClr val="accent2"/>
                        </a:solidFill>
                        <a:latin typeface="Inter"/>
                        <a:ea typeface="Inter"/>
                        <a:cs typeface="Inter"/>
                        <a:sym typeface="Inte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{{significant_material_unit}}</a:t>
                      </a:r>
                      <a:endParaRPr b="0" i="0" sz="1200" u="none" strike="noStrike">
                        <a:solidFill>
                          <a:srgbClr val="000000"/>
                        </a:solidFill>
                        <a:latin typeface="Inter"/>
                        <a:ea typeface="Inter"/>
                        <a:cs typeface="Inter"/>
                        <a:sym typeface="Inte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9" name="Shape 149"/>
        <p:cNvGrpSpPr/>
        <p:nvPr/>
      </p:nvGrpSpPr>
      <p:grpSpPr>
        <a:xfrm>
          <a:off x="0" y="0"/>
          <a:ext cx="0" cy="0"/>
          <a:chOff x="0" y="0"/>
          <a:chExt cx="0" cy="0"/>
        </a:xfrm>
      </p:grpSpPr>
      <p:sp>
        <p:nvSpPr>
          <p:cNvPr id="150" name="Google Shape;150;p10"/>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e-DE"/>
              <a:t>Eigene Arbeitskräfte: Allgemeine Merkmale (B8) </a:t>
            </a:r>
            <a:endParaRPr/>
          </a:p>
        </p:txBody>
      </p:sp>
      <p:graphicFrame>
        <p:nvGraphicFramePr>
          <p:cNvPr id="151" name="Google Shape;151;p10"/>
          <p:cNvGraphicFramePr/>
          <p:nvPr/>
        </p:nvGraphicFramePr>
        <p:xfrm>
          <a:off x="507992" y="1733785"/>
          <a:ext cx="3000000" cy="3000000"/>
        </p:xfrm>
        <a:graphic>
          <a:graphicData uri="http://schemas.openxmlformats.org/drawingml/2006/table">
            <a:tbl>
              <a:tblPr firstRow="1">
                <a:noFill/>
                <a:tableStyleId>{08659190-FCFE-4D70-9B86-54A6606F5F58}</a:tableStyleId>
              </a:tblPr>
              <a:tblGrid>
                <a:gridCol w="2489200"/>
                <a:gridCol w="2489200"/>
              </a:tblGrid>
              <a:tr h="462250">
                <a:tc>
                  <a:txBody>
                    <a:bodyPr/>
                    <a:lstStyle/>
                    <a:p>
                      <a:pPr indent="0" lvl="0" marL="0" marR="0" rtl="0" algn="l">
                        <a:spcBef>
                          <a:spcPts val="0"/>
                        </a:spcBef>
                        <a:spcAft>
                          <a:spcPts val="0"/>
                        </a:spcAft>
                        <a:buNone/>
                      </a:pPr>
                      <a:r>
                        <a:rPr b="1" lang="de-DE" sz="1200">
                          <a:solidFill>
                            <a:schemeClr val="dk2"/>
                          </a:solidFill>
                        </a:rPr>
                        <a:t>Art des Arbeitsvertrags </a:t>
                      </a:r>
                      <a:r>
                        <a:rPr b="0" lang="de-DE" sz="1200">
                          <a:solidFill>
                            <a:schemeClr val="dk2"/>
                          </a:solidFill>
                        </a:rPr>
                        <a:t>(Nr. 40a)</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e-DE" sz="1200">
                          <a:solidFill>
                            <a:schemeClr val="dk2"/>
                          </a:solidFill>
                        </a:rPr>
                        <a:t>Zahl der Beschäftigten (Anzahl der Personen oder Vollzeitäquivalente)</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462250">
                <a:tc>
                  <a:txBody>
                    <a:bodyPr/>
                    <a:lstStyle/>
                    <a:p>
                      <a:pPr indent="0" lvl="0" marL="0" marR="0" rtl="0" algn="l">
                        <a:spcBef>
                          <a:spcPts val="0"/>
                        </a:spcBef>
                        <a:spcAft>
                          <a:spcPts val="0"/>
                        </a:spcAft>
                        <a:buNone/>
                      </a:pPr>
                      <a:r>
                        <a:rPr b="0" lang="de-DE" sz="1200">
                          <a:solidFill>
                            <a:schemeClr val="dk2"/>
                          </a:solidFill>
                        </a:rPr>
                        <a:t>Befristete Beschäftigung</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{{temporary}}</a:t>
                      </a:r>
                      <a:endParaRPr b="0" sz="1200"/>
                    </a:p>
                  </a:txBody>
                  <a:tcPr marT="12700" marB="1270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462250">
                <a:tc>
                  <a:txBody>
                    <a:bodyPr/>
                    <a:lstStyle/>
                    <a:p>
                      <a:pPr indent="0" lvl="0" marL="0" marR="0" rtl="0" algn="l">
                        <a:spcBef>
                          <a:spcPts val="0"/>
                        </a:spcBef>
                        <a:spcAft>
                          <a:spcPts val="0"/>
                        </a:spcAft>
                        <a:buNone/>
                      </a:pPr>
                      <a:r>
                        <a:rPr b="0" lang="de-DE" sz="1200">
                          <a:solidFill>
                            <a:schemeClr val="dk2"/>
                          </a:solidFill>
                        </a:rPr>
                        <a:t>Unbefristete Beschäftigung</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{{fulltime}}</a:t>
                      </a:r>
                      <a:endParaRPr b="0" sz="1200"/>
                    </a:p>
                  </a:txBody>
                  <a:tcPr marT="12700" marB="1270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462250">
                <a:tc>
                  <a:txBody>
                    <a:bodyPr/>
                    <a:lstStyle/>
                    <a:p>
                      <a:pPr indent="0" lvl="0" marL="0" marR="0" rtl="0" algn="l">
                        <a:spcBef>
                          <a:spcPts val="0"/>
                        </a:spcBef>
                        <a:spcAft>
                          <a:spcPts val="0"/>
                        </a:spcAft>
                        <a:buNone/>
                      </a:pPr>
                      <a:r>
                        <a:rPr b="0" lang="de-DE" sz="1200">
                          <a:solidFill>
                            <a:schemeClr val="dk2"/>
                          </a:solidFill>
                        </a:rPr>
                        <a:t>Beschäftigte insgesamt</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{{total_employees}}</a:t>
                      </a:r>
                      <a:endParaRPr b="0" sz="1200"/>
                    </a:p>
                  </a:txBody>
                  <a:tcPr marT="12700" marB="1270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52" name="Google Shape;152;p10"/>
          <p:cNvGraphicFramePr/>
          <p:nvPr/>
        </p:nvGraphicFramePr>
        <p:xfrm>
          <a:off x="5710687" y="1733787"/>
          <a:ext cx="3000000" cy="3000000"/>
        </p:xfrm>
        <a:graphic>
          <a:graphicData uri="http://schemas.openxmlformats.org/drawingml/2006/table">
            <a:tbl>
              <a:tblPr firstRow="1">
                <a:noFill/>
                <a:tableStyleId>{08659190-FCFE-4D70-9B86-54A6606F5F58}</a:tableStyleId>
              </a:tblPr>
              <a:tblGrid>
                <a:gridCol w="2986650"/>
                <a:gridCol w="2986650"/>
              </a:tblGrid>
              <a:tr h="288000">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Geschlecht</a:t>
                      </a:r>
                      <a:r>
                        <a:rPr b="0" lang="de-DE" sz="1200">
                          <a:solidFill>
                            <a:schemeClr val="dk2"/>
                          </a:solidFill>
                          <a:latin typeface="IBM Plex Sans"/>
                          <a:ea typeface="IBM Plex Sans"/>
                          <a:cs typeface="IBM Plex Sans"/>
                          <a:sym typeface="IBM Plex Sans"/>
                        </a:rPr>
                        <a:t> (Nr. 40b)</a:t>
                      </a:r>
                      <a:endParaRPr b="0" sz="1200">
                        <a:solidFill>
                          <a:schemeClr val="dk2"/>
                        </a:solidFill>
                        <a:latin typeface="IBM Plex Sans"/>
                        <a:ea typeface="IBM Plex Sans"/>
                        <a:cs typeface="IBM Plex Sans"/>
                        <a:sym typeface="IBM Plex Sans"/>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Zahl der Beschäftigten (Anzahl der Personen oder Vollzeitäquivalente)</a:t>
                      </a:r>
                      <a:endParaRPr b="1" sz="1200">
                        <a:solidFill>
                          <a:schemeClr val="dk2"/>
                        </a:solidFill>
                        <a:latin typeface="IBM Plex Sans"/>
                        <a:ea typeface="IBM Plex Sans"/>
                        <a:cs typeface="IBM Plex Sans"/>
                        <a:sym typeface="IBM Plex Sans"/>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88000">
                <a:tc>
                  <a:txBody>
                    <a:bodyPr/>
                    <a:lstStyle/>
                    <a:p>
                      <a:pPr indent="0" lvl="0" marL="0" marR="0" rtl="0" algn="l">
                        <a:spcBef>
                          <a:spcPts val="0"/>
                        </a:spcBef>
                        <a:spcAft>
                          <a:spcPts val="0"/>
                        </a:spcAft>
                        <a:buNone/>
                      </a:pPr>
                      <a:r>
                        <a:rPr b="0" lang="de-DE" sz="1200">
                          <a:solidFill>
                            <a:schemeClr val="dk2"/>
                          </a:solidFill>
                          <a:latin typeface="IBM Plex Sans"/>
                          <a:ea typeface="IBM Plex Sans"/>
                          <a:cs typeface="IBM Plex Sans"/>
                          <a:sym typeface="IBM Plex Sans"/>
                        </a:rPr>
                        <a:t>Männlich</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{{men}}</a:t>
                      </a:r>
                      <a:endParaRPr b="0" sz="1200"/>
                    </a:p>
                  </a:txBody>
                  <a:tcPr marT="12700" marB="1270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88000">
                <a:tc>
                  <a:txBody>
                    <a:bodyPr/>
                    <a:lstStyle/>
                    <a:p>
                      <a:pPr indent="0" lvl="0" marL="0" marR="0" rtl="0" algn="l">
                        <a:spcBef>
                          <a:spcPts val="0"/>
                        </a:spcBef>
                        <a:spcAft>
                          <a:spcPts val="0"/>
                        </a:spcAft>
                        <a:buNone/>
                      </a:pPr>
                      <a:r>
                        <a:rPr b="0" lang="de-DE" sz="1200">
                          <a:solidFill>
                            <a:schemeClr val="dk2"/>
                          </a:solidFill>
                          <a:latin typeface="IBM Plex Sans"/>
                          <a:ea typeface="IBM Plex Sans"/>
                          <a:cs typeface="IBM Plex Sans"/>
                          <a:sym typeface="IBM Plex Sans"/>
                        </a:rPr>
                        <a:t>Weiblich</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{{women}}</a:t>
                      </a:r>
                      <a:endParaRPr b="0" sz="1200"/>
                    </a:p>
                  </a:txBody>
                  <a:tcPr marT="12700" marB="1270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88000">
                <a:tc>
                  <a:txBody>
                    <a:bodyPr/>
                    <a:lstStyle/>
                    <a:p>
                      <a:pPr indent="0" lvl="0" marL="0" marR="0" rtl="0" algn="l">
                        <a:spcBef>
                          <a:spcPts val="0"/>
                        </a:spcBef>
                        <a:spcAft>
                          <a:spcPts val="0"/>
                        </a:spcAft>
                        <a:buNone/>
                      </a:pPr>
                      <a:r>
                        <a:rPr b="0" lang="de-DE" sz="1200">
                          <a:solidFill>
                            <a:schemeClr val="dk2"/>
                          </a:solidFill>
                          <a:latin typeface="IBM Plex Sans"/>
                          <a:ea typeface="IBM Plex Sans"/>
                          <a:cs typeface="IBM Plex Sans"/>
                          <a:sym typeface="IBM Plex Sans"/>
                        </a:rPr>
                        <a:t>Sonstiges</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{{others}}</a:t>
                      </a:r>
                      <a:endParaRPr b="0" sz="1200"/>
                    </a:p>
                  </a:txBody>
                  <a:tcPr marT="12700" marB="1270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88000">
                <a:tc>
                  <a:txBody>
                    <a:bodyPr/>
                    <a:lstStyle/>
                    <a:p>
                      <a:pPr indent="0" lvl="0" marL="0" marR="0" rtl="0" algn="l">
                        <a:spcBef>
                          <a:spcPts val="0"/>
                        </a:spcBef>
                        <a:spcAft>
                          <a:spcPts val="0"/>
                        </a:spcAft>
                        <a:buNone/>
                      </a:pPr>
                      <a:r>
                        <a:rPr b="0" lang="de-DE" sz="1200">
                          <a:solidFill>
                            <a:schemeClr val="dk2"/>
                          </a:solidFill>
                          <a:latin typeface="IBM Plex Sans"/>
                          <a:ea typeface="IBM Plex Sans"/>
                          <a:cs typeface="IBM Plex Sans"/>
                          <a:sym typeface="IBM Plex Sans"/>
                        </a:rPr>
                        <a:t>Nicht erfasst</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{{not_registeret}}</a:t>
                      </a:r>
                      <a:endParaRPr b="0" sz="1200"/>
                    </a:p>
                  </a:txBody>
                  <a:tcPr marT="12700" marB="1270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88000">
                <a:tc>
                  <a:txBody>
                    <a:bodyPr/>
                    <a:lstStyle/>
                    <a:p>
                      <a:pPr indent="0" lvl="0" marL="0" marR="0" rtl="0" algn="l">
                        <a:spcBef>
                          <a:spcPts val="0"/>
                        </a:spcBef>
                        <a:spcAft>
                          <a:spcPts val="0"/>
                        </a:spcAft>
                        <a:buNone/>
                      </a:pPr>
                      <a:r>
                        <a:rPr b="0" lang="de-DE" sz="1200">
                          <a:solidFill>
                            <a:schemeClr val="dk2"/>
                          </a:solidFill>
                          <a:latin typeface="IBM Plex Sans"/>
                          <a:ea typeface="IBM Plex Sans"/>
                          <a:cs typeface="IBM Plex Sans"/>
                          <a:sym typeface="IBM Plex Sans"/>
                        </a:rPr>
                        <a:t>Beschäftigte insgesamt</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{{total_employees}}</a:t>
                      </a:r>
                      <a:endParaRPr b="0" sz="1200"/>
                    </a:p>
                  </a:txBody>
                  <a:tcPr marT="12700" marB="1270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53" name="Google Shape;153;p10"/>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e-DE"/>
              <a:t>‹#›</a:t>
            </a:fld>
            <a:endParaRPr/>
          </a:p>
        </p:txBody>
      </p:sp>
      <p:sp>
        <p:nvSpPr>
          <p:cNvPr id="154" name="Google Shape;154;p10"/>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e-DE"/>
              <a:t>{{company_name}}</a:t>
            </a:r>
            <a:endParaRPr b="0"/>
          </a:p>
          <a:p>
            <a:pPr indent="0" lvl="0" marL="0" rtl="0" algn="r">
              <a:spcBef>
                <a:spcPts val="0"/>
              </a:spcBef>
              <a:spcAft>
                <a:spcPts val="0"/>
              </a:spcAft>
              <a:buNone/>
            </a:pPr>
            <a:br>
              <a:rPr lang="de-DE"/>
            </a:br>
            <a:endParaRPr/>
          </a:p>
        </p:txBody>
      </p:sp>
      <p:sp>
        <p:nvSpPr>
          <p:cNvPr id="155" name="Google Shape;155;p10"/>
          <p:cNvSpPr txBox="1"/>
          <p:nvPr/>
        </p:nvSpPr>
        <p:spPr>
          <a:xfrm>
            <a:off x="518600" y="1041410"/>
            <a:ext cx="1116540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25595D"/>
              </a:buClr>
              <a:buSzPts val="1200"/>
              <a:buFont typeface="Inter"/>
              <a:buNone/>
            </a:pPr>
            <a:r>
              <a:rPr b="0" i="0" lang="de-DE" sz="1200" u="none" strike="noStrike">
                <a:solidFill>
                  <a:srgbClr val="25595D"/>
                </a:solidFill>
                <a:latin typeface="Inter"/>
                <a:ea typeface="Inter"/>
                <a:cs typeface="Inter"/>
                <a:sym typeface="Inter"/>
              </a:rPr>
              <a:t>Das Unternehmen hat die Zahl der Beschäftigten zu folgenden Aufschlüsselungen angegeben: Art des Arbeitsvertrags, wobei die Beschäftigten nach befristeten und unbefristeten Verträgen unterteilt werden; Geschlecht, was Aufschluss über die Geschlechterverteilung unter den Beschäftigten gibt; und Land des Arbeitsvertrags, was relevant ist, wenn das Unternehmen in mehreren Ländern tätig ist.</a:t>
            </a:r>
            <a:endParaRPr b="0" sz="1200">
              <a:solidFill>
                <a:schemeClr val="dk1"/>
              </a:solidFill>
              <a:latin typeface="Inter"/>
              <a:ea typeface="Inter"/>
              <a:cs typeface="Inter"/>
              <a:sym typeface="Inter"/>
            </a:endParaRPr>
          </a:p>
          <a:p>
            <a:pPr indent="0" lvl="0" marL="0" marR="0" rtl="0" algn="l">
              <a:spcBef>
                <a:spcPts val="0"/>
              </a:spcBef>
              <a:spcAft>
                <a:spcPts val="0"/>
              </a:spcAft>
              <a:buClr>
                <a:schemeClr val="dk1"/>
              </a:buClr>
              <a:buSzPts val="1200"/>
              <a:buFont typeface="Inter"/>
              <a:buNone/>
            </a:pPr>
            <a:br>
              <a:rPr lang="de-DE" sz="1200">
                <a:solidFill>
                  <a:schemeClr val="dk1"/>
                </a:solidFill>
                <a:latin typeface="Inter"/>
                <a:ea typeface="Inter"/>
                <a:cs typeface="Inter"/>
                <a:sym typeface="Inter"/>
              </a:rPr>
            </a:br>
            <a:endParaRPr sz="1200">
              <a:solidFill>
                <a:schemeClr val="dk1"/>
              </a:solidFill>
              <a:latin typeface="Inter"/>
              <a:ea typeface="Inter"/>
              <a:cs typeface="Inter"/>
              <a:sym typeface="Inter"/>
            </a:endParaRPr>
          </a:p>
        </p:txBody>
      </p:sp>
      <p:graphicFrame>
        <p:nvGraphicFramePr>
          <p:cNvPr id="156" name="Google Shape;156;p10"/>
          <p:cNvGraphicFramePr/>
          <p:nvPr/>
        </p:nvGraphicFramePr>
        <p:xfrm>
          <a:off x="509736" y="3930137"/>
          <a:ext cx="3000000" cy="3000000"/>
        </p:xfrm>
        <a:graphic>
          <a:graphicData uri="http://schemas.openxmlformats.org/drawingml/2006/table">
            <a:tbl>
              <a:tblPr firstRow="1">
                <a:noFill/>
                <a:tableStyleId>{08659190-FCFE-4D70-9B86-54A6606F5F58}</a:tableStyleId>
              </a:tblPr>
              <a:tblGrid>
                <a:gridCol w="5967825"/>
                <a:gridCol w="5195825"/>
              </a:tblGrid>
              <a:tr h="288000">
                <a:tc>
                  <a:txBody>
                    <a:bodyPr/>
                    <a:lstStyle/>
                    <a:p>
                      <a:pPr indent="0" lvl="0" marL="0" marR="0" rtl="0" algn="l">
                        <a:spcBef>
                          <a:spcPts val="0"/>
                        </a:spcBef>
                        <a:spcAft>
                          <a:spcPts val="0"/>
                        </a:spcAft>
                        <a:buNone/>
                      </a:pPr>
                      <a:r>
                        <a:rPr b="1" lang="de-DE" sz="1200">
                          <a:solidFill>
                            <a:schemeClr val="dk2"/>
                          </a:solidFill>
                        </a:rPr>
                        <a:t>Land (in dem der Arbeitsvertrag geschlossen wurde) </a:t>
                      </a:r>
                      <a:r>
                        <a:rPr b="0" lang="de-DE" sz="1200">
                          <a:solidFill>
                            <a:schemeClr val="dk2"/>
                          </a:solidFill>
                        </a:rPr>
                        <a:t>(Nr. 40c)</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e-DE" sz="1200">
                          <a:solidFill>
                            <a:schemeClr val="dk2"/>
                          </a:solidFill>
                        </a:rPr>
                        <a:t>Zahl der Beschäftigten (Anzahl der Personen oder Vollzeitäquivalente)</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88000">
                <a:tc>
                  <a:txBody>
                    <a:bodyPr/>
                    <a:lstStyle/>
                    <a:p>
                      <a:pPr indent="0" lvl="0" marL="0" marR="0" rtl="0" algn="l">
                        <a:spcBef>
                          <a:spcPts val="0"/>
                        </a:spcBef>
                        <a:spcAft>
                          <a:spcPts val="0"/>
                        </a:spcAft>
                        <a:buNone/>
                      </a:pPr>
                      <a:r>
                        <a:rPr b="0" lang="de-DE" sz="1200">
                          <a:solidFill>
                            <a:schemeClr val="dk2"/>
                          </a:solidFill>
                        </a:rPr>
                        <a:t>Dänemark</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{{Denmark}}</a:t>
                      </a:r>
                      <a:endParaRPr b="0" sz="1200"/>
                    </a:p>
                  </a:txBody>
                  <a:tcPr marT="12700" marB="1270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88000">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{{Land_b}}</a:t>
                      </a:r>
                      <a:endParaRPr b="0" sz="1200"/>
                    </a:p>
                  </a:txBody>
                  <a:tcPr marT="12700" marB="1270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a:t>
                      </a:r>
                      <a:r>
                        <a:rPr b="0" i="0" lang="de-DE" sz="1200" u="none" strike="noStrike">
                          <a:solidFill>
                            <a:srgbClr val="2D55FF"/>
                          </a:solidFill>
                        </a:rPr>
                        <a:t>FTE_eller_antal_personer_land_b</a:t>
                      </a:r>
                      <a:r>
                        <a:rPr b="0" i="0" lang="de-DE" sz="1200" u="none" strike="noStrike">
                          <a:solidFill>
                            <a:srgbClr val="2D55FF"/>
                          </a:solidFill>
                          <a:latin typeface="Inter"/>
                          <a:ea typeface="Inter"/>
                          <a:cs typeface="Inter"/>
                          <a:sym typeface="Inter"/>
                        </a:rPr>
                        <a:t>}}</a:t>
                      </a:r>
                      <a:endParaRPr b="0" sz="1200"/>
                    </a:p>
                  </a:txBody>
                  <a:tcPr marT="12700" marB="1270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88000">
                <a:tc>
                  <a:txBody>
                    <a:bodyPr/>
                    <a:lstStyle/>
                    <a:p>
                      <a:pPr indent="0" lvl="0" marL="0" marR="0" rtl="0" algn="l">
                        <a:spcBef>
                          <a:spcPts val="0"/>
                        </a:spcBef>
                        <a:spcAft>
                          <a:spcPts val="0"/>
                        </a:spcAft>
                        <a:buNone/>
                      </a:pPr>
                      <a:r>
                        <a:rPr b="0" lang="de-DE" sz="1200">
                          <a:solidFill>
                            <a:schemeClr val="dk2"/>
                          </a:solidFill>
                        </a:rPr>
                        <a:t>Beschäftigte insgesamt</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{{Total_out_of_countries}}</a:t>
                      </a:r>
                      <a:endParaRPr b="0" sz="1200"/>
                    </a:p>
                  </a:txBody>
                  <a:tcPr marT="12700" marB="1270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1"/>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e-DE"/>
              <a:t>Eigene Arbeitskräfte: Gesundheitsschutz und Sicherheit (B9)</a:t>
            </a:r>
            <a:endParaRPr/>
          </a:p>
        </p:txBody>
      </p:sp>
      <p:graphicFrame>
        <p:nvGraphicFramePr>
          <p:cNvPr id="163" name="Google Shape;163;p11"/>
          <p:cNvGraphicFramePr/>
          <p:nvPr/>
        </p:nvGraphicFramePr>
        <p:xfrm>
          <a:off x="508000" y="1720951"/>
          <a:ext cx="3000000" cy="3000000"/>
        </p:xfrm>
        <a:graphic>
          <a:graphicData uri="http://schemas.openxmlformats.org/drawingml/2006/table">
            <a:tbl>
              <a:tblPr firstRow="1">
                <a:noFill/>
                <a:tableStyleId>{08659190-FCFE-4D70-9B86-54A6606F5F58}</a:tableStyleId>
              </a:tblPr>
              <a:tblGrid>
                <a:gridCol w="3028825"/>
                <a:gridCol w="2440650"/>
              </a:tblGrid>
              <a:tr h="337925">
                <a:tc>
                  <a:txBody>
                    <a:bodyPr/>
                    <a:lstStyle/>
                    <a:p>
                      <a:pPr indent="0" lvl="0" marL="0" marR="0" rtl="0" algn="l">
                        <a:lnSpc>
                          <a:spcPct val="100000"/>
                        </a:lnSpc>
                        <a:spcBef>
                          <a:spcPts val="0"/>
                        </a:spcBef>
                        <a:spcAft>
                          <a:spcPts val="0"/>
                        </a:spcAft>
                        <a:buClr>
                          <a:schemeClr val="dk2"/>
                        </a:buClr>
                        <a:buSzPts val="1200"/>
                        <a:buFont typeface="IBM Plex Sans"/>
                        <a:buNone/>
                      </a:pPr>
                      <a:r>
                        <a:rPr b="1" lang="de-DE" sz="1200">
                          <a:solidFill>
                            <a:schemeClr val="dk2"/>
                          </a:solidFill>
                        </a:rPr>
                        <a:t>Meldepflichtige Arbeitsunfälle </a:t>
                      </a:r>
                      <a:r>
                        <a:rPr b="0" lang="de-DE" sz="1200">
                          <a:solidFill>
                            <a:schemeClr val="dk2"/>
                          </a:solidFill>
                        </a:rPr>
                        <a:t>(Nr. 41a)</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de-DE" sz="1200">
                          <a:solidFill>
                            <a:schemeClr val="dk2"/>
                          </a:solidFill>
                        </a:rPr>
                        <a:t>Jahr</a:t>
                      </a:r>
                      <a:r>
                        <a:rPr b="1" lang="de-DE" sz="1200">
                          <a:solidFill>
                            <a:schemeClr val="accent2"/>
                          </a:solidFill>
                          <a:latin typeface="Calibri"/>
                          <a:ea typeface="Calibri"/>
                          <a:cs typeface="Calibri"/>
                          <a:sym typeface="Calibri"/>
                        </a:rPr>
                        <a:t> {{insert_year}}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37925">
                <a:tc>
                  <a:txBody>
                    <a:bodyPr/>
                    <a:lstStyle/>
                    <a:p>
                      <a:pPr indent="0" lvl="0" marL="0" marR="0" rtl="0" algn="l">
                        <a:spcBef>
                          <a:spcPts val="0"/>
                        </a:spcBef>
                        <a:spcAft>
                          <a:spcPts val="0"/>
                        </a:spcAft>
                        <a:buNone/>
                      </a:pPr>
                      <a:r>
                        <a:rPr b="0" lang="de-DE" sz="1200">
                          <a:solidFill>
                            <a:schemeClr val="dk2"/>
                          </a:solidFill>
                        </a:rPr>
                        <a:t>Anzahl</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2D55FF"/>
                        </a:buClr>
                        <a:buSzPts val="1200"/>
                        <a:buFont typeface="Inter"/>
                        <a:buNone/>
                      </a:pPr>
                      <a:r>
                        <a:rPr b="0" i="0" lang="de-DE" sz="1200" u="none" cap="none" strike="noStrike">
                          <a:solidFill>
                            <a:srgbClr val="2D55FF"/>
                          </a:solidFill>
                          <a:latin typeface="Inter"/>
                          <a:ea typeface="Inter"/>
                          <a:cs typeface="Inter"/>
                          <a:sym typeface="Inter"/>
                        </a:rPr>
                        <a:t>{{indsat_antal_accidents}}</a:t>
                      </a:r>
                      <a:endParaRPr b="0" i="0" sz="1200" u="none" cap="none" strike="noStrike">
                        <a:solidFill>
                          <a:srgbClr val="2D55FF"/>
                        </a:solidFill>
                        <a:latin typeface="Inter"/>
                        <a:ea typeface="Inter"/>
                        <a:cs typeface="Inter"/>
                        <a:sym typeface="Inte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37925">
                <a:tc>
                  <a:txBody>
                    <a:bodyPr/>
                    <a:lstStyle/>
                    <a:p>
                      <a:pPr indent="0" lvl="0" marL="0" marR="0" rtl="0" algn="l">
                        <a:spcBef>
                          <a:spcPts val="0"/>
                        </a:spcBef>
                        <a:spcAft>
                          <a:spcPts val="0"/>
                        </a:spcAft>
                        <a:buNone/>
                      </a:pPr>
                      <a:r>
                        <a:rPr b="0" lang="de-DE" sz="1200">
                          <a:solidFill>
                            <a:schemeClr val="dk2"/>
                          </a:solidFill>
                        </a:rPr>
                        <a:t>Quote</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2D55FF"/>
                        </a:buClr>
                        <a:buSzPts val="1200"/>
                        <a:buFont typeface="Inter"/>
                        <a:buNone/>
                      </a:pPr>
                      <a:r>
                        <a:rPr b="0" i="0" lang="de-DE" sz="1200" u="none" cap="none" strike="noStrike">
                          <a:solidFill>
                            <a:srgbClr val="2D55FF"/>
                          </a:solidFill>
                          <a:latin typeface="Inter"/>
                          <a:ea typeface="Inter"/>
                          <a:cs typeface="Inter"/>
                          <a:sym typeface="Inter"/>
                        </a:rPr>
                        <a:t>{{indsat_accidents_frequents}}</a:t>
                      </a:r>
                      <a:endParaRPr b="0" i="0" sz="1200" u="none" cap="none" strike="noStrike">
                        <a:solidFill>
                          <a:srgbClr val="2D55FF"/>
                        </a:solidFill>
                        <a:latin typeface="Inter"/>
                        <a:ea typeface="Inter"/>
                        <a:cs typeface="Inter"/>
                        <a:sym typeface="Inte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64" name="Google Shape;164;p11"/>
          <p:cNvGraphicFramePr/>
          <p:nvPr/>
        </p:nvGraphicFramePr>
        <p:xfrm>
          <a:off x="6203932" y="1720952"/>
          <a:ext cx="3000000" cy="3000000"/>
        </p:xfrm>
        <a:graphic>
          <a:graphicData uri="http://schemas.openxmlformats.org/drawingml/2006/table">
            <a:tbl>
              <a:tblPr firstRow="1">
                <a:noFill/>
                <a:tableStyleId>{08659190-FCFE-4D70-9B86-54A6606F5F58}</a:tableStyleId>
              </a:tblPr>
              <a:tblGrid>
                <a:gridCol w="3778275"/>
                <a:gridCol w="1691200"/>
              </a:tblGrid>
              <a:tr h="332150">
                <a:tc>
                  <a:txBody>
                    <a:bodyPr/>
                    <a:lstStyle/>
                    <a:p>
                      <a:pPr indent="0" lvl="0" marL="0" marR="0" rtl="0" algn="l">
                        <a:lnSpc>
                          <a:spcPct val="100000"/>
                        </a:lnSpc>
                        <a:spcBef>
                          <a:spcPts val="0"/>
                        </a:spcBef>
                        <a:spcAft>
                          <a:spcPts val="0"/>
                        </a:spcAft>
                        <a:buClr>
                          <a:schemeClr val="dk2"/>
                        </a:buClr>
                        <a:buSzPts val="1200"/>
                        <a:buFont typeface="IBM Plex Sans"/>
                        <a:buNone/>
                      </a:pPr>
                      <a:r>
                        <a:rPr b="1" lang="de-DE" sz="1200">
                          <a:solidFill>
                            <a:schemeClr val="dk2"/>
                          </a:solidFill>
                        </a:rPr>
                        <a:t>Arbeitsbedingte Todesfälle </a:t>
                      </a:r>
                      <a:r>
                        <a:rPr b="0" lang="de-DE" sz="1200">
                          <a:solidFill>
                            <a:schemeClr val="dk2"/>
                          </a:solidFill>
                        </a:rPr>
                        <a:t>(Nr. 41b)</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de-DE" sz="1200">
                          <a:solidFill>
                            <a:schemeClr val="dk2"/>
                          </a:solidFill>
                        </a:rPr>
                        <a:t>Jahr</a:t>
                      </a:r>
                      <a:r>
                        <a:rPr b="1" lang="de-DE" sz="1200">
                          <a:solidFill>
                            <a:schemeClr val="accent2"/>
                          </a:solidFill>
                          <a:latin typeface="Calibri"/>
                          <a:ea typeface="Calibri"/>
                          <a:cs typeface="Calibri"/>
                          <a:sym typeface="Calibri"/>
                        </a:rPr>
                        <a:t> {{insert_year}}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32150">
                <a:tc>
                  <a:txBody>
                    <a:bodyPr/>
                    <a:lstStyle/>
                    <a:p>
                      <a:pPr indent="0" lvl="0" marL="0" marR="0" rtl="0" algn="l">
                        <a:spcBef>
                          <a:spcPts val="0"/>
                        </a:spcBef>
                        <a:spcAft>
                          <a:spcPts val="0"/>
                        </a:spcAft>
                        <a:buNone/>
                      </a:pPr>
                      <a:r>
                        <a:rPr b="0" lang="de-DE" sz="1200">
                          <a:solidFill>
                            <a:schemeClr val="dk2"/>
                          </a:solidFill>
                        </a:rPr>
                        <a:t>Infolge arbeitsbedingter Verletzung/Unfall</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2D55FF"/>
                        </a:buClr>
                        <a:buSzPts val="1200"/>
                        <a:buFont typeface="Inter"/>
                        <a:buNone/>
                      </a:pPr>
                      <a:r>
                        <a:rPr b="0" i="0" lang="de-DE" sz="1200" u="none" cap="none" strike="noStrike">
                          <a:solidFill>
                            <a:srgbClr val="2D55FF"/>
                          </a:solidFill>
                          <a:latin typeface="Inter"/>
                          <a:ea typeface="Inter"/>
                          <a:cs typeface="Inter"/>
                          <a:sym typeface="Inter"/>
                        </a:rPr>
                        <a:t>{{deaths_by_accidents}}</a:t>
                      </a:r>
                      <a:endParaRPr b="0" i="0" sz="1200" u="none" cap="none" strike="noStrike">
                        <a:solidFill>
                          <a:srgbClr val="2D55FF"/>
                        </a:solidFill>
                        <a:latin typeface="Inter"/>
                        <a:ea typeface="Inter"/>
                        <a:cs typeface="Inter"/>
                        <a:sym typeface="Inte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32150">
                <a:tc>
                  <a:txBody>
                    <a:bodyPr/>
                    <a:lstStyle/>
                    <a:p>
                      <a:pPr indent="0" lvl="0" marL="0" marR="0" rtl="0" algn="l">
                        <a:spcBef>
                          <a:spcPts val="0"/>
                        </a:spcBef>
                        <a:spcAft>
                          <a:spcPts val="0"/>
                        </a:spcAft>
                        <a:buNone/>
                      </a:pPr>
                      <a:r>
                        <a:rPr b="0" lang="de-DE" sz="1200">
                          <a:solidFill>
                            <a:schemeClr val="dk2"/>
                          </a:solidFill>
                        </a:rPr>
                        <a:t>Infolge arbeitsbedingter Erkrankung</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rgbClr val="2D55FF"/>
                        </a:buClr>
                        <a:buSzPts val="1200"/>
                        <a:buFont typeface="Inter"/>
                        <a:buNone/>
                      </a:pPr>
                      <a:r>
                        <a:rPr b="0" i="0" lang="de-DE" sz="1200" u="none" cap="none" strike="noStrike">
                          <a:solidFill>
                            <a:srgbClr val="2D55FF"/>
                          </a:solidFill>
                          <a:latin typeface="Inter"/>
                          <a:ea typeface="Inter"/>
                          <a:cs typeface="Inter"/>
                          <a:sym typeface="Inter"/>
                        </a:rPr>
                        <a:t>{{deaths_by_health}}</a:t>
                      </a:r>
                      <a:endParaRPr b="0" i="0" sz="1200" u="none" cap="none" strike="noStrike">
                        <a:solidFill>
                          <a:srgbClr val="2D55FF"/>
                        </a:solidFill>
                        <a:latin typeface="Inter"/>
                        <a:ea typeface="Inter"/>
                        <a:cs typeface="Inter"/>
                        <a:sym typeface="Inte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65" name="Google Shape;165;p11"/>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e-DE"/>
              <a:t>‹#›</a:t>
            </a:fld>
            <a:endParaRPr/>
          </a:p>
        </p:txBody>
      </p:sp>
      <p:sp>
        <p:nvSpPr>
          <p:cNvPr id="166" name="Google Shape;166;p11"/>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e-DE"/>
              <a:t>{{company_name}}</a:t>
            </a:r>
            <a:endParaRPr b="0"/>
          </a:p>
          <a:p>
            <a:pPr indent="0" lvl="0" marL="0" rtl="0" algn="r">
              <a:spcBef>
                <a:spcPts val="0"/>
              </a:spcBef>
              <a:spcAft>
                <a:spcPts val="0"/>
              </a:spcAft>
              <a:buNone/>
            </a:pPr>
            <a:br>
              <a:rPr lang="de-DE"/>
            </a:br>
            <a:endParaRPr/>
          </a:p>
        </p:txBody>
      </p:sp>
      <p:sp>
        <p:nvSpPr>
          <p:cNvPr id="167" name="Google Shape;167;p11"/>
          <p:cNvSpPr txBox="1"/>
          <p:nvPr/>
        </p:nvSpPr>
        <p:spPr>
          <a:xfrm>
            <a:off x="518600" y="995767"/>
            <a:ext cx="1116540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de-DE" sz="1200" u="none" strike="noStrike">
                <a:solidFill>
                  <a:schemeClr val="dk2"/>
                </a:solidFill>
                <a:latin typeface="Inter"/>
                <a:ea typeface="Inter"/>
                <a:cs typeface="Inter"/>
                <a:sym typeface="Inter"/>
              </a:rPr>
              <a:t>Das Unternehmen hat Informationen über die Zahl der meldepflichtigen Arbeitsunfälle und der arbeitsbedingten Todesfälle zu folgenden Aufschlüsselungen angegeben: Anzahl und Quote. Darüber hinaus, ob arbeitsbedingte Todesfälle auf arbeitsbedingte Verletzungen/Unfälle oder auf Erkrankungen zurückzuführen sind.</a:t>
            </a:r>
            <a:endParaRPr b="0" sz="1200">
              <a:solidFill>
                <a:schemeClr val="dk2"/>
              </a:solidFill>
              <a:latin typeface="Inter"/>
              <a:ea typeface="Inter"/>
              <a:cs typeface="Inter"/>
              <a:sym typeface="Inter"/>
            </a:endParaRPr>
          </a:p>
          <a:p>
            <a:pPr indent="0" lvl="0" marL="0" marR="0" rtl="0" algn="l">
              <a:spcBef>
                <a:spcPts val="0"/>
              </a:spcBef>
              <a:spcAft>
                <a:spcPts val="0"/>
              </a:spcAft>
              <a:buClr>
                <a:schemeClr val="dk2"/>
              </a:buClr>
              <a:buSzPts val="1200"/>
              <a:buFont typeface="Inter"/>
              <a:buNone/>
            </a:pPr>
            <a:br>
              <a:rPr lang="de-DE" sz="1200">
                <a:solidFill>
                  <a:schemeClr val="dk2"/>
                </a:solidFill>
                <a:latin typeface="Inter"/>
                <a:ea typeface="Inter"/>
                <a:cs typeface="Inter"/>
                <a:sym typeface="Inter"/>
              </a:rPr>
            </a:br>
            <a:endParaRPr sz="1200">
              <a:solidFill>
                <a:schemeClr val="dk2"/>
              </a:solidFill>
              <a:latin typeface="Inter"/>
              <a:ea typeface="Inter"/>
              <a:cs typeface="Inter"/>
              <a:sym typeface="Inter"/>
            </a:endParaRPr>
          </a:p>
        </p:txBody>
      </p:sp>
      <p:sp>
        <p:nvSpPr>
          <p:cNvPr id="168" name="Google Shape;168;p11"/>
          <p:cNvSpPr txBox="1"/>
          <p:nvPr/>
        </p:nvSpPr>
        <p:spPr>
          <a:xfrm>
            <a:off x="518600" y="3051599"/>
            <a:ext cx="11165400" cy="249299"/>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chemeClr val="dk2"/>
              </a:buClr>
              <a:buSzPts val="1800"/>
              <a:buFont typeface="IBM Plex Sans"/>
              <a:buNone/>
            </a:pPr>
            <a:r>
              <a:rPr b="1" lang="de-DE" sz="1800">
                <a:solidFill>
                  <a:schemeClr val="dk2"/>
                </a:solidFill>
                <a:latin typeface="IBM Plex Sans"/>
                <a:ea typeface="IBM Plex Sans"/>
                <a:cs typeface="IBM Plex Sans"/>
                <a:sym typeface="IBM Plex Sans"/>
              </a:rPr>
              <a:t>Eigene Arbeitskräfte: Vergütung, Tarifverhandlungen und Schulung (B10)</a:t>
            </a:r>
            <a:endParaRPr/>
          </a:p>
        </p:txBody>
      </p:sp>
      <p:graphicFrame>
        <p:nvGraphicFramePr>
          <p:cNvPr id="169" name="Google Shape;169;p11"/>
          <p:cNvGraphicFramePr/>
          <p:nvPr/>
        </p:nvGraphicFramePr>
        <p:xfrm>
          <a:off x="6214532" y="4181125"/>
          <a:ext cx="3000000" cy="3000000"/>
        </p:xfrm>
        <a:graphic>
          <a:graphicData uri="http://schemas.openxmlformats.org/drawingml/2006/table">
            <a:tbl>
              <a:tblPr firstRow="1">
                <a:noFill/>
                <a:tableStyleId>{08659190-FCFE-4D70-9B86-54A6606F5F58}</a:tableStyleId>
              </a:tblPr>
              <a:tblGrid>
                <a:gridCol w="3805775"/>
                <a:gridCol w="1663700"/>
              </a:tblGrid>
              <a:tr h="335175">
                <a:tc rowSpan="2">
                  <a:txBody>
                    <a:bodyPr/>
                    <a:lstStyle/>
                    <a:p>
                      <a:pPr indent="0" lvl="0" marL="0" marR="0" rtl="0" algn="l">
                        <a:lnSpc>
                          <a:spcPct val="100000"/>
                        </a:lnSpc>
                        <a:spcBef>
                          <a:spcPts val="0"/>
                        </a:spcBef>
                        <a:spcAft>
                          <a:spcPts val="0"/>
                        </a:spcAft>
                        <a:buClr>
                          <a:schemeClr val="dk2"/>
                        </a:buClr>
                        <a:buSzPts val="1200"/>
                        <a:buFont typeface="IBM Plex Sans"/>
                        <a:buNone/>
                      </a:pPr>
                      <a:r>
                        <a:rPr b="1" lang="de-DE" sz="1200">
                          <a:solidFill>
                            <a:schemeClr val="dk2"/>
                          </a:solidFill>
                        </a:rPr>
                        <a:t>Entgeltgefälle zwischen männlichen und weiblichen Beschäftigten </a:t>
                      </a:r>
                      <a:r>
                        <a:rPr b="0" lang="de-DE" sz="1200">
                          <a:solidFill>
                            <a:schemeClr val="dk2"/>
                          </a:solidFill>
                        </a:rPr>
                        <a:t>(Nr. 42b)</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de-DE" sz="1200">
                          <a:solidFill>
                            <a:schemeClr val="dk2"/>
                          </a:solidFill>
                        </a:rPr>
                        <a:t>Jahr</a:t>
                      </a:r>
                      <a:r>
                        <a:rPr b="1" lang="de-DE" sz="1200">
                          <a:solidFill>
                            <a:schemeClr val="accent2"/>
                          </a:solidFill>
                          <a:latin typeface="Calibri"/>
                          <a:ea typeface="Calibri"/>
                          <a:cs typeface="Calibri"/>
                          <a:sym typeface="Calibri"/>
                        </a:rPr>
                        <a:t> </a:t>
                      </a:r>
                      <a:r>
                        <a:rPr b="1" lang="de-DE" sz="1200">
                          <a:solidFill>
                            <a:schemeClr val="accent2"/>
                          </a:solidFill>
                        </a:rPr>
                        <a:t>{{insert_year}}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540350">
                <a:tc vMerge="1"/>
                <a:tc>
                  <a:txBody>
                    <a:bodyPr/>
                    <a:lstStyle/>
                    <a:p>
                      <a:pPr indent="0" lvl="0" marL="0" marR="0" rtl="0" algn="ctr">
                        <a:spcBef>
                          <a:spcPts val="0"/>
                        </a:spcBef>
                        <a:spcAft>
                          <a:spcPts val="0"/>
                        </a:spcAft>
                        <a:buNone/>
                      </a:pPr>
                      <a:r>
                        <a:rPr b="0" lang="de-DE" sz="1200">
                          <a:solidFill>
                            <a:schemeClr val="accent2"/>
                          </a:solidFill>
                        </a:rPr>
                        <a:t>{{indsat_procentvise_lonforskel}}</a:t>
                      </a:r>
                      <a:endParaRPr/>
                    </a:p>
                  </a:txBody>
                  <a:tcPr marT="36000" marB="36000" marR="36000" marL="36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70" name="Google Shape;170;p11"/>
          <p:cNvGraphicFramePr/>
          <p:nvPr/>
        </p:nvGraphicFramePr>
        <p:xfrm>
          <a:off x="507995" y="4181127"/>
          <a:ext cx="3000000" cy="3000000"/>
        </p:xfrm>
        <a:graphic>
          <a:graphicData uri="http://schemas.openxmlformats.org/drawingml/2006/table">
            <a:tbl>
              <a:tblPr firstRow="1">
                <a:noFill/>
                <a:tableStyleId>{08659190-FCFE-4D70-9B86-54A6606F5F58}</a:tableStyleId>
              </a:tblPr>
              <a:tblGrid>
                <a:gridCol w="3003025"/>
                <a:gridCol w="1267025"/>
                <a:gridCol w="1203675"/>
              </a:tblGrid>
              <a:tr h="206500">
                <a:tc>
                  <a:txBody>
                    <a:bodyPr/>
                    <a:lstStyle/>
                    <a:p>
                      <a:pPr indent="0" lvl="0" marL="0" marR="0" rtl="0" algn="l">
                        <a:spcBef>
                          <a:spcPts val="0"/>
                        </a:spcBef>
                        <a:spcAft>
                          <a:spcPts val="0"/>
                        </a:spcAft>
                        <a:buNone/>
                      </a:pPr>
                      <a:r>
                        <a:rPr b="1" lang="de-DE" sz="1200">
                          <a:solidFill>
                            <a:schemeClr val="dk2"/>
                          </a:solidFill>
                        </a:rPr>
                        <a:t>Angaben zum Mindestlohn </a:t>
                      </a:r>
                      <a:r>
                        <a:rPr b="0" lang="de-DE" sz="1200">
                          <a:solidFill>
                            <a:schemeClr val="dk2"/>
                          </a:solidFill>
                        </a:rPr>
                        <a:t>(42a)</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None/>
                      </a:pPr>
                      <a:r>
                        <a:rPr b="1" lang="de-DE" sz="1200">
                          <a:solidFill>
                            <a:schemeClr val="dk2"/>
                          </a:solidFill>
                        </a:rPr>
                        <a:t>Ja</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None/>
                      </a:pPr>
                      <a:r>
                        <a:rPr b="1" lang="de-DE" sz="1200">
                          <a:solidFill>
                            <a:schemeClr val="dk2"/>
                          </a:solidFill>
                        </a:rPr>
                        <a:t>Nein</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502825">
                <a:tc>
                  <a:txBody>
                    <a:bodyPr/>
                    <a:lstStyle/>
                    <a:p>
                      <a:pPr indent="0" lvl="0" marL="0" marR="0" rtl="0" algn="l">
                        <a:spcBef>
                          <a:spcPts val="0"/>
                        </a:spcBef>
                        <a:spcAft>
                          <a:spcPts val="0"/>
                        </a:spcAft>
                        <a:buNone/>
                      </a:pPr>
                      <a:r>
                        <a:rPr b="0" lang="de-DE" sz="1200">
                          <a:solidFill>
                            <a:schemeClr val="dk2"/>
                          </a:solidFill>
                        </a:rPr>
                        <a:t>Im Unternehmen erhalten alle Beschäftigten ein Entgelt mindestens in Höhe des Mindestlohns </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{{minumum_wage_yes?}}</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{{minimum_wage_no?}}</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71" name="Google Shape;171;p11"/>
          <p:cNvGraphicFramePr/>
          <p:nvPr/>
        </p:nvGraphicFramePr>
        <p:xfrm>
          <a:off x="507998" y="5198328"/>
          <a:ext cx="3000000" cy="3000000"/>
        </p:xfrm>
        <a:graphic>
          <a:graphicData uri="http://schemas.openxmlformats.org/drawingml/2006/table">
            <a:tbl>
              <a:tblPr firstRow="1">
                <a:noFill/>
                <a:tableStyleId>{08659190-FCFE-4D70-9B86-54A6606F5F58}</a:tableStyleId>
              </a:tblPr>
              <a:tblGrid>
                <a:gridCol w="3022600"/>
                <a:gridCol w="2446875"/>
              </a:tblGrid>
              <a:tr h="545075">
                <a:tc>
                  <a:txBody>
                    <a:bodyPr/>
                    <a:lstStyle/>
                    <a:p>
                      <a:pPr indent="0" lvl="0" marL="0" marR="0" rtl="0" algn="l">
                        <a:lnSpc>
                          <a:spcPct val="100000"/>
                        </a:lnSpc>
                        <a:spcBef>
                          <a:spcPts val="0"/>
                        </a:spcBef>
                        <a:spcAft>
                          <a:spcPts val="0"/>
                        </a:spcAft>
                        <a:buClr>
                          <a:schemeClr val="dk2"/>
                        </a:buClr>
                        <a:buSzPts val="1200"/>
                        <a:buFont typeface="IBM Plex Sans"/>
                        <a:buNone/>
                      </a:pPr>
                      <a:r>
                        <a:rPr b="1" lang="de-DE" sz="1200">
                          <a:solidFill>
                            <a:schemeClr val="dk2"/>
                          </a:solidFill>
                        </a:rPr>
                        <a:t>Tarifvertrag </a:t>
                      </a:r>
                      <a:r>
                        <a:rPr b="0" lang="de-DE" sz="1200">
                          <a:solidFill>
                            <a:schemeClr val="dk2"/>
                          </a:solidFill>
                        </a:rPr>
                        <a:t>(Nr. 42c)</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de-DE" sz="1200">
                          <a:solidFill>
                            <a:schemeClr val="dk2"/>
                          </a:solidFill>
                        </a:rPr>
                        <a:t>Jahr</a:t>
                      </a:r>
                      <a:r>
                        <a:rPr b="1" lang="de-DE" sz="1200">
                          <a:solidFill>
                            <a:schemeClr val="accent2"/>
                          </a:solidFill>
                          <a:latin typeface="Calibri"/>
                          <a:ea typeface="Calibri"/>
                          <a:cs typeface="Calibri"/>
                          <a:sym typeface="Calibri"/>
                        </a:rPr>
                        <a:t> {{insert_year}}</a:t>
                      </a:r>
                      <a:endParaRPr b="1"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501475">
                <a:tc>
                  <a:txBody>
                    <a:bodyPr/>
                    <a:lstStyle/>
                    <a:p>
                      <a:pPr indent="0" lvl="0" marL="0" marR="0" rtl="0" algn="l">
                        <a:lnSpc>
                          <a:spcPct val="100000"/>
                        </a:lnSpc>
                        <a:spcBef>
                          <a:spcPts val="0"/>
                        </a:spcBef>
                        <a:spcAft>
                          <a:spcPts val="0"/>
                        </a:spcAft>
                        <a:buClr>
                          <a:schemeClr val="dk2"/>
                        </a:buClr>
                        <a:buSzPts val="1200"/>
                        <a:buFont typeface="IBM Plex Sans"/>
                        <a:buNone/>
                      </a:pPr>
                      <a:r>
                        <a:rPr b="0" lang="de-DE" sz="1200">
                          <a:solidFill>
                            <a:schemeClr val="dk2"/>
                          </a:solidFill>
                        </a:rPr>
                        <a:t>Prozentualer Anteil der Beschäftigten, die von einem Tarifvertrag abgedeckt sind</a:t>
                      </a:r>
                      <a:endParaRPr b="0" i="0" sz="1200" u="none" cap="none" strike="noStrike">
                        <a:solidFill>
                          <a:srgbClr val="2D55FF"/>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rgbClr val="2D55FF"/>
                        </a:buClr>
                        <a:buSzPts val="1200"/>
                        <a:buFont typeface="IBM Plex Sans"/>
                        <a:buNone/>
                      </a:pPr>
                      <a:r>
                        <a:rPr b="0" i="0" lang="de-DE" sz="1200" u="none" cap="none" strike="noStrike">
                          <a:solidFill>
                            <a:srgbClr val="2D55FF"/>
                          </a:solidFill>
                          <a:latin typeface="IBM Plex Sans"/>
                          <a:ea typeface="IBM Plex Sans"/>
                          <a:cs typeface="IBM Plex Sans"/>
                          <a:sym typeface="IBM Plex Sans"/>
                        </a:rPr>
                        <a:t>{{indsat_procentvis_ansatte}}</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172" name="Google Shape;172;p11"/>
          <p:cNvGraphicFramePr/>
          <p:nvPr/>
        </p:nvGraphicFramePr>
        <p:xfrm>
          <a:off x="6212426" y="5198327"/>
          <a:ext cx="3000000" cy="3000000"/>
        </p:xfrm>
        <a:graphic>
          <a:graphicData uri="http://schemas.openxmlformats.org/drawingml/2006/table">
            <a:tbl>
              <a:tblPr firstRow="1">
                <a:noFill/>
                <a:tableStyleId>{08659190-FCFE-4D70-9B86-54A6606F5F58}</a:tableStyleId>
              </a:tblPr>
              <a:tblGrid>
                <a:gridCol w="3807875"/>
                <a:gridCol w="1661600"/>
              </a:tblGrid>
              <a:tr h="429825">
                <a:tc>
                  <a:txBody>
                    <a:bodyPr/>
                    <a:lstStyle/>
                    <a:p>
                      <a:pPr indent="0" lvl="0" marL="0" marR="0" rtl="0" algn="l">
                        <a:spcBef>
                          <a:spcPts val="0"/>
                        </a:spcBef>
                        <a:spcAft>
                          <a:spcPts val="0"/>
                        </a:spcAft>
                        <a:buNone/>
                      </a:pPr>
                      <a:r>
                        <a:rPr b="1" lang="de-DE" sz="1200">
                          <a:solidFill>
                            <a:schemeClr val="dk2"/>
                          </a:solidFill>
                        </a:rPr>
                        <a:t>Durchschnittliche Schulungsstunden je Beschäftigtem </a:t>
                      </a:r>
                      <a:r>
                        <a:rPr b="0" lang="de-DE" sz="1200">
                          <a:solidFill>
                            <a:schemeClr val="dk2"/>
                          </a:solidFill>
                        </a:rPr>
                        <a:t>(Nr. 42d)</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de-DE" sz="1200">
                          <a:solidFill>
                            <a:schemeClr val="dk2"/>
                          </a:solidFill>
                        </a:rPr>
                        <a:t>Jahr</a:t>
                      </a:r>
                      <a:r>
                        <a:rPr b="1" lang="de-DE" sz="1200">
                          <a:solidFill>
                            <a:schemeClr val="accent2"/>
                          </a:solidFill>
                          <a:latin typeface="Calibri"/>
                          <a:ea typeface="Calibri"/>
                          <a:cs typeface="Calibri"/>
                          <a:sym typeface="Calibri"/>
                        </a:rPr>
                        <a:t> {{insert_year}}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614050">
                <a:tc>
                  <a:txBody>
                    <a:bodyPr/>
                    <a:lstStyle/>
                    <a:p>
                      <a:pPr indent="0" lvl="0" marL="0" marR="0" rtl="0" algn="l">
                        <a:spcBef>
                          <a:spcPts val="0"/>
                        </a:spcBef>
                        <a:spcAft>
                          <a:spcPts val="0"/>
                        </a:spcAft>
                        <a:buNone/>
                      </a:pPr>
                      <a:r>
                        <a:rPr b="0" lang="de-DE" sz="1200">
                          <a:solidFill>
                            <a:schemeClr val="dk2"/>
                          </a:solidFill>
                        </a:rPr>
                        <a:t>Stunde(n) je Beschäftigtem</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{{gennemsnitstimer}}</a:t>
                      </a:r>
                      <a:endParaRPr b="0" sz="1200"/>
                    </a:p>
                  </a:txBody>
                  <a:tcPr marT="19050" marB="19050" marR="19050" marL="1905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73" name="Google Shape;173;p11"/>
          <p:cNvSpPr txBox="1"/>
          <p:nvPr/>
        </p:nvSpPr>
        <p:spPr>
          <a:xfrm>
            <a:off x="531300" y="3446812"/>
            <a:ext cx="11165400"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de-DE" sz="1200" u="none" strike="noStrike">
                <a:solidFill>
                  <a:schemeClr val="dk2"/>
                </a:solidFill>
                <a:latin typeface="Inter"/>
                <a:ea typeface="Inter"/>
                <a:cs typeface="Inter"/>
                <a:sym typeface="Inter"/>
              </a:rPr>
              <a:t>Das Unternehmen hat Angaben zum Mindestlohn gemacht sowie den prozentualen Anteil der Beschäftigten angegeben, die von Tarifverträgen abgedeckt sind, und die durchschnittliche jährliche Stundenzahl der Schulungen je Beschäftigtem, aufgeschlüsselt nach Geschlecht. Ist das Unternehmen bereits nach EU-Rechtsvorschriften 8 oder anderen nationalen Vorschriften verpflichtet, das prozentuale Entgeltgefälle zwischen seinen weiblichen und männlichen Beschäftigten zu melden, so hat es dies anzugeben.</a:t>
            </a:r>
            <a:endParaRPr/>
          </a:p>
          <a:p>
            <a:pPr indent="0" lvl="0" marL="0" marR="0" rtl="0" algn="l">
              <a:spcBef>
                <a:spcPts val="0"/>
              </a:spcBef>
              <a:spcAft>
                <a:spcPts val="0"/>
              </a:spcAft>
              <a:buClr>
                <a:schemeClr val="dk2"/>
              </a:buClr>
              <a:buSzPts val="1200"/>
              <a:buFont typeface="Inter"/>
              <a:buNone/>
            </a:pPr>
            <a:br>
              <a:rPr lang="de-DE" sz="1200">
                <a:solidFill>
                  <a:schemeClr val="dk2"/>
                </a:solidFill>
                <a:latin typeface="Inter"/>
                <a:ea typeface="Inter"/>
                <a:cs typeface="Inter"/>
                <a:sym typeface="Inter"/>
              </a:rPr>
            </a:br>
            <a:endParaRPr sz="1200">
              <a:solidFill>
                <a:schemeClr val="dk2"/>
              </a:solidFill>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2"/>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e-DE"/>
              <a:t>Unternehmenspolitik: Anzahl der Verurteilungen und Geldstrafen wegen Korruption &amp; Bestechung (B11) </a:t>
            </a:r>
            <a:endParaRPr/>
          </a:p>
        </p:txBody>
      </p:sp>
      <p:graphicFrame>
        <p:nvGraphicFramePr>
          <p:cNvPr id="180" name="Google Shape;180;p12"/>
          <p:cNvGraphicFramePr/>
          <p:nvPr/>
        </p:nvGraphicFramePr>
        <p:xfrm>
          <a:off x="507998" y="1945690"/>
          <a:ext cx="3000000" cy="3000000"/>
        </p:xfrm>
        <a:graphic>
          <a:graphicData uri="http://schemas.openxmlformats.org/drawingml/2006/table">
            <a:tbl>
              <a:tblPr firstRow="1">
                <a:noFill/>
                <a:tableStyleId>{08659190-FCFE-4D70-9B86-54A6606F5F58}</a:tableStyleId>
              </a:tblPr>
              <a:tblGrid>
                <a:gridCol w="3721800"/>
                <a:gridCol w="3721800"/>
                <a:gridCol w="3721800"/>
              </a:tblGrid>
              <a:tr h="306000">
                <a:tc rowSpan="2">
                  <a:txBody>
                    <a:bodyPr/>
                    <a:lstStyle/>
                    <a:p>
                      <a:pPr indent="0" lvl="0" marL="0" marR="0" rtl="0" algn="l">
                        <a:spcBef>
                          <a:spcPts val="0"/>
                        </a:spcBef>
                        <a:spcAft>
                          <a:spcPts val="0"/>
                        </a:spcAft>
                        <a:buNone/>
                      </a:pPr>
                      <a:r>
                        <a:rPr b="1" lang="de-DE" sz="1200">
                          <a:solidFill>
                            <a:schemeClr val="dk2"/>
                          </a:solidFill>
                        </a:rPr>
                        <a:t>Korruption und Bestechung </a:t>
                      </a:r>
                      <a:r>
                        <a:rPr b="0" lang="de-DE" sz="1200">
                          <a:solidFill>
                            <a:schemeClr val="dk2"/>
                          </a:solidFill>
                        </a:rPr>
                        <a:t>(Nr. 43)</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None/>
                      </a:pPr>
                      <a:r>
                        <a:rPr b="1" lang="de-DE" sz="1200">
                          <a:solidFill>
                            <a:schemeClr val="dk2"/>
                          </a:solidFill>
                        </a:rPr>
                        <a:t>Anzahl der Verurteilungen</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None/>
                      </a:pPr>
                      <a:r>
                        <a:rPr b="1" lang="de-DE" sz="1200">
                          <a:solidFill>
                            <a:schemeClr val="dk2"/>
                          </a:solidFill>
                        </a:rPr>
                        <a:t>Gesamtbetrag der Geldstrafen</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06000">
                <a:tc vMerge="1"/>
                <a:tc>
                  <a:txBody>
                    <a:bodyPr/>
                    <a:lstStyle/>
                    <a:p>
                      <a:pPr indent="0" lvl="0" marL="0" marR="0" rtl="0" algn="ctr">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{{domme}}</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{{samlet_bodestorrelse}}</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181" name="Google Shape;181;p12"/>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e-DE"/>
              <a:t>‹#›</a:t>
            </a:fld>
            <a:endParaRPr/>
          </a:p>
        </p:txBody>
      </p:sp>
      <p:sp>
        <p:nvSpPr>
          <p:cNvPr id="182" name="Google Shape;182;p12"/>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e-DE"/>
              <a:t>{{company_name}}</a:t>
            </a:r>
            <a:endParaRPr b="0"/>
          </a:p>
          <a:p>
            <a:pPr indent="0" lvl="0" marL="0" rtl="0" algn="r">
              <a:spcBef>
                <a:spcPts val="0"/>
              </a:spcBef>
              <a:spcAft>
                <a:spcPts val="0"/>
              </a:spcAft>
              <a:buNone/>
            </a:pPr>
            <a:r>
              <a:t/>
            </a:r>
            <a:endParaRPr/>
          </a:p>
        </p:txBody>
      </p:sp>
      <p:sp>
        <p:nvSpPr>
          <p:cNvPr id="183" name="Google Shape;183;p12"/>
          <p:cNvSpPr txBox="1"/>
          <p:nvPr/>
        </p:nvSpPr>
        <p:spPr>
          <a:xfrm>
            <a:off x="518600" y="1016000"/>
            <a:ext cx="11254300"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de-DE" sz="1200" u="none" strike="noStrike">
                <a:solidFill>
                  <a:schemeClr val="dk2"/>
                </a:solidFill>
                <a:latin typeface="Inter"/>
                <a:ea typeface="Inter"/>
                <a:cs typeface="Inter"/>
                <a:sym typeface="Inter"/>
              </a:rPr>
              <a:t>Das Unternehmen hat Verstöße gegen Vorschriften zur Bekämpfung von Korruption und Bestechung im Berichtszeitraum angegeben. War das Unternehmen an Verurteilungen oder Geldstrafen wegen solcher Verstöße beteiligt, wurden folgende Angaben offengelegt: Anzahl der Verurteilungen und Gesamtbetrag der verhängten Geldstrafen. Diese Angaben betreffen die Geschäftsethik und Nachhaltigkeit des Unternehmens, insbesondere den Umgang mit Korruption und Bestechung, und sind nachstehend aufgeführt.</a:t>
            </a:r>
            <a:endParaRPr b="0" sz="1200">
              <a:solidFill>
                <a:schemeClr val="dk2"/>
              </a:solidFill>
              <a:latin typeface="Inter"/>
              <a:ea typeface="Inter"/>
              <a:cs typeface="Inter"/>
              <a:sym typeface="Inter"/>
            </a:endParaRPr>
          </a:p>
          <a:p>
            <a:pPr indent="0" lvl="0" marL="0" marR="0" rtl="0" algn="l">
              <a:spcBef>
                <a:spcPts val="0"/>
              </a:spcBef>
              <a:spcAft>
                <a:spcPts val="0"/>
              </a:spcAft>
              <a:buClr>
                <a:schemeClr val="dk2"/>
              </a:buClr>
              <a:buSzPts val="1200"/>
              <a:buFont typeface="Inter"/>
              <a:buNone/>
            </a:pPr>
            <a:br>
              <a:rPr lang="de-DE" sz="1200">
                <a:solidFill>
                  <a:schemeClr val="dk2"/>
                </a:solidFill>
                <a:latin typeface="Inter"/>
                <a:ea typeface="Inter"/>
                <a:cs typeface="Inter"/>
                <a:sym typeface="Inter"/>
              </a:rPr>
            </a:br>
            <a:endParaRPr sz="1200">
              <a:solidFill>
                <a:schemeClr val="dk2"/>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3"/>
          <p:cNvSpPr txBox="1"/>
          <p:nvPr>
            <p:ph idx="1" type="body"/>
          </p:nvPr>
        </p:nvSpPr>
        <p:spPr>
          <a:xfrm>
            <a:off x="960628" y="2698750"/>
            <a:ext cx="10033000" cy="1460499"/>
          </a:xfrm>
          <a:prstGeom prst="rect">
            <a:avLst/>
          </a:prstGeom>
          <a:solidFill>
            <a:srgbClr val="1B4529"/>
          </a:solid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chemeClr val="lt1"/>
              </a:buClr>
              <a:buSzPts val="4000"/>
              <a:buFont typeface="IBM Plex Sans"/>
              <a:buNone/>
            </a:pPr>
            <a:r>
              <a:rPr b="1" lang="de-DE" sz="4000"/>
              <a:t>Angaben im Zusatzmodul</a:t>
            </a:r>
            <a:endParaRPr/>
          </a:p>
        </p:txBody>
      </p:sp>
      <p:sp>
        <p:nvSpPr>
          <p:cNvPr id="190" name="Google Shape;190;p13"/>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4"/>
          <p:cNvSpPr txBox="1"/>
          <p:nvPr>
            <p:ph type="title"/>
          </p:nvPr>
        </p:nvSpPr>
        <p:spPr>
          <a:xfrm>
            <a:off x="518600" y="513927"/>
            <a:ext cx="11165400" cy="256224"/>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1B4528"/>
              </a:buClr>
              <a:buSzPts val="1800"/>
              <a:buFont typeface="IBM Plex Sans"/>
              <a:buNone/>
            </a:pPr>
            <a:r>
              <a:rPr b="1" i="0" lang="de-DE" sz="1800" u="none" strike="noStrike">
                <a:solidFill>
                  <a:srgbClr val="1B4528"/>
                </a:solidFill>
                <a:latin typeface="IBM Plex Sans"/>
                <a:ea typeface="IBM Plex Sans"/>
                <a:cs typeface="IBM Plex Sans"/>
                <a:sym typeface="IBM Plex Sans"/>
              </a:rPr>
              <a:t>Strategie: Geschäftsmodell und nachhaltigkeitsbezogene Initiativen (C1)</a:t>
            </a:r>
            <a:endParaRPr/>
          </a:p>
        </p:txBody>
      </p:sp>
      <p:sp>
        <p:nvSpPr>
          <p:cNvPr id="197" name="Google Shape;197;p14"/>
          <p:cNvSpPr/>
          <p:nvPr/>
        </p:nvSpPr>
        <p:spPr>
          <a:xfrm>
            <a:off x="612401" y="4709014"/>
            <a:ext cx="207455" cy="232601"/>
          </a:xfrm>
          <a:prstGeom prst="rect">
            <a:avLst/>
          </a:prstGeom>
          <a:noFill/>
          <a:ln>
            <a:noFill/>
          </a:ln>
        </p:spPr>
      </p:sp>
      <p:sp>
        <p:nvSpPr>
          <p:cNvPr id="198" name="Google Shape;198;p14"/>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e-DE"/>
              <a:t>‹#›</a:t>
            </a:fld>
            <a:endParaRPr/>
          </a:p>
        </p:txBody>
      </p:sp>
      <p:sp>
        <p:nvSpPr>
          <p:cNvPr id="199" name="Google Shape;199;p14"/>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e-DE"/>
              <a:t>{{company_name}}</a:t>
            </a:r>
            <a:endParaRPr b="0"/>
          </a:p>
          <a:p>
            <a:pPr indent="0" lvl="0" marL="0" rtl="0" algn="r">
              <a:spcBef>
                <a:spcPts val="0"/>
              </a:spcBef>
              <a:spcAft>
                <a:spcPts val="0"/>
              </a:spcAft>
              <a:buNone/>
            </a:pPr>
            <a:br>
              <a:rPr lang="de-DE"/>
            </a:br>
            <a:endParaRPr/>
          </a:p>
        </p:txBody>
      </p:sp>
      <p:graphicFrame>
        <p:nvGraphicFramePr>
          <p:cNvPr id="200" name="Google Shape;200;p14"/>
          <p:cNvGraphicFramePr/>
          <p:nvPr/>
        </p:nvGraphicFramePr>
        <p:xfrm>
          <a:off x="529201" y="2372250"/>
          <a:ext cx="3000000" cy="3000000"/>
        </p:xfrm>
        <a:graphic>
          <a:graphicData uri="http://schemas.openxmlformats.org/drawingml/2006/table">
            <a:tbl>
              <a:tblPr firstRow="1">
                <a:noFill/>
                <a:tableStyleId>{08659190-FCFE-4D70-9B86-54A6606F5F58}</a:tableStyleId>
              </a:tblPr>
              <a:tblGrid>
                <a:gridCol w="11165400"/>
              </a:tblGrid>
              <a:tr h="180000">
                <a:tc>
                  <a:txBody>
                    <a:bodyPr/>
                    <a:lstStyle/>
                    <a:p>
                      <a:pPr indent="0" lvl="0" marL="0" marR="0" rtl="0" algn="l">
                        <a:spcBef>
                          <a:spcPts val="0"/>
                        </a:spcBef>
                        <a:spcAft>
                          <a:spcPts val="0"/>
                        </a:spcAft>
                        <a:buNone/>
                      </a:pPr>
                      <a:r>
                        <a:rPr b="1" lang="de-DE" sz="1200">
                          <a:solidFill>
                            <a:schemeClr val="dk2"/>
                          </a:solidFill>
                        </a:rPr>
                        <a:t>Beschreibung bedeutender Gruppen von Produkten und/oder Dienstleistungen, die </a:t>
                      </a:r>
                      <a:r>
                        <a:rPr b="1" lang="de-DE" sz="1200">
                          <a:solidFill>
                            <a:schemeClr val="accent2"/>
                          </a:solidFill>
                          <a:latin typeface="IBM Plex Sans"/>
                          <a:ea typeface="IBM Plex Sans"/>
                          <a:cs typeface="IBM Plex Sans"/>
                          <a:sym typeface="IBM Plex Sans"/>
                        </a:rPr>
                        <a:t>{{company_name}} </a:t>
                      </a:r>
                      <a:r>
                        <a:rPr b="1" lang="de-DE" sz="1200">
                          <a:solidFill>
                            <a:schemeClr val="dk2"/>
                          </a:solidFill>
                          <a:latin typeface="IBM Plex Sans"/>
                          <a:ea typeface="IBM Plex Sans"/>
                          <a:cs typeface="IBM Plex Sans"/>
                          <a:sym typeface="IBM Plex Sans"/>
                        </a:rPr>
                        <a:t>anbietet</a:t>
                      </a:r>
                      <a:r>
                        <a:rPr b="1" lang="de-DE" sz="1200">
                          <a:solidFill>
                            <a:schemeClr val="dk2"/>
                          </a:solidFill>
                        </a:rPr>
                        <a:t> </a:t>
                      </a:r>
                      <a:r>
                        <a:rPr b="0" lang="de-DE" sz="1200">
                          <a:solidFill>
                            <a:schemeClr val="dk2"/>
                          </a:solidFill>
                        </a:rPr>
                        <a:t>(Nr. 46a)</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533725">
                <a:tc>
                  <a:txBody>
                    <a:bodyPr/>
                    <a:lstStyle/>
                    <a:p>
                      <a:pPr indent="0" lvl="0" marL="0" marR="0" rtl="0" algn="l">
                        <a:spcBef>
                          <a:spcPts val="0"/>
                        </a:spcBef>
                        <a:spcAft>
                          <a:spcPts val="0"/>
                        </a:spcAft>
                        <a:buNone/>
                      </a:pPr>
                      <a:r>
                        <a:rPr b="0" lang="de-DE" sz="1200">
                          <a:solidFill>
                            <a:schemeClr val="accent2"/>
                          </a:solidFill>
                        </a:rPr>
                        <a:t>{{markets_description}}</a:t>
                      </a:r>
                      <a:endParaRPr b="0" sz="1200">
                        <a:solidFill>
                          <a:schemeClr val="accent2"/>
                        </a:solidFill>
                        <a:latin typeface="IBM Plex Sans"/>
                        <a:ea typeface="IBM Plex Sans"/>
                        <a:cs typeface="IBM Plex Sans"/>
                        <a:sym typeface="IBM Plex Sans"/>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201" name="Google Shape;201;p14"/>
          <p:cNvGraphicFramePr/>
          <p:nvPr/>
        </p:nvGraphicFramePr>
        <p:xfrm>
          <a:off x="529201" y="3297015"/>
          <a:ext cx="3000000" cy="3000000"/>
        </p:xfrm>
        <a:graphic>
          <a:graphicData uri="http://schemas.openxmlformats.org/drawingml/2006/table">
            <a:tbl>
              <a:tblPr firstRow="1">
                <a:noFill/>
                <a:tableStyleId>{08659190-FCFE-4D70-9B86-54A6606F5F58}</a:tableStyleId>
              </a:tblPr>
              <a:tblGrid>
                <a:gridCol w="11165400"/>
              </a:tblGrid>
              <a:tr h="194800">
                <a:tc>
                  <a:txBody>
                    <a:bodyPr/>
                    <a:lstStyle/>
                    <a:p>
                      <a:pPr indent="0" lvl="0" marL="0" marR="0" rtl="0" algn="l">
                        <a:spcBef>
                          <a:spcPts val="0"/>
                        </a:spcBef>
                        <a:spcAft>
                          <a:spcPts val="0"/>
                        </a:spcAft>
                        <a:buNone/>
                      </a:pPr>
                      <a:r>
                        <a:rPr b="1" lang="de-DE" sz="1200">
                          <a:solidFill>
                            <a:schemeClr val="dk2"/>
                          </a:solidFill>
                        </a:rPr>
                        <a:t>Beschreibung der bedeutenden Märkte, auf denen </a:t>
                      </a:r>
                      <a:r>
                        <a:rPr b="1" lang="de-DE" sz="1200">
                          <a:solidFill>
                            <a:schemeClr val="accent2"/>
                          </a:solidFill>
                          <a:latin typeface="IBM Plex Sans"/>
                          <a:ea typeface="IBM Plex Sans"/>
                          <a:cs typeface="IBM Plex Sans"/>
                          <a:sym typeface="IBM Plex Sans"/>
                        </a:rPr>
                        <a:t>{{company_name}} </a:t>
                      </a:r>
                      <a:r>
                        <a:rPr b="1" lang="de-DE" sz="1200">
                          <a:solidFill>
                            <a:schemeClr val="dk2"/>
                          </a:solidFill>
                        </a:rPr>
                        <a:t>tätig ist </a:t>
                      </a:r>
                      <a:r>
                        <a:rPr b="0" lang="de-DE" sz="1200">
                          <a:solidFill>
                            <a:schemeClr val="dk2"/>
                          </a:solidFill>
                        </a:rPr>
                        <a:t>(Nr. 46b)</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773100">
                <a:tc>
                  <a:txBody>
                    <a:bodyPr/>
                    <a:lstStyle/>
                    <a:p>
                      <a:pPr indent="0" lvl="0" marL="0" marR="0" rtl="0" algn="l">
                        <a:spcBef>
                          <a:spcPts val="0"/>
                        </a:spcBef>
                        <a:spcAft>
                          <a:spcPts val="0"/>
                        </a:spcAft>
                        <a:buNone/>
                      </a:pPr>
                      <a:r>
                        <a:rPr b="0" lang="de-DE" sz="1200">
                          <a:solidFill>
                            <a:schemeClr val="accent2"/>
                          </a:solidFill>
                        </a:rPr>
                        <a:t>{{business_relationships}}</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202" name="Google Shape;202;p14"/>
          <p:cNvGraphicFramePr/>
          <p:nvPr/>
        </p:nvGraphicFramePr>
        <p:xfrm>
          <a:off x="529201" y="4436129"/>
          <a:ext cx="3000000" cy="3000000"/>
        </p:xfrm>
        <a:graphic>
          <a:graphicData uri="http://schemas.openxmlformats.org/drawingml/2006/table">
            <a:tbl>
              <a:tblPr firstRow="1">
                <a:noFill/>
                <a:tableStyleId>{08659190-FCFE-4D70-9B86-54A6606F5F58}</a:tableStyleId>
              </a:tblPr>
              <a:tblGrid>
                <a:gridCol w="11165400"/>
              </a:tblGrid>
              <a:tr h="177875">
                <a:tc>
                  <a:txBody>
                    <a:bodyPr/>
                    <a:lstStyle/>
                    <a:p>
                      <a:pPr indent="0" lvl="0" marL="0" marR="0" rtl="0" algn="l">
                        <a:spcBef>
                          <a:spcPts val="0"/>
                        </a:spcBef>
                        <a:spcAft>
                          <a:spcPts val="0"/>
                        </a:spcAft>
                        <a:buNone/>
                      </a:pPr>
                      <a:r>
                        <a:rPr b="1" lang="de-DE" sz="1200">
                          <a:solidFill>
                            <a:schemeClr val="dk2"/>
                          </a:solidFill>
                        </a:rPr>
                        <a:t>Beschreibung von </a:t>
                      </a:r>
                      <a:r>
                        <a:rPr b="1" lang="de-DE" sz="1200">
                          <a:solidFill>
                            <a:schemeClr val="accent2"/>
                          </a:solidFill>
                          <a:latin typeface="IBM Plex Sans"/>
                          <a:ea typeface="IBM Plex Sans"/>
                          <a:cs typeface="IBM Plex Sans"/>
                          <a:sym typeface="IBM Plex Sans"/>
                        </a:rPr>
                        <a:t>{{company_name}}</a:t>
                      </a:r>
                      <a:r>
                        <a:rPr b="1" lang="de-DE" sz="1200">
                          <a:solidFill>
                            <a:schemeClr val="accent1"/>
                          </a:solidFill>
                          <a:latin typeface="IBM Plex Sans"/>
                          <a:ea typeface="IBM Plex Sans"/>
                          <a:cs typeface="IBM Plex Sans"/>
                          <a:sym typeface="IBM Plex Sans"/>
                        </a:rPr>
                        <a:t>’s</a:t>
                      </a:r>
                      <a:r>
                        <a:rPr b="1" lang="de-DE" sz="1200">
                          <a:solidFill>
                            <a:schemeClr val="accent2"/>
                          </a:solidFill>
                          <a:latin typeface="IBM Plex Sans"/>
                          <a:ea typeface="IBM Plex Sans"/>
                          <a:cs typeface="IBM Plex Sans"/>
                          <a:sym typeface="IBM Plex Sans"/>
                        </a:rPr>
                        <a:t> </a:t>
                      </a:r>
                      <a:r>
                        <a:rPr b="1" lang="de-DE" sz="1200">
                          <a:solidFill>
                            <a:schemeClr val="dk2"/>
                          </a:solidFill>
                        </a:rPr>
                        <a:t>wesentlichen Geschäftsbeziehungen </a:t>
                      </a:r>
                      <a:r>
                        <a:rPr b="0" lang="de-DE" sz="1200">
                          <a:solidFill>
                            <a:schemeClr val="dk2"/>
                          </a:solidFill>
                        </a:rPr>
                        <a:t>(Nr. 46c)</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747800">
                <a:tc>
                  <a:txBody>
                    <a:bodyPr/>
                    <a:lstStyle/>
                    <a:p>
                      <a:pPr indent="0" lvl="0" marL="0" marR="0" rtl="0" algn="l">
                        <a:spcBef>
                          <a:spcPts val="0"/>
                        </a:spcBef>
                        <a:spcAft>
                          <a:spcPts val="0"/>
                        </a:spcAft>
                        <a:buNone/>
                      </a:pPr>
                      <a:r>
                        <a:rPr b="0" lang="de-DE" sz="1200">
                          <a:solidFill>
                            <a:schemeClr val="accent2"/>
                          </a:solidFill>
                        </a:rPr>
                        <a:t>{{strategy}}</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203" name="Google Shape;203;p14"/>
          <p:cNvGraphicFramePr/>
          <p:nvPr/>
        </p:nvGraphicFramePr>
        <p:xfrm>
          <a:off x="518600" y="1581713"/>
          <a:ext cx="3000000" cy="3000000"/>
        </p:xfrm>
        <a:graphic>
          <a:graphicData uri="http://schemas.openxmlformats.org/drawingml/2006/table">
            <a:tbl>
              <a:tblPr firstRow="1">
                <a:noFill/>
                <a:tableStyleId>{08659190-FCFE-4D70-9B86-54A6606F5F58}</a:tableStyleId>
              </a:tblPr>
              <a:tblGrid>
                <a:gridCol w="11165400"/>
              </a:tblGrid>
              <a:tr h="186900">
                <a:tc>
                  <a:txBody>
                    <a:bodyPr/>
                    <a:lstStyle/>
                    <a:p>
                      <a:pPr indent="0" lvl="0" marL="0" marR="0" rtl="0" algn="l">
                        <a:spcBef>
                          <a:spcPts val="0"/>
                        </a:spcBef>
                        <a:spcAft>
                          <a:spcPts val="0"/>
                        </a:spcAft>
                        <a:buNone/>
                      </a:pPr>
                      <a:r>
                        <a:rPr b="1" lang="de-DE" sz="1200">
                          <a:solidFill>
                            <a:schemeClr val="dk2"/>
                          </a:solidFill>
                        </a:rPr>
                        <a:t>Beschreibung des übergeordneten Geschäftsmodells und der Strategie </a:t>
                      </a:r>
                      <a:r>
                        <a:rPr b="0" lang="de-DE" sz="1200">
                          <a:solidFill>
                            <a:schemeClr val="dk2"/>
                          </a:solidFill>
                        </a:rPr>
                        <a:t>(Nr. 46)</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432050">
                <a:tc>
                  <a:txBody>
                    <a:bodyPr/>
                    <a:lstStyle/>
                    <a:p>
                      <a:pPr indent="0" lvl="0" marL="0" marR="0" rtl="0" algn="l">
                        <a:spcBef>
                          <a:spcPts val="0"/>
                        </a:spcBef>
                        <a:spcAft>
                          <a:spcPts val="0"/>
                        </a:spcAft>
                        <a:buNone/>
                      </a:pPr>
                      <a:r>
                        <a:rPr b="0" lang="de-DE" sz="1200">
                          <a:solidFill>
                            <a:schemeClr val="accent2"/>
                          </a:solidFill>
                        </a:rPr>
                        <a:t>{{products_description}}</a:t>
                      </a:r>
                      <a:endParaRPr/>
                    </a:p>
                    <a:p>
                      <a:pPr indent="0" lvl="0" marL="0" marR="0" rtl="0" algn="l">
                        <a:spcBef>
                          <a:spcPts val="0"/>
                        </a:spcBef>
                        <a:spcAft>
                          <a:spcPts val="0"/>
                        </a:spcAft>
                        <a:buNone/>
                      </a:pPr>
                      <a:r>
                        <a:t/>
                      </a:r>
                      <a:endParaRPr b="0" sz="1200">
                        <a:solidFill>
                          <a:schemeClr val="accent2"/>
                        </a:solidFill>
                        <a:latin typeface="IBM Plex Sans"/>
                        <a:ea typeface="IBM Plex Sans"/>
                        <a:cs typeface="IBM Plex Sans"/>
                        <a:sym typeface="IBM Plex Sans"/>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204" name="Google Shape;204;p14"/>
          <p:cNvGraphicFramePr/>
          <p:nvPr/>
        </p:nvGraphicFramePr>
        <p:xfrm>
          <a:off x="518598" y="5551393"/>
          <a:ext cx="3000000" cy="3000000"/>
        </p:xfrm>
        <a:graphic>
          <a:graphicData uri="http://schemas.openxmlformats.org/drawingml/2006/table">
            <a:tbl>
              <a:tblPr firstRow="1">
                <a:noFill/>
                <a:tableStyleId>{08659190-FCFE-4D70-9B86-54A6606F5F58}</a:tableStyleId>
              </a:tblPr>
              <a:tblGrid>
                <a:gridCol w="11165400"/>
              </a:tblGrid>
              <a:tr h="151400">
                <a:tc>
                  <a:txBody>
                    <a:bodyPr/>
                    <a:lstStyle/>
                    <a:p>
                      <a:pPr indent="0" lvl="0" marL="0" marR="0" rtl="0" algn="l">
                        <a:spcBef>
                          <a:spcPts val="0"/>
                        </a:spcBef>
                        <a:spcAft>
                          <a:spcPts val="0"/>
                        </a:spcAft>
                        <a:buNone/>
                      </a:pPr>
                      <a:r>
                        <a:rPr b="1" lang="de-DE" sz="1200">
                          <a:solidFill>
                            <a:schemeClr val="dk2"/>
                          </a:solidFill>
                        </a:rPr>
                        <a:t>Beschreibung, wo </a:t>
                      </a:r>
                      <a:r>
                        <a:rPr b="1" lang="de-DE" sz="1200">
                          <a:solidFill>
                            <a:schemeClr val="accent2"/>
                          </a:solidFill>
                          <a:latin typeface="IBM Plex Sans"/>
                          <a:ea typeface="IBM Plex Sans"/>
                          <a:cs typeface="IBM Plex Sans"/>
                          <a:sym typeface="IBM Plex Sans"/>
                        </a:rPr>
                        <a:t>{{company_name}}</a:t>
                      </a:r>
                      <a:r>
                        <a:rPr b="1" lang="de-DE" sz="1200">
                          <a:solidFill>
                            <a:schemeClr val="accent1"/>
                          </a:solidFill>
                          <a:latin typeface="IBM Plex Sans"/>
                          <a:ea typeface="IBM Plex Sans"/>
                          <a:cs typeface="IBM Plex Sans"/>
                          <a:sym typeface="IBM Plex Sans"/>
                        </a:rPr>
                        <a:t>´s Strategie und Geschäftsmodell nachhaltigkeitsbezogene Elemente aufweisen </a:t>
                      </a:r>
                      <a:r>
                        <a:rPr b="0" lang="de-DE" sz="1200">
                          <a:solidFill>
                            <a:schemeClr val="dk2"/>
                          </a:solidFill>
                        </a:rPr>
                        <a:t>(Nr. 46d)</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541250">
                <a:tc>
                  <a:txBody>
                    <a:bodyPr/>
                    <a:lstStyle/>
                    <a:p>
                      <a:pPr indent="0" lvl="0" marL="0" marR="0" rtl="0" algn="l">
                        <a:spcBef>
                          <a:spcPts val="0"/>
                        </a:spcBef>
                        <a:spcAft>
                          <a:spcPts val="0"/>
                        </a:spcAft>
                        <a:buClr>
                          <a:schemeClr val="accent2"/>
                        </a:buClr>
                        <a:buSzPts val="1200"/>
                        <a:buFont typeface="IBM Plex Sans"/>
                        <a:buNone/>
                      </a:pPr>
                      <a:r>
                        <a:rPr b="0" lang="de-DE" sz="1200">
                          <a:solidFill>
                            <a:schemeClr val="accent2"/>
                          </a:solidFill>
                        </a:rPr>
                        <a:t>{{business_model}}</a:t>
                      </a:r>
                      <a:endParaRPr sz="1800"/>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205" name="Google Shape;205;p14"/>
          <p:cNvSpPr txBox="1"/>
          <p:nvPr/>
        </p:nvSpPr>
        <p:spPr>
          <a:xfrm>
            <a:off x="518600" y="1016000"/>
            <a:ext cx="112543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de-DE" sz="1200" u="none" strike="noStrike">
                <a:solidFill>
                  <a:schemeClr val="dk2"/>
                </a:solidFill>
                <a:latin typeface="Inter"/>
                <a:ea typeface="Inter"/>
                <a:cs typeface="Inter"/>
                <a:sym typeface="Inter"/>
              </a:rPr>
              <a:t>Das Unternehmen hat das übergeordnete Geschäftsmodell und die Strategie, Produkte und/oder Dienstleistungen, Märkte und Geschäftsbeziehungen beschrieben sowie angegeben, ob das Geschäftsmodell nachhaltigkeitsbezogene Elemente aufweist. </a:t>
            </a:r>
            <a:endParaRPr sz="1200">
              <a:solidFill>
                <a:schemeClr val="dk2"/>
              </a:solidFill>
              <a:latin typeface="Inter"/>
              <a:ea typeface="Inter"/>
              <a:cs typeface="Inter"/>
              <a:sym typeface="Inte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5"/>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e-DE">
                <a:latin typeface="IBM Plex Sans"/>
                <a:ea typeface="IBM Plex Sans"/>
                <a:cs typeface="IBM Plex Sans"/>
                <a:sym typeface="IBM Plex Sans"/>
              </a:rPr>
              <a:t>V</a:t>
            </a:r>
            <a:r>
              <a:rPr b="1" lang="de-DE" sz="1800">
                <a:solidFill>
                  <a:schemeClr val="dk2"/>
                </a:solidFill>
                <a:latin typeface="IBM Plex Sans"/>
                <a:ea typeface="IBM Plex Sans"/>
                <a:cs typeface="IBM Plex Sans"/>
                <a:sym typeface="IBM Plex Sans"/>
              </a:rPr>
              <a:t>erfahrensweisen, Richtlinien und künftige Initiativen für den Übergang zu einer nachhaltigeren Wirtschaft (C2)</a:t>
            </a:r>
            <a:endParaRPr/>
          </a:p>
        </p:txBody>
      </p:sp>
      <p:sp>
        <p:nvSpPr>
          <p:cNvPr id="212" name="Google Shape;212;p15"/>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e-DE"/>
              <a:t>‹#›</a:t>
            </a:fld>
            <a:endParaRPr/>
          </a:p>
        </p:txBody>
      </p:sp>
      <p:sp>
        <p:nvSpPr>
          <p:cNvPr id="213" name="Google Shape;213;p15"/>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e-DE"/>
              <a:t>{{company_name}}</a:t>
            </a:r>
            <a:endParaRPr b="0"/>
          </a:p>
          <a:p>
            <a:pPr indent="0" lvl="0" marL="0" rtl="0" algn="r">
              <a:spcBef>
                <a:spcPts val="0"/>
              </a:spcBef>
              <a:spcAft>
                <a:spcPts val="0"/>
              </a:spcAft>
              <a:buNone/>
            </a:pPr>
            <a:br>
              <a:rPr lang="de-DE"/>
            </a:br>
            <a:endParaRPr/>
          </a:p>
        </p:txBody>
      </p:sp>
      <p:graphicFrame>
        <p:nvGraphicFramePr>
          <p:cNvPr id="214" name="Google Shape;214;p15"/>
          <p:cNvGraphicFramePr/>
          <p:nvPr/>
        </p:nvGraphicFramePr>
        <p:xfrm>
          <a:off x="518601" y="1753116"/>
          <a:ext cx="3000000" cy="3000000"/>
        </p:xfrm>
        <a:graphic>
          <a:graphicData uri="http://schemas.openxmlformats.org/drawingml/2006/table">
            <a:tbl>
              <a:tblPr firstRow="1">
                <a:noFill/>
                <a:tableStyleId>{08659190-FCFE-4D70-9B86-54A6606F5F58}</a:tableStyleId>
              </a:tblPr>
              <a:tblGrid>
                <a:gridCol w="1916850"/>
                <a:gridCol w="3082850"/>
                <a:gridCol w="3082850"/>
                <a:gridCol w="3082850"/>
              </a:tblGrid>
              <a:tr h="349625">
                <a:tc rowSpan="2">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Bereich</a:t>
                      </a:r>
                      <a:endParaRPr/>
                    </a:p>
                    <a:p>
                      <a:pPr indent="0" lvl="0" marL="0" marR="0" rtl="0" algn="l">
                        <a:spcBef>
                          <a:spcPts val="0"/>
                        </a:spcBef>
                        <a:spcAft>
                          <a:spcPts val="0"/>
                        </a:spcAft>
                        <a:buNone/>
                      </a:pPr>
                      <a:r>
                        <a:rPr b="0" lang="de-DE" sz="1200">
                          <a:solidFill>
                            <a:schemeClr val="dk2"/>
                          </a:solidFill>
                          <a:latin typeface="IBM Plex Sans"/>
                          <a:ea typeface="IBM Plex Sans"/>
                          <a:cs typeface="IBM Plex Sans"/>
                          <a:sym typeface="IBM Plex Sans"/>
                        </a:rPr>
                        <a:t>(Nr. 47)</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rowSpan="2">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Kurze Beschreibung </a:t>
                      </a:r>
                      <a:r>
                        <a:rPr b="1" lang="de-DE" sz="1200" u="none">
                          <a:solidFill>
                            <a:schemeClr val="dk2"/>
                          </a:solidFill>
                          <a:latin typeface="IBM Plex Sans"/>
                          <a:ea typeface="IBM Plex Sans"/>
                          <a:cs typeface="IBM Plex Sans"/>
                          <a:sym typeface="IBM Plex Sans"/>
                        </a:rPr>
                        <a:t>bestehender </a:t>
                      </a:r>
                      <a:r>
                        <a:rPr b="1" lang="de-DE" sz="1200">
                          <a:solidFill>
                            <a:schemeClr val="dk2"/>
                          </a:solidFill>
                          <a:latin typeface="IBM Plex Sans"/>
                          <a:ea typeface="IBM Plex Sans"/>
                          <a:cs typeface="IBM Plex Sans"/>
                          <a:sym typeface="IBM Plex Sans"/>
                        </a:rPr>
                        <a:t>Verfahrensweisen / Richtlinien / Maßnahmen (vgl. Angabe B2)</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rowSpan="2">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Kurze Beschreibung etwaiger </a:t>
                      </a:r>
                      <a:r>
                        <a:rPr b="1" lang="de-DE" sz="1200" u="none">
                          <a:solidFill>
                            <a:schemeClr val="dk2"/>
                          </a:solidFill>
                          <a:latin typeface="IBM Plex Sans"/>
                          <a:ea typeface="IBM Plex Sans"/>
                          <a:cs typeface="IBM Plex Sans"/>
                          <a:sym typeface="IBM Plex Sans"/>
                        </a:rPr>
                        <a:t>künftiger</a:t>
                      </a:r>
                      <a:r>
                        <a:rPr b="1" lang="de-DE" sz="1200">
                          <a:solidFill>
                            <a:schemeClr val="dk2"/>
                          </a:solidFill>
                          <a:latin typeface="IBM Plex Sans"/>
                          <a:ea typeface="IBM Plex Sans"/>
                          <a:cs typeface="IBM Plex Sans"/>
                          <a:sym typeface="IBM Plex Sans"/>
                        </a:rPr>
                        <a:t> Ziele (vgl. Angabe B2)</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chemeClr val="lt1"/>
                        </a:buClr>
                        <a:buSzPts val="1200"/>
                        <a:buFont typeface="IBM Plex Sans"/>
                        <a:buNone/>
                      </a:pPr>
                      <a:r>
                        <a:rPr lang="de-DE" sz="1200">
                          <a:solidFill>
                            <a:schemeClr val="lt1"/>
                          </a:solidFill>
                        </a:rPr>
                        <a:t>Diese Angabe </a:t>
                      </a:r>
                      <a:r>
                        <a:rPr b="1" lang="de-DE" sz="1200">
                          <a:solidFill>
                            <a:schemeClr val="lt1"/>
                          </a:solidFill>
                        </a:rPr>
                        <a:t>ist freiwillig</a:t>
                      </a:r>
                      <a:endParaRPr sz="1200">
                        <a:solidFill>
                          <a:schemeClr val="lt1"/>
                        </a:solidFill>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1B4529"/>
                    </a:solidFill>
                  </a:tcPr>
                </a:tc>
              </a:tr>
              <a:tr h="572675">
                <a:tc vMerge="1"/>
                <a:tc vMerge="1"/>
                <a:tc vMerge="1"/>
                <a:tc>
                  <a:txBody>
                    <a:bodyPr/>
                    <a:lstStyle/>
                    <a:p>
                      <a:pPr indent="0" lvl="0" marL="0" marR="0" rtl="0" algn="l">
                        <a:lnSpc>
                          <a:spcPct val="100000"/>
                        </a:lnSpc>
                        <a:spcBef>
                          <a:spcPts val="0"/>
                        </a:spcBef>
                        <a:spcAft>
                          <a:spcPts val="0"/>
                        </a:spcAft>
                        <a:buClr>
                          <a:schemeClr val="dk2"/>
                        </a:buClr>
                        <a:buSzPts val="1200"/>
                        <a:buFont typeface="IBM Plex Sans"/>
                        <a:buNone/>
                      </a:pPr>
                      <a:r>
                        <a:rPr b="1" lang="de-DE" sz="1200">
                          <a:solidFill>
                            <a:schemeClr val="dk2"/>
                          </a:solidFill>
                          <a:latin typeface="IBM Plex Sans"/>
                          <a:ea typeface="IBM Plex Sans"/>
                          <a:cs typeface="IBM Plex Sans"/>
                          <a:sym typeface="IBM Plex Sans"/>
                        </a:rPr>
                        <a:t>Höchste für die Umsetzung verantwortliche Personalebene im Unternehmen </a:t>
                      </a:r>
                      <a:r>
                        <a:rPr b="0" lang="de-DE" sz="1200">
                          <a:solidFill>
                            <a:schemeClr val="dk2"/>
                          </a:solidFill>
                          <a:latin typeface="IBM Plex Sans"/>
                          <a:ea typeface="IBM Plex Sans"/>
                          <a:cs typeface="IBM Plex Sans"/>
                          <a:sym typeface="IBM Plex Sans"/>
                        </a:rPr>
                        <a:t>(Nr. 48)</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349525">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Klimawandel</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a:t>
                      </a:r>
                      <a:r>
                        <a:rPr b="0" i="0" lang="de-DE" sz="1200" u="none" strike="noStrike">
                          <a:solidFill>
                            <a:srgbClr val="2D55FF"/>
                          </a:solidFill>
                        </a:rPr>
                        <a:t>Climate_C2_Description_Existing_Practices</a:t>
                      </a:r>
                      <a:r>
                        <a:rPr b="0" i="0" lang="de-DE" sz="1200" u="none" strike="noStrike">
                          <a:solidFill>
                            <a:srgbClr val="2D55FF"/>
                          </a:solidFill>
                          <a:latin typeface="Inter"/>
                          <a:ea typeface="Inter"/>
                          <a:cs typeface="Inter"/>
                          <a:sym typeface="Inter"/>
                        </a:rPr>
                        <a:t>}}</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a:t>
                      </a:r>
                      <a:r>
                        <a:rPr b="0" i="0" lang="de-DE" sz="1200" u="none" strike="noStrike">
                          <a:solidFill>
                            <a:srgbClr val="2D55FF"/>
                          </a:solidFill>
                        </a:rPr>
                        <a:t>Climate_C2_Future_Practices</a:t>
                      </a:r>
                      <a:r>
                        <a:rPr b="0" i="0" lang="de-DE" sz="1200" u="none" strike="noStrike">
                          <a:solidFill>
                            <a:srgbClr val="2D55FF"/>
                          </a:solidFill>
                          <a:latin typeface="Inter"/>
                          <a:ea typeface="Inter"/>
                          <a:cs typeface="Inter"/>
                          <a:sym typeface="Inter"/>
                        </a:rPr>
                        <a:t>}}</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a:t>
                      </a:r>
                      <a:r>
                        <a:rPr b="0" i="0" lang="de-DE" sz="1200" u="none" strike="noStrike">
                          <a:solidFill>
                            <a:srgbClr val="2D55FF"/>
                          </a:solidFill>
                        </a:rPr>
                        <a:t>Climate_C2_Management_Level</a:t>
                      </a:r>
                      <a:r>
                        <a:rPr b="0" i="0" lang="de-DE" sz="1200" u="none" strike="noStrike">
                          <a:solidFill>
                            <a:srgbClr val="2D55FF"/>
                          </a:solidFill>
                          <a:latin typeface="Inter"/>
                          <a:ea typeface="Inter"/>
                          <a:cs typeface="Inter"/>
                          <a:sym typeface="Inter"/>
                        </a:rPr>
                        <a:t>}}</a:t>
                      </a:r>
                      <a:endParaRPr b="0"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31700">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Umweltver­schmutzung</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a:t>
                      </a:r>
                      <a:r>
                        <a:rPr b="0" i="0" lang="de-DE" sz="1200" u="none" strike="noStrike">
                          <a:solidFill>
                            <a:srgbClr val="2D55FF"/>
                          </a:solidFill>
                        </a:rPr>
                        <a:t>Pollution_C2_Description_Existing_Practices</a:t>
                      </a:r>
                      <a:r>
                        <a:rPr b="0" i="0" lang="de-DE"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a:t>
                      </a:r>
                      <a:r>
                        <a:rPr b="0" i="0" lang="de-DE" sz="1200" u="none" strike="noStrike">
                          <a:solidFill>
                            <a:srgbClr val="2D55FF"/>
                          </a:solidFill>
                        </a:rPr>
                        <a:t>Pollution_C2_Future_Practices</a:t>
                      </a:r>
                      <a:r>
                        <a:rPr b="0" i="0" lang="de-DE"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a:t>
                      </a:r>
                      <a:r>
                        <a:rPr b="0" i="0" lang="de-DE" sz="1200" u="none" strike="noStrike">
                          <a:solidFill>
                            <a:srgbClr val="2D55FF"/>
                          </a:solidFill>
                        </a:rPr>
                        <a:t>Pollution_C2_Management_Level</a:t>
                      </a:r>
                      <a:r>
                        <a:rPr b="0" i="0" lang="de-DE"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41125">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Wasser- und Meeresressourcen</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a:t>
                      </a:r>
                      <a:r>
                        <a:rPr b="0" i="0" lang="de-DE" sz="1200" u="none" strike="noStrike">
                          <a:solidFill>
                            <a:srgbClr val="2D55FF"/>
                          </a:solidFill>
                        </a:rPr>
                        <a:t>Water_C2_Description_Existing_Practices</a:t>
                      </a:r>
                      <a:r>
                        <a:rPr b="0" i="0" lang="de-DE"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a:t>
                      </a:r>
                      <a:r>
                        <a:rPr b="0" i="0" lang="de-DE" sz="1200" u="none" strike="noStrike">
                          <a:solidFill>
                            <a:srgbClr val="2D55FF"/>
                          </a:solidFill>
                        </a:rPr>
                        <a:t>Water_C2_Future_Practices</a:t>
                      </a:r>
                      <a:r>
                        <a:rPr b="0" i="0" lang="de-DE"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a:t>
                      </a:r>
                      <a:r>
                        <a:rPr b="0" i="0" lang="de-DE" sz="1200" u="none" strike="noStrike">
                          <a:solidFill>
                            <a:srgbClr val="2D55FF"/>
                          </a:solidFill>
                          <a:latin typeface="IBM Plex Sans"/>
                          <a:ea typeface="IBM Plex Sans"/>
                          <a:cs typeface="IBM Plex Sans"/>
                          <a:sym typeface="IBM Plex Sans"/>
                        </a:rPr>
                        <a:t>Water_C2_Management_Level</a:t>
                      </a:r>
                      <a:r>
                        <a:rPr b="0" i="0" lang="de-DE" sz="1200" u="none" strike="noStrike">
                          <a:solidFill>
                            <a:srgbClr val="2D55FF"/>
                          </a:solidFill>
                          <a:latin typeface="Inter"/>
                          <a:ea typeface="Inter"/>
                          <a:cs typeface="Inter"/>
                          <a:sym typeface="Inter"/>
                        </a:rPr>
                        <a:t>}}</a:t>
                      </a:r>
                      <a:endParaRPr b="0" i="0" sz="1200" u="none" strike="noStrike">
                        <a:solidFill>
                          <a:srgbClr val="000000"/>
                        </a:solidFill>
                        <a:latin typeface="Inter"/>
                        <a:ea typeface="Inter"/>
                        <a:cs typeface="Inter"/>
                        <a:sym typeface="Inter"/>
                      </a:endParaRPr>
                    </a:p>
                    <a:p>
                      <a:pPr indent="0" lvl="0" marL="0" marR="0" rtl="0" algn="l">
                        <a:spcBef>
                          <a:spcPts val="0"/>
                        </a:spcBef>
                        <a:spcAft>
                          <a:spcPts val="0"/>
                        </a:spcAft>
                        <a:buClr>
                          <a:schemeClr val="dk1"/>
                        </a:buClr>
                        <a:buSzPts val="1200"/>
                        <a:buFont typeface="IBM Plex Sans"/>
                        <a:buNone/>
                      </a:pPr>
                      <a:r>
                        <a:t/>
                      </a:r>
                      <a:endParaRPr b="0" i="0" sz="1200" u="none" strike="noStrike">
                        <a:solidFill>
                          <a:srgbClr val="2D55FF"/>
                        </a:solidFill>
                        <a:latin typeface="Inter"/>
                        <a:ea typeface="Inter"/>
                        <a:cs typeface="Inter"/>
                        <a:sym typeface="Inter"/>
                      </a:endParaRPr>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03925">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Biodiversität und Ökosysteme</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a:t>
                      </a:r>
                      <a:r>
                        <a:rPr b="0" i="0" lang="de-DE" sz="1200" u="none" strike="noStrike">
                          <a:solidFill>
                            <a:srgbClr val="2D55FF"/>
                          </a:solidFill>
                        </a:rPr>
                        <a:t>Bio_C2_Description_Existing_Practices</a:t>
                      </a:r>
                      <a:r>
                        <a:rPr b="0" i="0" lang="de-DE"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a:t>
                      </a:r>
                      <a:r>
                        <a:rPr b="0" i="0" lang="de-DE" sz="1200" u="none" strike="noStrike">
                          <a:solidFill>
                            <a:srgbClr val="2D55FF"/>
                          </a:solidFill>
                        </a:rPr>
                        <a:t>Bio_C2_Future_Practices</a:t>
                      </a:r>
                      <a:r>
                        <a:rPr b="0" i="0" lang="de-DE"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a:t>
                      </a:r>
                      <a:r>
                        <a:rPr b="0" i="0" lang="de-DE" sz="1200" u="none" strike="noStrike">
                          <a:solidFill>
                            <a:srgbClr val="2D55FF"/>
                          </a:solidFill>
                        </a:rPr>
                        <a:t>Bio_C2_Management_Level</a:t>
                      </a:r>
                      <a:r>
                        <a:rPr b="0" i="0" lang="de-DE"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41125">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Kreislaufwirt­schaft</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a:t>
                      </a:r>
                      <a:r>
                        <a:rPr b="0" i="0" lang="de-DE" sz="1200" u="none" strike="noStrike">
                          <a:solidFill>
                            <a:srgbClr val="2D55FF"/>
                          </a:solidFill>
                        </a:rPr>
                        <a:t>Circular_C2_Description_Existing_Practices</a:t>
                      </a:r>
                      <a:r>
                        <a:rPr b="0" i="0" lang="de-DE"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a:t>
                      </a:r>
                      <a:r>
                        <a:rPr b="0" i="0" lang="de-DE" sz="1200" u="none" strike="noStrike">
                          <a:solidFill>
                            <a:srgbClr val="2D55FF"/>
                          </a:solidFill>
                        </a:rPr>
                        <a:t>Circular_C2_Future_Practices</a:t>
                      </a:r>
                      <a:r>
                        <a:rPr b="0" i="0" lang="de-DE"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a:t>
                      </a:r>
                      <a:r>
                        <a:rPr b="0" i="0" lang="de-DE" sz="1200" u="none" strike="noStrike">
                          <a:solidFill>
                            <a:srgbClr val="2D55FF"/>
                          </a:solidFill>
                        </a:rPr>
                        <a:t>Circular_C2_Management_Level</a:t>
                      </a:r>
                      <a:r>
                        <a:rPr b="0" i="0" lang="de-DE"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41125">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Arbeitskräfte des Unternehmens</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a:t>
                      </a:r>
                      <a:r>
                        <a:rPr b="0" i="0" lang="de-DE" sz="1200" u="none" strike="noStrike">
                          <a:solidFill>
                            <a:srgbClr val="2D55FF"/>
                          </a:solidFill>
                        </a:rPr>
                        <a:t>Own_Workforce_C2_Description_Existing_Practices</a:t>
                      </a:r>
                      <a:r>
                        <a:rPr b="0" i="0" lang="de-DE"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a:t>
                      </a:r>
                      <a:r>
                        <a:rPr b="0" i="0" lang="de-DE" sz="1200" u="none" strike="noStrike">
                          <a:solidFill>
                            <a:srgbClr val="2D55FF"/>
                          </a:solidFill>
                        </a:rPr>
                        <a:t>Own_Workforce_C2_Future_Practices</a:t>
                      </a:r>
                      <a:r>
                        <a:rPr b="0" i="0" lang="de-DE"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a:t>
                      </a:r>
                      <a:r>
                        <a:rPr b="0" i="0" lang="de-DE" sz="1200" u="none" strike="noStrike">
                          <a:solidFill>
                            <a:srgbClr val="2D55FF"/>
                          </a:solidFill>
                        </a:rPr>
                        <a:t>Own_Workforce_C2_Management_Level</a:t>
                      </a:r>
                      <a:r>
                        <a:rPr b="0" i="0" lang="de-DE"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41125">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Arbeitskräfte in der Wertschöpfungs­kette</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a:t>
                      </a:r>
                      <a:r>
                        <a:rPr b="0" i="0" lang="de-DE" sz="1200" u="none" strike="noStrike">
                          <a:solidFill>
                            <a:srgbClr val="2D55FF"/>
                          </a:solidFill>
                        </a:rPr>
                        <a:t>Workers_Value_Chain_C2_Description_Existing_Practices</a:t>
                      </a:r>
                      <a:r>
                        <a:rPr b="0" i="0" lang="de-DE"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a:t>
                      </a:r>
                      <a:r>
                        <a:rPr b="0" i="0" lang="de-DE" sz="1200" u="none" strike="noStrike">
                          <a:solidFill>
                            <a:srgbClr val="2D55FF"/>
                          </a:solidFill>
                        </a:rPr>
                        <a:t>Workers_Value_Chain_C2_Future_Practices</a:t>
                      </a:r>
                      <a:r>
                        <a:rPr b="0" i="0" lang="de-DE"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a:t>
                      </a:r>
                      <a:r>
                        <a:rPr b="0" i="0" lang="de-DE" sz="1200" u="none" strike="noStrike">
                          <a:solidFill>
                            <a:srgbClr val="2D55FF"/>
                          </a:solidFill>
                        </a:rPr>
                        <a:t>Workers_Value_Chain_C2_Management_Level</a:t>
                      </a:r>
                      <a:r>
                        <a:rPr b="0" i="0" lang="de-DE"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41125">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Betroffene Gemeinschaften</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a:t>
                      </a:r>
                      <a:r>
                        <a:rPr b="0" i="0" lang="de-DE" sz="1200" u="none" strike="noStrike">
                          <a:solidFill>
                            <a:srgbClr val="2D55FF"/>
                          </a:solidFill>
                        </a:rPr>
                        <a:t>Affected_C2_Description_Existing_Practices</a:t>
                      </a:r>
                      <a:r>
                        <a:rPr b="0" i="0" lang="de-DE"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a:t>
                      </a:r>
                      <a:r>
                        <a:rPr b="0" i="0" lang="de-DE" sz="1200" u="none" strike="noStrike">
                          <a:solidFill>
                            <a:srgbClr val="2D55FF"/>
                          </a:solidFill>
                        </a:rPr>
                        <a:t>Affected_C2_Future_Practices</a:t>
                      </a:r>
                      <a:r>
                        <a:rPr b="0" i="0" lang="de-DE"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a:t>
                      </a:r>
                      <a:r>
                        <a:rPr b="0" i="0" lang="de-DE" sz="1200" u="none" strike="noStrike">
                          <a:solidFill>
                            <a:srgbClr val="2D55FF"/>
                          </a:solidFill>
                        </a:rPr>
                        <a:t>Affected_C2_Management_Level</a:t>
                      </a:r>
                      <a:r>
                        <a:rPr b="0" i="0" lang="de-DE"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03925">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Verbraucher und Endnutzer</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a:t>
                      </a:r>
                      <a:r>
                        <a:rPr b="0" i="0" lang="de-DE" sz="1200" u="none" strike="noStrike">
                          <a:solidFill>
                            <a:srgbClr val="2D55FF"/>
                          </a:solidFill>
                        </a:rPr>
                        <a:t>Consumers_C2_Description_Existing_Practices</a:t>
                      </a:r>
                      <a:r>
                        <a:rPr b="0" i="0" lang="de-DE"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a:t>
                      </a:r>
                      <a:r>
                        <a:rPr b="0" i="0" lang="de-DE" sz="1200" u="none" strike="noStrike">
                          <a:solidFill>
                            <a:srgbClr val="2D55FF"/>
                          </a:solidFill>
                        </a:rPr>
                        <a:t>Consumers_C2_Future_Practices</a:t>
                      </a:r>
                      <a:r>
                        <a:rPr b="0" i="0" lang="de-DE"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a:t>
                      </a:r>
                      <a:r>
                        <a:rPr b="0" i="0" lang="de-DE" sz="1200" u="none" strike="noStrike">
                          <a:solidFill>
                            <a:srgbClr val="2D55FF"/>
                          </a:solidFill>
                        </a:rPr>
                        <a:t>Consumers_C2_Management_Level</a:t>
                      </a:r>
                      <a:r>
                        <a:rPr b="0" i="0" lang="de-DE"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41125">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Unternehmenspolitik</a:t>
                      </a:r>
                      <a:endParaRPr/>
                    </a:p>
                  </a:txBody>
                  <a:tcPr marT="36000" marB="36000" marR="54000" marL="540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a:t>
                      </a:r>
                      <a:r>
                        <a:rPr b="0" i="0" lang="de-DE" sz="1200" u="none" strike="noStrike">
                          <a:solidFill>
                            <a:srgbClr val="2D55FF"/>
                          </a:solidFill>
                        </a:rPr>
                        <a:t>Governance_C2_Description_Existing_Practices</a:t>
                      </a:r>
                      <a:r>
                        <a:rPr b="0" i="0" lang="de-DE"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a:t>
                      </a:r>
                      <a:r>
                        <a:rPr b="0" i="0" lang="de-DE" sz="1200" u="none" strike="noStrike">
                          <a:solidFill>
                            <a:srgbClr val="2D55FF"/>
                          </a:solidFill>
                        </a:rPr>
                        <a:t>Governance_C2_Future_Practices</a:t>
                      </a:r>
                      <a:r>
                        <a:rPr b="0" i="0" lang="de-DE"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a:t>
                      </a:r>
                      <a:r>
                        <a:rPr b="0" i="0" lang="de-DE" sz="1200" u="none" strike="noStrike">
                          <a:solidFill>
                            <a:srgbClr val="2D55FF"/>
                          </a:solidFill>
                        </a:rPr>
                        <a:t>Governance_C2_Management_Level</a:t>
                      </a:r>
                      <a:r>
                        <a:rPr b="0" i="0" lang="de-DE" sz="1200" u="none" strike="noStrike">
                          <a:solidFill>
                            <a:srgbClr val="2D55FF"/>
                          </a:solidFill>
                          <a:latin typeface="Inter"/>
                          <a:ea typeface="Inter"/>
                          <a:cs typeface="Inter"/>
                          <a:sym typeface="Inter"/>
                        </a:rPr>
                        <a:t>}}</a:t>
                      </a:r>
                      <a:endParaRPr sz="1200"/>
                    </a:p>
                  </a:txBody>
                  <a:tcPr marT="19050" marB="19050" marR="25400" marL="25400">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215" name="Google Shape;215;p15"/>
          <p:cNvSpPr txBox="1"/>
          <p:nvPr/>
        </p:nvSpPr>
        <p:spPr>
          <a:xfrm>
            <a:off x="535853" y="1029778"/>
            <a:ext cx="11148146"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de-DE" sz="1200">
                <a:solidFill>
                  <a:schemeClr val="dk2"/>
                </a:solidFill>
                <a:latin typeface="IBM Plex Sans"/>
                <a:ea typeface="IBM Plex Sans"/>
                <a:cs typeface="IBM Plex Sans"/>
                <a:sym typeface="IBM Plex Sans"/>
              </a:rPr>
              <a:t>Die nachstehende Tabelle wurde ausgefüllt, da das Unternehmen bereits konkrete Verfahrensweisen, Richtlinien oder Initiativen eingeführt hat, die zum Übergang zu einer nachhaltigeren Wirtschaft beitragen. Das Unternehmen hat eine oder mehrere Angaben unter B2 im Basismodul mit ”JA” beantwortet. Nachstehend wird ausführlicher auf die Richtlinien, Initiativen und Verfahrensweisen eingegangen, die im Unternehmen für den Übergang zu einer nachhaltigeren Wirtschaft eingeleitet wurden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6"/>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1B4528"/>
              </a:buClr>
              <a:buSzPts val="1800"/>
              <a:buFont typeface="IBM Plex Sans"/>
              <a:buNone/>
            </a:pPr>
            <a:r>
              <a:rPr lang="de-DE">
                <a:solidFill>
                  <a:srgbClr val="1B4528"/>
                </a:solidFill>
                <a:latin typeface="IBM Plex Sans"/>
                <a:ea typeface="IBM Plex Sans"/>
                <a:cs typeface="IBM Plex Sans"/>
                <a:sym typeface="IBM Plex Sans"/>
              </a:rPr>
              <a:t>CO₂e-Emissionen unter B3 im Basismodul</a:t>
            </a:r>
            <a:endParaRPr b="0"/>
          </a:p>
        </p:txBody>
      </p:sp>
      <p:sp>
        <p:nvSpPr>
          <p:cNvPr id="222" name="Google Shape;222;p16"/>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e-DE"/>
              <a:t>‹#›</a:t>
            </a:fld>
            <a:endParaRPr/>
          </a:p>
        </p:txBody>
      </p:sp>
      <p:sp>
        <p:nvSpPr>
          <p:cNvPr id="223" name="Google Shape;223;p16"/>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e-DE"/>
              <a:t>{{company_name}}</a:t>
            </a:r>
            <a:endParaRPr b="0"/>
          </a:p>
          <a:p>
            <a:pPr indent="0" lvl="0" marL="0" rtl="0" algn="r">
              <a:spcBef>
                <a:spcPts val="0"/>
              </a:spcBef>
              <a:spcAft>
                <a:spcPts val="0"/>
              </a:spcAft>
              <a:buNone/>
            </a:pPr>
            <a:r>
              <a:t/>
            </a:r>
            <a:endParaRPr/>
          </a:p>
        </p:txBody>
      </p:sp>
      <p:graphicFrame>
        <p:nvGraphicFramePr>
          <p:cNvPr id="224" name="Google Shape;224;p16"/>
          <p:cNvGraphicFramePr/>
          <p:nvPr/>
        </p:nvGraphicFramePr>
        <p:xfrm>
          <a:off x="518599" y="3711451"/>
          <a:ext cx="3000000" cy="3000000"/>
        </p:xfrm>
        <a:graphic>
          <a:graphicData uri="http://schemas.openxmlformats.org/drawingml/2006/table">
            <a:tbl>
              <a:tblPr firstRow="1">
                <a:noFill/>
                <a:tableStyleId>{08659190-FCFE-4D70-9B86-54A6606F5F58}</a:tableStyleId>
              </a:tblPr>
              <a:tblGrid>
                <a:gridCol w="3721800"/>
                <a:gridCol w="3721800"/>
                <a:gridCol w="3721800"/>
              </a:tblGrid>
              <a:tr h="280100">
                <a:tc gridSpan="3">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CO₂e-Reduktionsziele </a:t>
                      </a:r>
                      <a:r>
                        <a:rPr b="0" lang="de-DE" sz="1200">
                          <a:solidFill>
                            <a:schemeClr val="dk2"/>
                          </a:solidFill>
                          <a:latin typeface="IBM Plex Sans"/>
                          <a:ea typeface="IBM Plex Sans"/>
                          <a:cs typeface="IBM Plex Sans"/>
                          <a:sym typeface="IBM Plex Sans"/>
                        </a:rPr>
                        <a:t>(Nr. 53 a–d)</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c hMerge="1"/>
              </a:tr>
              <a:tr h="346325">
                <a:tc>
                  <a:txBody>
                    <a:bodyPr/>
                    <a:lstStyle/>
                    <a:p>
                      <a:pPr indent="0" lvl="0" marL="0" marR="0" rtl="0" algn="l">
                        <a:spcBef>
                          <a:spcPts val="0"/>
                        </a:spcBef>
                        <a:spcAft>
                          <a:spcPts val="0"/>
                        </a:spcAft>
                        <a:buNone/>
                      </a:pPr>
                      <a:r>
                        <a:t/>
                      </a:r>
                      <a:endParaRPr b="0" sz="1200">
                        <a:solidFill>
                          <a:schemeClr val="dk2"/>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Zielwert im Jahr </a:t>
                      </a:r>
                      <a:r>
                        <a:rPr b="1" lang="de-DE" sz="1200">
                          <a:solidFill>
                            <a:schemeClr val="accent2"/>
                          </a:solidFill>
                          <a:latin typeface="IBM Plex Sans"/>
                          <a:ea typeface="IBM Plex Sans"/>
                          <a:cs typeface="IBM Plex Sans"/>
                          <a:sym typeface="IBM Plex Sans"/>
                        </a:rPr>
                        <a:t>{{baseline_year-1}}</a:t>
                      </a:r>
                      <a:endParaRPr b="0" sz="1200">
                        <a:solidFill>
                          <a:schemeClr val="accent2"/>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chemeClr val="dk2"/>
                        </a:buClr>
                        <a:buSzPts val="1200"/>
                        <a:buFont typeface="IBM Plex Sans"/>
                        <a:buNone/>
                      </a:pPr>
                      <a:r>
                        <a:rPr b="1" lang="de-DE" sz="1200">
                          <a:solidFill>
                            <a:schemeClr val="dk2"/>
                          </a:solidFill>
                          <a:latin typeface="IBM Plex Sans"/>
                          <a:ea typeface="IBM Plex Sans"/>
                          <a:cs typeface="IBM Plex Sans"/>
                          <a:sym typeface="IBM Plex Sans"/>
                        </a:rPr>
                        <a:t>CO₂e-Emissionen im Basisjahr:</a:t>
                      </a:r>
                      <a:r>
                        <a:rPr b="0" lang="de-DE" sz="1200">
                          <a:solidFill>
                            <a:schemeClr val="dk2"/>
                          </a:solidFill>
                          <a:latin typeface="IBM Plex Sans"/>
                          <a:ea typeface="IBM Plex Sans"/>
                          <a:cs typeface="IBM Plex Sans"/>
                          <a:sym typeface="IBM Plex Sans"/>
                        </a:rPr>
                        <a:t> </a:t>
                      </a:r>
                      <a:r>
                        <a:rPr b="1" lang="de-DE" sz="1200">
                          <a:solidFill>
                            <a:schemeClr val="accent2"/>
                          </a:solidFill>
                          <a:latin typeface="IBM Plex Sans"/>
                          <a:ea typeface="IBM Plex Sans"/>
                          <a:cs typeface="IBM Plex Sans"/>
                          <a:sym typeface="IBM Plex Sans"/>
                        </a:rPr>
                        <a:t>{{Insert baseline year}}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346325">
                <a:tc>
                  <a:txBody>
                    <a:bodyPr/>
                    <a:lstStyle/>
                    <a:p>
                      <a:pPr indent="0" lvl="0" marL="0" marR="0" rtl="0" algn="l">
                        <a:lnSpc>
                          <a:spcPct val="100000"/>
                        </a:lnSpc>
                        <a:spcBef>
                          <a:spcPts val="0"/>
                        </a:spcBef>
                        <a:spcAft>
                          <a:spcPts val="0"/>
                        </a:spcAft>
                        <a:buClr>
                          <a:schemeClr val="dk2"/>
                        </a:buClr>
                        <a:buSzPts val="1200"/>
                        <a:buFont typeface="IBM Plex Sans"/>
                        <a:buNone/>
                      </a:pPr>
                      <a:r>
                        <a:rPr b="1" lang="de-DE" sz="1200">
                          <a:solidFill>
                            <a:schemeClr val="dk2"/>
                          </a:solidFill>
                          <a:latin typeface="IBM Plex Sans"/>
                          <a:ea typeface="IBM Plex Sans"/>
                          <a:cs typeface="IBM Plex Sans"/>
                          <a:sym typeface="IBM Plex Sans"/>
                        </a:rPr>
                        <a:t>Scope 1 </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{{scope1-2_target}}</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{{scope1-2_baseline}}</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46325">
                <a:tc>
                  <a:txBody>
                    <a:bodyPr/>
                    <a:lstStyle/>
                    <a:p>
                      <a:pPr indent="0" lvl="0" marL="0" marR="0" rtl="0" algn="l">
                        <a:lnSpc>
                          <a:spcPct val="100000"/>
                        </a:lnSpc>
                        <a:spcBef>
                          <a:spcPts val="0"/>
                        </a:spcBef>
                        <a:spcAft>
                          <a:spcPts val="0"/>
                        </a:spcAft>
                        <a:buClr>
                          <a:schemeClr val="dk2"/>
                        </a:buClr>
                        <a:buSzPts val="1200"/>
                        <a:buFont typeface="IBM Plex Sans"/>
                        <a:buNone/>
                      </a:pPr>
                      <a:r>
                        <a:rPr b="1" lang="de-DE" sz="1200">
                          <a:solidFill>
                            <a:schemeClr val="dk2"/>
                          </a:solidFill>
                          <a:latin typeface="IBM Plex Sans"/>
                          <a:ea typeface="IBM Plex Sans"/>
                          <a:cs typeface="IBM Plex Sans"/>
                          <a:sym typeface="IBM Plex Sans"/>
                        </a:rPr>
                        <a:t>Scope 2</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{{scope1-2_target}}</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{{scope1-2_baseline}}</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46325">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Scope 3</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{{scope3_target}}</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{{scope3_baseline}}</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graphicFrame>
        <p:nvGraphicFramePr>
          <p:cNvPr id="225" name="Google Shape;225;p16"/>
          <p:cNvGraphicFramePr/>
          <p:nvPr/>
        </p:nvGraphicFramePr>
        <p:xfrm>
          <a:off x="518598" y="5613228"/>
          <a:ext cx="3000000" cy="3000000"/>
        </p:xfrm>
        <a:graphic>
          <a:graphicData uri="http://schemas.openxmlformats.org/drawingml/2006/table">
            <a:tbl>
              <a:tblPr firstRow="1">
                <a:noFill/>
                <a:tableStyleId>{08659190-FCFE-4D70-9B86-54A6606F5F58}</a:tableStyleId>
              </a:tblPr>
              <a:tblGrid>
                <a:gridCol w="11165400"/>
              </a:tblGrid>
              <a:tr h="330375">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Auflistung der wesentlichen Maßnahmen, die </a:t>
                      </a:r>
                      <a:r>
                        <a:rPr b="1" lang="de-DE" sz="1200">
                          <a:solidFill>
                            <a:schemeClr val="accent2"/>
                          </a:solidFill>
                          <a:latin typeface="IBM Plex Sans"/>
                          <a:ea typeface="IBM Plex Sans"/>
                          <a:cs typeface="IBM Plex Sans"/>
                          <a:sym typeface="IBM Plex Sans"/>
                        </a:rPr>
                        <a:t>{{Company name}} </a:t>
                      </a:r>
                      <a:r>
                        <a:rPr b="0" lang="de-DE" sz="1200">
                          <a:solidFill>
                            <a:schemeClr val="accent2"/>
                          </a:solidFill>
                          <a:latin typeface="IBM Plex Sans"/>
                          <a:ea typeface="IBM Plex Sans"/>
                          <a:cs typeface="IBM Plex Sans"/>
                          <a:sym typeface="IBM Plex Sans"/>
                        </a:rPr>
                        <a:t> </a:t>
                      </a:r>
                      <a:r>
                        <a:rPr b="1" lang="de-DE" sz="1200">
                          <a:solidFill>
                            <a:schemeClr val="dk2"/>
                          </a:solidFill>
                          <a:latin typeface="IBM Plex Sans"/>
                          <a:ea typeface="IBM Plex Sans"/>
                          <a:cs typeface="IBM Plex Sans"/>
                          <a:sym typeface="IBM Plex Sans"/>
                        </a:rPr>
                        <a:t>zur Erreichung der CO₂e-Reduktionsziele durchführt </a:t>
                      </a:r>
                      <a:r>
                        <a:rPr b="0" lang="de-DE" sz="1200">
                          <a:solidFill>
                            <a:schemeClr val="dk2"/>
                          </a:solidFill>
                          <a:latin typeface="IBM Plex Sans"/>
                          <a:ea typeface="IBM Plex Sans"/>
                          <a:cs typeface="IBM Plex Sans"/>
                          <a:sym typeface="IBM Plex Sans"/>
                        </a:rPr>
                        <a:t>(Nr. 53e)</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429750">
                <a:tc>
                  <a:txBody>
                    <a:bodyPr/>
                    <a:lstStyle/>
                    <a:p>
                      <a:pPr indent="0" lvl="0" marL="0" marR="0" rtl="0" algn="l">
                        <a:spcBef>
                          <a:spcPts val="0"/>
                        </a:spcBef>
                        <a:spcAft>
                          <a:spcPts val="0"/>
                        </a:spcAft>
                        <a:buNone/>
                      </a:pPr>
                      <a:r>
                        <a:rPr b="0" lang="de-DE" sz="1200">
                          <a:solidFill>
                            <a:schemeClr val="accent2"/>
                          </a:solidFill>
                        </a:rPr>
                        <a:t>{{mainaction}}</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26" name="Google Shape;226;p16"/>
          <p:cNvSpPr txBox="1"/>
          <p:nvPr/>
        </p:nvSpPr>
        <p:spPr>
          <a:xfrm>
            <a:off x="518600" y="3264714"/>
            <a:ext cx="11165400" cy="249299"/>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chemeClr val="dk2"/>
              </a:buClr>
              <a:buSzPts val="1800"/>
              <a:buFont typeface="IBM Plex Sans"/>
              <a:buNone/>
            </a:pPr>
            <a:r>
              <a:rPr b="1" lang="de-DE" sz="1800">
                <a:solidFill>
                  <a:schemeClr val="dk2"/>
                </a:solidFill>
                <a:latin typeface="IBM Plex Sans"/>
                <a:ea typeface="IBM Plex Sans"/>
                <a:cs typeface="IBM Plex Sans"/>
                <a:sym typeface="IBM Plex Sans"/>
              </a:rPr>
              <a:t>CO₂e-Reduktionsziele (C3)</a:t>
            </a:r>
            <a:endParaRPr/>
          </a:p>
        </p:txBody>
      </p:sp>
      <p:graphicFrame>
        <p:nvGraphicFramePr>
          <p:cNvPr id="227" name="Google Shape;227;p16"/>
          <p:cNvGraphicFramePr/>
          <p:nvPr/>
        </p:nvGraphicFramePr>
        <p:xfrm>
          <a:off x="518599" y="1559113"/>
          <a:ext cx="3000000" cy="3000000"/>
        </p:xfrm>
        <a:graphic>
          <a:graphicData uri="http://schemas.openxmlformats.org/drawingml/2006/table">
            <a:tbl>
              <a:tblPr firstRow="1">
                <a:noFill/>
                <a:tableStyleId>{08659190-FCFE-4D70-9B86-54A6606F5F58}</a:tableStyleId>
              </a:tblPr>
              <a:tblGrid>
                <a:gridCol w="8831675"/>
                <a:gridCol w="2323125"/>
              </a:tblGrid>
              <a:tr h="306325">
                <a:tc>
                  <a:txBody>
                    <a:bodyPr/>
                    <a:lstStyle/>
                    <a:p>
                      <a:pPr indent="0" lvl="0" marL="0" marR="0" rtl="0" algn="l">
                        <a:lnSpc>
                          <a:spcPct val="106000"/>
                        </a:lnSpc>
                        <a:spcBef>
                          <a:spcPts val="0"/>
                        </a:spcBef>
                        <a:spcAft>
                          <a:spcPts val="0"/>
                        </a:spcAft>
                        <a:buNone/>
                      </a:pPr>
                      <a:r>
                        <a:rPr b="1" lang="de-DE" sz="1200">
                          <a:solidFill>
                            <a:schemeClr val="dk2"/>
                          </a:solidFill>
                        </a:rPr>
                        <a:t>Treibhausgasemissionen –</a:t>
                      </a:r>
                      <a:r>
                        <a:rPr b="0" lang="de-DE" sz="1200">
                          <a:solidFill>
                            <a:schemeClr val="dk2"/>
                          </a:solidFill>
                        </a:rPr>
                        <a:t> (ergänzt Nr. 33)</a:t>
                      </a:r>
                      <a:endParaRPr b="1"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6000"/>
                        </a:lnSpc>
                        <a:spcBef>
                          <a:spcPts val="0"/>
                        </a:spcBef>
                        <a:spcAft>
                          <a:spcPts val="0"/>
                        </a:spcAft>
                        <a:buClr>
                          <a:schemeClr val="dk2"/>
                        </a:buClr>
                        <a:buSzPts val="1200"/>
                        <a:buFont typeface="IBM Plex Sans"/>
                        <a:buNone/>
                      </a:pPr>
                      <a:r>
                        <a:rPr b="1" lang="de-DE" sz="1200">
                          <a:solidFill>
                            <a:schemeClr val="dk2"/>
                          </a:solidFill>
                        </a:rPr>
                        <a:t>Jahr </a:t>
                      </a:r>
                      <a:r>
                        <a:rPr b="1" lang="de-DE" sz="1200">
                          <a:solidFill>
                            <a:schemeClr val="accent2"/>
                          </a:solidFill>
                          <a:latin typeface="Calibri"/>
                          <a:ea typeface="Calibri"/>
                          <a:cs typeface="Calibri"/>
                          <a:sym typeface="Calibri"/>
                        </a:rPr>
                        <a:t>{{Insert year}}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301375">
                <a:tc>
                  <a:txBody>
                    <a:bodyPr/>
                    <a:lstStyle/>
                    <a:p>
                      <a:pPr indent="0" lvl="0" marL="0" marR="0" rtl="0" algn="l">
                        <a:lnSpc>
                          <a:spcPct val="100000"/>
                        </a:lnSpc>
                        <a:spcBef>
                          <a:spcPts val="0"/>
                        </a:spcBef>
                        <a:spcAft>
                          <a:spcPts val="0"/>
                        </a:spcAft>
                        <a:buClr>
                          <a:srgbClr val="2D55FF"/>
                        </a:buClr>
                        <a:buSzPts val="1200"/>
                        <a:buFont typeface="IBM Plex Sans"/>
                        <a:buNone/>
                      </a:pPr>
                      <a:r>
                        <a:rPr b="0" i="0" lang="de-DE" sz="1200" u="none" strike="noStrike">
                          <a:solidFill>
                            <a:srgbClr val="2D55FF"/>
                          </a:solidFill>
                          <a:latin typeface="IBM Plex Sans"/>
                          <a:ea typeface="IBM Plex Sans"/>
                          <a:cs typeface="IBM Plex Sans"/>
                          <a:sym typeface="IBM Plex Sans"/>
                        </a:rPr>
                        <a:t>{{scope3_description_table}}</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2D55FF"/>
                        </a:buClr>
                        <a:buSzPts val="1200"/>
                        <a:buFont typeface="IBM Plex Sans"/>
                        <a:buNone/>
                      </a:pPr>
                      <a:r>
                        <a:rPr b="0" i="0" lang="de-DE" sz="1200" u="none" cap="none" strike="noStrike">
                          <a:solidFill>
                            <a:srgbClr val="2D55FF"/>
                          </a:solidFill>
                          <a:latin typeface="IBM Plex Sans"/>
                          <a:ea typeface="IBM Plex Sans"/>
                          <a:cs typeface="IBM Plex Sans"/>
                          <a:sym typeface="IBM Plex Sans"/>
                        </a:rPr>
                        <a:t>{{scope3_emissions_table}}</a:t>
                      </a:r>
                      <a:endParaRPr b="0" i="0" sz="1200" u="none" cap="none" strike="noStrike">
                        <a:solidFill>
                          <a:srgbClr val="000000"/>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01375">
                <a:tc>
                  <a:txBody>
                    <a:bodyPr/>
                    <a:lstStyle/>
                    <a:p>
                      <a:pPr indent="0" lvl="0" marL="0" marR="0" rtl="0" algn="l">
                        <a:lnSpc>
                          <a:spcPct val="106000"/>
                        </a:lnSpc>
                        <a:spcBef>
                          <a:spcPts val="0"/>
                        </a:spcBef>
                        <a:spcAft>
                          <a:spcPts val="0"/>
                        </a:spcAft>
                        <a:buNone/>
                      </a:pPr>
                      <a:r>
                        <a:rPr b="1" lang="de-DE" sz="1200">
                          <a:solidFill>
                            <a:schemeClr val="dk2"/>
                          </a:solidFill>
                        </a:rPr>
                        <a:t>CO₂e-Emissionen in Scope 3 insgesamt (standortbezogen) </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rgbClr val="2D55FF"/>
                        </a:buClr>
                        <a:buSzPts val="1200"/>
                        <a:buFont typeface="IBM Plex Sans"/>
                        <a:buNone/>
                      </a:pPr>
                      <a:r>
                        <a:rPr b="0" i="0" lang="de-DE" sz="1200" u="none" cap="none" strike="noStrike">
                          <a:solidFill>
                            <a:srgbClr val="2D55FF"/>
                          </a:solidFill>
                          <a:latin typeface="IBM Plex Sans"/>
                          <a:ea typeface="IBM Plex Sans"/>
                          <a:cs typeface="IBM Plex Sans"/>
                          <a:sym typeface="IBM Plex Sans"/>
                        </a:rPr>
                        <a:t>{{scope3}}</a:t>
                      </a:r>
                      <a:endParaRPr b="0" i="0" sz="1200" u="none" cap="none" strike="noStrike">
                        <a:solidFill>
                          <a:srgbClr val="000000"/>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301375">
                <a:tc>
                  <a:txBody>
                    <a:bodyPr/>
                    <a:lstStyle/>
                    <a:p>
                      <a:pPr indent="0" lvl="0" marL="0" marR="0" rtl="0" algn="l">
                        <a:lnSpc>
                          <a:spcPct val="106000"/>
                        </a:lnSpc>
                        <a:spcBef>
                          <a:spcPts val="0"/>
                        </a:spcBef>
                        <a:spcAft>
                          <a:spcPts val="0"/>
                        </a:spcAft>
                        <a:buNone/>
                      </a:pPr>
                      <a:r>
                        <a:rPr b="1" lang="de-DE" sz="1200">
                          <a:solidFill>
                            <a:schemeClr val="dk2"/>
                          </a:solidFill>
                        </a:rPr>
                        <a:t>Gesamte CO₂e-Emissionen für Scope 1, 2 und 3   </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lnSpc>
                          <a:spcPct val="106000"/>
                        </a:lnSpc>
                        <a:spcBef>
                          <a:spcPts val="0"/>
                        </a:spcBef>
                        <a:spcAft>
                          <a:spcPts val="0"/>
                        </a:spcAft>
                        <a:buClr>
                          <a:srgbClr val="2D55FF"/>
                        </a:buClr>
                        <a:buSzPts val="1200"/>
                        <a:buFont typeface="IBM Plex Sans"/>
                        <a:buNone/>
                      </a:pPr>
                      <a:r>
                        <a:rPr b="0" i="0" lang="de-DE" sz="1200" u="none" cap="none" strike="noStrike">
                          <a:solidFill>
                            <a:srgbClr val="2D55FF"/>
                          </a:solidFill>
                          <a:latin typeface="IBM Plex Sans"/>
                          <a:ea typeface="IBM Plex Sans"/>
                          <a:cs typeface="IBM Plex Sans"/>
                          <a:sym typeface="IBM Plex Sans"/>
                        </a:rPr>
                        <a:t>{{total_all_scopes}}</a:t>
                      </a:r>
                      <a:endParaRPr b="0" i="0" sz="1200" u="none" cap="none" strike="noStrike">
                        <a:solidFill>
                          <a:srgbClr val="2D55FF"/>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28" name="Google Shape;228;p16"/>
          <p:cNvSpPr txBox="1"/>
          <p:nvPr/>
        </p:nvSpPr>
        <p:spPr>
          <a:xfrm>
            <a:off x="518600" y="1016000"/>
            <a:ext cx="112543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de-DE" sz="1200" u="none" strike="noStrike">
                <a:solidFill>
                  <a:schemeClr val="dk2"/>
                </a:solidFill>
                <a:latin typeface="Inter"/>
                <a:ea typeface="Inter"/>
                <a:cs typeface="Inter"/>
                <a:sym typeface="Inter"/>
              </a:rPr>
              <a:t>Das Unternehmen hat einen Überblick über die Treibhausgasemissionen in Scope 3 nach dem THG-Protokoll angegeben. Das Unternehmen gibt die Gesamtemissionen und die standortbezogenen Emissionen aus Scope 3 an. Die CO₂e-Reduktionsziele des Unternehmens sind aufgeführt, einschließlich der wesentlichen Maßnahmen des Unternehmens zur Erreichung der Reduktionsziel</a:t>
            </a:r>
            <a:r>
              <a:rPr lang="de-DE" sz="1200">
                <a:solidFill>
                  <a:schemeClr val="dk2"/>
                </a:solidFill>
                <a:latin typeface="Inter"/>
                <a:ea typeface="Inter"/>
                <a:cs typeface="Inter"/>
                <a:sym typeface="Inter"/>
              </a:rPr>
              <a:t>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7"/>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e-DE"/>
              <a:t>Ü</a:t>
            </a:r>
            <a:r>
              <a:rPr b="1" lang="de-DE" sz="1800">
                <a:solidFill>
                  <a:schemeClr val="dk2"/>
                </a:solidFill>
              </a:rPr>
              <a:t>bergang für den Klimaschutz (C3)</a:t>
            </a:r>
            <a:endParaRPr/>
          </a:p>
        </p:txBody>
      </p:sp>
      <p:sp>
        <p:nvSpPr>
          <p:cNvPr id="235" name="Google Shape;235;p17"/>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e-DE"/>
              <a:t>‹#›</a:t>
            </a:fld>
            <a:endParaRPr/>
          </a:p>
        </p:txBody>
      </p:sp>
      <p:sp>
        <p:nvSpPr>
          <p:cNvPr id="236" name="Google Shape;236;p17"/>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e-DE"/>
              <a:t>{{company_name}}</a:t>
            </a:r>
            <a:endParaRPr b="0"/>
          </a:p>
          <a:p>
            <a:pPr indent="0" lvl="0" marL="0" rtl="0" algn="r">
              <a:spcBef>
                <a:spcPts val="0"/>
              </a:spcBef>
              <a:spcAft>
                <a:spcPts val="0"/>
              </a:spcAft>
              <a:buNone/>
            </a:pPr>
            <a:br>
              <a:rPr lang="de-DE"/>
            </a:br>
            <a:endParaRPr/>
          </a:p>
        </p:txBody>
      </p:sp>
      <p:graphicFrame>
        <p:nvGraphicFramePr>
          <p:cNvPr id="237" name="Google Shape;237;p17"/>
          <p:cNvGraphicFramePr/>
          <p:nvPr/>
        </p:nvGraphicFramePr>
        <p:xfrm>
          <a:off x="518592" y="4404641"/>
          <a:ext cx="3000000" cy="3000000"/>
        </p:xfrm>
        <a:graphic>
          <a:graphicData uri="http://schemas.openxmlformats.org/drawingml/2006/table">
            <a:tbl>
              <a:tblPr firstRow="1">
                <a:noFill/>
                <a:tableStyleId>{08659190-FCFE-4D70-9B86-54A6606F5F58}</a:tableStyleId>
              </a:tblPr>
              <a:tblGrid>
                <a:gridCol w="5588000"/>
                <a:gridCol w="5588000"/>
              </a:tblGrid>
              <a:tr h="327575">
                <a:tc gridSpan="2">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Künftiger Übergangsplan </a:t>
                      </a:r>
                      <a:r>
                        <a:rPr b="0" lang="de-DE" sz="1200">
                          <a:solidFill>
                            <a:schemeClr val="dk2"/>
                          </a:solidFill>
                          <a:latin typeface="IBM Plex Sans"/>
                          <a:ea typeface="IBM Plex Sans"/>
                          <a:cs typeface="IBM Plex Sans"/>
                          <a:sym typeface="IBM Plex Sans"/>
                        </a:rPr>
                        <a:t>(Nr. 55)</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448675">
                <a:tc>
                  <a:txBody>
                    <a:bodyPr/>
                    <a:lstStyle/>
                    <a:p>
                      <a:pPr indent="0" lvl="0" marL="0" marR="0" rtl="0" algn="l">
                        <a:spcBef>
                          <a:spcPts val="0"/>
                        </a:spcBef>
                        <a:spcAft>
                          <a:spcPts val="0"/>
                        </a:spcAft>
                        <a:buNone/>
                      </a:pPr>
                      <a:r>
                        <a:rPr b="1" lang="de-DE" sz="1200">
                          <a:solidFill>
                            <a:schemeClr val="accent2"/>
                          </a:solidFill>
                          <a:latin typeface="IBM Plex Sans"/>
                          <a:ea typeface="IBM Plex Sans"/>
                          <a:cs typeface="IBM Plex Sans"/>
                          <a:sym typeface="IBM Plex Sans"/>
                        </a:rPr>
                        <a:t>{{company_name}} </a:t>
                      </a:r>
                      <a:r>
                        <a:rPr b="1" lang="de-DE" sz="1200">
                          <a:solidFill>
                            <a:schemeClr val="dk2"/>
                          </a:solidFill>
                          <a:latin typeface="IBM Plex Sans"/>
                          <a:ea typeface="IBM Plex Sans"/>
                          <a:cs typeface="IBM Plex Sans"/>
                          <a:sym typeface="IBM Plex Sans"/>
                        </a:rPr>
                        <a:t>wird einen konkreten Übergangsplan </a:t>
                      </a:r>
                      <a:r>
                        <a:rPr b="1" lang="de-DE" sz="1200">
                          <a:solidFill>
                            <a:schemeClr val="dk2"/>
                          </a:solidFill>
                        </a:rPr>
                        <a:t>für den Klimaschutz annehmen</a:t>
                      </a:r>
                      <a:endParaRPr b="1" sz="1200">
                        <a:solidFill>
                          <a:schemeClr val="dk2"/>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{{transition_plan?}}</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448675">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Zeitpunkt der Annahme des Übergangsplans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{{transition_plan_date}}</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238" name="Google Shape;238;p17"/>
          <p:cNvGraphicFramePr/>
          <p:nvPr/>
        </p:nvGraphicFramePr>
        <p:xfrm>
          <a:off x="518592" y="1672171"/>
          <a:ext cx="3000000" cy="3000000"/>
        </p:xfrm>
        <a:graphic>
          <a:graphicData uri="http://schemas.openxmlformats.org/drawingml/2006/table">
            <a:tbl>
              <a:tblPr firstRow="1">
                <a:noFill/>
                <a:tableStyleId>{08659190-FCFE-4D70-9B86-54A6606F5F58}</a:tableStyleId>
              </a:tblPr>
              <a:tblGrid>
                <a:gridCol w="11176000"/>
              </a:tblGrid>
              <a:tr h="368300">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Übergangsplan für den Klimaschutz </a:t>
                      </a:r>
                      <a:r>
                        <a:rPr b="0" lang="de-DE" sz="1200">
                          <a:solidFill>
                            <a:schemeClr val="dk2"/>
                          </a:solidFill>
                          <a:latin typeface="IBM Plex Sans"/>
                          <a:ea typeface="IBM Plex Sans"/>
                          <a:cs typeface="IBM Plex Sans"/>
                          <a:sym typeface="IBM Plex Sans"/>
                        </a:rPr>
                        <a:t>(Nr. 54)</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1579875">
                <a:tc>
                  <a:txBody>
                    <a:bodyPr/>
                    <a:lstStyle/>
                    <a:p>
                      <a:pPr indent="0" lvl="0" marL="0" marR="0" rtl="0" algn="l">
                        <a:spcBef>
                          <a:spcPts val="0"/>
                        </a:spcBef>
                        <a:spcAft>
                          <a:spcPts val="0"/>
                        </a:spcAft>
                        <a:buNone/>
                      </a:pPr>
                      <a:r>
                        <a:rPr b="0" lang="de-DE" sz="1200">
                          <a:solidFill>
                            <a:schemeClr val="accent2"/>
                          </a:solidFill>
                        </a:rPr>
                        <a:t>{{transition_plan}}</a:t>
                      </a:r>
                      <a:endParaRPr/>
                    </a:p>
                    <a:p>
                      <a:pPr indent="0" lvl="0" marL="0" marR="0" rtl="0" algn="l">
                        <a:spcBef>
                          <a:spcPts val="0"/>
                        </a:spcBef>
                        <a:spcAft>
                          <a:spcPts val="0"/>
                        </a:spcAft>
                        <a:buNone/>
                      </a:pPr>
                      <a:r>
                        <a:t/>
                      </a:r>
                      <a:endParaRPr b="0" sz="1200">
                        <a:solidFill>
                          <a:schemeClr val="accent2"/>
                        </a:solidFill>
                      </a:endParaRPr>
                    </a:p>
                    <a:p>
                      <a:pPr indent="0" lvl="0" marL="0" marR="0" rtl="0" algn="l">
                        <a:spcBef>
                          <a:spcPts val="0"/>
                        </a:spcBef>
                        <a:spcAft>
                          <a:spcPts val="0"/>
                        </a:spcAft>
                        <a:buNone/>
                      </a:pPr>
                      <a:r>
                        <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39" name="Google Shape;239;p17"/>
          <p:cNvSpPr txBox="1"/>
          <p:nvPr/>
        </p:nvSpPr>
        <p:spPr>
          <a:xfrm>
            <a:off x="508000" y="1016000"/>
            <a:ext cx="111760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de-DE" sz="1200" u="none" strike="noStrike">
                <a:solidFill>
                  <a:schemeClr val="dk2"/>
                </a:solidFill>
                <a:latin typeface="Inter"/>
                <a:ea typeface="Inter"/>
                <a:cs typeface="Inter"/>
                <a:sym typeface="Inter"/>
              </a:rPr>
              <a:t>Die nachstehenden Angaben beziehen sich auf den Übergangsplan des Unternehmens für den Klimaschutz. Der Übergang steht im Zusammenhang mit den CO₂e-Reduktionszielen des Unternehmens.</a:t>
            </a:r>
            <a:endParaRPr/>
          </a:p>
        </p:txBody>
      </p:sp>
      <p:sp>
        <p:nvSpPr>
          <p:cNvPr id="240" name="Google Shape;240;p17"/>
          <p:cNvSpPr txBox="1"/>
          <p:nvPr/>
        </p:nvSpPr>
        <p:spPr>
          <a:xfrm>
            <a:off x="497408" y="3854142"/>
            <a:ext cx="1117599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de-DE" sz="1200" u="none" strike="noStrike">
                <a:solidFill>
                  <a:schemeClr val="dk2"/>
                </a:solidFill>
                <a:latin typeface="Inter"/>
                <a:ea typeface="Inter"/>
                <a:cs typeface="Inter"/>
                <a:sym typeface="Inter"/>
              </a:rPr>
              <a:t>Diese Angabe wurde ausgefüllt, da das Unternehmen angegeben hat, dass es einen konkreten Übergangsplan einleiten wird, sowie das Datum der Annahme.</a:t>
            </a:r>
            <a:endParaRPr sz="1800">
              <a:solidFill>
                <a:schemeClr val="dk2"/>
              </a:solidFill>
              <a:latin typeface="IBM Plex Sans"/>
              <a:ea typeface="IBM Plex Sans"/>
              <a:cs typeface="IBM Plex Sans"/>
              <a:sym typeface="IBM Plex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8"/>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e-DE"/>
              <a:t>K</a:t>
            </a:r>
            <a:r>
              <a:rPr b="1" lang="de-DE" sz="1800">
                <a:solidFill>
                  <a:schemeClr val="dk2"/>
                </a:solidFill>
              </a:rPr>
              <a:t>limabedingte Risiken (C4)</a:t>
            </a:r>
            <a:endParaRPr/>
          </a:p>
        </p:txBody>
      </p:sp>
      <p:sp>
        <p:nvSpPr>
          <p:cNvPr id="247" name="Google Shape;247;p18"/>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e-DE"/>
              <a:t>{{company_name}}</a:t>
            </a:r>
            <a:endParaRPr b="0"/>
          </a:p>
          <a:p>
            <a:pPr indent="0" lvl="0" marL="0" rtl="0" algn="r">
              <a:spcBef>
                <a:spcPts val="0"/>
              </a:spcBef>
              <a:spcAft>
                <a:spcPts val="0"/>
              </a:spcAft>
              <a:buNone/>
            </a:pPr>
            <a:br>
              <a:rPr lang="de-DE"/>
            </a:br>
            <a:endParaRPr/>
          </a:p>
        </p:txBody>
      </p:sp>
      <p:sp>
        <p:nvSpPr>
          <p:cNvPr id="248" name="Google Shape;248;p18"/>
          <p:cNvSpPr/>
          <p:nvPr/>
        </p:nvSpPr>
        <p:spPr>
          <a:xfrm>
            <a:off x="601802" y="3774751"/>
            <a:ext cx="207455" cy="232601"/>
          </a:xfrm>
          <a:prstGeom prst="rect">
            <a:avLst/>
          </a:prstGeom>
          <a:noFill/>
          <a:ln>
            <a:noFill/>
          </a:ln>
        </p:spPr>
      </p:sp>
      <p:sp>
        <p:nvSpPr>
          <p:cNvPr id="249" name="Google Shape;249;p18"/>
          <p:cNvSpPr/>
          <p:nvPr/>
        </p:nvSpPr>
        <p:spPr>
          <a:xfrm>
            <a:off x="601801" y="4402404"/>
            <a:ext cx="207455" cy="232601"/>
          </a:xfrm>
          <a:prstGeom prst="rect">
            <a:avLst/>
          </a:prstGeom>
          <a:noFill/>
          <a:ln>
            <a:noFill/>
          </a:ln>
        </p:spPr>
      </p:sp>
      <p:graphicFrame>
        <p:nvGraphicFramePr>
          <p:cNvPr id="250" name="Google Shape;250;p18"/>
          <p:cNvGraphicFramePr/>
          <p:nvPr/>
        </p:nvGraphicFramePr>
        <p:xfrm>
          <a:off x="518598" y="1550008"/>
          <a:ext cx="3000000" cy="3000000"/>
        </p:xfrm>
        <a:graphic>
          <a:graphicData uri="http://schemas.openxmlformats.org/drawingml/2006/table">
            <a:tbl>
              <a:tblPr firstRow="1">
                <a:noFill/>
                <a:tableStyleId>{08659190-FCFE-4D70-9B86-54A6606F5F58}</a:tableStyleId>
              </a:tblPr>
              <a:tblGrid>
                <a:gridCol w="1336725"/>
                <a:gridCol w="1007400"/>
                <a:gridCol w="3163225"/>
                <a:gridCol w="1715075"/>
                <a:gridCol w="1569950"/>
                <a:gridCol w="1213750"/>
                <a:gridCol w="1159325"/>
              </a:tblGrid>
              <a:tr h="224150">
                <a:tc gridSpan="3">
                  <a:txBody>
                    <a:bodyPr/>
                    <a:lstStyle/>
                    <a:p>
                      <a:pPr indent="0" lvl="0" marL="0" marR="0" rtl="0" algn="l">
                        <a:spcBef>
                          <a:spcPts val="0"/>
                        </a:spcBef>
                        <a:spcAft>
                          <a:spcPts val="0"/>
                        </a:spcAft>
                        <a:buNone/>
                      </a:pPr>
                      <a:r>
                        <a:rPr b="0" lang="de-DE" sz="1200">
                          <a:solidFill>
                            <a:schemeClr val="dk2"/>
                          </a:solidFill>
                          <a:latin typeface="IBM Plex Sans"/>
                          <a:ea typeface="IBM Plex Sans"/>
                          <a:cs typeface="IBM Plex Sans"/>
                          <a:sym typeface="IBM Plex Sans"/>
                        </a:rPr>
                        <a:t>(Nr. 56a)</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c hMerge="1"/>
                <a:tc gridSpan="2">
                  <a:txBody>
                    <a:bodyPr/>
                    <a:lstStyle/>
                    <a:p>
                      <a:pPr indent="0" lvl="0" marL="0" marR="0" rtl="0" algn="l">
                        <a:spcBef>
                          <a:spcPts val="0"/>
                        </a:spcBef>
                        <a:spcAft>
                          <a:spcPts val="0"/>
                        </a:spcAft>
                        <a:buNone/>
                      </a:pPr>
                      <a:r>
                        <a:rPr b="0" lang="de-DE" sz="1200">
                          <a:solidFill>
                            <a:schemeClr val="dk2"/>
                          </a:solidFill>
                          <a:latin typeface="IBM Plex Sans"/>
                          <a:ea typeface="IBM Plex Sans"/>
                          <a:cs typeface="IBM Plex Sans"/>
                          <a:sym typeface="IBM Plex Sans"/>
                        </a:rPr>
                        <a:t>(Nr. 56b)</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c>
                  <a:txBody>
                    <a:bodyPr/>
                    <a:lstStyle/>
                    <a:p>
                      <a:pPr indent="0" lvl="0" marL="0" marR="0" rtl="0" algn="l">
                        <a:spcBef>
                          <a:spcPts val="0"/>
                        </a:spcBef>
                        <a:spcAft>
                          <a:spcPts val="0"/>
                        </a:spcAft>
                        <a:buNone/>
                      </a:pPr>
                      <a:r>
                        <a:rPr b="0" lang="de-DE" sz="1200">
                          <a:solidFill>
                            <a:schemeClr val="dk2"/>
                          </a:solidFill>
                          <a:latin typeface="IBM Plex Sans"/>
                          <a:ea typeface="IBM Plex Sans"/>
                          <a:cs typeface="IBM Plex Sans"/>
                          <a:sym typeface="IBM Plex Sans"/>
                        </a:rPr>
                        <a:t>(Nr. 56c)</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None/>
                      </a:pPr>
                      <a:r>
                        <a:rPr b="0" lang="de-DE" sz="1200">
                          <a:solidFill>
                            <a:schemeClr val="dk2"/>
                          </a:solidFill>
                          <a:latin typeface="IBM Plex Sans"/>
                          <a:ea typeface="IBM Plex Sans"/>
                          <a:cs typeface="IBM Plex Sans"/>
                          <a:sym typeface="IBM Plex Sans"/>
                        </a:rPr>
                        <a:t>(Nr. 56d)</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545825">
                <a:tc>
                  <a:txBody>
                    <a:bodyPr/>
                    <a:lstStyle/>
                    <a:p>
                      <a:pPr indent="0" lvl="0" marL="0" marR="0" rtl="0" algn="ctr">
                        <a:lnSpc>
                          <a:spcPct val="100000"/>
                        </a:lnSpc>
                        <a:spcBef>
                          <a:spcPts val="0"/>
                        </a:spcBef>
                        <a:spcAft>
                          <a:spcPts val="0"/>
                        </a:spcAft>
                        <a:buClr>
                          <a:schemeClr val="dk2"/>
                        </a:buClr>
                        <a:buSzPts val="1200"/>
                        <a:buFont typeface="IBM Plex Sans"/>
                        <a:buNone/>
                      </a:pPr>
                      <a:r>
                        <a:rPr b="1" lang="de-DE" sz="1200">
                          <a:solidFill>
                            <a:schemeClr val="dk2"/>
                          </a:solidFill>
                        </a:rPr>
                        <a:t>Klimabedingte Risiken</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de-DE" sz="1200">
                          <a:solidFill>
                            <a:schemeClr val="dk2"/>
                          </a:solidFill>
                        </a:rPr>
                        <a:t>Wo</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de-DE" sz="1200">
                          <a:solidFill>
                            <a:schemeClr val="dk2"/>
                          </a:solidFill>
                        </a:rPr>
                        <a:t>Kurze Beschreibung der Risiken</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de-DE" sz="1200">
                          <a:solidFill>
                            <a:schemeClr val="dk2"/>
                          </a:solidFill>
                        </a:rPr>
                        <a:t>Exposition </a:t>
                      </a:r>
                      <a:endParaRPr/>
                    </a:p>
                    <a:p>
                      <a:pPr indent="0" lvl="0" marL="0" marR="0" rtl="0" algn="ctr">
                        <a:lnSpc>
                          <a:spcPct val="100000"/>
                        </a:lnSpc>
                        <a:spcBef>
                          <a:spcPts val="0"/>
                        </a:spcBef>
                        <a:spcAft>
                          <a:spcPts val="0"/>
                        </a:spcAft>
                        <a:buClr>
                          <a:schemeClr val="dk2"/>
                        </a:buClr>
                        <a:buSzPts val="1200"/>
                        <a:buFont typeface="IBM Plex Sans"/>
                        <a:buNone/>
                      </a:pPr>
                      <a:r>
                        <a:rPr b="0" lang="de-DE" sz="1200">
                          <a:solidFill>
                            <a:schemeClr val="dk2"/>
                          </a:solidFill>
                        </a:rPr>
                        <a:t>(niedrig/mittel/hoch)</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de-DE" sz="1200">
                          <a:solidFill>
                            <a:schemeClr val="dk2"/>
                          </a:solidFill>
                        </a:rPr>
                        <a:t>Anfälligkeit </a:t>
                      </a:r>
                      <a:endParaRPr/>
                    </a:p>
                    <a:p>
                      <a:pPr indent="0" lvl="0" marL="0" marR="0" rtl="0" algn="ctr">
                        <a:lnSpc>
                          <a:spcPct val="100000"/>
                        </a:lnSpc>
                        <a:spcBef>
                          <a:spcPts val="0"/>
                        </a:spcBef>
                        <a:spcAft>
                          <a:spcPts val="0"/>
                        </a:spcAft>
                        <a:buClr>
                          <a:schemeClr val="dk2"/>
                        </a:buClr>
                        <a:buSzPts val="1200"/>
                        <a:buFont typeface="IBM Plex Sans"/>
                        <a:buNone/>
                      </a:pPr>
                      <a:r>
                        <a:rPr b="0" lang="de-DE" sz="1200">
                          <a:solidFill>
                            <a:schemeClr val="dk2"/>
                          </a:solidFill>
                        </a:rPr>
                        <a:t>(niedrig/mittel/hoch)</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de-DE" sz="1200">
                          <a:solidFill>
                            <a:schemeClr val="dk2"/>
                          </a:solidFill>
                        </a:rPr>
                        <a:t>Zeithorizont </a:t>
                      </a:r>
                      <a:endParaRPr/>
                    </a:p>
                    <a:p>
                      <a:pPr indent="0" lvl="0" marL="0" marR="0" rtl="0" algn="ctr">
                        <a:lnSpc>
                          <a:spcPct val="100000"/>
                        </a:lnSpc>
                        <a:spcBef>
                          <a:spcPts val="0"/>
                        </a:spcBef>
                        <a:spcAft>
                          <a:spcPts val="0"/>
                        </a:spcAft>
                        <a:buClr>
                          <a:schemeClr val="dk2"/>
                        </a:buClr>
                        <a:buSzPts val="1200"/>
                        <a:buFont typeface="IBM Plex Sans"/>
                        <a:buNone/>
                      </a:pPr>
                      <a:r>
                        <a:rPr b="0" i="0" lang="de-DE" sz="1200">
                          <a:solidFill>
                            <a:schemeClr val="dk2"/>
                          </a:solidFill>
                        </a:rPr>
                        <a:t>(0-1/2-5/&gt;5 Jahre)</a:t>
                      </a:r>
                      <a:endParaRPr b="0" i="0" sz="12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de-DE" sz="1200">
                          <a:solidFill>
                            <a:schemeClr val="dk2"/>
                          </a:solidFill>
                        </a:rPr>
                        <a:t>Anpassung ergriffen </a:t>
                      </a:r>
                      <a:r>
                        <a:rPr b="0" lang="de-DE" sz="1200">
                          <a:solidFill>
                            <a:schemeClr val="dk2"/>
                          </a:solidFill>
                        </a:rPr>
                        <a:t>(JA/NEIN)</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385000">
                <a:tc rowSpan="3">
                  <a:txBody>
                    <a:bodyPr/>
                    <a:lstStyle/>
                    <a:p>
                      <a:pPr indent="0" lvl="0" marL="0" marR="0" rtl="0" algn="ctr">
                        <a:lnSpc>
                          <a:spcPct val="100000"/>
                        </a:lnSpc>
                        <a:spcBef>
                          <a:spcPts val="0"/>
                        </a:spcBef>
                        <a:spcAft>
                          <a:spcPts val="0"/>
                        </a:spcAft>
                        <a:buClr>
                          <a:schemeClr val="dk2"/>
                        </a:buClr>
                        <a:buSzPts val="1200"/>
                        <a:buFont typeface="IBM Plex Sans"/>
                        <a:buNone/>
                      </a:pPr>
                      <a:r>
                        <a:rPr b="1" lang="de-DE" sz="1200">
                          <a:solidFill>
                            <a:schemeClr val="dk2"/>
                          </a:solidFill>
                        </a:rPr>
                        <a:t>Chronische Gefahren</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200"/>
                        <a:buFont typeface="IBM Plex Sans"/>
                        <a:buNone/>
                      </a:pPr>
                      <a:r>
                        <a:rPr b="0" lang="de-DE" sz="1200">
                          <a:solidFill>
                            <a:schemeClr val="dk2"/>
                          </a:solidFill>
                          <a:latin typeface="IBM Plex Sans"/>
                          <a:ea typeface="IBM Plex Sans"/>
                          <a:cs typeface="IBM Plex Sans"/>
                          <a:sym typeface="IBM Plex Sans"/>
                        </a:rPr>
                        <a:t>Vermögens­werte</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rPr>
                        <a:t>{{chronic_aktiver_description}}</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latin typeface="IBM Plex Sans"/>
                          <a:ea typeface="IBM Plex Sans"/>
                          <a:cs typeface="IBM Plex Sans"/>
                          <a:sym typeface="IBM Plex Sans"/>
                        </a:rPr>
                        <a:t>{{chronic_aktiver_eksponerning}}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latin typeface="IBM Plex Sans"/>
                          <a:ea typeface="IBM Plex Sans"/>
                          <a:cs typeface="IBM Plex Sans"/>
                          <a:sym typeface="IBM Plex Sans"/>
                        </a:rPr>
                        <a:t>{{chronic_aktiver_sårbarhed}}</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latin typeface="IBM Plex Sans"/>
                          <a:ea typeface="IBM Plex Sans"/>
                          <a:cs typeface="IBM Plex Sans"/>
                          <a:sym typeface="IBM Plex Sans"/>
                        </a:rPr>
                        <a:t>{{chronic_aktiver_time}}</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latin typeface="IBM Plex Sans"/>
                          <a:ea typeface="IBM Plex Sans"/>
                          <a:cs typeface="IBM Plex Sans"/>
                          <a:sym typeface="IBM Plex Sans"/>
                        </a:rPr>
                        <a:t>{{chronic_aktiver_tilpasning}}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5000">
                <a:tc vMerge="1"/>
                <a:tc>
                  <a:txBody>
                    <a:bodyPr/>
                    <a:lstStyle/>
                    <a:p>
                      <a:pPr indent="0" lvl="0" marL="0" marR="0" rtl="0" algn="ctr">
                        <a:lnSpc>
                          <a:spcPct val="100000"/>
                        </a:lnSpc>
                        <a:spcBef>
                          <a:spcPts val="0"/>
                        </a:spcBef>
                        <a:spcAft>
                          <a:spcPts val="0"/>
                        </a:spcAft>
                        <a:buClr>
                          <a:schemeClr val="dk2"/>
                        </a:buClr>
                        <a:buSzPts val="1200"/>
                        <a:buFont typeface="IBM Plex Sans"/>
                        <a:buNone/>
                      </a:pPr>
                      <a:r>
                        <a:rPr b="0" lang="de-DE" sz="1200">
                          <a:solidFill>
                            <a:schemeClr val="dk2"/>
                          </a:solidFill>
                          <a:latin typeface="IBM Plex Sans"/>
                          <a:ea typeface="IBM Plex Sans"/>
                          <a:cs typeface="IBM Plex Sans"/>
                          <a:sym typeface="IBM Plex Sans"/>
                        </a:rPr>
                        <a:t>Tätigkeiten</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latin typeface="IBM Plex Sans"/>
                          <a:ea typeface="IBM Plex Sans"/>
                          <a:cs typeface="IBM Plex Sans"/>
                          <a:sym typeface="IBM Plex Sans"/>
                        </a:rPr>
                        <a:t>{{chronic_aktiveter_description}}</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rPr>
                        <a:t>{{chronic_aktivteter_eksponerning}}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latin typeface="IBM Plex Sans"/>
                          <a:ea typeface="IBM Plex Sans"/>
                          <a:cs typeface="IBM Plex Sans"/>
                          <a:sym typeface="IBM Plex Sans"/>
                        </a:rPr>
                        <a:t>{{chronic_aktivteter_sårbarhed}}</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latin typeface="IBM Plex Sans"/>
                          <a:ea typeface="IBM Plex Sans"/>
                          <a:cs typeface="IBM Plex Sans"/>
                          <a:sym typeface="IBM Plex Sans"/>
                        </a:rPr>
                        <a:t>{{chronic_aktivteter_time}}</a:t>
                      </a:r>
                      <a:endParaRPr sz="1800"/>
                    </a:p>
                    <a:p>
                      <a:pPr indent="0" lvl="0" marL="0" marR="0" rtl="0" algn="ctr">
                        <a:lnSpc>
                          <a:spcPct val="100000"/>
                        </a:lnSpc>
                        <a:spcBef>
                          <a:spcPts val="0"/>
                        </a:spcBef>
                        <a:spcAft>
                          <a:spcPts val="0"/>
                        </a:spcAft>
                        <a:buClr>
                          <a:schemeClr val="dk1"/>
                        </a:buClr>
                        <a:buSzPts val="1800"/>
                        <a:buFont typeface="IBM Plex Sans"/>
                        <a:buNone/>
                      </a:pPr>
                      <a:r>
                        <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latin typeface="IBM Plex Sans"/>
                          <a:ea typeface="IBM Plex Sans"/>
                          <a:cs typeface="IBM Plex Sans"/>
                          <a:sym typeface="IBM Plex Sans"/>
                        </a:rPr>
                        <a:t>{{chronic_aktivteter_tilpasning}}</a:t>
                      </a:r>
                      <a:endParaRPr sz="1800"/>
                    </a:p>
                    <a:p>
                      <a:pPr indent="0" lvl="0" marL="0" marR="0" rtl="0" algn="ctr">
                        <a:lnSpc>
                          <a:spcPct val="100000"/>
                        </a:lnSpc>
                        <a:spcBef>
                          <a:spcPts val="0"/>
                        </a:spcBef>
                        <a:spcAft>
                          <a:spcPts val="0"/>
                        </a:spcAft>
                        <a:buClr>
                          <a:schemeClr val="dk1"/>
                        </a:buClr>
                        <a:buSzPts val="1200"/>
                        <a:buFont typeface="IBM Plex Sans"/>
                        <a:buNone/>
                      </a:pPr>
                      <a:r>
                        <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5000">
                <a:tc vMerge="1"/>
                <a:tc>
                  <a:txBody>
                    <a:bodyPr/>
                    <a:lstStyle/>
                    <a:p>
                      <a:pPr indent="0" lvl="0" marL="0" marR="0" rtl="0" algn="ctr">
                        <a:lnSpc>
                          <a:spcPct val="100000"/>
                        </a:lnSpc>
                        <a:spcBef>
                          <a:spcPts val="0"/>
                        </a:spcBef>
                        <a:spcAft>
                          <a:spcPts val="0"/>
                        </a:spcAft>
                        <a:buClr>
                          <a:schemeClr val="dk2"/>
                        </a:buClr>
                        <a:buSzPts val="1200"/>
                        <a:buFont typeface="IBM Plex Sans"/>
                        <a:buNone/>
                      </a:pPr>
                      <a:r>
                        <a:rPr b="0" lang="de-DE" sz="1200">
                          <a:solidFill>
                            <a:schemeClr val="dk2"/>
                          </a:solidFill>
                          <a:latin typeface="IBM Plex Sans"/>
                          <a:ea typeface="IBM Plex Sans"/>
                          <a:cs typeface="IBM Plex Sans"/>
                          <a:sym typeface="IBM Plex Sans"/>
                        </a:rPr>
                        <a:t>Lieferkette</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rPr>
                        <a:t>{{chronic_value_description}}</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latin typeface="IBM Plex Sans"/>
                          <a:ea typeface="IBM Plex Sans"/>
                          <a:cs typeface="IBM Plex Sans"/>
                          <a:sym typeface="IBM Plex Sans"/>
                        </a:rPr>
                        <a:t>{{chronic_value_eksponerning}}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latin typeface="IBM Plex Sans"/>
                          <a:ea typeface="IBM Plex Sans"/>
                          <a:cs typeface="IBM Plex Sans"/>
                          <a:sym typeface="IBM Plex Sans"/>
                        </a:rPr>
                        <a:t>{{chronic_value_sårbarhed}}</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latin typeface="IBM Plex Sans"/>
                          <a:ea typeface="IBM Plex Sans"/>
                          <a:cs typeface="IBM Plex Sans"/>
                          <a:sym typeface="IBM Plex Sans"/>
                        </a:rPr>
                        <a:t>{{chronic_value_time}}</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latin typeface="IBM Plex Sans"/>
                          <a:ea typeface="IBM Plex Sans"/>
                          <a:cs typeface="IBM Plex Sans"/>
                          <a:sym typeface="IBM Plex Sans"/>
                        </a:rPr>
                        <a:t>{{chronic_value_tilpasning}}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r h="385000">
                <a:tc rowSpan="3">
                  <a:txBody>
                    <a:bodyPr/>
                    <a:lstStyle/>
                    <a:p>
                      <a:pPr indent="0" lvl="0" marL="0" marR="0" rtl="0" algn="ctr">
                        <a:lnSpc>
                          <a:spcPct val="100000"/>
                        </a:lnSpc>
                        <a:spcBef>
                          <a:spcPts val="0"/>
                        </a:spcBef>
                        <a:spcAft>
                          <a:spcPts val="0"/>
                        </a:spcAft>
                        <a:buClr>
                          <a:schemeClr val="dk2"/>
                        </a:buClr>
                        <a:buSzPts val="1200"/>
                        <a:buFont typeface="IBM Plex Sans"/>
                        <a:buNone/>
                      </a:pPr>
                      <a:r>
                        <a:rPr b="1" lang="de-DE" sz="1200">
                          <a:solidFill>
                            <a:schemeClr val="dk2"/>
                          </a:solidFill>
                          <a:latin typeface="IBM Plex Sans"/>
                          <a:ea typeface="IBM Plex Sans"/>
                          <a:cs typeface="IBM Plex Sans"/>
                          <a:sym typeface="IBM Plex Sans"/>
                        </a:rPr>
                        <a:t>Akute Gefahren</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200"/>
                        <a:buFont typeface="IBM Plex Sans"/>
                        <a:buNone/>
                      </a:pPr>
                      <a:r>
                        <a:rPr b="0" lang="de-DE" sz="1200">
                          <a:solidFill>
                            <a:schemeClr val="dk2"/>
                          </a:solidFill>
                          <a:latin typeface="IBM Plex Sans"/>
                          <a:ea typeface="IBM Plex Sans"/>
                          <a:cs typeface="IBM Plex Sans"/>
                          <a:sym typeface="IBM Plex Sans"/>
                        </a:rPr>
                        <a:t>Vermögens­werte</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rPr>
                        <a:t>{{akut_aktiver_description}}</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latin typeface="IBM Plex Sans"/>
                          <a:ea typeface="IBM Plex Sans"/>
                          <a:cs typeface="IBM Plex Sans"/>
                          <a:sym typeface="IBM Plex Sans"/>
                        </a:rPr>
                        <a:t>{{akut_aktiver_eksponering}}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latin typeface="IBM Plex Sans"/>
                          <a:ea typeface="IBM Plex Sans"/>
                          <a:cs typeface="IBM Plex Sans"/>
                          <a:sym typeface="IBM Plex Sans"/>
                        </a:rPr>
                        <a:t>{{akut_aktiver_sårbarhed}}</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latin typeface="IBM Plex Sans"/>
                          <a:ea typeface="IBM Plex Sans"/>
                          <a:cs typeface="IBM Plex Sans"/>
                          <a:sym typeface="IBM Plex Sans"/>
                        </a:rPr>
                        <a:t>{{akut_aktiver_tidshorisont}}</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latin typeface="IBM Plex Sans"/>
                          <a:ea typeface="IBM Plex Sans"/>
                          <a:cs typeface="IBM Plex Sans"/>
                          <a:sym typeface="IBM Plex Sans"/>
                        </a:rPr>
                        <a:t>{{akut_aktiver_tilpasning}}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5000">
                <a:tc vMerge="1"/>
                <a:tc>
                  <a:txBody>
                    <a:bodyPr/>
                    <a:lstStyle/>
                    <a:p>
                      <a:pPr indent="0" lvl="0" marL="0" marR="0" rtl="0" algn="ctr">
                        <a:lnSpc>
                          <a:spcPct val="100000"/>
                        </a:lnSpc>
                        <a:spcBef>
                          <a:spcPts val="0"/>
                        </a:spcBef>
                        <a:spcAft>
                          <a:spcPts val="0"/>
                        </a:spcAft>
                        <a:buClr>
                          <a:schemeClr val="dk2"/>
                        </a:buClr>
                        <a:buSzPts val="1200"/>
                        <a:buFont typeface="IBM Plex Sans"/>
                        <a:buNone/>
                      </a:pPr>
                      <a:r>
                        <a:rPr b="0" lang="de-DE" sz="1200">
                          <a:solidFill>
                            <a:schemeClr val="dk2"/>
                          </a:solidFill>
                          <a:latin typeface="IBM Plex Sans"/>
                          <a:ea typeface="IBM Plex Sans"/>
                          <a:cs typeface="IBM Plex Sans"/>
                          <a:sym typeface="IBM Plex Sans"/>
                        </a:rPr>
                        <a:t>Tätigkeiten</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rPr>
                        <a:t>{{akut_aktiviteter_description}}</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latin typeface="IBM Plex Sans"/>
                          <a:ea typeface="IBM Plex Sans"/>
                          <a:cs typeface="IBM Plex Sans"/>
                          <a:sym typeface="IBM Plex Sans"/>
                        </a:rPr>
                        <a:t>{{akut_aktiviteter_eksponering}}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latin typeface="IBM Plex Sans"/>
                          <a:ea typeface="IBM Plex Sans"/>
                          <a:cs typeface="IBM Plex Sans"/>
                          <a:sym typeface="IBM Plex Sans"/>
                        </a:rPr>
                        <a:t>{{akut_aktiviteter_sårbarhed}}</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latin typeface="IBM Plex Sans"/>
                          <a:ea typeface="IBM Plex Sans"/>
                          <a:cs typeface="IBM Plex Sans"/>
                          <a:sym typeface="IBM Plex Sans"/>
                        </a:rPr>
                        <a:t>{{akut_aktiviteter_tidshorisont}}</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latin typeface="IBM Plex Sans"/>
                          <a:ea typeface="IBM Plex Sans"/>
                          <a:cs typeface="IBM Plex Sans"/>
                          <a:sym typeface="IBM Plex Sans"/>
                        </a:rPr>
                        <a:t>{{akut_aktiviteter_tilpasning}}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5000">
                <a:tc vMerge="1"/>
                <a:tc>
                  <a:txBody>
                    <a:bodyPr/>
                    <a:lstStyle/>
                    <a:p>
                      <a:pPr indent="0" lvl="0" marL="0" marR="0" rtl="0" algn="ctr">
                        <a:lnSpc>
                          <a:spcPct val="100000"/>
                        </a:lnSpc>
                        <a:spcBef>
                          <a:spcPts val="0"/>
                        </a:spcBef>
                        <a:spcAft>
                          <a:spcPts val="0"/>
                        </a:spcAft>
                        <a:buClr>
                          <a:schemeClr val="dk2"/>
                        </a:buClr>
                        <a:buSzPts val="1200"/>
                        <a:buFont typeface="IBM Plex Sans"/>
                        <a:buNone/>
                      </a:pPr>
                      <a:r>
                        <a:rPr b="0" lang="de-DE" sz="1200">
                          <a:solidFill>
                            <a:schemeClr val="dk2"/>
                          </a:solidFill>
                          <a:latin typeface="IBM Plex Sans"/>
                          <a:ea typeface="IBM Plex Sans"/>
                          <a:cs typeface="IBM Plex Sans"/>
                          <a:sym typeface="IBM Plex Sans"/>
                        </a:rPr>
                        <a:t>Lieferkette</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rPr>
                        <a:t>{{akut_værdikæde_description}}</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latin typeface="IBM Plex Sans"/>
                          <a:ea typeface="IBM Plex Sans"/>
                          <a:cs typeface="IBM Plex Sans"/>
                          <a:sym typeface="IBM Plex Sans"/>
                        </a:rPr>
                        <a:t>{{akut_værdikæde_eksponering}}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latin typeface="IBM Plex Sans"/>
                          <a:ea typeface="IBM Plex Sans"/>
                          <a:cs typeface="IBM Plex Sans"/>
                          <a:sym typeface="IBM Plex Sans"/>
                        </a:rPr>
                        <a:t>{{akut_værdikæde_sårbarhed}}</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latin typeface="IBM Plex Sans"/>
                          <a:ea typeface="IBM Plex Sans"/>
                          <a:cs typeface="IBM Plex Sans"/>
                          <a:sym typeface="IBM Plex Sans"/>
                        </a:rPr>
                        <a:t>{{akut_værdikæde_tidshorisont}}</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latin typeface="IBM Plex Sans"/>
                          <a:ea typeface="IBM Plex Sans"/>
                          <a:cs typeface="IBM Plex Sans"/>
                          <a:sym typeface="IBM Plex Sans"/>
                        </a:rPr>
                        <a:t>{{akut_værdikæde_tilpasning}}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chemeClr val="dk2"/>
                      </a:solidFill>
                      <a:prstDash val="solid"/>
                      <a:round/>
                      <a:headEnd len="sm" w="sm" type="none"/>
                      <a:tailEnd len="sm" w="sm" type="none"/>
                    </a:lnB>
                  </a:tcPr>
                </a:tc>
              </a:tr>
              <a:tr h="385000">
                <a:tc rowSpan="3">
                  <a:txBody>
                    <a:bodyPr/>
                    <a:lstStyle/>
                    <a:p>
                      <a:pPr indent="0" lvl="0" marL="0" marR="0" rtl="0" algn="ctr">
                        <a:lnSpc>
                          <a:spcPct val="100000"/>
                        </a:lnSpc>
                        <a:spcBef>
                          <a:spcPts val="0"/>
                        </a:spcBef>
                        <a:spcAft>
                          <a:spcPts val="0"/>
                        </a:spcAft>
                        <a:buClr>
                          <a:schemeClr val="dk2"/>
                        </a:buClr>
                        <a:buSzPts val="1200"/>
                        <a:buFont typeface="IBM Plex Sans"/>
                        <a:buNone/>
                      </a:pPr>
                      <a:r>
                        <a:rPr b="1" lang="de-DE" sz="1200">
                          <a:solidFill>
                            <a:schemeClr val="dk2"/>
                          </a:solidFill>
                          <a:latin typeface="IBM Plex Sans"/>
                          <a:ea typeface="IBM Plex Sans"/>
                          <a:cs typeface="IBM Plex Sans"/>
                          <a:sym typeface="IBM Plex Sans"/>
                        </a:rPr>
                        <a:t>Übergangs-ereignis</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200"/>
                        <a:buFont typeface="IBM Plex Sans"/>
                        <a:buNone/>
                      </a:pPr>
                      <a:r>
                        <a:rPr b="0" lang="de-DE" sz="1200">
                          <a:solidFill>
                            <a:schemeClr val="dk2"/>
                          </a:solidFill>
                          <a:latin typeface="IBM Plex Sans"/>
                          <a:ea typeface="IBM Plex Sans"/>
                          <a:cs typeface="IBM Plex Sans"/>
                          <a:sym typeface="IBM Plex Sans"/>
                        </a:rPr>
                        <a:t>Vermögens­werte</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rPr>
                        <a:t>{{omstilling_aktiver_description}}</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latin typeface="IBM Plex Sans"/>
                          <a:ea typeface="IBM Plex Sans"/>
                          <a:cs typeface="IBM Plex Sans"/>
                          <a:sym typeface="IBM Plex Sans"/>
                        </a:rPr>
                        <a:t>{{omstilling_aktiver_eksponering}}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latin typeface="IBM Plex Sans"/>
                          <a:ea typeface="IBM Plex Sans"/>
                          <a:cs typeface="IBM Plex Sans"/>
                          <a:sym typeface="IBM Plex Sans"/>
                        </a:rPr>
                        <a:t>{{omstilling_aktiver_sårbarhed}}</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latin typeface="IBM Plex Sans"/>
                          <a:ea typeface="IBM Plex Sans"/>
                          <a:cs typeface="IBM Plex Sans"/>
                          <a:sym typeface="IBM Plex Sans"/>
                        </a:rPr>
                        <a:t>{{omstilling_aktiver_tidshorisont}}</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latin typeface="IBM Plex Sans"/>
                          <a:ea typeface="IBM Plex Sans"/>
                          <a:cs typeface="IBM Plex Sans"/>
                          <a:sym typeface="IBM Plex Sans"/>
                        </a:rPr>
                        <a:t>{{omstilling_aktiver_tilpasning}}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19050">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5000">
                <a:tc vMerge="1"/>
                <a:tc>
                  <a:txBody>
                    <a:bodyPr/>
                    <a:lstStyle/>
                    <a:p>
                      <a:pPr indent="0" lvl="0" marL="0" marR="0" rtl="0" algn="ctr">
                        <a:lnSpc>
                          <a:spcPct val="100000"/>
                        </a:lnSpc>
                        <a:spcBef>
                          <a:spcPts val="0"/>
                        </a:spcBef>
                        <a:spcAft>
                          <a:spcPts val="0"/>
                        </a:spcAft>
                        <a:buClr>
                          <a:schemeClr val="dk2"/>
                        </a:buClr>
                        <a:buSzPts val="1200"/>
                        <a:buFont typeface="IBM Plex Sans"/>
                        <a:buNone/>
                      </a:pPr>
                      <a:r>
                        <a:rPr b="0" lang="de-DE" sz="1200">
                          <a:solidFill>
                            <a:schemeClr val="dk2"/>
                          </a:solidFill>
                          <a:latin typeface="IBM Plex Sans"/>
                          <a:ea typeface="IBM Plex Sans"/>
                          <a:cs typeface="IBM Plex Sans"/>
                          <a:sym typeface="IBM Plex Sans"/>
                        </a:rPr>
                        <a:t>Tätigkeiten</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rPr>
                        <a:t>{{omstilling_aktiviteter_description}}</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latin typeface="IBM Plex Sans"/>
                          <a:ea typeface="IBM Plex Sans"/>
                          <a:cs typeface="IBM Plex Sans"/>
                          <a:sym typeface="IBM Plex Sans"/>
                        </a:rPr>
                        <a:t>{{omstilling_aktiviteter_eksponering}}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latin typeface="IBM Plex Sans"/>
                          <a:ea typeface="IBM Plex Sans"/>
                          <a:cs typeface="IBM Plex Sans"/>
                          <a:sym typeface="IBM Plex Sans"/>
                        </a:rPr>
                        <a:t>{{omstilling_aktiviteter_sårbarhed}}</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latin typeface="IBM Plex Sans"/>
                          <a:ea typeface="IBM Plex Sans"/>
                          <a:cs typeface="IBM Plex Sans"/>
                          <a:sym typeface="IBM Plex Sans"/>
                        </a:rPr>
                        <a:t>{{omstilling_aktiviteter_tidshorisont}}</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latin typeface="IBM Plex Sans"/>
                          <a:ea typeface="IBM Plex Sans"/>
                          <a:cs typeface="IBM Plex Sans"/>
                          <a:sym typeface="IBM Plex Sans"/>
                        </a:rPr>
                        <a:t>{{omstilling_aktiviteter_tilpasning}}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85000">
                <a:tc vMerge="1"/>
                <a:tc>
                  <a:txBody>
                    <a:bodyPr/>
                    <a:lstStyle/>
                    <a:p>
                      <a:pPr indent="0" lvl="0" marL="0" marR="0" rtl="0" algn="ctr">
                        <a:lnSpc>
                          <a:spcPct val="100000"/>
                        </a:lnSpc>
                        <a:spcBef>
                          <a:spcPts val="0"/>
                        </a:spcBef>
                        <a:spcAft>
                          <a:spcPts val="0"/>
                        </a:spcAft>
                        <a:buClr>
                          <a:schemeClr val="dk2"/>
                        </a:buClr>
                        <a:buSzPts val="1200"/>
                        <a:buFont typeface="IBM Plex Sans"/>
                        <a:buNone/>
                      </a:pPr>
                      <a:r>
                        <a:rPr b="0" lang="de-DE" sz="1200">
                          <a:solidFill>
                            <a:schemeClr val="dk2"/>
                          </a:solidFill>
                          <a:latin typeface="IBM Plex Sans"/>
                          <a:ea typeface="IBM Plex Sans"/>
                          <a:cs typeface="IBM Plex Sans"/>
                          <a:sym typeface="IBM Plex Sans"/>
                        </a:rPr>
                        <a:t>Lieferkette</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rPr>
                        <a:t>{{omstilling_værdikæde_description}}</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latin typeface="IBM Plex Sans"/>
                          <a:ea typeface="IBM Plex Sans"/>
                          <a:cs typeface="IBM Plex Sans"/>
                          <a:sym typeface="IBM Plex Sans"/>
                        </a:rPr>
                        <a:t>{{omstilling_værdikæde_eksponering}}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latin typeface="IBM Plex Sans"/>
                          <a:ea typeface="IBM Plex Sans"/>
                          <a:cs typeface="IBM Plex Sans"/>
                          <a:sym typeface="IBM Plex Sans"/>
                        </a:rPr>
                        <a:t>{{omstilling_værdikæde_sårbarhed}}</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latin typeface="IBM Plex Sans"/>
                          <a:ea typeface="IBM Plex Sans"/>
                          <a:cs typeface="IBM Plex Sans"/>
                          <a:sym typeface="IBM Plex Sans"/>
                        </a:rPr>
                        <a:t>{{omstilling_værdikæde_tidshorisont}}</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latin typeface="IBM Plex Sans"/>
                          <a:ea typeface="IBM Plex Sans"/>
                          <a:cs typeface="IBM Plex Sans"/>
                          <a:sym typeface="IBM Plex Sans"/>
                        </a:rPr>
                        <a:t>{{omstilling_værdikæde_tilpasning}}</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251" name="Google Shape;251;p18"/>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e-DE">
                <a:solidFill>
                  <a:srgbClr val="1B4528"/>
                </a:solidFill>
              </a:rPr>
              <a:t>‹#›</a:t>
            </a:fld>
            <a:endParaRPr>
              <a:solidFill>
                <a:srgbClr val="1B4528"/>
              </a:solidFill>
            </a:endParaRPr>
          </a:p>
        </p:txBody>
      </p:sp>
      <p:sp>
        <p:nvSpPr>
          <p:cNvPr id="252" name="Google Shape;252;p18"/>
          <p:cNvSpPr txBox="1"/>
          <p:nvPr/>
        </p:nvSpPr>
        <p:spPr>
          <a:xfrm>
            <a:off x="518600" y="1016000"/>
            <a:ext cx="112543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de-DE" sz="1200" u="none" strike="noStrike">
                <a:solidFill>
                  <a:schemeClr val="dk2"/>
                </a:solidFill>
                <a:latin typeface="Inter"/>
                <a:ea typeface="Inter"/>
                <a:cs typeface="Inter"/>
                <a:sym typeface="Inter"/>
              </a:rPr>
              <a:t>Das Unternehmen hat einen Überblick über die klimabedingten Risiken angegeben, einschließlich der Frage, ob diese chronisch, akut oder übergangsbedingt sind und wo sie angesiedelt sind (Vermögenswerte, Tätigkeiten oder Wertschöpfungskette des Unternehmens). </a:t>
            </a:r>
            <a:endParaRPr sz="1200">
              <a:solidFill>
                <a:schemeClr val="dk2"/>
              </a:solidFill>
              <a:latin typeface="Inter"/>
              <a:ea typeface="Inter"/>
              <a:cs typeface="Inter"/>
              <a:sym typeface="Inte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9"/>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1800"/>
              <a:buFont typeface="IBM Plex Sans"/>
              <a:buNone/>
            </a:pPr>
            <a:r>
              <a:rPr lang="de-DE"/>
              <a:t>K</a:t>
            </a:r>
            <a:r>
              <a:rPr b="1" lang="de-DE" sz="1800">
                <a:solidFill>
                  <a:schemeClr val="dk2"/>
                </a:solidFill>
              </a:rPr>
              <a:t>limabedingte Risiken (C4) - Fortsetzung</a:t>
            </a:r>
            <a:endParaRPr/>
          </a:p>
        </p:txBody>
      </p:sp>
      <p:sp>
        <p:nvSpPr>
          <p:cNvPr id="259" name="Google Shape;259;p19"/>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e-DE"/>
              <a:t>‹#›</a:t>
            </a:fld>
            <a:endParaRPr/>
          </a:p>
        </p:txBody>
      </p:sp>
      <p:sp>
        <p:nvSpPr>
          <p:cNvPr id="260" name="Google Shape;260;p19"/>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e-DE"/>
              <a:t>{{company_name}}</a:t>
            </a:r>
            <a:endParaRPr b="0"/>
          </a:p>
          <a:p>
            <a:pPr indent="0" lvl="0" marL="0" rtl="0" algn="r">
              <a:spcBef>
                <a:spcPts val="0"/>
              </a:spcBef>
              <a:spcAft>
                <a:spcPts val="0"/>
              </a:spcAft>
              <a:buNone/>
            </a:pPr>
            <a:br>
              <a:rPr lang="de-DE"/>
            </a:br>
            <a:endParaRPr/>
          </a:p>
        </p:txBody>
      </p:sp>
      <p:graphicFrame>
        <p:nvGraphicFramePr>
          <p:cNvPr id="261" name="Google Shape;261;p19"/>
          <p:cNvGraphicFramePr/>
          <p:nvPr/>
        </p:nvGraphicFramePr>
        <p:xfrm>
          <a:off x="498723" y="1527295"/>
          <a:ext cx="3000000" cy="3000000"/>
        </p:xfrm>
        <a:graphic>
          <a:graphicData uri="http://schemas.openxmlformats.org/drawingml/2006/table">
            <a:tbl>
              <a:tblPr firstRow="1">
                <a:noFill/>
                <a:tableStyleId>{08659190-FCFE-4D70-9B86-54A6606F5F58}</a:tableStyleId>
              </a:tblPr>
              <a:tblGrid>
                <a:gridCol w="2838925"/>
                <a:gridCol w="5297500"/>
                <a:gridCol w="1635900"/>
                <a:gridCol w="1393050"/>
              </a:tblGrid>
              <a:tr h="175125">
                <a:tc gridSpan="4">
                  <a:txBody>
                    <a:bodyPr/>
                    <a:lstStyle/>
                    <a:p>
                      <a:pPr indent="0" lvl="0" marL="0" marR="0" rtl="0" algn="l">
                        <a:spcBef>
                          <a:spcPts val="0"/>
                        </a:spcBef>
                        <a:spcAft>
                          <a:spcPts val="0"/>
                        </a:spcAft>
                        <a:buNone/>
                      </a:pPr>
                      <a:r>
                        <a:rPr b="0" lang="de-DE" sz="1200">
                          <a:solidFill>
                            <a:schemeClr val="dk2"/>
                          </a:solidFill>
                          <a:latin typeface="IBM Plex Sans"/>
                          <a:ea typeface="IBM Plex Sans"/>
                          <a:cs typeface="IBM Plex Sans"/>
                          <a:sym typeface="IBM Plex Sans"/>
                        </a:rPr>
                        <a:t>(Nr. 57)</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c hMerge="1"/>
                <a:tc hMerge="1"/>
              </a:tr>
              <a:tr h="388175">
                <a:tc>
                  <a:txBody>
                    <a:bodyPr/>
                    <a:lstStyle/>
                    <a:p>
                      <a:pPr indent="0" lvl="0" marL="0" marR="0" rtl="0" algn="ctr">
                        <a:lnSpc>
                          <a:spcPct val="100000"/>
                        </a:lnSpc>
                        <a:spcBef>
                          <a:spcPts val="0"/>
                        </a:spcBef>
                        <a:spcAft>
                          <a:spcPts val="0"/>
                        </a:spcAft>
                        <a:buClr>
                          <a:schemeClr val="dk1"/>
                        </a:buClr>
                        <a:buSzPts val="1200"/>
                        <a:buFont typeface="IBM Plex Sans"/>
                        <a:buNone/>
                      </a:pPr>
                      <a:r>
                        <a:t/>
                      </a:r>
                      <a:endParaRPr b="1"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de-DE" sz="1200">
                          <a:solidFill>
                            <a:schemeClr val="dk2"/>
                          </a:solidFill>
                        </a:rPr>
                        <a:t>Potenzielle nachteilige </a:t>
                      </a:r>
                      <a:r>
                        <a:rPr b="1" lang="de-DE" sz="1200">
                          <a:solidFill>
                            <a:schemeClr val="dk2"/>
                          </a:solidFill>
                          <a:latin typeface="IBM Plex Sans"/>
                          <a:ea typeface="IBM Plex Sans"/>
                          <a:cs typeface="IBM Plex Sans"/>
                          <a:sym typeface="IBM Plex Sans"/>
                        </a:rPr>
                        <a:t>Auswirkungen auf die finanzielle Leistungsfähigkeit und die Geschäftstätigkeit des Unternehmens </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de-DE" sz="1200">
                          <a:solidFill>
                            <a:schemeClr val="dk2"/>
                          </a:solidFill>
                          <a:latin typeface="IBM Plex Sans"/>
                          <a:ea typeface="IBM Plex Sans"/>
                          <a:cs typeface="IBM Plex Sans"/>
                          <a:sym typeface="IBM Plex Sans"/>
                        </a:rPr>
                        <a:t>Finanzielles Risiko</a:t>
                      </a:r>
                      <a:endParaRPr/>
                    </a:p>
                    <a:p>
                      <a:pPr indent="0" lvl="0" marL="0" marR="0" rtl="0" algn="ctr">
                        <a:lnSpc>
                          <a:spcPct val="100000"/>
                        </a:lnSpc>
                        <a:spcBef>
                          <a:spcPts val="0"/>
                        </a:spcBef>
                        <a:spcAft>
                          <a:spcPts val="0"/>
                        </a:spcAft>
                        <a:buClr>
                          <a:schemeClr val="dk2"/>
                        </a:buClr>
                        <a:buSzPts val="1200"/>
                        <a:buFont typeface="IBM Plex Sans"/>
                        <a:buNone/>
                      </a:pPr>
                      <a:r>
                        <a:rPr b="0" lang="de-DE" sz="1200">
                          <a:solidFill>
                            <a:schemeClr val="dk2"/>
                          </a:solidFill>
                          <a:latin typeface="IBM Plex Sans"/>
                          <a:ea typeface="IBM Plex Sans"/>
                          <a:cs typeface="IBM Plex Sans"/>
                          <a:sym typeface="IBM Plex Sans"/>
                        </a:rPr>
                        <a:t>(niedrig/mittel/hoch)</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de-DE" sz="1200">
                          <a:solidFill>
                            <a:schemeClr val="dk2"/>
                          </a:solidFill>
                        </a:rPr>
                        <a:t>Zeithorizont</a:t>
                      </a:r>
                      <a:endParaRPr/>
                    </a:p>
                    <a:p>
                      <a:pPr indent="0" lvl="0" marL="0" marR="0" rtl="0" algn="ctr">
                        <a:lnSpc>
                          <a:spcPct val="100000"/>
                        </a:lnSpc>
                        <a:spcBef>
                          <a:spcPts val="0"/>
                        </a:spcBef>
                        <a:spcAft>
                          <a:spcPts val="0"/>
                        </a:spcAft>
                        <a:buClr>
                          <a:schemeClr val="dk2"/>
                        </a:buClr>
                        <a:buSzPts val="1200"/>
                        <a:buFont typeface="IBM Plex Sans"/>
                        <a:buNone/>
                      </a:pPr>
                      <a:r>
                        <a:rPr b="0" i="0" lang="de-DE" sz="1200">
                          <a:solidFill>
                            <a:schemeClr val="dk2"/>
                          </a:solidFill>
                        </a:rPr>
                        <a:t>(0-1/2-5/&gt;5 Jahre)</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238400">
                <a:tc>
                  <a:txBody>
                    <a:bodyPr/>
                    <a:lstStyle/>
                    <a:p>
                      <a:pPr indent="0" lvl="0" marL="0" marR="0" rtl="0" algn="l">
                        <a:lnSpc>
                          <a:spcPct val="100000"/>
                        </a:lnSpc>
                        <a:spcBef>
                          <a:spcPts val="0"/>
                        </a:spcBef>
                        <a:spcAft>
                          <a:spcPts val="0"/>
                        </a:spcAft>
                        <a:buClr>
                          <a:schemeClr val="dk2"/>
                        </a:buClr>
                        <a:buSzPts val="1200"/>
                        <a:buFont typeface="IBM Plex Sans"/>
                        <a:buNone/>
                      </a:pPr>
                      <a:r>
                        <a:rPr b="1" lang="de-DE" sz="1200">
                          <a:solidFill>
                            <a:schemeClr val="dk2"/>
                          </a:solidFill>
                          <a:latin typeface="IBM Plex Sans"/>
                          <a:ea typeface="IBM Plex Sans"/>
                          <a:cs typeface="IBM Plex Sans"/>
                          <a:sym typeface="IBM Plex Sans"/>
                        </a:rPr>
                        <a:t>Chronische Gefahren</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l">
                        <a:lnSpc>
                          <a:spcPct val="100000"/>
                        </a:lnSpc>
                        <a:spcBef>
                          <a:spcPts val="0"/>
                        </a:spcBef>
                        <a:spcAft>
                          <a:spcPts val="0"/>
                        </a:spcAft>
                        <a:buClr>
                          <a:schemeClr val="dk1"/>
                        </a:buClr>
                        <a:buSzPts val="1200"/>
                        <a:buFont typeface="IBM Plex Sans"/>
                        <a:buNone/>
                      </a:pPr>
                      <a:r>
                        <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ctr">
                        <a:lnSpc>
                          <a:spcPct val="100000"/>
                        </a:lnSpc>
                        <a:spcBef>
                          <a:spcPts val="0"/>
                        </a:spcBef>
                        <a:spcAft>
                          <a:spcPts val="0"/>
                        </a:spcAft>
                        <a:buClr>
                          <a:schemeClr val="dk1"/>
                        </a:buClr>
                        <a:buSzPts val="1200"/>
                        <a:buFont typeface="IBM Plex Sans"/>
                        <a:buNone/>
                      </a:pPr>
                      <a:r>
                        <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ctr">
                        <a:lnSpc>
                          <a:spcPct val="100000"/>
                        </a:lnSpc>
                        <a:spcBef>
                          <a:spcPts val="0"/>
                        </a:spcBef>
                        <a:spcAft>
                          <a:spcPts val="0"/>
                        </a:spcAft>
                        <a:buClr>
                          <a:schemeClr val="dk1"/>
                        </a:buClr>
                        <a:buSzPts val="1200"/>
                        <a:buFont typeface="IBM Plex Sans"/>
                        <a:buNone/>
                      </a:pPr>
                      <a:r>
                        <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r>
              <a:tr h="238400">
                <a:tc>
                  <a:txBody>
                    <a:bodyPr/>
                    <a:lstStyle/>
                    <a:p>
                      <a:pPr indent="0" lvl="0" marL="0" marR="0" rtl="0" algn="l">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rPr>
                        <a:t>{{chronic_hazards}}</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latin typeface="IBM Plex Sans"/>
                          <a:ea typeface="IBM Plex Sans"/>
                          <a:cs typeface="IBM Plex Sans"/>
                          <a:sym typeface="IBM Plex Sans"/>
                        </a:rPr>
                        <a:t>{{chronic connection financial and operations}}</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latin typeface="IBM Plex Sans"/>
                          <a:ea typeface="IBM Plex Sans"/>
                          <a:cs typeface="IBM Plex Sans"/>
                          <a:sym typeface="IBM Plex Sans"/>
                        </a:rPr>
                        <a:t>{{chronic_financial_risk}}</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latin typeface="IBM Plex Sans"/>
                          <a:ea typeface="IBM Plex Sans"/>
                          <a:cs typeface="IBM Plex Sans"/>
                          <a:sym typeface="IBM Plex Sans"/>
                        </a:rPr>
                        <a:t>{{chronic_time_horizon}}</a:t>
                      </a:r>
                      <a:endParaRPr sz="1800"/>
                    </a:p>
                    <a:p>
                      <a:pPr indent="0" lvl="0" marL="0" marR="0" rtl="0" algn="ctr">
                        <a:lnSpc>
                          <a:spcPct val="100000"/>
                        </a:lnSpc>
                        <a:spcBef>
                          <a:spcPts val="0"/>
                        </a:spcBef>
                        <a:spcAft>
                          <a:spcPts val="0"/>
                        </a:spcAft>
                        <a:buClr>
                          <a:schemeClr val="dk1"/>
                        </a:buClr>
                        <a:buSzPts val="1200"/>
                        <a:buFont typeface="IBM Plex Sans"/>
                        <a:buNone/>
                      </a:pPr>
                      <a:r>
                        <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38400">
                <a:tc>
                  <a:txBody>
                    <a:bodyPr/>
                    <a:lstStyle/>
                    <a:p>
                      <a:pPr indent="0" lvl="0" marL="0" marR="0" rtl="0" algn="l">
                        <a:lnSpc>
                          <a:spcPct val="100000"/>
                        </a:lnSpc>
                        <a:spcBef>
                          <a:spcPts val="0"/>
                        </a:spcBef>
                        <a:spcAft>
                          <a:spcPts val="0"/>
                        </a:spcAft>
                        <a:buClr>
                          <a:schemeClr val="dk2"/>
                        </a:buClr>
                        <a:buSzPts val="1200"/>
                        <a:buFont typeface="IBM Plex Sans"/>
                        <a:buNone/>
                      </a:pPr>
                      <a:r>
                        <a:rPr b="1" lang="de-DE" sz="1200">
                          <a:solidFill>
                            <a:schemeClr val="dk2"/>
                          </a:solidFill>
                          <a:latin typeface="IBM Plex Sans"/>
                          <a:ea typeface="IBM Plex Sans"/>
                          <a:cs typeface="IBM Plex Sans"/>
                          <a:sym typeface="IBM Plex Sans"/>
                        </a:rPr>
                        <a:t>Akute Gefahren</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l">
                        <a:lnSpc>
                          <a:spcPct val="100000"/>
                        </a:lnSpc>
                        <a:spcBef>
                          <a:spcPts val="0"/>
                        </a:spcBef>
                        <a:spcAft>
                          <a:spcPts val="0"/>
                        </a:spcAft>
                        <a:buClr>
                          <a:schemeClr val="dk1"/>
                        </a:buClr>
                        <a:buSzPts val="1200"/>
                        <a:buFont typeface="IBM Plex Sans"/>
                        <a:buNone/>
                      </a:pPr>
                      <a:r>
                        <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ctr">
                        <a:lnSpc>
                          <a:spcPct val="100000"/>
                        </a:lnSpc>
                        <a:spcBef>
                          <a:spcPts val="0"/>
                        </a:spcBef>
                        <a:spcAft>
                          <a:spcPts val="0"/>
                        </a:spcAft>
                        <a:buClr>
                          <a:schemeClr val="dk1"/>
                        </a:buClr>
                        <a:buSzPts val="1200"/>
                        <a:buFont typeface="IBM Plex Sans"/>
                        <a:buNone/>
                      </a:pPr>
                      <a:r>
                        <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ctr">
                        <a:lnSpc>
                          <a:spcPct val="100000"/>
                        </a:lnSpc>
                        <a:spcBef>
                          <a:spcPts val="0"/>
                        </a:spcBef>
                        <a:spcAft>
                          <a:spcPts val="0"/>
                        </a:spcAft>
                        <a:buClr>
                          <a:schemeClr val="dk1"/>
                        </a:buClr>
                        <a:buSzPts val="1200"/>
                        <a:buFont typeface="IBM Plex Sans"/>
                        <a:buNone/>
                      </a:pPr>
                      <a:r>
                        <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r>
              <a:tr h="238400">
                <a:tc>
                  <a:txBody>
                    <a:bodyPr/>
                    <a:lstStyle/>
                    <a:p>
                      <a:pPr indent="0" lvl="0" marL="0" marR="0" rtl="0" algn="l">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rPr>
                        <a:t>{{acute_hazards}}</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latin typeface="IBM Plex Sans"/>
                          <a:ea typeface="IBM Plex Sans"/>
                          <a:cs typeface="IBM Plex Sans"/>
                          <a:sym typeface="IBM Plex Sans"/>
                        </a:rPr>
                        <a:t>{{acute connection financial and operations}}</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latin typeface="IBM Plex Sans"/>
                          <a:ea typeface="IBM Plex Sans"/>
                          <a:cs typeface="IBM Plex Sans"/>
                          <a:sym typeface="IBM Plex Sans"/>
                        </a:rPr>
                        <a:t>{{acute_financial_risk}}</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latin typeface="IBM Plex Sans"/>
                          <a:ea typeface="IBM Plex Sans"/>
                          <a:cs typeface="IBM Plex Sans"/>
                          <a:sym typeface="IBM Plex Sans"/>
                        </a:rPr>
                        <a:t>{{acute_time_horizon}}</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38400">
                <a:tc>
                  <a:txBody>
                    <a:bodyPr/>
                    <a:lstStyle/>
                    <a:p>
                      <a:pPr indent="0" lvl="0" marL="0" marR="0" rtl="0" algn="l">
                        <a:lnSpc>
                          <a:spcPct val="100000"/>
                        </a:lnSpc>
                        <a:spcBef>
                          <a:spcPts val="0"/>
                        </a:spcBef>
                        <a:spcAft>
                          <a:spcPts val="0"/>
                        </a:spcAft>
                        <a:buClr>
                          <a:schemeClr val="dk2"/>
                        </a:buClr>
                        <a:buSzPts val="1200"/>
                        <a:buFont typeface="IBM Plex Sans"/>
                        <a:buNone/>
                      </a:pPr>
                      <a:r>
                        <a:rPr b="1" lang="de-DE" sz="1200">
                          <a:solidFill>
                            <a:schemeClr val="dk2"/>
                          </a:solidFill>
                          <a:latin typeface="IBM Plex Sans"/>
                          <a:ea typeface="IBM Plex Sans"/>
                          <a:cs typeface="IBM Plex Sans"/>
                          <a:sym typeface="IBM Plex Sans"/>
                        </a:rPr>
                        <a:t>Übergangsrisiken</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l">
                        <a:lnSpc>
                          <a:spcPct val="100000"/>
                        </a:lnSpc>
                        <a:spcBef>
                          <a:spcPts val="0"/>
                        </a:spcBef>
                        <a:spcAft>
                          <a:spcPts val="0"/>
                        </a:spcAft>
                        <a:buClr>
                          <a:schemeClr val="dk1"/>
                        </a:buClr>
                        <a:buSzPts val="1200"/>
                        <a:buFont typeface="IBM Plex Sans"/>
                        <a:buNone/>
                      </a:pPr>
                      <a:r>
                        <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ctr">
                        <a:lnSpc>
                          <a:spcPct val="100000"/>
                        </a:lnSpc>
                        <a:spcBef>
                          <a:spcPts val="0"/>
                        </a:spcBef>
                        <a:spcAft>
                          <a:spcPts val="0"/>
                        </a:spcAft>
                        <a:buClr>
                          <a:schemeClr val="dk1"/>
                        </a:buClr>
                        <a:buSzPts val="1200"/>
                        <a:buFont typeface="IBM Plex Sans"/>
                        <a:buNone/>
                      </a:pPr>
                      <a:r>
                        <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c>
                  <a:txBody>
                    <a:bodyPr/>
                    <a:lstStyle/>
                    <a:p>
                      <a:pPr indent="0" lvl="0" marL="0" marR="0" rtl="0" algn="ctr">
                        <a:lnSpc>
                          <a:spcPct val="100000"/>
                        </a:lnSpc>
                        <a:spcBef>
                          <a:spcPts val="0"/>
                        </a:spcBef>
                        <a:spcAft>
                          <a:spcPts val="0"/>
                        </a:spcAft>
                        <a:buClr>
                          <a:schemeClr val="dk1"/>
                        </a:buClr>
                        <a:buSzPts val="1200"/>
                        <a:buFont typeface="IBM Plex Sans"/>
                        <a:buNone/>
                      </a:pPr>
                      <a:r>
                        <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EE5E0"/>
                    </a:solidFill>
                  </a:tcPr>
                </a:tc>
              </a:tr>
              <a:tr h="238400">
                <a:tc>
                  <a:txBody>
                    <a:bodyPr/>
                    <a:lstStyle/>
                    <a:p>
                      <a:pPr indent="0" lvl="0" marL="0" marR="0" rtl="0" algn="l">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rPr>
                        <a:t>{{climate_related}}</a:t>
                      </a:r>
                      <a:endParaRPr sz="1800"/>
                    </a:p>
                    <a:p>
                      <a:pPr indent="0" lvl="0" marL="0" marR="0" rtl="0" algn="l">
                        <a:lnSpc>
                          <a:spcPct val="100000"/>
                        </a:lnSpc>
                        <a:spcBef>
                          <a:spcPts val="0"/>
                        </a:spcBef>
                        <a:spcAft>
                          <a:spcPts val="0"/>
                        </a:spcAft>
                        <a:buClr>
                          <a:schemeClr val="dk1"/>
                        </a:buClr>
                        <a:buSzPts val="1200"/>
                        <a:buFont typeface="IBM Plex Sans"/>
                        <a:buNone/>
                      </a:pPr>
                      <a:r>
                        <a:t/>
                      </a:r>
                      <a:endParaRPr b="0" i="0" sz="1200" u="none" strike="noStrike">
                        <a:solidFill>
                          <a:schemeClr val="accent2"/>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latin typeface="IBM Plex Sans"/>
                          <a:ea typeface="IBM Plex Sans"/>
                          <a:cs typeface="IBM Plex Sans"/>
                          <a:sym typeface="IBM Plex Sans"/>
                        </a:rPr>
                        <a:t>{{climate connection financial and operations}}</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latin typeface="IBM Plex Sans"/>
                          <a:ea typeface="IBM Plex Sans"/>
                          <a:cs typeface="IBM Plex Sans"/>
                          <a:sym typeface="IBM Plex Sans"/>
                        </a:rPr>
                        <a:t>{{climate_related_risk}}</a:t>
                      </a:r>
                      <a:endParaRPr sz="1800"/>
                    </a:p>
                    <a:p>
                      <a:pPr indent="0" lvl="0" marL="0" marR="0" rtl="0" algn="ctr">
                        <a:lnSpc>
                          <a:spcPct val="100000"/>
                        </a:lnSpc>
                        <a:spcBef>
                          <a:spcPts val="0"/>
                        </a:spcBef>
                        <a:spcAft>
                          <a:spcPts val="0"/>
                        </a:spcAft>
                        <a:buClr>
                          <a:schemeClr val="dk1"/>
                        </a:buClr>
                        <a:buSzPts val="1800"/>
                        <a:buFont typeface="IBM Plex Sans"/>
                        <a:buNone/>
                      </a:pPr>
                      <a:r>
                        <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latin typeface="IBM Plex Sans"/>
                          <a:ea typeface="IBM Plex Sans"/>
                          <a:cs typeface="IBM Plex Sans"/>
                          <a:sym typeface="IBM Plex Sans"/>
                        </a:rPr>
                        <a:t>{{climate_time_horizon}}</a:t>
                      </a:r>
                      <a:endParaRPr sz="1800"/>
                    </a:p>
                    <a:p>
                      <a:pPr indent="0" lvl="0" marL="0" marR="0" rtl="0" algn="ctr">
                        <a:lnSpc>
                          <a:spcPct val="100000"/>
                        </a:lnSpc>
                        <a:spcBef>
                          <a:spcPts val="0"/>
                        </a:spcBef>
                        <a:spcAft>
                          <a:spcPts val="0"/>
                        </a:spcAft>
                        <a:buClr>
                          <a:schemeClr val="dk1"/>
                        </a:buClr>
                        <a:buSzPts val="1200"/>
                        <a:buFont typeface="IBM Plex Sans"/>
                        <a:buNone/>
                      </a:pPr>
                      <a:r>
                        <a:t/>
                      </a:r>
                      <a:endParaRPr b="0" sz="1200">
                        <a:solidFill>
                          <a:schemeClr val="accent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262" name="Google Shape;262;p19"/>
          <p:cNvSpPr txBox="1"/>
          <p:nvPr/>
        </p:nvSpPr>
        <p:spPr>
          <a:xfrm>
            <a:off x="518600" y="1016000"/>
            <a:ext cx="112543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de-DE" sz="1200" u="none" strike="noStrike">
                <a:solidFill>
                  <a:schemeClr val="dk2"/>
                </a:solidFill>
                <a:latin typeface="Inter"/>
                <a:ea typeface="Inter"/>
                <a:cs typeface="Inter"/>
                <a:sym typeface="Inter"/>
              </a:rPr>
              <a:t>Das Unternehmen hat einen Überblick über die klimabedingten Risiken angegeben, einschließlich, ob diese chronisch, akut oder übergangsbedingt sind und ob sie die finanzielle Leistungsfähigkeit und Geschäftstätigkeit nachteilig beeinflussen können.</a:t>
            </a:r>
            <a:endParaRPr sz="1200">
              <a:solidFill>
                <a:schemeClr val="dk2"/>
              </a:solidFill>
              <a:latin typeface="Inter"/>
              <a:ea typeface="Inter"/>
              <a:cs typeface="Inter"/>
              <a:sym typeface="Inte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0"/>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1B4528"/>
              </a:buClr>
              <a:buSzPts val="1800"/>
              <a:buFont typeface="IBM Plex Sans"/>
              <a:buNone/>
            </a:pPr>
            <a:r>
              <a:rPr b="1" i="0" lang="de-DE" sz="1800" u="none" strike="noStrike">
                <a:solidFill>
                  <a:srgbClr val="1B4528"/>
                </a:solidFill>
              </a:rPr>
              <a:t>Zusätzliche (allgemeine) Merkmale der Arbeitskräfte (C5)</a:t>
            </a:r>
            <a:endParaRPr/>
          </a:p>
        </p:txBody>
      </p:sp>
      <p:sp>
        <p:nvSpPr>
          <p:cNvPr id="269" name="Google Shape;269;p20"/>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e-DE"/>
              <a:t>‹#›</a:t>
            </a:fld>
            <a:endParaRPr/>
          </a:p>
        </p:txBody>
      </p:sp>
      <p:sp>
        <p:nvSpPr>
          <p:cNvPr id="270" name="Google Shape;270;p20"/>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e-DE"/>
              <a:t>{{company_name}}</a:t>
            </a:r>
            <a:endParaRPr b="0"/>
          </a:p>
          <a:p>
            <a:pPr indent="0" lvl="0" marL="0" rtl="0" algn="r">
              <a:spcBef>
                <a:spcPts val="0"/>
              </a:spcBef>
              <a:spcAft>
                <a:spcPts val="0"/>
              </a:spcAft>
              <a:buNone/>
            </a:pPr>
            <a:br>
              <a:rPr lang="de-DE"/>
            </a:br>
            <a:endParaRPr/>
          </a:p>
        </p:txBody>
      </p:sp>
      <p:graphicFrame>
        <p:nvGraphicFramePr>
          <p:cNvPr id="271" name="Google Shape;271;p20"/>
          <p:cNvGraphicFramePr/>
          <p:nvPr/>
        </p:nvGraphicFramePr>
        <p:xfrm>
          <a:off x="6237155" y="1650746"/>
          <a:ext cx="3000000" cy="3000000"/>
        </p:xfrm>
        <a:graphic>
          <a:graphicData uri="http://schemas.openxmlformats.org/drawingml/2006/table">
            <a:tbl>
              <a:tblPr firstRow="1">
                <a:noFill/>
                <a:tableStyleId>{08659190-FCFE-4D70-9B86-54A6606F5F58}</a:tableStyleId>
              </a:tblPr>
              <a:tblGrid>
                <a:gridCol w="4228750"/>
                <a:gridCol w="1218100"/>
              </a:tblGrid>
              <a:tr h="288000">
                <a:tc rowSpan="2">
                  <a:txBody>
                    <a:bodyPr/>
                    <a:lstStyle/>
                    <a:p>
                      <a:pPr indent="0" lvl="0" marL="0" marR="0" rtl="0" algn="l">
                        <a:lnSpc>
                          <a:spcPct val="100000"/>
                        </a:lnSpc>
                        <a:spcBef>
                          <a:spcPts val="0"/>
                        </a:spcBef>
                        <a:spcAft>
                          <a:spcPts val="0"/>
                        </a:spcAft>
                        <a:buClr>
                          <a:schemeClr val="dk2"/>
                        </a:buClr>
                        <a:buSzPts val="1200"/>
                        <a:buFont typeface="IBM Plex Sans"/>
                        <a:buNone/>
                      </a:pPr>
                      <a:r>
                        <a:rPr b="1" i="0" lang="de-DE" sz="1200">
                          <a:solidFill>
                            <a:schemeClr val="dk2"/>
                          </a:solidFill>
                        </a:rPr>
                        <a:t>Zahlenmäßiges Verhältnis von Frauen zu Männern auf Führungsebene </a:t>
                      </a:r>
                      <a:r>
                        <a:rPr b="0" i="0" lang="de-DE" sz="1200">
                          <a:solidFill>
                            <a:schemeClr val="dk2"/>
                          </a:solidFill>
                        </a:rPr>
                        <a:t>(Nr. 59)</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1B4528"/>
                        </a:buClr>
                        <a:buSzPts val="1200"/>
                        <a:buFont typeface="IBM Plex Sans"/>
                        <a:buNone/>
                      </a:pPr>
                      <a:r>
                        <a:rPr b="1" i="0" lang="de-DE" sz="1200" u="none" strike="noStrike">
                          <a:solidFill>
                            <a:srgbClr val="1B4528"/>
                          </a:solidFill>
                          <a:latin typeface="IBM Plex Sans"/>
                          <a:ea typeface="IBM Plex Sans"/>
                          <a:cs typeface="IBM Plex Sans"/>
                          <a:sym typeface="IBM Plex Sans"/>
                        </a:rPr>
                        <a:t>Jahr </a:t>
                      </a:r>
                      <a:r>
                        <a:rPr b="1" i="0" lang="de-DE" sz="1200" u="none" strike="noStrike">
                          <a:solidFill>
                            <a:srgbClr val="2D55FF"/>
                          </a:solidFill>
                          <a:latin typeface="IBM Plex Sans"/>
                          <a:ea typeface="IBM Plex Sans"/>
                          <a:cs typeface="IBM Plex Sans"/>
                          <a:sym typeface="IBM Plex Sans"/>
                        </a:rPr>
                        <a:t>{{Insert year}}</a:t>
                      </a:r>
                      <a:endParaRPr sz="1200"/>
                    </a:p>
                  </a:txBody>
                  <a:tcPr marT="12700" marB="12700" marR="38100" marL="381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88000">
                <a:tc vMerge="1"/>
                <a:tc>
                  <a:txBody>
                    <a:bodyPr/>
                    <a:lstStyle/>
                    <a:p>
                      <a:pPr indent="0" lvl="0" marL="0" marR="0" rtl="0" algn="l">
                        <a:spcBef>
                          <a:spcPts val="0"/>
                        </a:spcBef>
                        <a:spcAft>
                          <a:spcPts val="0"/>
                        </a:spcAft>
                        <a:buClr>
                          <a:srgbClr val="2D55FF"/>
                        </a:buClr>
                        <a:buSzPts val="1200"/>
                        <a:buFont typeface="IBM Plex Sans"/>
                        <a:buNone/>
                      </a:pPr>
                      <a:r>
                        <a:rPr b="0" i="0" lang="de-DE" sz="1200" u="none" strike="noStrike">
                          <a:solidFill>
                            <a:srgbClr val="2D55FF"/>
                          </a:solidFill>
                          <a:latin typeface="IBM Plex Sans"/>
                          <a:ea typeface="IBM Plex Sans"/>
                          <a:cs typeface="IBM Plex Sans"/>
                          <a:sym typeface="IBM Plex Sans"/>
                        </a:rPr>
                        <a:t>{{gender_balance}}</a:t>
                      </a:r>
                      <a:endParaRPr sz="1200"/>
                    </a:p>
                  </a:txBody>
                  <a:tcPr marT="12700" marB="12700" marR="38100" marL="381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graphicFrame>
        <p:nvGraphicFramePr>
          <p:cNvPr id="272" name="Google Shape;272;p20"/>
          <p:cNvGraphicFramePr/>
          <p:nvPr/>
        </p:nvGraphicFramePr>
        <p:xfrm>
          <a:off x="505381" y="1650746"/>
          <a:ext cx="3000000" cy="3000000"/>
        </p:xfrm>
        <a:graphic>
          <a:graphicData uri="http://schemas.openxmlformats.org/drawingml/2006/table">
            <a:tbl>
              <a:tblPr firstRow="1">
                <a:noFill/>
                <a:tableStyleId>{08659190-FCFE-4D70-9B86-54A6606F5F58}</a:tableStyleId>
              </a:tblPr>
              <a:tblGrid>
                <a:gridCol w="4228750"/>
                <a:gridCol w="1218100"/>
              </a:tblGrid>
              <a:tr h="288000">
                <a:tc rowSpan="2">
                  <a:txBody>
                    <a:bodyPr/>
                    <a:lstStyle/>
                    <a:p>
                      <a:pPr indent="0" lvl="0" marL="0" marR="0" rtl="0" algn="l">
                        <a:lnSpc>
                          <a:spcPct val="100000"/>
                        </a:lnSpc>
                        <a:spcBef>
                          <a:spcPts val="0"/>
                        </a:spcBef>
                        <a:spcAft>
                          <a:spcPts val="0"/>
                        </a:spcAft>
                        <a:buClr>
                          <a:schemeClr val="dk2"/>
                        </a:buClr>
                        <a:buSzPts val="1200"/>
                        <a:buFont typeface="IBM Plex Sans"/>
                        <a:buNone/>
                      </a:pPr>
                      <a:r>
                        <a:rPr b="1" i="0" lang="de-DE" sz="1200">
                          <a:solidFill>
                            <a:schemeClr val="dk2"/>
                          </a:solidFill>
                        </a:rPr>
                        <a:t>Beschäftigtenfluktuation im Berichtsjahr </a:t>
                      </a:r>
                      <a:r>
                        <a:rPr b="0" i="0" lang="de-DE" sz="1200">
                          <a:solidFill>
                            <a:schemeClr val="dk2"/>
                          </a:solidFill>
                        </a:rPr>
                        <a:t>(Nr. 58)</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Clr>
                          <a:srgbClr val="1B4528"/>
                        </a:buClr>
                        <a:buSzPts val="1200"/>
                        <a:buFont typeface="IBM Plex Sans"/>
                        <a:buNone/>
                      </a:pPr>
                      <a:r>
                        <a:rPr b="1" i="0" lang="de-DE" sz="1200" u="none" strike="noStrike">
                          <a:solidFill>
                            <a:srgbClr val="1B4528"/>
                          </a:solidFill>
                          <a:latin typeface="IBM Plex Sans"/>
                          <a:ea typeface="IBM Plex Sans"/>
                          <a:cs typeface="IBM Plex Sans"/>
                          <a:sym typeface="IBM Plex Sans"/>
                        </a:rPr>
                        <a:t>Jahr </a:t>
                      </a:r>
                      <a:r>
                        <a:rPr b="1" i="0" lang="de-DE" sz="1200" u="none" strike="noStrike">
                          <a:solidFill>
                            <a:srgbClr val="2D55FF"/>
                          </a:solidFill>
                          <a:latin typeface="IBM Plex Sans"/>
                          <a:ea typeface="IBM Plex Sans"/>
                          <a:cs typeface="IBM Plex Sans"/>
                          <a:sym typeface="IBM Plex Sans"/>
                        </a:rPr>
                        <a:t>{{Insert year}}</a:t>
                      </a:r>
                      <a:endParaRPr sz="1200"/>
                    </a:p>
                  </a:txBody>
                  <a:tcPr marT="12700" marB="12700" marR="38100" marL="381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88000">
                <a:tc vMerge="1"/>
                <a:tc>
                  <a:txBody>
                    <a:bodyPr/>
                    <a:lstStyle/>
                    <a:p>
                      <a:pPr indent="0" lvl="0" marL="0" marR="0" rtl="0" algn="l">
                        <a:spcBef>
                          <a:spcPts val="0"/>
                        </a:spcBef>
                        <a:spcAft>
                          <a:spcPts val="0"/>
                        </a:spcAft>
                        <a:buClr>
                          <a:srgbClr val="2D55FF"/>
                        </a:buClr>
                        <a:buSzPts val="1200"/>
                        <a:buFont typeface="IBM Plex Sans"/>
                        <a:buNone/>
                      </a:pPr>
                      <a:r>
                        <a:rPr b="0" i="0" lang="de-DE" sz="1200" u="none" strike="noStrike">
                          <a:solidFill>
                            <a:srgbClr val="2D55FF"/>
                          </a:solidFill>
                          <a:latin typeface="IBM Plex Sans"/>
                          <a:ea typeface="IBM Plex Sans"/>
                          <a:cs typeface="IBM Plex Sans"/>
                          <a:sym typeface="IBM Plex Sans"/>
                        </a:rPr>
                        <a:t>{{omsatningsrate}}</a:t>
                      </a:r>
                      <a:endParaRPr/>
                    </a:p>
                  </a:txBody>
                  <a:tcPr marT="12700" marB="12700" marR="38100" marL="381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73" name="Google Shape;273;p20"/>
          <p:cNvSpPr txBox="1"/>
          <p:nvPr/>
        </p:nvSpPr>
        <p:spPr>
          <a:xfrm>
            <a:off x="508000" y="1016000"/>
            <a:ext cx="1116540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de-DE" sz="1200" u="none" strike="noStrike">
                <a:solidFill>
                  <a:schemeClr val="dk2"/>
                </a:solidFill>
                <a:latin typeface="Inter"/>
                <a:ea typeface="Inter"/>
                <a:cs typeface="Inter"/>
                <a:sym typeface="Inter"/>
              </a:rPr>
              <a:t>Die nachstehenden Informationen ergänzen die übrigen Angaben zu den Arbeitskräften des Unternehmens, einschließlich der Frage, wie sich das Verhältnis von Männern und Frauen auf Führungsebene im Unternehmen verteilt.</a:t>
            </a:r>
            <a:endParaRPr b="0" sz="1200">
              <a:solidFill>
                <a:schemeClr val="dk2"/>
              </a:solidFill>
              <a:latin typeface="Inter"/>
              <a:ea typeface="Inter"/>
              <a:cs typeface="Inter"/>
              <a:sym typeface="Inter"/>
            </a:endParaRPr>
          </a:p>
          <a:p>
            <a:pPr indent="0" lvl="0" marL="0" marR="0" rtl="0" algn="l">
              <a:spcBef>
                <a:spcPts val="0"/>
              </a:spcBef>
              <a:spcAft>
                <a:spcPts val="0"/>
              </a:spcAft>
              <a:buClr>
                <a:schemeClr val="dk2"/>
              </a:buClr>
              <a:buSzPts val="1200"/>
              <a:buFont typeface="Inter"/>
              <a:buNone/>
            </a:pPr>
            <a:br>
              <a:rPr lang="de-DE" sz="1200">
                <a:solidFill>
                  <a:schemeClr val="dk2"/>
                </a:solidFill>
                <a:latin typeface="Inter"/>
                <a:ea typeface="Inter"/>
                <a:cs typeface="Inter"/>
                <a:sym typeface="Inter"/>
              </a:rPr>
            </a:br>
            <a:endParaRPr sz="1200">
              <a:solidFill>
                <a:schemeClr val="dk2"/>
              </a:solidFill>
              <a:latin typeface="Inter"/>
              <a:ea typeface="Inter"/>
              <a:cs typeface="Inter"/>
              <a:sym typeface="Inter"/>
            </a:endParaRPr>
          </a:p>
        </p:txBody>
      </p:sp>
      <p:graphicFrame>
        <p:nvGraphicFramePr>
          <p:cNvPr id="274" name="Google Shape;274;p20"/>
          <p:cNvGraphicFramePr/>
          <p:nvPr/>
        </p:nvGraphicFramePr>
        <p:xfrm>
          <a:off x="507999" y="3287188"/>
          <a:ext cx="3000000" cy="3000000"/>
        </p:xfrm>
        <a:graphic>
          <a:graphicData uri="http://schemas.openxmlformats.org/drawingml/2006/table">
            <a:tbl>
              <a:tblPr firstRow="1">
                <a:noFill/>
                <a:tableStyleId>{08659190-FCFE-4D70-9B86-54A6606F5F58}</a:tableStyleId>
              </a:tblPr>
              <a:tblGrid>
                <a:gridCol w="8275925"/>
                <a:gridCol w="2889475"/>
              </a:tblGrid>
              <a:tr h="288000">
                <a:tc gridSpan="2">
                  <a:txBody>
                    <a:bodyPr/>
                    <a:lstStyle/>
                    <a:p>
                      <a:pPr indent="0" lvl="0" marL="0" marR="0" rtl="0" algn="ctr">
                        <a:lnSpc>
                          <a:spcPct val="100000"/>
                        </a:lnSpc>
                        <a:spcBef>
                          <a:spcPts val="0"/>
                        </a:spcBef>
                        <a:spcAft>
                          <a:spcPts val="0"/>
                        </a:spcAft>
                        <a:buClr>
                          <a:schemeClr val="dk2"/>
                        </a:buClr>
                        <a:buSzPts val="1200"/>
                        <a:buFont typeface="IBM Plex Sans"/>
                        <a:buNone/>
                      </a:pPr>
                      <a:r>
                        <a:rPr b="1" lang="de-DE" sz="1200">
                          <a:solidFill>
                            <a:schemeClr val="dk2"/>
                          </a:solidFill>
                          <a:latin typeface="IBM Plex Sans"/>
                          <a:ea typeface="IBM Plex Sans"/>
                          <a:cs typeface="IBM Plex Sans"/>
                          <a:sym typeface="IBM Plex Sans"/>
                        </a:rPr>
                        <a:t>Selbstständige und Zeitarbeitskräfte </a:t>
                      </a:r>
                      <a:r>
                        <a:rPr b="0" lang="de-DE" sz="1200">
                          <a:solidFill>
                            <a:schemeClr val="dk2"/>
                          </a:solidFill>
                        </a:rPr>
                        <a:t>(Nr. 60)</a:t>
                      </a:r>
                      <a:endParaRPr b="1" sz="1200">
                        <a:solidFill>
                          <a:schemeClr val="dk2"/>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288000">
                <a:tc>
                  <a:txBody>
                    <a:bodyPr/>
                    <a:lstStyle/>
                    <a:p>
                      <a:pPr indent="0" lvl="0" marL="0" marR="0" rtl="0" algn="l">
                        <a:lnSpc>
                          <a:spcPct val="100000"/>
                        </a:lnSpc>
                        <a:spcBef>
                          <a:spcPts val="0"/>
                        </a:spcBef>
                        <a:spcAft>
                          <a:spcPts val="0"/>
                        </a:spcAft>
                        <a:buClr>
                          <a:schemeClr val="dk1"/>
                        </a:buClr>
                        <a:buSzPts val="1200"/>
                        <a:buFont typeface="IBM Plex Sans"/>
                        <a:buNone/>
                      </a:pPr>
                      <a:r>
                        <a:t/>
                      </a:r>
                      <a:endParaRPr b="1"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dk2"/>
                        </a:buClr>
                        <a:buSzPts val="1200"/>
                        <a:buFont typeface="IBM Plex Sans"/>
                        <a:buNone/>
                      </a:pPr>
                      <a:r>
                        <a:rPr b="1" lang="de-DE" sz="1200">
                          <a:solidFill>
                            <a:schemeClr val="dk2"/>
                          </a:solidFill>
                          <a:latin typeface="IBM Plex Sans"/>
                          <a:ea typeface="IBM Plex Sans"/>
                          <a:cs typeface="IBM Plex Sans"/>
                          <a:sym typeface="IBM Plex Sans"/>
                        </a:rPr>
                        <a:t>Anzahl</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88000">
                <a:tc>
                  <a:txBody>
                    <a:bodyPr/>
                    <a:lstStyle/>
                    <a:p>
                      <a:pPr indent="0" lvl="0" marL="0" marR="0" rtl="0" algn="l">
                        <a:spcBef>
                          <a:spcPts val="0"/>
                        </a:spcBef>
                        <a:spcAft>
                          <a:spcPts val="0"/>
                        </a:spcAft>
                        <a:buNone/>
                      </a:pPr>
                      <a:r>
                        <a:rPr b="1" lang="de-DE" sz="1200">
                          <a:solidFill>
                            <a:schemeClr val="dk2"/>
                          </a:solidFill>
                        </a:rPr>
                        <a:t>Selbstständige (ohne eigenes Personal)</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{{self-employeed}}</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88000">
                <a:tc>
                  <a:txBody>
                    <a:bodyPr/>
                    <a:lstStyle/>
                    <a:p>
                      <a:pPr indent="0" lvl="0" marL="0" marR="0" rtl="0" algn="l">
                        <a:spcBef>
                          <a:spcPts val="0"/>
                        </a:spcBef>
                        <a:spcAft>
                          <a:spcPts val="0"/>
                        </a:spcAft>
                        <a:buNone/>
                      </a:pPr>
                      <a:r>
                        <a:rPr b="1" lang="de-DE" sz="1200">
                          <a:solidFill>
                            <a:schemeClr val="dk2"/>
                          </a:solidFill>
                        </a:rPr>
                        <a:t>Zeitarbeitskräfte (über eine Zeitarbeitsagentur bereitgestellt) </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{{temp_workers}}</a:t>
                      </a:r>
                      <a:endParaRPr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75" name="Google Shape;275;p20"/>
          <p:cNvSpPr txBox="1"/>
          <p:nvPr/>
        </p:nvSpPr>
        <p:spPr>
          <a:xfrm>
            <a:off x="518599" y="2772045"/>
            <a:ext cx="1115479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de-DE" sz="1200" u="none" strike="noStrike">
                <a:solidFill>
                  <a:schemeClr val="dk2"/>
                </a:solidFill>
                <a:latin typeface="Inter"/>
                <a:ea typeface="Inter"/>
                <a:cs typeface="Inter"/>
                <a:sym typeface="Inter"/>
              </a:rPr>
              <a:t>Die nachstehenden Informationen wurden ausgefüllt, um über die Anzahl der Selbstständigen und Zeitarbeitskräfte des Unternehmens zu informieren.</a:t>
            </a:r>
            <a:endParaRPr b="0" sz="1200">
              <a:solidFill>
                <a:schemeClr val="dk2"/>
              </a:solidFill>
              <a:latin typeface="Inter"/>
              <a:ea typeface="Inter"/>
              <a:cs typeface="Inter"/>
              <a:sym typeface="Inte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1"/>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1B4528"/>
              </a:buClr>
              <a:buSzPts val="1800"/>
              <a:buFont typeface="IBM Plex Sans"/>
              <a:buNone/>
            </a:pPr>
            <a:r>
              <a:rPr b="1" i="0" lang="de-DE" sz="1800" u="none" strike="noStrike">
                <a:solidFill>
                  <a:srgbClr val="1B4528"/>
                </a:solidFill>
                <a:latin typeface="IBM Plex Sans"/>
                <a:ea typeface="IBM Plex Sans"/>
                <a:cs typeface="IBM Plex Sans"/>
                <a:sym typeface="IBM Plex Sans"/>
              </a:rPr>
              <a:t>Menschenrechtsrichtlinien und -prozesse (C6</a:t>
            </a:r>
            <a:r>
              <a:rPr lang="de-DE"/>
              <a:t>) - Eigene Arbeitskräfte</a:t>
            </a:r>
            <a:endParaRPr/>
          </a:p>
        </p:txBody>
      </p:sp>
      <p:sp>
        <p:nvSpPr>
          <p:cNvPr id="281" name="Google Shape;281;p21"/>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e-DE"/>
              <a:t>‹#›</a:t>
            </a:fld>
            <a:endParaRPr/>
          </a:p>
        </p:txBody>
      </p:sp>
      <p:sp>
        <p:nvSpPr>
          <p:cNvPr id="282" name="Google Shape;282;p21"/>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e-DE"/>
              <a:t>{{company_name}}</a:t>
            </a:r>
            <a:endParaRPr b="0"/>
          </a:p>
          <a:p>
            <a:pPr indent="0" lvl="0" marL="0" rtl="0" algn="r">
              <a:spcBef>
                <a:spcPts val="0"/>
              </a:spcBef>
              <a:spcAft>
                <a:spcPts val="0"/>
              </a:spcAft>
              <a:buNone/>
            </a:pPr>
            <a:br>
              <a:rPr lang="de-DE"/>
            </a:br>
            <a:endParaRPr/>
          </a:p>
        </p:txBody>
      </p:sp>
      <p:graphicFrame>
        <p:nvGraphicFramePr>
          <p:cNvPr id="283" name="Google Shape;283;p21"/>
          <p:cNvGraphicFramePr/>
          <p:nvPr/>
        </p:nvGraphicFramePr>
        <p:xfrm>
          <a:off x="518600" y="1841711"/>
          <a:ext cx="3000000" cy="3000000"/>
        </p:xfrm>
        <a:graphic>
          <a:graphicData uri="http://schemas.openxmlformats.org/drawingml/2006/table">
            <a:tbl>
              <a:tblPr firstRow="1">
                <a:noFill/>
                <a:tableStyleId>{08659190-FCFE-4D70-9B86-54A6606F5F58}</a:tableStyleId>
              </a:tblPr>
              <a:tblGrid>
                <a:gridCol w="8583275"/>
                <a:gridCol w="2582125"/>
              </a:tblGrid>
              <a:tr h="511925">
                <a:tc>
                  <a:txBody>
                    <a:bodyPr/>
                    <a:lstStyle/>
                    <a:p>
                      <a:pPr indent="0" lvl="0" marL="0" marR="0" rtl="0" algn="l">
                        <a:lnSpc>
                          <a:spcPct val="100000"/>
                        </a:lnSpc>
                        <a:spcBef>
                          <a:spcPts val="0"/>
                        </a:spcBef>
                        <a:spcAft>
                          <a:spcPts val="0"/>
                        </a:spcAft>
                        <a:buClr>
                          <a:schemeClr val="accent2"/>
                        </a:buClr>
                        <a:buSzPts val="1200"/>
                        <a:buFont typeface="IBM Plex Sans"/>
                        <a:buNone/>
                      </a:pPr>
                      <a:r>
                        <a:rPr b="1" lang="de-DE" sz="1200">
                          <a:solidFill>
                            <a:schemeClr val="accent2"/>
                          </a:solidFill>
                          <a:latin typeface="IBM Plex Sans"/>
                          <a:ea typeface="IBM Plex Sans"/>
                          <a:cs typeface="IBM Plex Sans"/>
                          <a:sym typeface="IBM Plex Sans"/>
                        </a:rPr>
                        <a:t>{{company_name}}</a:t>
                      </a:r>
                      <a:r>
                        <a:rPr b="1" lang="de-DE" sz="1200">
                          <a:solidFill>
                            <a:schemeClr val="dk2"/>
                          </a:solidFill>
                        </a:rPr>
                        <a:t> verfügt über </a:t>
                      </a:r>
                      <a:r>
                        <a:rPr b="1" lang="de-DE" sz="1200">
                          <a:solidFill>
                            <a:schemeClr val="dk2"/>
                          </a:solidFill>
                          <a:latin typeface="IBM Plex Sans"/>
                          <a:ea typeface="IBM Plex Sans"/>
                          <a:cs typeface="IBM Plex Sans"/>
                          <a:sym typeface="IBM Plex Sans"/>
                        </a:rPr>
                        <a:t>einen Verhaltenskodex </a:t>
                      </a:r>
                      <a:r>
                        <a:rPr b="1" i="1" lang="de-DE" sz="1200">
                          <a:solidFill>
                            <a:schemeClr val="dk2"/>
                          </a:solidFill>
                          <a:latin typeface="IBM Plex Sans"/>
                          <a:ea typeface="IBM Plex Sans"/>
                          <a:cs typeface="IBM Plex Sans"/>
                          <a:sym typeface="IBM Plex Sans"/>
                        </a:rPr>
                        <a:t>und/oder</a:t>
                      </a:r>
                      <a:r>
                        <a:rPr b="1" lang="de-DE" sz="1200">
                          <a:solidFill>
                            <a:schemeClr val="dk2"/>
                          </a:solidFill>
                          <a:latin typeface="IBM Plex Sans"/>
                          <a:ea typeface="IBM Plex Sans"/>
                          <a:cs typeface="IBM Plex Sans"/>
                          <a:sym typeface="IBM Plex Sans"/>
                        </a:rPr>
                        <a:t> Richtlinien für die Achtung der Menschenrechte für unsere </a:t>
                      </a:r>
                      <a:r>
                        <a:rPr b="1" lang="de-DE" sz="1200" u="sng">
                          <a:solidFill>
                            <a:schemeClr val="dk2"/>
                          </a:solidFill>
                          <a:latin typeface="IBM Plex Sans"/>
                          <a:ea typeface="IBM Plex Sans"/>
                          <a:cs typeface="IBM Plex Sans"/>
                          <a:sym typeface="IBM Plex Sans"/>
                        </a:rPr>
                        <a:t>eigenen Arbeitskräfte</a:t>
                      </a:r>
                      <a:r>
                        <a:rPr b="0" lang="de-DE" sz="1200" u="none">
                          <a:solidFill>
                            <a:schemeClr val="dk2"/>
                          </a:solidFill>
                          <a:latin typeface="IBM Plex Sans"/>
                          <a:ea typeface="IBM Plex Sans"/>
                          <a:cs typeface="IBM Plex Sans"/>
                          <a:sym typeface="IBM Plex Sans"/>
                        </a:rPr>
                        <a:t> (Nr. 61a)</a:t>
                      </a:r>
                      <a:endParaRPr b="0" sz="1200" u="none">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lang="de-DE" sz="1200">
                          <a:solidFill>
                            <a:schemeClr val="accent2"/>
                          </a:solidFill>
                          <a:latin typeface="IBM Plex Sans"/>
                          <a:ea typeface="IBM Plex Sans"/>
                          <a:cs typeface="IBM Plex Sans"/>
                          <a:sym typeface="IBM Plex Sans"/>
                        </a:rPr>
                        <a:t>{{human_rights_policy?}}</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63275">
                <a:tc gridSpan="2">
                  <a:txBody>
                    <a:bodyPr/>
                    <a:lstStyle/>
                    <a:p>
                      <a:pPr indent="0" lvl="0" marL="0" marR="0" rtl="0" algn="l">
                        <a:spcBef>
                          <a:spcPts val="0"/>
                        </a:spcBef>
                        <a:spcAft>
                          <a:spcPts val="0"/>
                        </a:spcAft>
                        <a:buNone/>
                      </a:pPr>
                      <a:r>
                        <a:rPr b="1" lang="de-DE" sz="1200">
                          <a:solidFill>
                            <a:schemeClr val="dk1"/>
                          </a:solidFill>
                          <a:latin typeface="IBM Plex Sans"/>
                          <a:ea typeface="IBM Plex Sans"/>
                          <a:cs typeface="IBM Plex Sans"/>
                          <a:sym typeface="IBM Plex Sans"/>
                        </a:rPr>
                        <a:t>Der Verhaltenskodex bzw. die Menschenrechtsrichtlinien decken folgende Aspekte ab: </a:t>
                      </a:r>
                      <a:r>
                        <a:rPr b="0" lang="de-DE" sz="1200" u="none">
                          <a:solidFill>
                            <a:schemeClr val="dk2"/>
                          </a:solidFill>
                          <a:latin typeface="IBM Plex Sans"/>
                          <a:ea typeface="IBM Plex Sans"/>
                          <a:cs typeface="IBM Plex Sans"/>
                          <a:sym typeface="IBM Plex Sans"/>
                        </a:rPr>
                        <a:t>(Nr. 61b)</a:t>
                      </a:r>
                      <a:endParaRPr b="0" sz="1200">
                        <a:solidFill>
                          <a:schemeClr val="dk1"/>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263275">
                <a:tc>
                  <a:txBody>
                    <a:bodyPr/>
                    <a:lstStyle/>
                    <a:p>
                      <a:pPr indent="0" lvl="1" marL="457200" marR="0" rtl="0" algn="l">
                        <a:spcBef>
                          <a:spcPts val="0"/>
                        </a:spcBef>
                        <a:spcAft>
                          <a:spcPts val="0"/>
                        </a:spcAft>
                        <a:buNone/>
                      </a:pPr>
                      <a:r>
                        <a:rPr b="0" lang="de-DE" sz="1200" u="none" cap="none" strike="noStrike">
                          <a:solidFill>
                            <a:schemeClr val="dk2"/>
                          </a:solidFill>
                        </a:rPr>
                        <a:t>Kinderarbeit</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{{child_labour_polict?}}</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63275">
                <a:tc>
                  <a:txBody>
                    <a:bodyPr/>
                    <a:lstStyle/>
                    <a:p>
                      <a:pPr indent="0" lvl="1" marL="457200" marR="0" rtl="0" algn="l">
                        <a:spcBef>
                          <a:spcPts val="0"/>
                        </a:spcBef>
                        <a:spcAft>
                          <a:spcPts val="0"/>
                        </a:spcAft>
                        <a:buNone/>
                      </a:pPr>
                      <a:r>
                        <a:rPr b="0" lang="de-DE" sz="1200" u="none" cap="none" strike="noStrike">
                          <a:solidFill>
                            <a:schemeClr val="dk2"/>
                          </a:solidFill>
                        </a:rPr>
                        <a:t>Zwangsarbeit</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{{forced_labour_policy?}}</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63275">
                <a:tc>
                  <a:txBody>
                    <a:bodyPr/>
                    <a:lstStyle/>
                    <a:p>
                      <a:pPr indent="0" lvl="1" marL="457200" marR="0" rtl="0" algn="l">
                        <a:spcBef>
                          <a:spcPts val="0"/>
                        </a:spcBef>
                        <a:spcAft>
                          <a:spcPts val="0"/>
                        </a:spcAft>
                        <a:buNone/>
                      </a:pPr>
                      <a:r>
                        <a:rPr b="0" lang="de-DE" sz="1200" u="none" cap="none" strike="noStrike">
                          <a:solidFill>
                            <a:schemeClr val="dk2"/>
                          </a:solidFill>
                        </a:rPr>
                        <a:t>Menschenhandel</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{{human_policy?}}</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63275">
                <a:tc>
                  <a:txBody>
                    <a:bodyPr/>
                    <a:lstStyle/>
                    <a:p>
                      <a:pPr indent="0" lvl="1" marL="457200" marR="0" rtl="0" algn="l">
                        <a:spcBef>
                          <a:spcPts val="0"/>
                        </a:spcBef>
                        <a:spcAft>
                          <a:spcPts val="0"/>
                        </a:spcAft>
                        <a:buNone/>
                      </a:pPr>
                      <a:r>
                        <a:rPr b="0" lang="de-DE" sz="1200" u="none" cap="none" strike="noStrike">
                          <a:solidFill>
                            <a:schemeClr val="dk2"/>
                          </a:solidFill>
                        </a:rPr>
                        <a:t>Diskriminierung</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{{discrimanation_policy?}}</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63275">
                <a:tc>
                  <a:txBody>
                    <a:bodyPr/>
                    <a:lstStyle/>
                    <a:p>
                      <a:pPr indent="0" lvl="1" marL="457200" marR="0" rtl="0" algn="l">
                        <a:spcBef>
                          <a:spcPts val="0"/>
                        </a:spcBef>
                        <a:spcAft>
                          <a:spcPts val="0"/>
                        </a:spcAft>
                        <a:buNone/>
                      </a:pPr>
                      <a:r>
                        <a:rPr b="0" lang="de-DE" sz="1200" u="none" cap="none" strike="noStrike">
                          <a:solidFill>
                            <a:schemeClr val="dk2"/>
                          </a:solidFill>
                        </a:rPr>
                        <a:t>Sicherheit und Unfallverhütung</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{{safety_policy?}}</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63275">
                <a:tc>
                  <a:txBody>
                    <a:bodyPr/>
                    <a:lstStyle/>
                    <a:p>
                      <a:pPr indent="0" lvl="1" marL="457200" marR="0" rtl="0" algn="l">
                        <a:spcBef>
                          <a:spcPts val="0"/>
                        </a:spcBef>
                        <a:spcAft>
                          <a:spcPts val="0"/>
                        </a:spcAft>
                        <a:buNone/>
                      </a:pPr>
                      <a:r>
                        <a:rPr b="0" lang="de-DE" sz="1200" u="none" cap="none" strike="noStrike">
                          <a:solidFill>
                            <a:schemeClr val="dk2"/>
                          </a:solidFill>
                        </a:rPr>
                        <a:t>Sonstiges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{{other_policy?}}</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63275">
                <a:tc gridSpan="2">
                  <a:txBody>
                    <a:bodyPr/>
                    <a:lstStyle/>
                    <a:p>
                      <a:pPr indent="0" lvl="0" marL="0" marR="0" rtl="0" algn="l">
                        <a:spcBef>
                          <a:spcPts val="0"/>
                        </a:spcBef>
                        <a:spcAft>
                          <a:spcPts val="0"/>
                        </a:spcAft>
                        <a:buNone/>
                      </a:pPr>
                      <a:r>
                        <a:rPr b="1" lang="de-DE" sz="1200">
                          <a:solidFill>
                            <a:schemeClr val="dk2"/>
                          </a:solidFill>
                        </a:rPr>
                        <a:t>Falls ja zu ”Sonstiges”, bitte ausführen</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hMerge="1"/>
              </a:tr>
              <a:tr h="833725">
                <a:tc gridSpan="2">
                  <a:txBody>
                    <a:bodyPr/>
                    <a:lstStyle/>
                    <a:p>
                      <a:pPr indent="0" lvl="0" marL="0" marR="0" rtl="0" algn="l">
                        <a:spcBef>
                          <a:spcPts val="0"/>
                        </a:spcBef>
                        <a:spcAft>
                          <a:spcPts val="0"/>
                        </a:spcAft>
                        <a:buNone/>
                      </a:pPr>
                      <a:r>
                        <a:t/>
                      </a:r>
                      <a:endParaRPr b="0" sz="1200">
                        <a:solidFill>
                          <a:schemeClr val="dk2"/>
                        </a:solidFill>
                      </a:endParaRPr>
                    </a:p>
                    <a:p>
                      <a:pPr indent="0" lvl="0" marL="0" marR="0" rtl="0" algn="l">
                        <a:lnSpc>
                          <a:spcPct val="100000"/>
                        </a:lnSpc>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{{C6_other_description}}</a:t>
                      </a:r>
                      <a:endParaRPr b="0" i="0" sz="1200" u="none" strike="noStrike">
                        <a:solidFill>
                          <a:srgbClr val="000000"/>
                        </a:solidFill>
                        <a:latin typeface="Inter"/>
                        <a:ea typeface="Inter"/>
                        <a:cs typeface="Inter"/>
                        <a:sym typeface="Inter"/>
                      </a:endParaRPr>
                    </a:p>
                    <a:p>
                      <a:pPr indent="0" lvl="0" marL="0" marR="0" rtl="0" algn="l">
                        <a:spcBef>
                          <a:spcPts val="0"/>
                        </a:spcBef>
                        <a:spcAft>
                          <a:spcPts val="0"/>
                        </a:spcAft>
                        <a:buNone/>
                      </a:pPr>
                      <a:r>
                        <a:t/>
                      </a:r>
                      <a:endParaRPr b="0" sz="1200">
                        <a:solidFill>
                          <a:schemeClr val="dk2"/>
                        </a:solidFill>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hMerge="1"/>
              </a:tr>
            </a:tbl>
          </a:graphicData>
        </a:graphic>
      </p:graphicFrame>
      <p:graphicFrame>
        <p:nvGraphicFramePr>
          <p:cNvPr id="284" name="Google Shape;284;p21"/>
          <p:cNvGraphicFramePr/>
          <p:nvPr/>
        </p:nvGraphicFramePr>
        <p:xfrm>
          <a:off x="507999" y="5483925"/>
          <a:ext cx="3000000" cy="3000000"/>
        </p:xfrm>
        <a:graphic>
          <a:graphicData uri="http://schemas.openxmlformats.org/drawingml/2006/table">
            <a:tbl>
              <a:tblPr firstRow="1">
                <a:noFill/>
                <a:tableStyleId>{08659190-FCFE-4D70-9B86-54A6606F5F58}</a:tableStyleId>
              </a:tblPr>
              <a:tblGrid>
                <a:gridCol w="8595650"/>
                <a:gridCol w="2585825"/>
              </a:tblGrid>
              <a:tr h="866075">
                <a:tc>
                  <a:txBody>
                    <a:bodyPr/>
                    <a:lstStyle/>
                    <a:p>
                      <a:pPr indent="0" lvl="0" marL="0" marR="0" rtl="0" algn="l">
                        <a:spcBef>
                          <a:spcPts val="0"/>
                        </a:spcBef>
                        <a:spcAft>
                          <a:spcPts val="0"/>
                        </a:spcAft>
                        <a:buNone/>
                      </a:pPr>
                      <a:r>
                        <a:rPr b="1" lang="de-DE" sz="1200">
                          <a:solidFill>
                            <a:schemeClr val="dk2"/>
                          </a:solidFill>
                        </a:rPr>
                        <a:t>Das Unternehmen verfügt über ein Verfahren zur Bearbeitung von Beschwerden unserer </a:t>
                      </a:r>
                      <a:r>
                        <a:rPr b="1" lang="de-DE" sz="1200" u="sng">
                          <a:solidFill>
                            <a:schemeClr val="dk2"/>
                          </a:solidFill>
                        </a:rPr>
                        <a:t>eigenen Arbeitskräfte</a:t>
                      </a:r>
                      <a:r>
                        <a:rPr b="0" lang="de-DE" sz="1200" u="sng">
                          <a:solidFill>
                            <a:schemeClr val="dk2"/>
                          </a:solidFill>
                        </a:rPr>
                        <a:t> </a:t>
                      </a:r>
                      <a:r>
                        <a:rPr b="0" lang="de-DE" sz="1200">
                          <a:solidFill>
                            <a:schemeClr val="dk2"/>
                          </a:solidFill>
                        </a:rPr>
                        <a:t>(Nr. 61c)</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accent2"/>
                        </a:buClr>
                        <a:buSzPts val="1200"/>
                        <a:buFont typeface="IBM Plex Sans"/>
                        <a:buNone/>
                      </a:pPr>
                      <a:r>
                        <a:rPr b="0" lang="de-DE" sz="1200">
                          <a:solidFill>
                            <a:schemeClr val="accent2"/>
                          </a:solidFill>
                          <a:latin typeface="IBM Plex Sans"/>
                          <a:ea typeface="IBM Plex Sans"/>
                          <a:cs typeface="IBM Plex Sans"/>
                          <a:sym typeface="IBM Plex Sans"/>
                        </a:rPr>
                        <a:t>{{whistleblower?}}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285" name="Google Shape;285;p21"/>
          <p:cNvSpPr txBox="1"/>
          <p:nvPr/>
        </p:nvSpPr>
        <p:spPr>
          <a:xfrm>
            <a:off x="515952" y="1016000"/>
            <a:ext cx="1116804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de-DE" sz="1200" u="none" strike="noStrike">
                <a:solidFill>
                  <a:schemeClr val="dk2"/>
                </a:solidFill>
                <a:latin typeface="Inter"/>
                <a:ea typeface="Inter"/>
                <a:cs typeface="Inter"/>
                <a:sym typeface="Inter"/>
              </a:rPr>
              <a:t>Nachstehend sind </a:t>
            </a:r>
            <a:r>
              <a:rPr lang="de-DE" sz="1200">
                <a:solidFill>
                  <a:schemeClr val="dk2"/>
                </a:solidFill>
                <a:latin typeface="Inter"/>
                <a:ea typeface="Inter"/>
                <a:cs typeface="Inter"/>
                <a:sym typeface="Inter"/>
              </a:rPr>
              <a:t>Informationen über </a:t>
            </a:r>
            <a:r>
              <a:rPr b="0" i="0" lang="de-DE" sz="1200" u="none" strike="noStrike">
                <a:solidFill>
                  <a:schemeClr val="dk2"/>
                </a:solidFill>
                <a:latin typeface="Inter"/>
                <a:ea typeface="Inter"/>
                <a:cs typeface="Inter"/>
                <a:sym typeface="Inter"/>
              </a:rPr>
              <a:t>den Verhaltenskodex und/oder die Menschenrechtsrichtlinien des Unternehmens für die eigenen Arbeitskräft</a:t>
            </a:r>
            <a:r>
              <a:rPr lang="de-DE" sz="1200">
                <a:solidFill>
                  <a:schemeClr val="dk2"/>
                </a:solidFill>
                <a:latin typeface="Inter"/>
                <a:ea typeface="Inter"/>
                <a:cs typeface="Inter"/>
                <a:sym typeface="Inter"/>
              </a:rPr>
              <a:t>e angegeben. Ebenso wird angegeben, ob das Unternehmen über ein Verfahren zur Bearbeitung von Beschwerden verfügt, das es den Beschäftigten ermöglicht, Sachverhalte im Zusammenhang mit Menschenrechtsverletzungen, Diskriminierung, Belästigung oder anderen kritikwürdigen Vorgängen zu melden.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2"/>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1B4528"/>
              </a:buClr>
              <a:buSzPts val="1800"/>
              <a:buFont typeface="IBM Plex Sans"/>
              <a:buNone/>
            </a:pPr>
            <a:r>
              <a:rPr b="1" i="0" lang="de-DE" sz="1800" u="none" strike="noStrike">
                <a:solidFill>
                  <a:srgbClr val="1B4528"/>
                </a:solidFill>
                <a:latin typeface="IBM Plex Sans"/>
                <a:ea typeface="IBM Plex Sans"/>
                <a:cs typeface="IBM Plex Sans"/>
                <a:sym typeface="IBM Plex Sans"/>
              </a:rPr>
              <a:t>Schwerwiegende negative Vorfälle im Zusammenhang mit Menschenrechten (C7</a:t>
            </a:r>
            <a:r>
              <a:rPr lang="de-DE"/>
              <a:t>) – Eigene Arbeitskräfte</a:t>
            </a:r>
            <a:endParaRPr/>
          </a:p>
        </p:txBody>
      </p:sp>
      <p:sp>
        <p:nvSpPr>
          <p:cNvPr id="291" name="Google Shape;291;p22"/>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e-DE"/>
              <a:t>‹#›</a:t>
            </a:fld>
            <a:endParaRPr/>
          </a:p>
        </p:txBody>
      </p:sp>
      <p:sp>
        <p:nvSpPr>
          <p:cNvPr id="292" name="Google Shape;292;p22"/>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e-DE"/>
              <a:t>{{company_name}}</a:t>
            </a:r>
            <a:endParaRPr b="0"/>
          </a:p>
          <a:p>
            <a:pPr indent="0" lvl="0" marL="0" rtl="0" algn="r">
              <a:spcBef>
                <a:spcPts val="0"/>
              </a:spcBef>
              <a:spcAft>
                <a:spcPts val="0"/>
              </a:spcAft>
              <a:buNone/>
            </a:pPr>
            <a:r>
              <a:t/>
            </a:r>
            <a:endParaRPr/>
          </a:p>
        </p:txBody>
      </p:sp>
      <p:graphicFrame>
        <p:nvGraphicFramePr>
          <p:cNvPr id="293" name="Google Shape;293;p22"/>
          <p:cNvGraphicFramePr/>
          <p:nvPr/>
        </p:nvGraphicFramePr>
        <p:xfrm>
          <a:off x="518598" y="1676964"/>
          <a:ext cx="3000000" cy="3000000"/>
        </p:xfrm>
        <a:graphic>
          <a:graphicData uri="http://schemas.openxmlformats.org/drawingml/2006/table">
            <a:tbl>
              <a:tblPr firstRow="1">
                <a:noFill/>
                <a:tableStyleId>{08659190-FCFE-4D70-9B86-54A6606F5F58}</a:tableStyleId>
              </a:tblPr>
              <a:tblGrid>
                <a:gridCol w="3918800"/>
                <a:gridCol w="7246600"/>
              </a:tblGrid>
              <a:tr h="326550">
                <a:tc gridSpan="2">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Sind unter den </a:t>
                      </a:r>
                      <a:r>
                        <a:rPr b="1" lang="de-DE" sz="1200" u="sng">
                          <a:solidFill>
                            <a:schemeClr val="dk2"/>
                          </a:solidFill>
                          <a:latin typeface="IBM Plex Sans"/>
                          <a:ea typeface="IBM Plex Sans"/>
                          <a:cs typeface="IBM Plex Sans"/>
                          <a:sym typeface="IBM Plex Sans"/>
                        </a:rPr>
                        <a:t>eigenen Arbeitskräften</a:t>
                      </a:r>
                      <a:r>
                        <a:rPr b="1" lang="de-DE" sz="1200" u="none">
                          <a:solidFill>
                            <a:schemeClr val="dk2"/>
                          </a:solidFill>
                          <a:latin typeface="IBM Plex Sans"/>
                          <a:ea typeface="IBM Plex Sans"/>
                          <a:cs typeface="IBM Plex Sans"/>
                          <a:sym typeface="IBM Plex Sans"/>
                        </a:rPr>
                        <a:t> des Unternehmens </a:t>
                      </a:r>
                      <a:r>
                        <a:rPr b="1" lang="de-DE" sz="1200">
                          <a:solidFill>
                            <a:schemeClr val="dk2"/>
                          </a:solidFill>
                          <a:latin typeface="IBM Plex Sans"/>
                          <a:ea typeface="IBM Plex Sans"/>
                          <a:cs typeface="IBM Plex Sans"/>
                          <a:sym typeface="IBM Plex Sans"/>
                        </a:rPr>
                        <a:t>bestätigte negative Vorfälle im Zusammenhang mit Folgendem aufgetreten </a:t>
                      </a:r>
                      <a:r>
                        <a:rPr b="0" lang="de-DE" sz="1200">
                          <a:solidFill>
                            <a:schemeClr val="dk2"/>
                          </a:solidFill>
                          <a:latin typeface="IBM Plex Sans"/>
                          <a:ea typeface="IBM Plex Sans"/>
                          <a:cs typeface="IBM Plex Sans"/>
                          <a:sym typeface="IBM Plex Sans"/>
                        </a:rPr>
                        <a:t>(Nr. 62a-b)</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r>
              <a:tr h="585225">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Kinderarbeit</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rPr>
                        <a:t>{{child_labour_yes?}}</a:t>
                      </a:r>
                      <a:endParaRPr sz="1800"/>
                    </a:p>
                    <a:p>
                      <a:pPr indent="0" lvl="0" marL="0" marR="0" rtl="0" algn="l">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rPr>
                        <a:t>{{child_labour_desc}}</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585225">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Zwangsarbeit</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rPr>
                        <a:t>{{forced_labour_yes?}}</a:t>
                      </a:r>
                      <a:endParaRPr sz="1800"/>
                    </a:p>
                    <a:p>
                      <a:pPr indent="0" lvl="0" marL="0" marR="0" rtl="0" algn="l">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rPr>
                        <a:t>{{forced_labour_desc}}</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585225">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Menschenhandel</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rPr>
                        <a:t>{{human_trafficking_yes?}}</a:t>
                      </a:r>
                      <a:endParaRPr sz="1800"/>
                    </a:p>
                    <a:p>
                      <a:pPr indent="0" lvl="0" marL="0" marR="0" rtl="0" algn="l">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rPr>
                        <a:t>{{human_trafficking_desc}}</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585225">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Diskriminierung</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rPr>
                        <a:t>{{discrimination_yes?}}</a:t>
                      </a:r>
                      <a:endParaRPr sz="1800"/>
                    </a:p>
                    <a:p>
                      <a:pPr indent="0" lvl="0" marL="0" marR="0" rtl="0" algn="l">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rPr>
                        <a:t>{{discrimination_desc}}</a:t>
                      </a:r>
                      <a:endParaRPr sz="1800"/>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12775">
                <a:tc>
                  <a:txBody>
                    <a:bodyPr/>
                    <a:lstStyle/>
                    <a:p>
                      <a:pPr indent="0" lvl="0" marL="0" marR="0" rtl="0" algn="l">
                        <a:spcBef>
                          <a:spcPts val="0"/>
                        </a:spcBef>
                        <a:spcAft>
                          <a:spcPts val="0"/>
                        </a:spcAft>
                        <a:buClr>
                          <a:schemeClr val="dk2"/>
                        </a:buClr>
                        <a:buSzPts val="1200"/>
                        <a:buFont typeface="IBM Plex Sans"/>
                        <a:buNone/>
                      </a:pPr>
                      <a:r>
                        <a:rPr b="1" lang="de-DE" sz="1200">
                          <a:solidFill>
                            <a:schemeClr val="dk2"/>
                          </a:solidFill>
                          <a:latin typeface="IBM Plex Sans"/>
                          <a:ea typeface="IBM Plex Sans"/>
                          <a:cs typeface="IBM Plex Sans"/>
                          <a:sym typeface="IBM Plex Sans"/>
                        </a:rPr>
                        <a:t>Sonstiges </a:t>
                      </a:r>
                      <a:endParaRPr b="1" sz="1800">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latin typeface="IBM Plex Sans"/>
                          <a:ea typeface="IBM Plex Sans"/>
                          <a:cs typeface="IBM Plex Sans"/>
                          <a:sym typeface="IBM Plex Sans"/>
                        </a:rPr>
                        <a:t>{{other_yes?}}</a:t>
                      </a:r>
                      <a:endParaRPr b="0" i="0" sz="1200" u="none" strike="noStrike">
                        <a:solidFill>
                          <a:srgbClr val="000000"/>
                        </a:solidFill>
                        <a:latin typeface="IBM Plex Sans"/>
                        <a:ea typeface="IBM Plex Sans"/>
                        <a:cs typeface="IBM Plex Sans"/>
                        <a:sym typeface="IBM Plex Sans"/>
                      </a:endParaRPr>
                    </a:p>
                    <a:p>
                      <a:pPr indent="0" lvl="0" marL="0" marR="0" rtl="0" algn="l">
                        <a:lnSpc>
                          <a:spcPct val="100000"/>
                        </a:lnSpc>
                        <a:spcBef>
                          <a:spcPts val="0"/>
                        </a:spcBef>
                        <a:spcAft>
                          <a:spcPts val="0"/>
                        </a:spcAft>
                        <a:buClr>
                          <a:schemeClr val="accent2"/>
                        </a:buClr>
                        <a:buSzPts val="1200"/>
                        <a:buFont typeface="IBM Plex Sans"/>
                        <a:buNone/>
                      </a:pPr>
                      <a:r>
                        <a:rPr b="0" i="0" lang="de-DE" sz="1200" u="none" strike="noStrike">
                          <a:solidFill>
                            <a:schemeClr val="accent2"/>
                          </a:solidFill>
                          <a:latin typeface="IBM Plex Sans"/>
                          <a:ea typeface="IBM Plex Sans"/>
                          <a:cs typeface="IBM Plex Sans"/>
                          <a:sym typeface="IBM Plex Sans"/>
                        </a:rPr>
                        <a:t>{{other_desc}}</a:t>
                      </a:r>
                      <a:endParaRPr b="0" i="0" sz="1200" u="none" strike="noStrike">
                        <a:solidFill>
                          <a:srgbClr val="000000"/>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294" name="Google Shape;294;p22"/>
          <p:cNvSpPr txBox="1"/>
          <p:nvPr/>
        </p:nvSpPr>
        <p:spPr>
          <a:xfrm>
            <a:off x="507999" y="1016000"/>
            <a:ext cx="11165399"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b="0" i="0" lang="de-DE" sz="1200" u="none" strike="noStrike">
                <a:solidFill>
                  <a:schemeClr val="dk2"/>
                </a:solidFill>
                <a:latin typeface="Inter"/>
                <a:ea typeface="Inter"/>
                <a:cs typeface="Inter"/>
                <a:sym typeface="Inter"/>
              </a:rPr>
              <a:t>Die folgenden Angabepflichten betreffen die Berichterstattung des Unternehmens über negative Vorfälle im Zusammenhang mit Kinderarbeit, Zwangsarbeit, Menschenhandel und Diskriminierung. In diesem Abschnitt gibt das Unternehmen an, ob sich das Vorstehende auf die eigenen Arbeitskräfte bezieht.</a:t>
            </a:r>
            <a:endParaRPr b="0" sz="1200">
              <a:solidFill>
                <a:schemeClr val="dk2"/>
              </a:solidFill>
              <a:latin typeface="Inter"/>
              <a:ea typeface="Inter"/>
              <a:cs typeface="Inter"/>
              <a:sym typeface="Inter"/>
            </a:endParaRPr>
          </a:p>
          <a:p>
            <a:pPr indent="0" lvl="0" marL="0" marR="0" rtl="0" algn="l">
              <a:spcBef>
                <a:spcPts val="0"/>
              </a:spcBef>
              <a:spcAft>
                <a:spcPts val="0"/>
              </a:spcAft>
              <a:buClr>
                <a:schemeClr val="dk2"/>
              </a:buClr>
              <a:buSzPts val="1200"/>
              <a:buFont typeface="Inter"/>
              <a:buNone/>
            </a:pPr>
            <a:br>
              <a:rPr lang="de-DE" sz="1200">
                <a:solidFill>
                  <a:schemeClr val="dk2"/>
                </a:solidFill>
                <a:latin typeface="Inter"/>
                <a:ea typeface="Inter"/>
                <a:cs typeface="Inter"/>
                <a:sym typeface="Inter"/>
              </a:rPr>
            </a:br>
            <a:endParaRPr sz="1200">
              <a:solidFill>
                <a:schemeClr val="dk2"/>
              </a:solidFill>
              <a:latin typeface="Inter"/>
              <a:ea typeface="Inter"/>
              <a:cs typeface="Inter"/>
              <a:sym typeface="Inte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23"/>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1B4528"/>
              </a:buClr>
              <a:buSzPts val="1800"/>
              <a:buFont typeface="IBM Plex Sans"/>
              <a:buNone/>
            </a:pPr>
            <a:r>
              <a:rPr b="1" i="0" lang="de-DE" sz="1800" u="none" strike="noStrike">
                <a:solidFill>
                  <a:srgbClr val="1B4528"/>
                </a:solidFill>
                <a:latin typeface="IBM Plex Sans"/>
                <a:ea typeface="IBM Plex Sans"/>
                <a:cs typeface="IBM Plex Sans"/>
                <a:sym typeface="IBM Plex Sans"/>
              </a:rPr>
              <a:t>Schwerwiegende negative Vorfälle im Zusammenhang mit Menschenrechten (C7</a:t>
            </a:r>
            <a:r>
              <a:rPr lang="de-DE"/>
              <a:t>) – In der Wertschöpfungskette</a:t>
            </a:r>
            <a:endParaRPr/>
          </a:p>
        </p:txBody>
      </p:sp>
      <p:sp>
        <p:nvSpPr>
          <p:cNvPr id="301" name="Google Shape;301;p23"/>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e-DE"/>
              <a:t>‹#›</a:t>
            </a:fld>
            <a:endParaRPr/>
          </a:p>
        </p:txBody>
      </p:sp>
      <p:sp>
        <p:nvSpPr>
          <p:cNvPr id="302" name="Google Shape;302;p23"/>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e-DE"/>
              <a:t>{{company_name}}</a:t>
            </a:r>
            <a:endParaRPr b="0"/>
          </a:p>
          <a:p>
            <a:pPr indent="0" lvl="0" marL="0" rtl="0" algn="r">
              <a:spcBef>
                <a:spcPts val="0"/>
              </a:spcBef>
              <a:spcAft>
                <a:spcPts val="0"/>
              </a:spcAft>
              <a:buNone/>
            </a:pPr>
            <a:r>
              <a:t/>
            </a:r>
            <a:endParaRPr/>
          </a:p>
        </p:txBody>
      </p:sp>
      <p:sp>
        <p:nvSpPr>
          <p:cNvPr id="303" name="Google Shape;303;p23"/>
          <p:cNvSpPr/>
          <p:nvPr/>
        </p:nvSpPr>
        <p:spPr>
          <a:xfrm>
            <a:off x="601802" y="4594892"/>
            <a:ext cx="207455" cy="232601"/>
          </a:xfrm>
          <a:prstGeom prst="rect">
            <a:avLst/>
          </a:prstGeom>
          <a:noFill/>
          <a:ln>
            <a:noFill/>
          </a:ln>
        </p:spPr>
      </p:sp>
      <p:graphicFrame>
        <p:nvGraphicFramePr>
          <p:cNvPr id="304" name="Google Shape;304;p23"/>
          <p:cNvGraphicFramePr/>
          <p:nvPr/>
        </p:nvGraphicFramePr>
        <p:xfrm>
          <a:off x="518599" y="1638525"/>
          <a:ext cx="3000000" cy="3000000"/>
        </p:xfrm>
        <a:graphic>
          <a:graphicData uri="http://schemas.openxmlformats.org/drawingml/2006/table">
            <a:tbl>
              <a:tblPr firstRow="1">
                <a:noFill/>
                <a:tableStyleId>{08659190-FCFE-4D70-9B86-54A6606F5F58}</a:tableStyleId>
              </a:tblPr>
              <a:tblGrid>
                <a:gridCol w="2463175"/>
                <a:gridCol w="8702225"/>
              </a:tblGrid>
              <a:tr h="302400">
                <a:tc gridSpan="2">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Sind dem Unternehmen bestätigte negative Vorfälle im Zusammenhang mit Menschenrechten in </a:t>
                      </a:r>
                      <a:r>
                        <a:rPr b="1" lang="de-DE" sz="1200">
                          <a:solidFill>
                            <a:schemeClr val="accent2"/>
                          </a:solidFill>
                          <a:latin typeface="IBM Plex Sans"/>
                          <a:ea typeface="IBM Plex Sans"/>
                          <a:cs typeface="IBM Plex Sans"/>
                          <a:sym typeface="IBM Plex Sans"/>
                        </a:rPr>
                        <a:t>{{company_name}}’s</a:t>
                      </a:r>
                      <a:r>
                        <a:rPr b="1" lang="de-DE" sz="1200">
                          <a:solidFill>
                            <a:schemeClr val="dk2"/>
                          </a:solidFill>
                          <a:latin typeface="IBM Plex Sans"/>
                          <a:ea typeface="IBM Plex Sans"/>
                          <a:cs typeface="IBM Plex Sans"/>
                          <a:sym typeface="IBM Plex Sans"/>
                        </a:rPr>
                        <a:t> Wertschöpfungskette bekannt </a:t>
                      </a:r>
                      <a:r>
                        <a:rPr b="0" lang="de-DE" sz="1200">
                          <a:solidFill>
                            <a:schemeClr val="dk2"/>
                          </a:solidFill>
                          <a:latin typeface="IBM Plex Sans"/>
                          <a:ea typeface="IBM Plex Sans"/>
                          <a:cs typeface="IBM Plex Sans"/>
                          <a:sym typeface="IBM Plex Sans"/>
                        </a:rPr>
                        <a:t>(Nr. 62c)</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r>
              <a:tr h="520400">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Arbeitskräfte in der Wertschöpfungskette</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{{incidents_workers_value_chain}}</a:t>
                      </a:r>
                      <a:endParaRPr sz="1200">
                        <a:solidFill>
                          <a:schemeClr val="accent2"/>
                        </a:solidFill>
                        <a:latin typeface="IBM Plex Sans"/>
                        <a:ea typeface="IBM Plex Sans"/>
                        <a:cs typeface="IBM Plex Sans"/>
                        <a:sym typeface="IBM Plex Sans"/>
                      </a:endParaRPr>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520400">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Betroffene Gemeinschaften</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{{incidents_affected_communities}}</a:t>
                      </a:r>
                      <a:endParaRPr sz="1200">
                        <a:solidFill>
                          <a:schemeClr val="accent2"/>
                        </a:solidFill>
                        <a:latin typeface="IBM Plex Sans"/>
                        <a:ea typeface="IBM Plex Sans"/>
                        <a:cs typeface="IBM Plex Sans"/>
                        <a:sym typeface="IBM Plex Sans"/>
                      </a:endParaRPr>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520400">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Verbraucher und Endnutzer</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{{incidents_consumers}}</a:t>
                      </a:r>
                      <a:endParaRPr b="0"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305" name="Google Shape;305;p23"/>
          <p:cNvSpPr txBox="1"/>
          <p:nvPr/>
        </p:nvSpPr>
        <p:spPr>
          <a:xfrm>
            <a:off x="515952" y="1016000"/>
            <a:ext cx="1116804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de-DE" sz="1200" u="none" strike="noStrike">
                <a:solidFill>
                  <a:schemeClr val="dk2"/>
                </a:solidFill>
                <a:latin typeface="Inter"/>
                <a:ea typeface="Inter"/>
                <a:cs typeface="Inter"/>
                <a:sym typeface="Inter"/>
              </a:rPr>
              <a:t>Nachstehend sind </a:t>
            </a:r>
            <a:r>
              <a:rPr lang="de-DE" sz="1200">
                <a:solidFill>
                  <a:schemeClr val="dk2"/>
                </a:solidFill>
                <a:latin typeface="Inter"/>
                <a:ea typeface="Inter"/>
                <a:cs typeface="Inter"/>
                <a:sym typeface="Inter"/>
              </a:rPr>
              <a:t>Informationen über </a:t>
            </a:r>
            <a:r>
              <a:rPr b="0" i="0" lang="de-DE" sz="1200" u="none" strike="noStrike">
                <a:solidFill>
                  <a:schemeClr val="dk2"/>
                </a:solidFill>
                <a:latin typeface="Inter"/>
                <a:ea typeface="Inter"/>
                <a:cs typeface="Inter"/>
                <a:sym typeface="Inter"/>
              </a:rPr>
              <a:t>die Kenntnis des Unternehmens von bestätigten negativen Vorfällen im Zusammenhang mit Menschenrechten in der Wertschöpfungskette des Unternehmens angegeben.</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4"/>
          <p:cNvSpPr txBox="1"/>
          <p:nvPr>
            <p:ph type="title"/>
          </p:nvPr>
        </p:nvSpPr>
        <p:spPr>
          <a:xfrm>
            <a:off x="518600" y="513927"/>
            <a:ext cx="11165400" cy="249299"/>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1B4528"/>
              </a:buClr>
              <a:buSzPts val="1800"/>
              <a:buFont typeface="IBM Plex Sans"/>
              <a:buNone/>
            </a:pPr>
            <a:r>
              <a:rPr b="1" i="0" lang="de-DE" sz="1800" u="none" strike="noStrike">
                <a:solidFill>
                  <a:srgbClr val="1B4528"/>
                </a:solidFill>
              </a:rPr>
              <a:t>Umsatzerlöse aus bestimmten Tätigkeiten (C8)</a:t>
            </a:r>
            <a:endParaRPr/>
          </a:p>
        </p:txBody>
      </p:sp>
      <p:sp>
        <p:nvSpPr>
          <p:cNvPr id="311" name="Google Shape;311;p24"/>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e-DE"/>
              <a:t>‹#›</a:t>
            </a:fld>
            <a:endParaRPr/>
          </a:p>
        </p:txBody>
      </p:sp>
      <p:sp>
        <p:nvSpPr>
          <p:cNvPr id="312" name="Google Shape;312;p24"/>
          <p:cNvSpPr txBox="1"/>
          <p:nvPr>
            <p:ph idx="11" type="ftr"/>
          </p:nvPr>
        </p:nvSpPr>
        <p:spPr>
          <a:xfrm>
            <a:off x="8280504" y="224972"/>
            <a:ext cx="3642695"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lang="de-DE"/>
              <a:t>{{company_name}}</a:t>
            </a:r>
            <a:endParaRPr b="0"/>
          </a:p>
          <a:p>
            <a:pPr indent="0" lvl="0" marL="0" rtl="0" algn="r">
              <a:spcBef>
                <a:spcPts val="0"/>
              </a:spcBef>
              <a:spcAft>
                <a:spcPts val="0"/>
              </a:spcAft>
              <a:buNone/>
            </a:pPr>
            <a:r>
              <a:t/>
            </a:r>
            <a:endParaRPr/>
          </a:p>
        </p:txBody>
      </p:sp>
      <p:graphicFrame>
        <p:nvGraphicFramePr>
          <p:cNvPr id="313" name="Google Shape;313;p24"/>
          <p:cNvGraphicFramePr/>
          <p:nvPr/>
        </p:nvGraphicFramePr>
        <p:xfrm>
          <a:off x="518598" y="1425825"/>
          <a:ext cx="3000000" cy="3000000"/>
        </p:xfrm>
        <a:graphic>
          <a:graphicData uri="http://schemas.openxmlformats.org/drawingml/2006/table">
            <a:tbl>
              <a:tblPr firstRow="1">
                <a:noFill/>
                <a:tableStyleId>{08659190-FCFE-4D70-9B86-54A6606F5F58}</a:tableStyleId>
              </a:tblPr>
              <a:tblGrid>
                <a:gridCol w="7652625"/>
                <a:gridCol w="3512775"/>
              </a:tblGrid>
              <a:tr h="343825">
                <a:tc gridSpan="2">
                  <a:txBody>
                    <a:bodyPr/>
                    <a:lstStyle/>
                    <a:p>
                      <a:pPr indent="0" lvl="0" marL="0" marR="0" rtl="0" algn="ctr">
                        <a:lnSpc>
                          <a:spcPct val="100000"/>
                        </a:lnSpc>
                        <a:spcBef>
                          <a:spcPts val="0"/>
                        </a:spcBef>
                        <a:spcAft>
                          <a:spcPts val="0"/>
                        </a:spcAft>
                        <a:buClr>
                          <a:schemeClr val="dk2"/>
                        </a:buClr>
                        <a:buSzPts val="1200"/>
                        <a:buFont typeface="IBM Plex Sans"/>
                        <a:buNone/>
                      </a:pPr>
                      <a:r>
                        <a:rPr b="1" lang="de-DE" sz="1200">
                          <a:solidFill>
                            <a:schemeClr val="dk2"/>
                          </a:solidFill>
                          <a:latin typeface="IBM Plex Sans"/>
                          <a:ea typeface="IBM Plex Sans"/>
                          <a:cs typeface="IBM Plex Sans"/>
                          <a:sym typeface="IBM Plex Sans"/>
                        </a:rPr>
                        <a:t>Umsatzerlöse aus bestimmten Sektoren</a:t>
                      </a:r>
                      <a:r>
                        <a:rPr b="0" lang="de-DE" sz="1200">
                          <a:solidFill>
                            <a:schemeClr val="dk2"/>
                          </a:solidFill>
                          <a:latin typeface="IBM Plex Sans"/>
                          <a:ea typeface="IBM Plex Sans"/>
                          <a:cs typeface="IBM Plex Sans"/>
                          <a:sym typeface="IBM Plex Sans"/>
                        </a:rPr>
                        <a:t> (Nr. 63 a-d)</a:t>
                      </a:r>
                      <a:endParaRPr/>
                    </a:p>
                    <a:p>
                      <a:pPr indent="0" lvl="0" marL="0" marR="0" rtl="0" algn="l">
                        <a:spcBef>
                          <a:spcPts val="0"/>
                        </a:spcBef>
                        <a:spcAft>
                          <a:spcPts val="0"/>
                        </a:spcAft>
                        <a:buNone/>
                      </a:pPr>
                      <a:r>
                        <a:t/>
                      </a:r>
                      <a:endParaRPr b="0" sz="1200">
                        <a:solidFill>
                          <a:schemeClr val="dk2"/>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hMerge="1"/>
              </a:tr>
              <a:tr h="343825">
                <a:tc>
                  <a:txBody>
                    <a:bodyPr/>
                    <a:lstStyle/>
                    <a:p>
                      <a:pPr indent="0" lvl="0" marL="0" marR="0" rtl="0" algn="l">
                        <a:spcBef>
                          <a:spcPts val="0"/>
                        </a:spcBef>
                        <a:spcAft>
                          <a:spcPts val="0"/>
                        </a:spcAft>
                        <a:buNone/>
                      </a:pPr>
                      <a:r>
                        <a:t/>
                      </a:r>
                      <a:endParaRPr b="0" sz="1200">
                        <a:solidFill>
                          <a:schemeClr val="dk2"/>
                        </a:solidFill>
                        <a:latin typeface="IBM Plex Sans"/>
                        <a:ea typeface="IBM Plex Sans"/>
                        <a:cs typeface="IBM Plex Sans"/>
                        <a:sym typeface="IBM Plex Sans"/>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l">
                        <a:spcBef>
                          <a:spcPts val="0"/>
                        </a:spcBef>
                        <a:spcAft>
                          <a:spcPts val="0"/>
                        </a:spcAft>
                        <a:buClr>
                          <a:srgbClr val="1B4528"/>
                        </a:buClr>
                        <a:buSzPts val="1200"/>
                        <a:buFont typeface="IBM Plex Sans"/>
                        <a:buNone/>
                      </a:pPr>
                      <a:r>
                        <a:rPr b="1" i="0" lang="de-DE" sz="1200" u="none" strike="noStrike">
                          <a:solidFill>
                            <a:srgbClr val="1B4528"/>
                          </a:solidFill>
                          <a:latin typeface="IBM Plex Sans"/>
                          <a:ea typeface="IBM Plex Sans"/>
                          <a:cs typeface="IBM Plex Sans"/>
                          <a:sym typeface="IBM Plex Sans"/>
                        </a:rPr>
                        <a:t>Umsatzerlöse im Jahr </a:t>
                      </a:r>
                      <a:r>
                        <a:rPr b="1" i="0" lang="de-DE" sz="1200" u="none" strike="noStrike">
                          <a:solidFill>
                            <a:srgbClr val="2D55FF"/>
                          </a:solidFill>
                          <a:latin typeface="Inter"/>
                          <a:ea typeface="Inter"/>
                          <a:cs typeface="Inter"/>
                          <a:sym typeface="Inter"/>
                        </a:rPr>
                        <a:t>{{Insert year}}</a:t>
                      </a:r>
                      <a:endParaRPr sz="1200"/>
                    </a:p>
                  </a:txBody>
                  <a:tcPr marT="25400" marB="25400" marR="38100" marL="381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r>
              <a:tr h="343825">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Umstrittene Waffen (Antipersonenminen, Streumunition, chemische und biologische Waffen)</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{{revenue_weapons}}</a:t>
                      </a:r>
                      <a:endParaRPr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43825">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Anbau und/oder Produktion von Tabak</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{{revenue_cultivation}}</a:t>
                      </a:r>
                      <a:endParaRPr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43825">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Fossile Brennstoffe: Kohle</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{{revenue_coal}}</a:t>
                      </a:r>
                      <a:endParaRPr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43825">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Fossile Brennstoffe: Erdöl</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{{revenue_oil}}</a:t>
                      </a:r>
                      <a:endParaRPr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43825">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Fossile Brennstoffe: Gas/Erdgas</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{{revenue_gas}}</a:t>
                      </a:r>
                      <a:endParaRPr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43825">
                <a:tc>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Herstellung von Chemikalien zur Produktion von Pestiziden und anderen agrochemischen Erzeugnissen</a:t>
                      </a:r>
                      <a:endParaRPr/>
                    </a:p>
                  </a:txBody>
                  <a:tcPr marT="36000" marB="360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1DAD4"/>
                    </a:solidFill>
                  </a:tcPr>
                </a:tc>
                <a:tc>
                  <a:txBody>
                    <a:bodyPr/>
                    <a:lstStyle/>
                    <a:p>
                      <a:pPr indent="0" lvl="0" marL="0" marR="0" rtl="0" algn="ctr">
                        <a:spcBef>
                          <a:spcPts val="0"/>
                        </a:spcBef>
                        <a:spcAft>
                          <a:spcPts val="0"/>
                        </a:spcAft>
                        <a:buClr>
                          <a:srgbClr val="2D55FF"/>
                        </a:buClr>
                        <a:buSzPts val="1200"/>
                        <a:buFont typeface="Inter"/>
                        <a:buNone/>
                      </a:pPr>
                      <a:r>
                        <a:rPr b="0" i="0" lang="de-DE" sz="1200" u="none" strike="noStrike">
                          <a:solidFill>
                            <a:srgbClr val="2D55FF"/>
                          </a:solidFill>
                          <a:latin typeface="Inter"/>
                          <a:ea typeface="Inter"/>
                          <a:cs typeface="Inter"/>
                          <a:sym typeface="Inter"/>
                        </a:rPr>
                        <a:t>{{revenue_chemichal}}</a:t>
                      </a:r>
                      <a:endParaRPr sz="1200"/>
                    </a:p>
                  </a:txBody>
                  <a:tcPr marT="19050" marB="19050" marR="25400" marL="254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314" name="Google Shape;314;p24"/>
          <p:cNvSpPr txBox="1"/>
          <p:nvPr/>
        </p:nvSpPr>
        <p:spPr>
          <a:xfrm>
            <a:off x="518598" y="1016000"/>
            <a:ext cx="1116540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lang="de-DE" sz="1200">
                <a:solidFill>
                  <a:schemeClr val="dk2"/>
                </a:solidFill>
                <a:latin typeface="Inter"/>
                <a:ea typeface="Inter"/>
                <a:cs typeface="Inter"/>
                <a:sym typeface="Inter"/>
              </a:rPr>
              <a:t>D</a:t>
            </a:r>
            <a:r>
              <a:rPr b="0" i="0" lang="de-DE" sz="1200" u="none" strike="noStrike">
                <a:solidFill>
                  <a:schemeClr val="dk2"/>
                </a:solidFill>
                <a:latin typeface="Inter"/>
                <a:ea typeface="Inter"/>
                <a:cs typeface="Inter"/>
                <a:sym typeface="Inter"/>
              </a:rPr>
              <a:t>as Unternehmen hat die Umsatzerlöse aus bestimmten Sektoren und die Beträge aus diesen Tätigkeiten angegeben.</a:t>
            </a:r>
            <a:endParaRPr sz="1800">
              <a:solidFill>
                <a:schemeClr val="dk2"/>
              </a:solidFill>
              <a:latin typeface="IBM Plex Sans"/>
              <a:ea typeface="IBM Plex Sans"/>
              <a:cs typeface="IBM Plex Sans"/>
              <a:sym typeface="IBM Plex Sans"/>
            </a:endParaRPr>
          </a:p>
        </p:txBody>
      </p:sp>
      <p:sp>
        <p:nvSpPr>
          <p:cNvPr id="315" name="Google Shape;315;p24"/>
          <p:cNvSpPr txBox="1"/>
          <p:nvPr/>
        </p:nvSpPr>
        <p:spPr>
          <a:xfrm>
            <a:off x="518600" y="4748440"/>
            <a:ext cx="11165400" cy="249299"/>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1B4528"/>
              </a:buClr>
              <a:buSzPts val="1800"/>
              <a:buFont typeface="IBM Plex Sans"/>
              <a:buNone/>
            </a:pPr>
            <a:r>
              <a:rPr b="1" lang="de-DE" sz="1800">
                <a:solidFill>
                  <a:srgbClr val="1B4528"/>
                </a:solidFill>
                <a:latin typeface="IBM Plex Sans"/>
                <a:ea typeface="IBM Plex Sans"/>
                <a:cs typeface="IBM Plex Sans"/>
                <a:sym typeface="IBM Plex Sans"/>
              </a:rPr>
              <a:t>Geschlechtervielfalt im Leitungsorgan (C9)</a:t>
            </a:r>
            <a:endParaRPr b="1" sz="1800">
              <a:solidFill>
                <a:schemeClr val="dk2"/>
              </a:solidFill>
              <a:latin typeface="IBM Plex Sans"/>
              <a:ea typeface="IBM Plex Sans"/>
              <a:cs typeface="IBM Plex Sans"/>
              <a:sym typeface="IBM Plex Sans"/>
            </a:endParaRPr>
          </a:p>
        </p:txBody>
      </p:sp>
      <p:graphicFrame>
        <p:nvGraphicFramePr>
          <p:cNvPr id="316" name="Google Shape;316;p24"/>
          <p:cNvGraphicFramePr/>
          <p:nvPr/>
        </p:nvGraphicFramePr>
        <p:xfrm>
          <a:off x="507998" y="5614719"/>
          <a:ext cx="3000000" cy="3000000"/>
        </p:xfrm>
        <a:graphic>
          <a:graphicData uri="http://schemas.openxmlformats.org/drawingml/2006/table">
            <a:tbl>
              <a:tblPr firstRow="1">
                <a:noFill/>
                <a:tableStyleId>{08659190-FCFE-4D70-9B86-54A6606F5F58}</a:tableStyleId>
              </a:tblPr>
              <a:tblGrid>
                <a:gridCol w="7704350"/>
                <a:gridCol w="3461050"/>
              </a:tblGrid>
              <a:tr h="288000">
                <a:tc rowSpan="2">
                  <a:txBody>
                    <a:bodyPr/>
                    <a:lstStyle/>
                    <a:p>
                      <a:pPr indent="0" lvl="0" marL="0" marR="0" rtl="0" algn="l">
                        <a:spcBef>
                          <a:spcPts val="0"/>
                        </a:spcBef>
                        <a:spcAft>
                          <a:spcPts val="0"/>
                        </a:spcAft>
                        <a:buNone/>
                      </a:pPr>
                      <a:r>
                        <a:rPr b="1" lang="de-DE" sz="1200">
                          <a:solidFill>
                            <a:schemeClr val="dk2"/>
                          </a:solidFill>
                          <a:latin typeface="IBM Plex Sans"/>
                          <a:ea typeface="IBM Plex Sans"/>
                          <a:cs typeface="IBM Plex Sans"/>
                          <a:sym typeface="IBM Plex Sans"/>
                        </a:rPr>
                        <a:t>Das zahlenmäßige Verhältnis von Frauen zu Männern im Leitungsorgan (</a:t>
                      </a:r>
                      <a:r>
                        <a:rPr b="0" lang="de-DE" sz="1200">
                          <a:solidFill>
                            <a:schemeClr val="dk2"/>
                          </a:solidFill>
                          <a:latin typeface="IBM Plex Sans"/>
                          <a:ea typeface="IBM Plex Sans"/>
                          <a:cs typeface="IBM Plex Sans"/>
                          <a:sym typeface="IBM Plex Sans"/>
                        </a:rPr>
                        <a:t>Nr. 64</a:t>
                      </a:r>
                      <a:r>
                        <a:rPr b="1" lang="de-DE" sz="1200">
                          <a:solidFill>
                            <a:schemeClr val="dk2"/>
                          </a:solidFill>
                          <a:latin typeface="IBM Plex Sans"/>
                          <a:ea typeface="IBM Plex Sans"/>
                          <a:cs typeface="IBM Plex Sans"/>
                          <a:sym typeface="IBM Plex Sans"/>
                        </a:rPr>
                        <a:t>)</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marR="0" rtl="0" algn="l">
                        <a:spcBef>
                          <a:spcPts val="0"/>
                        </a:spcBef>
                        <a:spcAft>
                          <a:spcPts val="0"/>
                        </a:spcAft>
                        <a:buNone/>
                      </a:pPr>
                      <a:r>
                        <a:rPr b="1" lang="de-DE" sz="1200">
                          <a:solidFill>
                            <a:schemeClr val="dk2"/>
                          </a:solidFill>
                        </a:rPr>
                        <a:t>Jahr </a:t>
                      </a:r>
                      <a:r>
                        <a:rPr b="1" i="0" lang="de-DE" sz="1200" u="none" strike="noStrike">
                          <a:solidFill>
                            <a:srgbClr val="2D55FF"/>
                          </a:solidFill>
                          <a:latin typeface="Inter"/>
                          <a:ea typeface="Inter"/>
                          <a:cs typeface="Inter"/>
                          <a:sym typeface="Inter"/>
                        </a:rPr>
                        <a:t>{{Insert year}}</a:t>
                      </a:r>
                      <a:endParaRPr b="1" sz="1200">
                        <a:solidFill>
                          <a:schemeClr val="dk2"/>
                        </a:solidFill>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r>
              <a:tr h="288000">
                <a:tc vMerge="1"/>
                <a:tc>
                  <a:txBody>
                    <a:bodyPr/>
                    <a:lstStyle/>
                    <a:p>
                      <a:pPr indent="0" lvl="0" marL="0" marR="0" rtl="0" algn="ctr">
                        <a:spcBef>
                          <a:spcPts val="0"/>
                        </a:spcBef>
                        <a:spcAft>
                          <a:spcPts val="0"/>
                        </a:spcAft>
                        <a:buNone/>
                      </a:pPr>
                      <a:r>
                        <a:rPr b="0" lang="de-DE" sz="1200">
                          <a:solidFill>
                            <a:schemeClr val="accent2"/>
                          </a:solidFill>
                        </a:rPr>
                        <a:t>{{</a:t>
                      </a:r>
                      <a:r>
                        <a:rPr b="0" i="0" lang="de-DE" sz="1200" u="none" strike="noStrike">
                          <a:solidFill>
                            <a:schemeClr val="accent2"/>
                          </a:solidFill>
                          <a:latin typeface="IBM Plex Sans"/>
                          <a:ea typeface="IBM Plex Sans"/>
                          <a:cs typeface="IBM Plex Sans"/>
                          <a:sym typeface="IBM Plex Sans"/>
                        </a:rPr>
                        <a:t>gender_supreme_body</a:t>
                      </a:r>
                      <a:r>
                        <a:rPr b="0" lang="de-DE" sz="1200">
                          <a:solidFill>
                            <a:schemeClr val="accent2"/>
                          </a:solidFill>
                        </a:rPr>
                        <a:t>}}</a:t>
                      </a:r>
                      <a:endParaRPr/>
                    </a:p>
                  </a:txBody>
                  <a:tcPr marT="21600" marB="21600" marR="54000" marL="54000"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317" name="Google Shape;317;p24"/>
          <p:cNvSpPr txBox="1"/>
          <p:nvPr/>
        </p:nvSpPr>
        <p:spPr>
          <a:xfrm>
            <a:off x="3049438" y="3248647"/>
            <a:ext cx="609887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de-DE" sz="1800">
                <a:solidFill>
                  <a:schemeClr val="dk1"/>
                </a:solidFill>
                <a:latin typeface="IBM Plex Sans"/>
                <a:ea typeface="IBM Plex Sans"/>
                <a:cs typeface="IBM Plex Sans"/>
                <a:sym typeface="IBM Plex Sans"/>
              </a:rPr>
              <a:t> </a:t>
            </a:r>
            <a:endParaRPr sz="1800">
              <a:solidFill>
                <a:schemeClr val="dk1"/>
              </a:solidFill>
              <a:latin typeface="IBM Plex Sans"/>
              <a:ea typeface="IBM Plex Sans"/>
              <a:cs typeface="IBM Plex Sans"/>
              <a:sym typeface="IBM Plex Sans"/>
            </a:endParaRPr>
          </a:p>
        </p:txBody>
      </p:sp>
      <p:sp>
        <p:nvSpPr>
          <p:cNvPr id="318" name="Google Shape;318;p24"/>
          <p:cNvSpPr txBox="1"/>
          <p:nvPr/>
        </p:nvSpPr>
        <p:spPr>
          <a:xfrm>
            <a:off x="526035" y="5127078"/>
            <a:ext cx="1116540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2"/>
              </a:buClr>
              <a:buSzPts val="1200"/>
              <a:buFont typeface="Inter"/>
              <a:buNone/>
            </a:pPr>
            <a:r>
              <a:rPr lang="de-DE" sz="1200">
                <a:solidFill>
                  <a:schemeClr val="dk2"/>
                </a:solidFill>
                <a:latin typeface="Inter"/>
                <a:ea typeface="Inter"/>
                <a:cs typeface="Inter"/>
                <a:sym typeface="Inter"/>
              </a:rPr>
              <a:t>D</a:t>
            </a:r>
            <a:r>
              <a:rPr b="0" i="0" lang="de-DE" sz="1200" u="none" strike="noStrike">
                <a:solidFill>
                  <a:schemeClr val="dk2"/>
                </a:solidFill>
                <a:latin typeface="Inter"/>
                <a:ea typeface="Inter"/>
                <a:cs typeface="Inter"/>
                <a:sym typeface="Inter"/>
              </a:rPr>
              <a:t>as Unternehmen hat das zahlenmäßige Verhältnis von Frauen zu Männern im Leitungsorgan angegeben.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25"/>
          <p:cNvSpPr txBox="1"/>
          <p:nvPr>
            <p:ph idx="1" type="body"/>
          </p:nvPr>
        </p:nvSpPr>
        <p:spPr>
          <a:xfrm>
            <a:off x="4402137" y="4447433"/>
            <a:ext cx="3449638" cy="1034319"/>
          </a:xfrm>
          <a:prstGeom prst="rect">
            <a:avLst/>
          </a:prstGeom>
          <a:noFill/>
          <a:ln>
            <a:noFill/>
          </a:ln>
        </p:spPr>
        <p:txBody>
          <a:bodyPr anchorCtr="0" anchor="t" bIns="0" lIns="0" spcFirstLastPara="1" rIns="0" wrap="square" tIns="0">
            <a:normAutofit/>
          </a:bodyPr>
          <a:lstStyle/>
          <a:p>
            <a:pPr indent="0" lvl="0" marL="0" rtl="0" algn="ctr">
              <a:lnSpc>
                <a:spcPct val="100000"/>
              </a:lnSpc>
              <a:spcBef>
                <a:spcPts val="0"/>
              </a:spcBef>
              <a:spcAft>
                <a:spcPts val="0"/>
              </a:spcAft>
              <a:buClr>
                <a:srgbClr val="FFFFFF"/>
              </a:buClr>
              <a:buSzPts val="1800"/>
              <a:buNone/>
            </a:pPr>
            <a:r>
              <a:rPr b="1" lang="de-DE" sz="1800">
                <a:solidFill>
                  <a:srgbClr val="FFFFFF"/>
                </a:solidFill>
                <a:latin typeface="IBM Plex Sans"/>
                <a:ea typeface="IBM Plex Sans"/>
                <a:cs typeface="IBM Plex Sans"/>
                <a:sym typeface="IBM Plex Sans"/>
              </a:rPr>
              <a:t>{{company_name}}</a:t>
            </a:r>
            <a:endParaRPr/>
          </a:p>
          <a:p>
            <a:pPr indent="0" lvl="0" marL="0" rtl="0" algn="ctr">
              <a:lnSpc>
                <a:spcPct val="100000"/>
              </a:lnSpc>
              <a:spcBef>
                <a:spcPts val="200"/>
              </a:spcBef>
              <a:spcAft>
                <a:spcPts val="0"/>
              </a:spcAft>
              <a:buClr>
                <a:srgbClr val="FFFFFF"/>
              </a:buClr>
              <a:buSzPts val="1800"/>
              <a:buNone/>
            </a:pPr>
            <a:r>
              <a:rPr b="1" lang="de-DE" sz="1800">
                <a:solidFill>
                  <a:srgbClr val="FFFFFF"/>
                </a:solidFill>
                <a:latin typeface="IBM Plex Sans"/>
                <a:ea typeface="IBM Plex Sans"/>
                <a:cs typeface="IBM Plex Sans"/>
                <a:sym typeface="IBM Plex Sans"/>
              </a:rPr>
              <a:t>{{insert_year}}</a:t>
            </a:r>
            <a:br>
              <a:rPr b="1" lang="de-DE" sz="1800">
                <a:solidFill>
                  <a:srgbClr val="FFFFFF"/>
                </a:solidFill>
                <a:latin typeface="IBM Plex Sans"/>
                <a:ea typeface="IBM Plex Sans"/>
                <a:cs typeface="IBM Plex Sans"/>
                <a:sym typeface="IBM Plex Sans"/>
              </a:rPr>
            </a:br>
            <a:endParaRPr sz="1800"/>
          </a:p>
        </p:txBody>
      </p:sp>
      <p:sp>
        <p:nvSpPr>
          <p:cNvPr id="324" name="Google Shape;324;p25"/>
          <p:cNvSpPr txBox="1"/>
          <p:nvPr>
            <p:ph idx="12" type="sldNum"/>
          </p:nvPr>
        </p:nvSpPr>
        <p:spPr>
          <a:xfrm>
            <a:off x="9180000" y="6450239"/>
            <a:ext cx="2743200" cy="153888"/>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de-DE"/>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Tema ESG skabelon 2023">
  <a:themeElements>
    <a:clrScheme name="Custom 63">
      <a:dk1>
        <a:srgbClr val="000000"/>
      </a:dk1>
      <a:lt1>
        <a:srgbClr val="FFFFFF"/>
      </a:lt1>
      <a:dk2>
        <a:srgbClr val="1B4528"/>
      </a:dk2>
      <a:lt2>
        <a:srgbClr val="D1DAD4"/>
      </a:lt2>
      <a:accent1>
        <a:srgbClr val="1B4528"/>
      </a:accent1>
      <a:accent2>
        <a:srgbClr val="2D55FF"/>
      </a:accent2>
      <a:accent3>
        <a:srgbClr val="FCFC95"/>
      </a:accent3>
      <a:accent4>
        <a:srgbClr val="5F7D69"/>
      </a:accent4>
      <a:accent5>
        <a:srgbClr val="8DA294"/>
      </a:accent5>
      <a:accent6>
        <a:srgbClr val="BBC7BF"/>
      </a:accent6>
      <a:hlink>
        <a:srgbClr val="00A65A"/>
      </a:hlink>
      <a:folHlink>
        <a:srgbClr val="A6A6A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tema">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2025-02-28T18:51:17Z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0x0101004C5C98558ED72C4BBCB756F8247CFA4C</vt:lpwstr>
  </property>
  <property fmtid="{D5CDD505-2E9C-101B-9397-08002B2CF9AE}" pid="3" name="MediaServiceImageTags">
    <vt:lpwstr/>
  </property>
</Properties>
</file>